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5143500" cx="9144000"/>
  <p:notesSz cx="6858000" cy="9144000"/>
  <p:embeddedFontLst>
    <p:embeddedFont>
      <p:font typeface="Inter SemiBold"/>
      <p:regular r:id="rId36"/>
      <p:bold r:id="rId37"/>
      <p:italic r:id="rId38"/>
      <p:boldItalic r:id="rId39"/>
    </p:embeddedFont>
    <p:embeddedFont>
      <p:font typeface="Inter"/>
      <p:bold r:id="rId40"/>
      <p:boldItalic r:id="rId41"/>
    </p:embeddedFont>
    <p:embeddedFont>
      <p:font typeface="JetBrains Mono SemiBold"/>
      <p:regular r:id="rId42"/>
      <p:bold r:id="rId43"/>
      <p:italic r:id="rId44"/>
      <p:boldItalic r:id="rId45"/>
    </p:embeddedFont>
    <p:embeddedFont>
      <p:font typeface="Space Grotesk Medium"/>
      <p:regular r:id="rId46"/>
      <p:bold r:id="rId47"/>
    </p:embeddedFont>
    <p:embeddedFont>
      <p:font typeface="Space Grotesk SemiBold"/>
      <p:regular r:id="rId48"/>
      <p:bold r:id="rId49"/>
    </p:embeddedFont>
    <p:embeddedFont>
      <p:font typeface="Inter Medium"/>
      <p:regular r:id="rId50"/>
      <p:bold r:id="rId51"/>
      <p:italic r:id="rId52"/>
      <p:boldItalic r:id="rId53"/>
    </p:embeddedFont>
    <p:embeddedFont>
      <p:font typeface="JetBrains Mono"/>
      <p:regular r:id="rId54"/>
      <p:bold r:id="rId55"/>
      <p:italic r:id="rId56"/>
      <p:boldItalic r:id="rId57"/>
    </p:embeddedFont>
    <p:embeddedFont>
      <p:font typeface="Space Grotesk"/>
      <p:bold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Inter-bold.fntdata"/><Relationship Id="rId42" Type="http://schemas.openxmlformats.org/officeDocument/2006/relationships/font" Target="fonts/JetBrainsMonoSemiBold-regular.fntdata"/><Relationship Id="rId41" Type="http://schemas.openxmlformats.org/officeDocument/2006/relationships/font" Target="fonts/Inter-boldItalic.fntdata"/><Relationship Id="rId44" Type="http://schemas.openxmlformats.org/officeDocument/2006/relationships/font" Target="fonts/JetBrainsMonoSemiBold-italic.fntdata"/><Relationship Id="rId43" Type="http://schemas.openxmlformats.org/officeDocument/2006/relationships/font" Target="fonts/JetBrainsMonoSemiBold-bold.fntdata"/><Relationship Id="rId46" Type="http://schemas.openxmlformats.org/officeDocument/2006/relationships/font" Target="fonts/SpaceGroteskMedium-regular.fntdata"/><Relationship Id="rId45" Type="http://schemas.openxmlformats.org/officeDocument/2006/relationships/font" Target="fonts/JetBrainsMonoSemiBold-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SpaceGroteskSemiBold-regular.fntdata"/><Relationship Id="rId47" Type="http://schemas.openxmlformats.org/officeDocument/2006/relationships/font" Target="fonts/SpaceGroteskMedium-bold.fntdata"/><Relationship Id="rId49" Type="http://schemas.openxmlformats.org/officeDocument/2006/relationships/font" Target="fonts/SpaceGrotesk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font" Target="fonts/InterSemiBold-bold.fntdata"/><Relationship Id="rId36" Type="http://schemas.openxmlformats.org/officeDocument/2006/relationships/font" Target="fonts/InterSemiBold-regular.fntdata"/><Relationship Id="rId39" Type="http://schemas.openxmlformats.org/officeDocument/2006/relationships/font" Target="fonts/InterSemiBold-boldItalic.fntdata"/><Relationship Id="rId38" Type="http://schemas.openxmlformats.org/officeDocument/2006/relationships/font" Target="fonts/InterSemi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InterMedium-bold.fntdata"/><Relationship Id="rId50" Type="http://schemas.openxmlformats.org/officeDocument/2006/relationships/font" Target="fonts/InterMedium-regular.fntdata"/><Relationship Id="rId53" Type="http://schemas.openxmlformats.org/officeDocument/2006/relationships/font" Target="fonts/InterMedium-boldItalic.fntdata"/><Relationship Id="rId52" Type="http://schemas.openxmlformats.org/officeDocument/2006/relationships/font" Target="fonts/InterMedium-italic.fntdata"/><Relationship Id="rId11" Type="http://schemas.openxmlformats.org/officeDocument/2006/relationships/slide" Target="slides/slide6.xml"/><Relationship Id="rId55" Type="http://schemas.openxmlformats.org/officeDocument/2006/relationships/font" Target="fonts/JetBrainsMono-bold.fntdata"/><Relationship Id="rId10" Type="http://schemas.openxmlformats.org/officeDocument/2006/relationships/slide" Target="slides/slide5.xml"/><Relationship Id="rId54" Type="http://schemas.openxmlformats.org/officeDocument/2006/relationships/font" Target="fonts/JetBrainsMono-regular.fntdata"/><Relationship Id="rId13" Type="http://schemas.openxmlformats.org/officeDocument/2006/relationships/slide" Target="slides/slide8.xml"/><Relationship Id="rId57" Type="http://schemas.openxmlformats.org/officeDocument/2006/relationships/font" Target="fonts/JetBrainsMono-boldItalic.fntdata"/><Relationship Id="rId12" Type="http://schemas.openxmlformats.org/officeDocument/2006/relationships/slide" Target="slides/slide7.xml"/><Relationship Id="rId56" Type="http://schemas.openxmlformats.org/officeDocument/2006/relationships/font" Target="fonts/JetBrainsMono-italic.fntdata"/><Relationship Id="rId15" Type="http://schemas.openxmlformats.org/officeDocument/2006/relationships/slide" Target="slides/slide10.xml"/><Relationship Id="rId14" Type="http://schemas.openxmlformats.org/officeDocument/2006/relationships/slide" Target="slides/slide9.xml"/><Relationship Id="rId58" Type="http://schemas.openxmlformats.org/officeDocument/2006/relationships/font" Target="fonts/SpaceGrotesk-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6aacc2f56d1a81e2_2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h6aacc2f56d1a81e2_2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6aacc2f56d1a81e2_2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h6aacc2f56d1a81e2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h6aacc2f56d1a81e2_1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h6aacc2f56d1a81e2_1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6b68c852582d2e1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h6b68c852582d2e1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6aacc2f56d1a81e2_1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h6aacc2f56d1a81e2_1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h6b68c852582d2e1c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h6b68c852582d2e1c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6aacc2f56d1a81e2_1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h6aacc2f56d1a81e2_1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6b68c852582d2e1c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h6b68c852582d2e1c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6aacc2f56d1a81e2_1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h6aacc2f56d1a81e2_1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h6aacc2f56d1a81e2_1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h6aacc2f56d1a81e2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h6aacc2f56d1a81e2_1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h6aacc2f56d1a81e2_1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h6aacc2f56d1a81e2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0" name="Google Shape;560;h6aacc2f56d1a81e2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h6aacc2f56d1a81e2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3" name="Google Shape;603;h6aacc2f56d1a81e2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h3a9a76d072ba5c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h3a9a76d072ba5c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h3a9a76d072ba5c0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h3a9a76d072ba5c0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Setup: https://mcneel.github.io/RhinoAI/docs/getting-started/codex/. Install Rhino-MCP-Platform using PackageManager. Restart Rhino. Run MCPConnect and choose Codex Install. Restart Codex to load the tools, then run MCPStart in Rhino. Make one torus through MCP and check that it is a valid closed solid. Actual OBS recording: 01-rhino-mcp-install.mp4. Saved model: 01-install-check.3dm. Tested with Rhino 8.36, Rhino-MCP-Platform 0.3.0 and Apple Silicon.</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h6aacc2f56d1a81e2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h6aacc2f56d1a81e2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h6aacc2f56d1a81e2_1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58" name="Google Shape;758;h6aacc2f56d1a81e2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h6aacc2f56d1a81e2_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86" name="Google Shape;786;h6aacc2f56d1a81e2_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h6aacc2f56d1a81e2_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18" name="Google Shape;818;h6aacc2f56d1a81e2_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Source: https://github.com/jviquerat/lbm, commit 64023fc76db2ddb681b2d4d24306a433e85f9555 (MIT, Jonathan Viquerat). Adapt the existing D2Q9/TRT code into a Grasshopper Python 3 tool. Replace Numba decorators with NumPy; keep the numerical routines. Rasterise closed footprints on a 160 x 64 grid. Solve 1800 steps, then move the middle block by -12 lattice units and solve again. OBS video: 05-lbm-to-grasshopper.mp4. The code, GH definition, two output models and checks are at the repo root. Both runs have finite populations and positive density. Colour shows speed relative to inlet peak; line segments show local velocity direction. This is a 2D laminar channel in lattice units. It omits vertical flow and atmospheric boundary conditions; grid convergence and physical accuracy have not been assessed.</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h6aacc2f56d1a81e2_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h6aacc2f56d1a81e2_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h6aacc2f56d1a81e2_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81" name="Google Shape;881;h6aacc2f56d1a81e2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6aacc2f56d1a81e2_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05" name="Google Shape;905;h6aacc2f56d1a81e2_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h6aacc2f56d1a81e2_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28" name="Google Shape;928;h6aacc2f56d1a81e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h6b68c852582d2e1c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1" name="Google Shape;961;h6b68c852582d2e1c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h6b68c852582d2e1c_0_2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5" name="Google Shape;975;h6b68c852582d2e1c_0_2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For anyone looking to develop a rigorous visual and mathematical understanding of deep learning, Grant Sanderson's 3Blue1Brown series on neural networks is unparalleled. It provides clear geometric intuition for how high-dimensional vectors, weights, and loss gradients operate before you dive into implementation details or code.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h6aacc2f56d1a81e2_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h6aacc2f56d1a81e2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h6b68c852582d2e1c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h6b68c852582d2e1c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22b8304c37fa5efb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21" name="Google Shape;1021;h22b8304c37fa5efb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h22b8304c37fa5efb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37" name="Google Shape;1037;h22b8304c37fa5efb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h22b8304c37fa5efb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53" name="Google Shape;1053;h22b8304c37fa5efb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22b8304c37fa5efb_10_0)">
  <p:cSld name="Generated (h22b8304c37fa5efb_10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6aacc2f56d1a81e2_2_0)">
  <p:cSld name="Generated (h6aacc2f56d1a81e2_2_0)">
    <p:spTree>
      <p:nvGrpSpPr>
        <p:cNvPr id="10" name="Shape 10"/>
        <p:cNvGrpSpPr/>
        <p:nvPr/>
      </p:nvGrpSpPr>
      <p:grpSpPr>
        <a:xfrm>
          <a:off x="0" y="0"/>
          <a:ext cx="0" cy="0"/>
          <a:chOff x="0" y="0"/>
          <a:chExt cx="0" cy="0"/>
        </a:xfrm>
      </p:grpSpPr>
      <p:sp>
        <p:nvSpPr>
          <p:cNvPr id="11" name="Google Shape;11;p3"/>
          <p:cNvSpPr/>
          <p:nvPr/>
        </p:nvSpPr>
        <p:spPr>
          <a:xfrm>
            <a:off x="0" y="0"/>
            <a:ext cx="9144000" cy="5143500"/>
          </a:xfrm>
          <a:prstGeom prst="rect">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2" name="Google Shape;12;p3"/>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4"/>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4"/>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9"/>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10"/>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11"/>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11"/>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11"/>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2"/>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3"/>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3"/>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0" Type="http://schemas.openxmlformats.org/officeDocument/2006/relationships/image" Target="../media/image40.png"/><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1.png"/><Relationship Id="rId4" Type="http://schemas.openxmlformats.org/officeDocument/2006/relationships/image" Target="../media/image18.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2.png"/><Relationship Id="rId7" Type="http://schemas.openxmlformats.org/officeDocument/2006/relationships/image" Target="../media/image13.png"/><Relationship Id="rId8"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10.png"/><Relationship Id="rId9" Type="http://schemas.openxmlformats.org/officeDocument/2006/relationships/image" Target="../media/image26.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4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22.png"/><Relationship Id="rId6" Type="http://schemas.openxmlformats.org/officeDocument/2006/relationships/image" Target="../media/image21.png"/><Relationship Id="rId7" Type="http://schemas.openxmlformats.org/officeDocument/2006/relationships/image" Target="../media/image2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10.png"/><Relationship Id="rId9" Type="http://schemas.openxmlformats.org/officeDocument/2006/relationships/image" Target="../media/image26.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4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4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www.youtube.com/watch?v=dC-DqjnZonk" TargetMode="External"/><Relationship Id="rId4" Type="http://schemas.openxmlformats.org/officeDocument/2006/relationships/image" Target="../media/image3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7" name="Shape 57"/>
        <p:cNvGrpSpPr/>
        <p:nvPr/>
      </p:nvGrpSpPr>
      <p:grpSpPr>
        <a:xfrm>
          <a:off x="0" y="0"/>
          <a:ext cx="0" cy="0"/>
          <a:chOff x="0" y="0"/>
          <a:chExt cx="0" cy="0"/>
        </a:xfrm>
      </p:grpSpPr>
      <p:sp>
        <p:nvSpPr>
          <p:cNvPr id="58" name="Google Shape;58;p15"/>
          <p:cNvSpPr txBox="1"/>
          <p:nvPr/>
        </p:nvSpPr>
        <p:spPr>
          <a:xfrm>
            <a:off x="381000" y="571500"/>
            <a:ext cx="83820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AI in Architecture</a:t>
            </a:r>
            <a:endParaRPr b="1" sz="2400">
              <a:solidFill>
                <a:srgbClr val="111315"/>
              </a:solidFill>
              <a:latin typeface="Space Grotesk"/>
              <a:ea typeface="Space Grotesk"/>
              <a:cs typeface="Space Grotesk"/>
              <a:sym typeface="Space Grotesk"/>
            </a:endParaRPr>
          </a:p>
          <a:p>
            <a:pPr indent="0" lvl="0" marL="0" rtl="0" algn="l">
              <a:spcBef>
                <a:spcPts val="1200"/>
              </a:spcBef>
              <a:spcAft>
                <a:spcPts val="1200"/>
              </a:spcAft>
              <a:buNone/>
            </a:pPr>
            <a:r>
              <a:rPr b="0" lang="en-GB" sz="1500">
                <a:solidFill>
                  <a:srgbClr val="5A626A"/>
                </a:solidFill>
                <a:latin typeface="Space Grotesk SemiBold"/>
                <a:ea typeface="Space Grotesk SemiBold"/>
                <a:cs typeface="Space Grotesk SemiBold"/>
                <a:sym typeface="Space Grotesk SemiBold"/>
              </a:rPr>
              <a:t>Indrajeet Haldar</a:t>
            </a:r>
            <a:endParaRPr b="0" sz="1500">
              <a:solidFill>
                <a:srgbClr val="5A626A"/>
              </a:solidFill>
              <a:latin typeface="Space Grotesk SemiBold"/>
              <a:ea typeface="Space Grotesk SemiBold"/>
              <a:cs typeface="Space Grotesk SemiBold"/>
              <a:sym typeface="Space Grotesk SemiBold"/>
            </a:endParaRPr>
          </a:p>
        </p:txBody>
      </p:sp>
      <p:grpSp>
        <p:nvGrpSpPr>
          <p:cNvPr id="59" name="Google Shape;59;p15"/>
          <p:cNvGrpSpPr/>
          <p:nvPr/>
        </p:nvGrpSpPr>
        <p:grpSpPr>
          <a:xfrm>
            <a:off x="1714500" y="2476500"/>
            <a:ext cx="5524500" cy="571500"/>
            <a:chOff x="0" y="0"/>
            <a:chExt cx="5524500" cy="571500"/>
          </a:xfrm>
        </p:grpSpPr>
        <p:sp>
          <p:nvSpPr>
            <p:cNvPr id="60" name="Google Shape;60;p15"/>
            <p:cNvSpPr/>
            <p:nvPr/>
          </p:nvSpPr>
          <p:spPr>
            <a:xfrm>
              <a:off x="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 name="Google Shape;61;p15"/>
            <p:cNvSpPr txBox="1"/>
            <p:nvPr/>
          </p:nvSpPr>
          <p:spPr>
            <a:xfrm>
              <a:off x="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x (Input)</a:t>
              </a:r>
              <a:endParaRPr/>
            </a:p>
          </p:txBody>
        </p:sp>
        <p:grpSp>
          <p:nvGrpSpPr>
            <p:cNvPr id="62" name="Google Shape;62;p15"/>
            <p:cNvGrpSpPr/>
            <p:nvPr/>
          </p:nvGrpSpPr>
          <p:grpSpPr>
            <a:xfrm>
              <a:off x="1524000" y="247650"/>
              <a:ext cx="381000" cy="76200"/>
              <a:chOff x="0" y="-38100"/>
              <a:chExt cx="381000" cy="76200"/>
            </a:xfrm>
          </p:grpSpPr>
          <p:cxnSp>
            <p:nvCxnSpPr>
              <p:cNvPr id="63" name="Google Shape;63;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 name="Google Shape;64;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5" name="Google Shape;65;p15"/>
            <p:cNvSpPr/>
            <p:nvPr/>
          </p:nvSpPr>
          <p:spPr>
            <a:xfrm>
              <a:off x="20955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6" name="Google Shape;66;p15"/>
            <p:cNvSpPr txBox="1"/>
            <p:nvPr/>
          </p:nvSpPr>
          <p:spPr>
            <a:xfrm>
              <a:off x="20955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f(x) (Function)</a:t>
              </a:r>
              <a:endParaRPr/>
            </a:p>
          </p:txBody>
        </p:sp>
        <p:grpSp>
          <p:nvGrpSpPr>
            <p:cNvPr id="67" name="Google Shape;67;p15"/>
            <p:cNvGrpSpPr/>
            <p:nvPr/>
          </p:nvGrpSpPr>
          <p:grpSpPr>
            <a:xfrm>
              <a:off x="3619500" y="247650"/>
              <a:ext cx="381000" cy="76200"/>
              <a:chOff x="0" y="-38100"/>
              <a:chExt cx="381000" cy="76200"/>
            </a:xfrm>
          </p:grpSpPr>
          <p:cxnSp>
            <p:nvCxnSpPr>
              <p:cNvPr id="68" name="Google Shape;68;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9" name="Google Shape;69;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0" name="Google Shape;70;p15"/>
            <p:cNvSpPr/>
            <p:nvPr/>
          </p:nvSpPr>
          <p:spPr>
            <a:xfrm>
              <a:off x="41910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15"/>
            <p:cNvSpPr txBox="1"/>
            <p:nvPr/>
          </p:nvSpPr>
          <p:spPr>
            <a:xfrm>
              <a:off x="41910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y (Output)</a:t>
              </a:r>
              <a:endParaRPr/>
            </a:p>
          </p:txBody>
        </p:sp>
      </p:grpSp>
      <p:grpSp>
        <p:nvGrpSpPr>
          <p:cNvPr id="72" name="Google Shape;72;p15"/>
          <p:cNvGrpSpPr/>
          <p:nvPr/>
        </p:nvGrpSpPr>
        <p:grpSpPr>
          <a:xfrm>
            <a:off x="381000" y="4762500"/>
            <a:ext cx="8382000" cy="285750"/>
            <a:chOff x="381000" y="4762500"/>
            <a:chExt cx="8382000" cy="285750"/>
          </a:xfrm>
        </p:grpSpPr>
        <p:cxnSp>
          <p:nvCxnSpPr>
            <p:cNvPr id="73" name="Google Shape;73;p1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4" name="Google Shape;74;p1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Presentation Outline</a:t>
            </a:r>
            <a:endParaRPr b="1" sz="2400">
              <a:solidFill>
                <a:srgbClr val="111315"/>
              </a:solidFill>
              <a:latin typeface="Space Grotesk"/>
              <a:ea typeface="Space Grotesk"/>
              <a:cs typeface="Space Grotesk"/>
              <a:sym typeface="Space Grotesk"/>
            </a:endParaRPr>
          </a:p>
        </p:txBody>
      </p:sp>
      <p:sp>
        <p:nvSpPr>
          <p:cNvPr id="80" name="Google Shape;80;p16"/>
          <p:cNvSpPr txBox="1"/>
          <p:nvPr/>
        </p:nvSpPr>
        <p:spPr>
          <a:xfrm>
            <a:off x="381000" y="1143000"/>
            <a:ext cx="8001000" cy="3238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b="0" i="0" lang="en-GB" sz="1200" u="none" strike="noStrike">
                <a:solidFill>
                  <a:srgbClr val="D9381E"/>
                </a:solidFill>
                <a:latin typeface="Space Grotesk"/>
                <a:ea typeface="Space Grotesk"/>
                <a:cs typeface="Space Grotesk"/>
                <a:sym typeface="Space Grotesk"/>
              </a:rPr>
              <a:t>1. Overview: Polynomial Functions to Transformers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2. Function of LLMs, Coding Harnesses, and MCPs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3. Examples: Rhino MCP, Grasshopper, and Autodesk</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4. System Characteristics: Computational Optimization and Cross-Domain Methods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1500"/>
              </a:spcAft>
              <a:buNone/>
            </a:pPr>
            <a:r>
              <a:rPr b="0" i="0" lang="en-GB" sz="1200" u="none" strike="noStrike">
                <a:solidFill>
                  <a:srgbClr val="D9381E"/>
                </a:solidFill>
                <a:latin typeface="Space Grotesk"/>
                <a:ea typeface="Space Grotesk"/>
                <a:cs typeface="Space Grotesk"/>
                <a:sym typeface="Space Grotesk"/>
              </a:rPr>
              <a:t>5. Questions and Answers (30 minutes)</a:t>
            </a:r>
            <a:endParaRPr b="0" i="0" sz="1200" u="none" strike="noStrike">
              <a:solidFill>
                <a:srgbClr val="D9381E"/>
              </a:solidFill>
              <a:latin typeface="Space Grotesk"/>
              <a:ea typeface="Space Grotesk"/>
              <a:cs typeface="Space Grotesk"/>
              <a:sym typeface="Space Grotesk"/>
            </a:endParaRPr>
          </a:p>
        </p:txBody>
      </p:sp>
      <p:grpSp>
        <p:nvGrpSpPr>
          <p:cNvPr id="81" name="Google Shape;81;p16"/>
          <p:cNvGrpSpPr/>
          <p:nvPr/>
        </p:nvGrpSpPr>
        <p:grpSpPr>
          <a:xfrm>
            <a:off x="381000" y="4762500"/>
            <a:ext cx="8382000" cy="285750"/>
            <a:chOff x="381000" y="4762500"/>
            <a:chExt cx="8382000" cy="285750"/>
          </a:xfrm>
        </p:grpSpPr>
        <p:cxnSp>
          <p:nvCxnSpPr>
            <p:cNvPr id="82" name="Google Shape;82;p1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3" name="Google Shape;83;p1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7"/>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 Basic Polynomial Function: y = mx + c</a:t>
            </a:r>
            <a:endParaRPr b="1" sz="2400">
              <a:solidFill>
                <a:srgbClr val="111315"/>
              </a:solidFill>
              <a:latin typeface="Space Grotesk"/>
              <a:ea typeface="Space Grotesk"/>
              <a:cs typeface="Space Grotesk"/>
              <a:sym typeface="Space Grotesk"/>
            </a:endParaRPr>
          </a:p>
        </p:txBody>
      </p:sp>
      <p:grpSp>
        <p:nvGrpSpPr>
          <p:cNvPr id="89" name="Google Shape;89;p17"/>
          <p:cNvGrpSpPr/>
          <p:nvPr/>
        </p:nvGrpSpPr>
        <p:grpSpPr>
          <a:xfrm>
            <a:off x="571500" y="857250"/>
            <a:ext cx="8001000" cy="342900"/>
            <a:chOff x="0" y="0"/>
            <a:chExt cx="8001000" cy="342900"/>
          </a:xfrm>
        </p:grpSpPr>
        <p:sp>
          <p:nvSpPr>
            <p:cNvPr id="90" name="Google Shape;90;p17"/>
            <p:cNvSpPr/>
            <p:nvPr/>
          </p:nvSpPr>
          <p:spPr>
            <a:xfrm>
              <a:off x="0" y="0"/>
              <a:ext cx="8001000" cy="3429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 name="Google Shape;91;p17"/>
            <p:cNvSpPr txBox="1"/>
            <p:nvPr/>
          </p:nvSpPr>
          <p:spPr>
            <a:xfrm>
              <a:off x="142875" y="76200"/>
              <a:ext cx="7715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y = 4.5x + 20</a:t>
              </a:r>
              <a:r>
                <a:rPr b="0" lang="en-GB" sz="750">
                  <a:solidFill>
                    <a:srgbClr val="111315"/>
                  </a:solidFill>
                  <a:latin typeface="JetBrains Mono"/>
                  <a:ea typeface="JetBrains Mono"/>
                  <a:cs typeface="JetBrains Mono"/>
                  <a:sym typeface="JetBrains Mono"/>
                </a:rPr>
                <a:t> | x = student count, m = 4.5 sq m/student, c = 20 sq m buffer, y = studio area</a:t>
              </a:r>
              <a:endParaRPr b="0" sz="750">
                <a:solidFill>
                  <a:srgbClr val="111315"/>
                </a:solidFill>
                <a:latin typeface="JetBrains Mono"/>
                <a:ea typeface="JetBrains Mono"/>
                <a:cs typeface="JetBrains Mono"/>
                <a:sym typeface="JetBrains Mono"/>
              </a:endParaRPr>
            </a:p>
          </p:txBody>
        </p:sp>
      </p:grpSp>
      <p:grpSp>
        <p:nvGrpSpPr>
          <p:cNvPr id="92" name="Google Shape;92;p17"/>
          <p:cNvGrpSpPr/>
          <p:nvPr/>
        </p:nvGrpSpPr>
        <p:grpSpPr>
          <a:xfrm>
            <a:off x="571500" y="1333500"/>
            <a:ext cx="2667000" cy="1905000"/>
            <a:chOff x="0" y="0"/>
            <a:chExt cx="2667000" cy="1905000"/>
          </a:xfrm>
        </p:grpSpPr>
        <p:sp>
          <p:nvSpPr>
            <p:cNvPr id="93" name="Google Shape;93;p17"/>
            <p:cNvSpPr/>
            <p:nvPr/>
          </p:nvSpPr>
          <p:spPr>
            <a:xfrm>
              <a:off x="0" y="0"/>
              <a:ext cx="2667000" cy="1905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4" name="Google Shape;94;p17"/>
            <p:cNvCxnSpPr/>
            <p:nvPr/>
          </p:nvCxnSpPr>
          <p:spPr>
            <a:xfrm>
              <a:off x="0" y="381000"/>
              <a:ext cx="2667000" cy="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95" name="Google Shape;95;p17"/>
            <p:cNvCxnSpPr/>
            <p:nvPr/>
          </p:nvCxnSpPr>
          <p:spPr>
            <a:xfrm>
              <a:off x="0" y="762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6" name="Google Shape;96;p17"/>
            <p:cNvCxnSpPr/>
            <p:nvPr/>
          </p:nvCxnSpPr>
          <p:spPr>
            <a:xfrm>
              <a:off x="0" y="1143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7" name="Google Shape;97;p17"/>
            <p:cNvCxnSpPr/>
            <p:nvPr/>
          </p:nvCxnSpPr>
          <p:spPr>
            <a:xfrm>
              <a:off x="0" y="1524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8" name="Google Shape;98;p17"/>
            <p:cNvCxnSpPr/>
            <p:nvPr/>
          </p:nvCxnSpPr>
          <p:spPr>
            <a:xfrm>
              <a:off x="1333500" y="0"/>
              <a:ext cx="0" cy="19050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 name="Google Shape;99;p17"/>
            <p:cNvSpPr txBox="1"/>
            <p:nvPr/>
          </p:nvSpPr>
          <p:spPr>
            <a:xfrm>
              <a:off x="1143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Students (x)</a:t>
              </a:r>
              <a:endParaRPr b="1" sz="750">
                <a:solidFill>
                  <a:srgbClr val="111315"/>
                </a:solidFill>
                <a:latin typeface="JetBrains Mono"/>
                <a:ea typeface="JetBrains Mono"/>
                <a:cs typeface="JetBrains Mono"/>
                <a:sym typeface="JetBrains Mono"/>
              </a:endParaRPr>
            </a:p>
          </p:txBody>
        </p:sp>
        <p:sp>
          <p:nvSpPr>
            <p:cNvPr id="100" name="Google Shape;100;p17"/>
            <p:cNvSpPr txBox="1"/>
            <p:nvPr/>
          </p:nvSpPr>
          <p:spPr>
            <a:xfrm>
              <a:off x="14478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Area (sq m) (y)</a:t>
              </a:r>
              <a:endParaRPr b="1" sz="750">
                <a:solidFill>
                  <a:srgbClr val="111315"/>
                </a:solidFill>
                <a:latin typeface="JetBrains Mono"/>
                <a:ea typeface="JetBrains Mono"/>
                <a:cs typeface="JetBrains Mono"/>
                <a:sym typeface="JetBrains Mono"/>
              </a:endParaRPr>
            </a:p>
          </p:txBody>
        </p:sp>
        <p:sp>
          <p:nvSpPr>
            <p:cNvPr id="101" name="Google Shape;101;p17"/>
            <p:cNvSpPr txBox="1"/>
            <p:nvPr/>
          </p:nvSpPr>
          <p:spPr>
            <a:xfrm>
              <a:off x="1143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sp>
          <p:nvSpPr>
            <p:cNvPr id="102" name="Google Shape;102;p17"/>
            <p:cNvSpPr txBox="1"/>
            <p:nvPr/>
          </p:nvSpPr>
          <p:spPr>
            <a:xfrm>
              <a:off x="14478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sp>
          <p:nvSpPr>
            <p:cNvPr id="103" name="Google Shape;103;p17"/>
            <p:cNvSpPr txBox="1"/>
            <p:nvPr/>
          </p:nvSpPr>
          <p:spPr>
            <a:xfrm>
              <a:off x="1143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sp>
          <p:nvSpPr>
            <p:cNvPr id="104" name="Google Shape;104;p17"/>
            <p:cNvSpPr txBox="1"/>
            <p:nvPr/>
          </p:nvSpPr>
          <p:spPr>
            <a:xfrm>
              <a:off x="14478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sp>
          <p:nvSpPr>
            <p:cNvPr id="105" name="Google Shape;105;p17"/>
            <p:cNvSpPr txBox="1"/>
            <p:nvPr/>
          </p:nvSpPr>
          <p:spPr>
            <a:xfrm>
              <a:off x="1143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sp>
          <p:nvSpPr>
            <p:cNvPr id="106" name="Google Shape;106;p17"/>
            <p:cNvSpPr txBox="1"/>
            <p:nvPr/>
          </p:nvSpPr>
          <p:spPr>
            <a:xfrm>
              <a:off x="14478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sp>
          <p:nvSpPr>
            <p:cNvPr id="107" name="Google Shape;107;p17"/>
            <p:cNvSpPr txBox="1"/>
            <p:nvPr/>
          </p:nvSpPr>
          <p:spPr>
            <a:xfrm>
              <a:off x="1143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sp>
          <p:nvSpPr>
            <p:cNvPr id="108" name="Google Shape;108;p17"/>
            <p:cNvSpPr txBox="1"/>
            <p:nvPr/>
          </p:nvSpPr>
          <p:spPr>
            <a:xfrm>
              <a:off x="14478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grpSp>
      <p:grpSp>
        <p:nvGrpSpPr>
          <p:cNvPr id="109" name="Google Shape;109;p17"/>
          <p:cNvGrpSpPr/>
          <p:nvPr/>
        </p:nvGrpSpPr>
        <p:grpSpPr>
          <a:xfrm>
            <a:off x="3619500" y="1333500"/>
            <a:ext cx="4953000" cy="2857500"/>
            <a:chOff x="0" y="0"/>
            <a:chExt cx="4953000" cy="2857500"/>
          </a:xfrm>
        </p:grpSpPr>
        <p:sp>
          <p:nvSpPr>
            <p:cNvPr id="110" name="Google Shape;110;p17"/>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1" name="Google Shape;111;p17"/>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2" name="Google Shape;112;p17"/>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3" name="Google Shape;113;p17"/>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4" name="Google Shape;114;p17"/>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7"/>
            <p:cNvSpPr txBox="1"/>
            <p:nvPr/>
          </p:nvSpPr>
          <p:spPr>
            <a:xfrm>
              <a:off x="104925" y="28209"/>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16" name="Google Shape;116;p17"/>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17" name="Google Shape;117;p17"/>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18" name="Google Shape;118;p17"/>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19" name="Google Shape;119;p17"/>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0" name="Google Shape;120;p17"/>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21" name="Google Shape;121;p17"/>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2" name="Google Shape;122;p17"/>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23" name="Google Shape;123;p17"/>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4" name="Google Shape;124;p17"/>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25" name="Google Shape;125;p17"/>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6" name="Google Shape;126;p17"/>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27" name="Google Shape;127;p17"/>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8" name="Google Shape;128;p17"/>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29" name="Google Shape;129;p17"/>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0" name="Google Shape;130;p17"/>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31" name="Google Shape;131;p17"/>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2" name="Google Shape;132;p17"/>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pic>
          <p:nvPicPr>
            <p:cNvPr id="133" name="Google Shape;133;p17"/>
            <p:cNvPicPr preferRelativeResize="0"/>
            <p:nvPr/>
          </p:nvPicPr>
          <p:blipFill rotWithShape="1">
            <a:blip r:embed="rId3">
              <a:alphaModFix/>
            </a:blip>
            <a:srcRect b="0" l="0" r="0" t="0"/>
            <a:stretch/>
          </p:blipFill>
          <p:spPr>
            <a:xfrm>
              <a:off x="1100138" y="2009775"/>
              <a:ext cx="9600" cy="466800"/>
            </a:xfrm>
            <a:prstGeom prst="rect">
              <a:avLst/>
            </a:prstGeom>
            <a:noFill/>
            <a:ln>
              <a:noFill/>
            </a:ln>
          </p:spPr>
        </p:pic>
        <p:pic>
          <p:nvPicPr>
            <p:cNvPr id="134" name="Google Shape;134;p17"/>
            <p:cNvPicPr preferRelativeResize="0"/>
            <p:nvPr/>
          </p:nvPicPr>
          <p:blipFill rotWithShape="1">
            <a:blip r:embed="rId4">
              <a:alphaModFix/>
            </a:blip>
            <a:srcRect b="0" l="0" r="0" t="0"/>
            <a:stretch/>
          </p:blipFill>
          <p:spPr>
            <a:xfrm>
              <a:off x="571500" y="2005013"/>
              <a:ext cx="533400" cy="9600"/>
            </a:xfrm>
            <a:prstGeom prst="rect">
              <a:avLst/>
            </a:prstGeom>
            <a:noFill/>
            <a:ln>
              <a:noFill/>
            </a:ln>
          </p:spPr>
        </p:pic>
        <p:pic>
          <p:nvPicPr>
            <p:cNvPr id="135" name="Google Shape;135;p17"/>
            <p:cNvPicPr preferRelativeResize="0"/>
            <p:nvPr/>
          </p:nvPicPr>
          <p:blipFill rotWithShape="1">
            <a:blip r:embed="rId5">
              <a:alphaModFix/>
            </a:blip>
            <a:srcRect b="0" l="0" r="0" t="0"/>
            <a:stretch/>
          </p:blipFill>
          <p:spPr>
            <a:xfrm>
              <a:off x="1633538" y="1704975"/>
              <a:ext cx="9600" cy="771600"/>
            </a:xfrm>
            <a:prstGeom prst="rect">
              <a:avLst/>
            </a:prstGeom>
            <a:noFill/>
            <a:ln>
              <a:noFill/>
            </a:ln>
          </p:spPr>
        </p:pic>
        <p:pic>
          <p:nvPicPr>
            <p:cNvPr id="136" name="Google Shape;136;p17"/>
            <p:cNvPicPr preferRelativeResize="0"/>
            <p:nvPr/>
          </p:nvPicPr>
          <p:blipFill rotWithShape="1">
            <a:blip r:embed="rId6">
              <a:alphaModFix/>
            </a:blip>
            <a:srcRect b="0" l="0" r="0" t="0"/>
            <a:stretch/>
          </p:blipFill>
          <p:spPr>
            <a:xfrm>
              <a:off x="571500" y="1690688"/>
              <a:ext cx="1057200" cy="9600"/>
            </a:xfrm>
            <a:prstGeom prst="rect">
              <a:avLst/>
            </a:prstGeom>
            <a:noFill/>
            <a:ln>
              <a:noFill/>
            </a:ln>
          </p:spPr>
        </p:pic>
        <p:pic>
          <p:nvPicPr>
            <p:cNvPr id="137" name="Google Shape;137;p17"/>
            <p:cNvPicPr preferRelativeResize="0"/>
            <p:nvPr/>
          </p:nvPicPr>
          <p:blipFill rotWithShape="1">
            <a:blip r:embed="rId7">
              <a:alphaModFix/>
            </a:blip>
            <a:srcRect b="0" l="0" r="0" t="0"/>
            <a:stretch/>
          </p:blipFill>
          <p:spPr>
            <a:xfrm>
              <a:off x="2700338" y="1076325"/>
              <a:ext cx="9600" cy="1400100"/>
            </a:xfrm>
            <a:prstGeom prst="rect">
              <a:avLst/>
            </a:prstGeom>
            <a:noFill/>
            <a:ln>
              <a:noFill/>
            </a:ln>
          </p:spPr>
        </p:pic>
        <p:pic>
          <p:nvPicPr>
            <p:cNvPr id="138" name="Google Shape;138;p17"/>
            <p:cNvPicPr preferRelativeResize="0"/>
            <p:nvPr/>
          </p:nvPicPr>
          <p:blipFill rotWithShape="1">
            <a:blip r:embed="rId8">
              <a:alphaModFix/>
            </a:blip>
            <a:srcRect b="0" l="0" r="0" t="0"/>
            <a:stretch/>
          </p:blipFill>
          <p:spPr>
            <a:xfrm>
              <a:off x="571500" y="1042988"/>
              <a:ext cx="2133600" cy="9600"/>
            </a:xfrm>
            <a:prstGeom prst="rect">
              <a:avLst/>
            </a:prstGeom>
            <a:noFill/>
            <a:ln>
              <a:noFill/>
            </a:ln>
          </p:spPr>
        </p:pic>
        <p:pic>
          <p:nvPicPr>
            <p:cNvPr id="139" name="Google Shape;139;p17"/>
            <p:cNvPicPr preferRelativeResize="0"/>
            <p:nvPr/>
          </p:nvPicPr>
          <p:blipFill rotWithShape="1">
            <a:blip r:embed="rId9">
              <a:alphaModFix/>
            </a:blip>
            <a:srcRect b="0" l="0" r="0" t="0"/>
            <a:stretch/>
          </p:blipFill>
          <p:spPr>
            <a:xfrm>
              <a:off x="3767138" y="409575"/>
              <a:ext cx="9600" cy="2067000"/>
            </a:xfrm>
            <a:prstGeom prst="rect">
              <a:avLst/>
            </a:prstGeom>
            <a:noFill/>
            <a:ln>
              <a:noFill/>
            </a:ln>
          </p:spPr>
        </p:pic>
        <p:pic>
          <p:nvPicPr>
            <p:cNvPr id="140" name="Google Shape;140;p17"/>
            <p:cNvPicPr preferRelativeResize="0"/>
            <p:nvPr/>
          </p:nvPicPr>
          <p:blipFill rotWithShape="1">
            <a:blip r:embed="rId10">
              <a:alphaModFix/>
            </a:blip>
            <a:srcRect b="0" l="0" r="0" t="0"/>
            <a:stretch/>
          </p:blipFill>
          <p:spPr>
            <a:xfrm>
              <a:off x="571500" y="404813"/>
              <a:ext cx="3171900" cy="9600"/>
            </a:xfrm>
            <a:prstGeom prst="rect">
              <a:avLst/>
            </a:prstGeom>
            <a:noFill/>
            <a:ln>
              <a:noFill/>
            </a:ln>
          </p:spPr>
        </p:pic>
        <p:cxnSp>
          <p:nvCxnSpPr>
            <p:cNvPr id="141" name="Google Shape;141;p17"/>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42" name="Google Shape;142;p17"/>
            <p:cNvSpPr/>
            <p:nvPr/>
          </p:nvSpPr>
          <p:spPr>
            <a:xfrm>
              <a:off x="1066800" y="19716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17"/>
            <p:cNvSpPr/>
            <p:nvPr/>
          </p:nvSpPr>
          <p:spPr>
            <a:xfrm>
              <a:off x="1600200" y="16573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7"/>
            <p:cNvSpPr/>
            <p:nvPr/>
          </p:nvSpPr>
          <p:spPr>
            <a:xfrm>
              <a:off x="2667000" y="10096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p:nvPr/>
          </p:nvSpPr>
          <p:spPr>
            <a:xfrm>
              <a:off x="3733800" y="3714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46" name="Google Shape;146;p17"/>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Legendre (1805); synthetic illustrative dataset.</a:t>
            </a:r>
            <a:endParaRPr b="0" i="0" sz="750" u="none" strike="noStrike">
              <a:solidFill>
                <a:srgbClr val="5A626A"/>
              </a:solidFill>
              <a:latin typeface="JetBrains Mono"/>
              <a:ea typeface="JetBrains Mono"/>
              <a:cs typeface="JetBrains Mono"/>
              <a:sym typeface="JetBrains Mono"/>
            </a:endParaRPr>
          </a:p>
        </p:txBody>
      </p:sp>
      <p:grpSp>
        <p:nvGrpSpPr>
          <p:cNvPr id="147" name="Google Shape;147;p17"/>
          <p:cNvGrpSpPr/>
          <p:nvPr/>
        </p:nvGrpSpPr>
        <p:grpSpPr>
          <a:xfrm>
            <a:off x="381000" y="4762500"/>
            <a:ext cx="8382000" cy="285750"/>
            <a:chOff x="381000" y="4762500"/>
            <a:chExt cx="8382000" cy="285750"/>
          </a:xfrm>
        </p:grpSpPr>
        <p:cxnSp>
          <p:nvCxnSpPr>
            <p:cNvPr id="148" name="Google Shape;148;p1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49" name="Google Shape;149;p1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8"/>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a:t>
            </a:r>
            <a:r>
              <a:rPr b="1" lang="en-GB" sz="2400">
                <a:solidFill>
                  <a:srgbClr val="111315"/>
                </a:solidFill>
                <a:latin typeface="Space Grotesk"/>
                <a:ea typeface="Space Grotesk"/>
                <a:cs typeface="Space Grotesk"/>
                <a:sym typeface="Space Grotesk"/>
              </a:rPr>
              <a:t>Functions</a:t>
            </a:r>
            <a:endParaRPr b="1" sz="2400">
              <a:solidFill>
                <a:srgbClr val="111315"/>
              </a:solidFill>
              <a:latin typeface="Space Grotesk"/>
              <a:ea typeface="Space Grotesk"/>
              <a:cs typeface="Space Grotesk"/>
              <a:sym typeface="Space Grotesk"/>
            </a:endParaRPr>
          </a:p>
        </p:txBody>
      </p:sp>
      <p:grpSp>
        <p:nvGrpSpPr>
          <p:cNvPr id="155" name="Google Shape;155;p18"/>
          <p:cNvGrpSpPr/>
          <p:nvPr/>
        </p:nvGrpSpPr>
        <p:grpSpPr>
          <a:xfrm>
            <a:off x="381000" y="4762500"/>
            <a:ext cx="8382000" cy="285750"/>
            <a:chOff x="381000" y="4762500"/>
            <a:chExt cx="8382000" cy="285750"/>
          </a:xfrm>
        </p:grpSpPr>
        <p:cxnSp>
          <p:nvCxnSpPr>
            <p:cNvPr id="156" name="Google Shape;156;p1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57" name="Google Shape;157;p1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158" name="Google Shape;158;p18"/>
          <p:cNvGrpSpPr/>
          <p:nvPr/>
        </p:nvGrpSpPr>
        <p:grpSpPr>
          <a:xfrm>
            <a:off x="2095500" y="1012500"/>
            <a:ext cx="4953000" cy="3178500"/>
            <a:chOff x="3619500" y="1012500"/>
            <a:chExt cx="4953000" cy="3178500"/>
          </a:xfrm>
        </p:grpSpPr>
        <p:grpSp>
          <p:nvGrpSpPr>
            <p:cNvPr id="159" name="Google Shape;159;p18"/>
            <p:cNvGrpSpPr/>
            <p:nvPr/>
          </p:nvGrpSpPr>
          <p:grpSpPr>
            <a:xfrm>
              <a:off x="3619500" y="1159092"/>
              <a:ext cx="4953000" cy="3031908"/>
              <a:chOff x="0" y="-174408"/>
              <a:chExt cx="4953000" cy="3031908"/>
            </a:xfrm>
          </p:grpSpPr>
          <p:sp>
            <p:nvSpPr>
              <p:cNvPr id="160" name="Google Shape;160;p18"/>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1" name="Google Shape;161;p18"/>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2" name="Google Shape;162;p18"/>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3" name="Google Shape;163;p18"/>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4" name="Google Shape;164;p18"/>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5" name="Google Shape;165;p18"/>
              <p:cNvSpPr txBox="1"/>
              <p:nvPr/>
            </p:nvSpPr>
            <p:spPr>
              <a:xfrm rot="-5400000">
                <a:off x="-412368" y="301842"/>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66" name="Google Shape;166;p18"/>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67" name="Google Shape;167;p18"/>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68" name="Google Shape;168;p18"/>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69" name="Google Shape;169;p18"/>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0" name="Google Shape;170;p18"/>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71" name="Google Shape;171;p18"/>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2" name="Google Shape;172;p18"/>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73" name="Google Shape;173;p18"/>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4" name="Google Shape;174;p18"/>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75" name="Google Shape;175;p18"/>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6" name="Google Shape;176;p18"/>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77" name="Google Shape;177;p18"/>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8" name="Google Shape;178;p18"/>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79" name="Google Shape;179;p18"/>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0" name="Google Shape;180;p18"/>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81" name="Google Shape;181;p18"/>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2" name="Google Shape;182;p18"/>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cxnSp>
            <p:nvCxnSpPr>
              <p:cNvPr id="183" name="Google Shape;183;p18"/>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84" name="Google Shape;184;p18"/>
              <p:cNvSpPr/>
              <p:nvPr/>
            </p:nvSpPr>
            <p:spPr>
              <a:xfrm>
                <a:off x="1066800" y="19716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5" name="Google Shape;185;p18"/>
              <p:cNvSpPr/>
              <p:nvPr/>
            </p:nvSpPr>
            <p:spPr>
              <a:xfrm>
                <a:off x="1600200" y="16573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8"/>
              <p:cNvSpPr/>
              <p:nvPr/>
            </p:nvSpPr>
            <p:spPr>
              <a:xfrm>
                <a:off x="2667000" y="9810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8"/>
              <p:cNvSpPr/>
              <p:nvPr/>
            </p:nvSpPr>
            <p:spPr>
              <a:xfrm>
                <a:off x="3700550" y="342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cxnSp>
          <p:nvCxnSpPr>
            <p:cNvPr id="188" name="Google Shape;188;p18"/>
            <p:cNvCxnSpPr/>
            <p:nvPr/>
          </p:nvCxnSpPr>
          <p:spPr>
            <a:xfrm flipH="1" rot="10800000">
              <a:off x="5372850" y="1581250"/>
              <a:ext cx="887700" cy="218250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189" name="Google Shape;189;p18"/>
            <p:cNvSpPr txBox="1"/>
            <p:nvPr/>
          </p:nvSpPr>
          <p:spPr>
            <a:xfrm rot="-5400000">
              <a:off x="3374398" y="14887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Airflow </a:t>
              </a:r>
              <a:r>
                <a:rPr b="1" lang="en-GB" sz="750">
                  <a:solidFill>
                    <a:srgbClr val="1D4ED8"/>
                  </a:solidFill>
                  <a:latin typeface="JetBrains Mono"/>
                  <a:ea typeface="JetBrains Mono"/>
                  <a:cs typeface="JetBrains Mono"/>
                  <a:sym typeface="JetBrains Mono"/>
                </a:rPr>
                <a:t>(y)</a:t>
              </a:r>
              <a:endParaRPr b="1" sz="750">
                <a:solidFill>
                  <a:srgbClr val="1D4ED8"/>
                </a:solidFill>
                <a:latin typeface="JetBrains Mono"/>
                <a:ea typeface="JetBrains Mono"/>
                <a:cs typeface="JetBrains Mono"/>
                <a:sym typeface="JetBrains Mono"/>
              </a:endParaRPr>
            </a:p>
          </p:txBody>
        </p:sp>
        <p:sp>
          <p:nvSpPr>
            <p:cNvPr id="190" name="Google Shape;190;p18"/>
            <p:cNvSpPr/>
            <p:nvPr/>
          </p:nvSpPr>
          <p:spPr>
            <a:xfrm>
              <a:off x="5538175" y="32385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18"/>
            <p:cNvSpPr/>
            <p:nvPr/>
          </p:nvSpPr>
          <p:spPr>
            <a:xfrm>
              <a:off x="5988250" y="2120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2" name="Google Shape;192;p18"/>
            <p:cNvSpPr/>
            <p:nvPr/>
          </p:nvSpPr>
          <p:spPr>
            <a:xfrm>
              <a:off x="5847950" y="2461825"/>
              <a:ext cx="76200" cy="76200"/>
            </a:xfrm>
            <a:prstGeom prst="ellipse">
              <a:avLst/>
            </a:prstGeom>
            <a:solidFill>
              <a:srgbClr val="000000"/>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8"/>
            <p:cNvSpPr/>
            <p:nvPr/>
          </p:nvSpPr>
          <p:spPr>
            <a:xfrm>
              <a:off x="6486525" y="18750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8"/>
            <p:cNvSpPr txBox="1"/>
            <p:nvPr/>
          </p:nvSpPr>
          <p:spPr>
            <a:xfrm>
              <a:off x="6322075" y="1581237"/>
              <a:ext cx="11430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Interpolated value</a:t>
              </a:r>
              <a:endParaRPr b="1" i="0" sz="750" u="none" strike="noStrike">
                <a:solidFill>
                  <a:srgbClr val="1D4ED8"/>
                </a:solidFill>
                <a:latin typeface="JetBrains Mono"/>
                <a:ea typeface="JetBrains Mono"/>
                <a:cs typeface="JetBrains Mono"/>
                <a:sym typeface="JetBrains Mono"/>
              </a:endParaRPr>
            </a:p>
          </p:txBody>
        </p:sp>
      </p:grpSp>
      <p:sp>
        <p:nvSpPr>
          <p:cNvPr id="195" name="Google Shape;195;p18"/>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Note: Simplified mathematical representation shown.</a:t>
            </a:r>
            <a:endParaRPr b="0" i="0" sz="750" u="none" strike="noStrike">
              <a:solidFill>
                <a:srgbClr val="5A626A"/>
              </a:solidFill>
              <a:latin typeface="JetBrains Mono"/>
              <a:ea typeface="JetBrains Mono"/>
              <a:cs typeface="JetBrains Mono"/>
              <a:sym typeface="JetBrains Mon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9"/>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Dense Neurons</a:t>
            </a:r>
            <a:endParaRPr b="1" sz="2400">
              <a:solidFill>
                <a:srgbClr val="111315"/>
              </a:solidFill>
              <a:latin typeface="Space Grotesk"/>
              <a:ea typeface="Space Grotesk"/>
              <a:cs typeface="Space Grotesk"/>
              <a:sym typeface="Space Grotesk"/>
            </a:endParaRPr>
          </a:p>
        </p:txBody>
      </p:sp>
      <p:grpSp>
        <p:nvGrpSpPr>
          <p:cNvPr id="201" name="Google Shape;201;p19"/>
          <p:cNvGrpSpPr/>
          <p:nvPr/>
        </p:nvGrpSpPr>
        <p:grpSpPr>
          <a:xfrm>
            <a:off x="762000" y="1095375"/>
            <a:ext cx="7239000" cy="2381400"/>
            <a:chOff x="762000" y="1095375"/>
            <a:chExt cx="7239000" cy="2381400"/>
          </a:xfrm>
        </p:grpSpPr>
        <p:grpSp>
          <p:nvGrpSpPr>
            <p:cNvPr id="202" name="Google Shape;202;p19"/>
            <p:cNvGrpSpPr/>
            <p:nvPr/>
          </p:nvGrpSpPr>
          <p:grpSpPr>
            <a:xfrm>
              <a:off x="762000" y="2047875"/>
              <a:ext cx="1047900" cy="476400"/>
              <a:chOff x="0" y="0"/>
              <a:chExt cx="1047900" cy="476400"/>
            </a:xfrm>
          </p:grpSpPr>
          <p:sp>
            <p:nvSpPr>
              <p:cNvPr id="203" name="Google Shape;203;p19"/>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19"/>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a:t>
                </a:r>
                <a:endParaRPr b="1" sz="1050">
                  <a:solidFill>
                    <a:srgbClr val="111315"/>
                  </a:solidFill>
                  <a:latin typeface="Inter"/>
                  <a:ea typeface="Inter"/>
                  <a:cs typeface="Inter"/>
                  <a:sym typeface="Inter"/>
                </a:endParaRPr>
              </a:p>
            </p:txBody>
          </p:sp>
        </p:grpSp>
        <p:grpSp>
          <p:nvGrpSpPr>
            <p:cNvPr id="205" name="Google Shape;205;p19"/>
            <p:cNvGrpSpPr/>
            <p:nvPr/>
          </p:nvGrpSpPr>
          <p:grpSpPr>
            <a:xfrm>
              <a:off x="2476500" y="1095375"/>
              <a:ext cx="1047900" cy="1047900"/>
              <a:chOff x="0" y="0"/>
              <a:chExt cx="1047900" cy="1047900"/>
            </a:xfrm>
          </p:grpSpPr>
          <p:sp>
            <p:nvSpPr>
              <p:cNvPr id="206" name="Google Shape;206;p19"/>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7" name="Google Shape;207;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208" name="Google Shape;208;p19"/>
            <p:cNvGrpSpPr/>
            <p:nvPr/>
          </p:nvGrpSpPr>
          <p:grpSpPr>
            <a:xfrm>
              <a:off x="2476500" y="2428875"/>
              <a:ext cx="1047900" cy="1047900"/>
              <a:chOff x="0" y="0"/>
              <a:chExt cx="1047900" cy="1047900"/>
            </a:xfrm>
          </p:grpSpPr>
          <p:sp>
            <p:nvSpPr>
              <p:cNvPr id="209" name="Google Shape;209;p19"/>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0" name="Google Shape;210;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211" name="Google Shape;211;p19"/>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212" name="Google Shape;212;p19"/>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213" name="Google Shape;213;p19"/>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214" name="Google Shape;214;p19"/>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215" name="Google Shape;215;p19"/>
            <p:cNvGrpSpPr/>
            <p:nvPr/>
          </p:nvGrpSpPr>
          <p:grpSpPr>
            <a:xfrm>
              <a:off x="5334000" y="1238250"/>
              <a:ext cx="2667000" cy="2095500"/>
              <a:chOff x="0" y="0"/>
              <a:chExt cx="2667000" cy="2095500"/>
            </a:xfrm>
          </p:grpSpPr>
          <p:sp>
            <p:nvSpPr>
              <p:cNvPr id="216" name="Google Shape;216;p19"/>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17" name="Google Shape;217;p19"/>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218" name="Google Shape;218;p19"/>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2D Latent Space</a:t>
                </a:r>
                <a:endParaRPr b="1" sz="975">
                  <a:solidFill>
                    <a:srgbClr val="111315"/>
                  </a:solidFill>
                  <a:latin typeface="Inter"/>
                  <a:ea typeface="Inter"/>
                  <a:cs typeface="Inter"/>
                  <a:sym typeface="Inter"/>
                </a:endParaRPr>
              </a:p>
            </p:txBody>
          </p:sp>
          <p:cxnSp>
            <p:nvCxnSpPr>
              <p:cNvPr id="219" name="Google Shape;219;p19"/>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0" name="Google Shape;220;p19"/>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19"/>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222" name="Google Shape;222;p19"/>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3" name="Google Shape;223;p19"/>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4" name="Google Shape;224;p19"/>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225" name="Google Shape;225;p19"/>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226" name="Google Shape;226;p19"/>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227" name="Google Shape;227;p19"/>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19"/>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Point</a:t>
                </a:r>
                <a:endParaRPr b="0" sz="675">
                  <a:solidFill>
                    <a:srgbClr val="5A626A"/>
                  </a:solidFill>
                  <a:latin typeface="JetBrains Mono"/>
                  <a:ea typeface="JetBrains Mono"/>
                  <a:cs typeface="JetBrains Mono"/>
                  <a:sym typeface="JetBrains Mono"/>
                </a:endParaRPr>
              </a:p>
            </p:txBody>
          </p:sp>
        </p:grpSp>
      </p:grpSp>
      <p:sp>
        <p:nvSpPr>
          <p:cNvPr id="229" name="Google Shape;229;p19"/>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230" name="Google Shape;230;p19"/>
          <p:cNvGrpSpPr/>
          <p:nvPr/>
        </p:nvGrpSpPr>
        <p:grpSpPr>
          <a:xfrm>
            <a:off x="381000" y="4762500"/>
            <a:ext cx="8382000" cy="285750"/>
            <a:chOff x="381000" y="4762500"/>
            <a:chExt cx="8382000" cy="285750"/>
          </a:xfrm>
        </p:grpSpPr>
        <p:cxnSp>
          <p:nvCxnSpPr>
            <p:cNvPr id="231" name="Google Shape;231;p1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32" name="Google Shape;232;p1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233" name="Google Shape;233;p19"/>
          <p:cNvSpPr/>
          <p:nvPr/>
        </p:nvSpPr>
        <p:spPr>
          <a:xfrm>
            <a:off x="3410000" y="3095700"/>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lang="en-GB" sz="950">
                <a:solidFill>
                  <a:srgbClr val="111315"/>
                </a:solidFill>
                <a:latin typeface="Inter"/>
                <a:ea typeface="Inter"/>
                <a:cs typeface="Inter"/>
                <a:sym typeface="Inter"/>
              </a:rPr>
              <a:t>Numerical Inputs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lang="en-GB" sz="820">
                <a:solidFill>
                  <a:srgbClr val="5A626A"/>
                </a:solidFill>
                <a:latin typeface="Inter"/>
                <a:ea typeface="Inter"/>
                <a:cs typeface="Inter"/>
                <a:sym typeface="Inter"/>
              </a:rPr>
              <a:t>Instead of just singular numbers - you can plug in a stack of numbers (a vector) to get a vector out as well</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0"/>
          <p:cNvSpPr txBox="1"/>
          <p:nvPr/>
        </p:nvSpPr>
        <p:spPr>
          <a:xfrm>
            <a:off x="381000" y="333375"/>
            <a:ext cx="8382000" cy="666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i="0" lang="en-GB" sz="1680" u="none" strike="noStrike">
                <a:solidFill>
                  <a:srgbClr val="111315"/>
                </a:solidFill>
                <a:latin typeface="Space Grotesk"/>
                <a:ea typeface="Space Grotesk"/>
                <a:cs typeface="Space Grotesk"/>
                <a:sym typeface="Space Grotesk"/>
              </a:rPr>
              <a:t>Word Vectorization</a:t>
            </a:r>
            <a:endParaRPr b="1" i="0" sz="168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945" u="none" strike="noStrike">
                <a:solidFill>
                  <a:srgbClr val="5A626A"/>
                </a:solidFill>
                <a:latin typeface="Space Grotesk SemiBold"/>
                <a:ea typeface="Space Grotesk SemiBold"/>
                <a:cs typeface="Space Grotesk SemiBold"/>
                <a:sym typeface="Space Grotesk SemiBold"/>
              </a:rPr>
              <a:t>Tokenization divides text into words. Vectorization assigns numerical coordinates to words.</a:t>
            </a:r>
            <a:endParaRPr b="1" i="0" sz="1680" u="none" strike="noStrike">
              <a:solidFill>
                <a:srgbClr val="111315"/>
              </a:solidFill>
              <a:latin typeface="Space Grotesk"/>
              <a:ea typeface="Space Grotesk"/>
              <a:cs typeface="Space Grotesk"/>
              <a:sym typeface="Space Grotesk"/>
            </a:endParaRPr>
          </a:p>
        </p:txBody>
      </p:sp>
      <p:cxnSp>
        <p:nvCxnSpPr>
          <p:cNvPr id="239" name="Google Shape;239;p20"/>
          <p:cNvCxnSpPr/>
          <p:nvPr/>
        </p:nvCxnSpPr>
        <p:spPr>
          <a:xfrm>
            <a:off x="381000" y="4762500"/>
            <a:ext cx="8382000" cy="96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40" name="Google Shape;240;p20"/>
          <p:cNvSpPr/>
          <p:nvPr/>
        </p:nvSpPr>
        <p:spPr>
          <a:xfrm>
            <a:off x="381000" y="4857750"/>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AI in Architecture | Indrajeet Haldar</a:t>
            </a:r>
            <a:endParaRPr sz="750">
              <a:solidFill>
                <a:srgbClr val="5A626A"/>
              </a:solidFill>
              <a:latin typeface="JetBrains Mono"/>
              <a:ea typeface="JetBrains Mono"/>
              <a:cs typeface="JetBrains Mono"/>
              <a:sym typeface="JetBrains Mono"/>
            </a:endParaRPr>
          </a:p>
        </p:txBody>
      </p:sp>
      <p:sp>
        <p:nvSpPr>
          <p:cNvPr id="241" name="Google Shape;241;p20"/>
          <p:cNvSpPr/>
          <p:nvPr/>
        </p:nvSpPr>
        <p:spPr>
          <a:xfrm>
            <a:off x="381000" y="4429125"/>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Appendix: Mathematical formulation of vectorization.</a:t>
            </a:r>
            <a:endParaRPr b="0" i="0" sz="750" u="none" strike="noStrike">
              <a:solidFill>
                <a:srgbClr val="5A626A"/>
              </a:solidFill>
              <a:latin typeface="JetBrains Mono"/>
              <a:ea typeface="JetBrains Mono"/>
              <a:cs typeface="JetBrains Mono"/>
              <a:sym typeface="JetBrains Mono"/>
            </a:endParaRPr>
          </a:p>
        </p:txBody>
      </p:sp>
      <p:sp>
        <p:nvSpPr>
          <p:cNvPr id="242" name="Google Shape;242;p20"/>
          <p:cNvSpPr/>
          <p:nvPr/>
        </p:nvSpPr>
        <p:spPr>
          <a:xfrm>
            <a:off x="571500" y="1143000"/>
            <a:ext cx="8001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0"/>
          <p:cNvSpPr/>
          <p:nvPr/>
        </p:nvSpPr>
        <p:spPr>
          <a:xfrm>
            <a:off x="809625" y="1333500"/>
            <a:ext cx="18096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5A626A"/>
                </a:solidFill>
                <a:latin typeface="JetBrains Mono"/>
                <a:ea typeface="JetBrains Mono"/>
                <a:cs typeface="JetBrains Mono"/>
                <a:sym typeface="JetBrains Mono"/>
              </a:rPr>
              <a:t>STEP 01</a:t>
            </a:r>
            <a:endParaRPr b="1" sz="800">
              <a:solidFill>
                <a:srgbClr val="5A626A"/>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Raw Text</a:t>
            </a:r>
            <a:endParaRPr b="1" sz="800">
              <a:solidFill>
                <a:srgbClr val="5A626A"/>
              </a:solidFill>
              <a:latin typeface="JetBrains Mono"/>
              <a:ea typeface="JetBrains Mono"/>
              <a:cs typeface="JetBrains Mono"/>
              <a:sym typeface="JetBrains Mono"/>
            </a:endParaRPr>
          </a:p>
        </p:txBody>
      </p:sp>
      <p:sp>
        <p:nvSpPr>
          <p:cNvPr id="244" name="Google Shape;244;p20"/>
          <p:cNvSpPr/>
          <p:nvPr/>
        </p:nvSpPr>
        <p:spPr>
          <a:xfrm>
            <a:off x="809625" y="1857375"/>
            <a:ext cx="1809600" cy="809700"/>
          </a:xfrm>
          <a:prstGeom prst="roundRect">
            <a:avLst>
              <a:gd fmla="val 0" name="adj"/>
            </a:avLst>
          </a:prstGeom>
          <a:solidFill>
            <a:srgbClr val="F8F9FA"/>
          </a:solidFill>
          <a:ln cap="flat" cmpd="sng" w="9525">
            <a:solidFill>
              <a:srgbClr val="111315"/>
            </a:solidFill>
            <a:prstDash val="solid"/>
            <a:round/>
            <a:headEnd len="sm" w="sm" type="none"/>
            <a:tailEnd len="sm" w="sm" type="none"/>
          </a:ln>
        </p:spPr>
        <p:txBody>
          <a:bodyPr anchorCtr="0" anchor="ctr" bIns="95250" lIns="95250" spcFirstLastPara="1" rIns="95250" wrap="square" tIns="133350">
            <a:noAutofit/>
          </a:bodyPr>
          <a:lstStyle/>
          <a:p>
            <a:pPr indent="0" lvl="0" marL="0" rtl="0" algn="ctr">
              <a:spcBef>
                <a:spcPts val="0"/>
              </a:spcBef>
              <a:spcAft>
                <a:spcPts val="0"/>
              </a:spcAft>
              <a:buNone/>
            </a:pPr>
            <a:r>
              <a:rPr b="1" lang="en-GB" sz="1300">
                <a:solidFill>
                  <a:srgbClr val="111315"/>
                </a:solidFill>
                <a:latin typeface="JetBrains Mono"/>
                <a:ea typeface="JetBrains Mono"/>
                <a:cs typeface="JetBrains Mono"/>
                <a:sym typeface="JetBrains Mono"/>
              </a:rPr>
              <a:t>"Studio Room"</a:t>
            </a:r>
            <a:endParaRPr b="1" sz="1300">
              <a:solidFill>
                <a:srgbClr val="111315"/>
              </a:solidFill>
              <a:latin typeface="JetBrains Mono"/>
              <a:ea typeface="JetBrains Mono"/>
              <a:cs typeface="JetBrains Mono"/>
              <a:sym typeface="JetBrains Mono"/>
            </a:endParaRPr>
          </a:p>
          <a:p>
            <a:pPr indent="0" lvl="0" marL="0" rtl="0" algn="ctr">
              <a:spcBef>
                <a:spcPts val="600"/>
              </a:spcBef>
              <a:spcAft>
                <a:spcPts val="0"/>
              </a:spcAft>
              <a:buNone/>
            </a:pPr>
            <a:r>
              <a:rPr b="1" lang="en-GB" sz="750">
                <a:solidFill>
                  <a:srgbClr val="5A626A"/>
                </a:solidFill>
                <a:latin typeface="JetBrains Mono"/>
                <a:ea typeface="JetBrains Mono"/>
                <a:cs typeface="JetBrains Mono"/>
                <a:sym typeface="JetBrains Mono"/>
              </a:rPr>
              <a:t>Raw Input String</a:t>
            </a:r>
            <a:endParaRPr b="1" sz="1300">
              <a:solidFill>
                <a:srgbClr val="111315"/>
              </a:solidFill>
              <a:latin typeface="JetBrains Mono"/>
              <a:ea typeface="JetBrains Mono"/>
              <a:cs typeface="JetBrains Mono"/>
              <a:sym typeface="JetBrains Mono"/>
            </a:endParaRPr>
          </a:p>
        </p:txBody>
      </p:sp>
      <p:sp>
        <p:nvSpPr>
          <p:cNvPr id="245" name="Google Shape;245;p20"/>
          <p:cNvSpPr/>
          <p:nvPr/>
        </p:nvSpPr>
        <p:spPr>
          <a:xfrm>
            <a:off x="809625" y="2809875"/>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Text Input</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Natural language consists of character sequences. Numerical models process coordinate arrays rather than text strings.</a:t>
            </a:r>
            <a:endParaRPr b="1" i="0" sz="950" u="none" strike="noStrike">
              <a:solidFill>
                <a:srgbClr val="111315"/>
              </a:solidFill>
              <a:latin typeface="Inter"/>
              <a:ea typeface="Inter"/>
              <a:cs typeface="Inter"/>
              <a:sym typeface="Inter"/>
            </a:endParaRPr>
          </a:p>
        </p:txBody>
      </p:sp>
      <p:cxnSp>
        <p:nvCxnSpPr>
          <p:cNvPr id="246" name="Google Shape;246;p20"/>
          <p:cNvCxnSpPr/>
          <p:nvPr/>
        </p:nvCxnSpPr>
        <p:spPr>
          <a:xfrm>
            <a:off x="2762250" y="2257425"/>
            <a:ext cx="428700" cy="0"/>
          </a:xfrm>
          <a:prstGeom prst="straightConnector1">
            <a:avLst/>
          </a:prstGeom>
          <a:solidFill>
            <a:srgbClr val="FFFFFF"/>
          </a:solidFill>
          <a:ln cap="flat" cmpd="sng" w="14300">
            <a:solidFill>
              <a:srgbClr val="D9381E"/>
            </a:solidFill>
            <a:prstDash val="solid"/>
            <a:round/>
            <a:headEnd len="sm" w="sm" type="none"/>
            <a:tailEnd len="sm" w="sm" type="triangle"/>
          </a:ln>
        </p:spPr>
      </p:cxnSp>
      <p:sp>
        <p:nvSpPr>
          <p:cNvPr id="247" name="Google Shape;247;p20"/>
          <p:cNvSpPr/>
          <p:nvPr/>
        </p:nvSpPr>
        <p:spPr>
          <a:xfrm>
            <a:off x="266700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tokenize</a:t>
            </a:r>
            <a:endParaRPr b="1" sz="750">
              <a:solidFill>
                <a:srgbClr val="D9381E"/>
              </a:solidFill>
              <a:latin typeface="JetBrains Mono"/>
              <a:ea typeface="JetBrains Mono"/>
              <a:cs typeface="JetBrains Mono"/>
              <a:sym typeface="JetBrains Mono"/>
            </a:endParaRPr>
          </a:p>
        </p:txBody>
      </p:sp>
      <p:sp>
        <p:nvSpPr>
          <p:cNvPr id="248" name="Google Shape;248;p20"/>
          <p:cNvSpPr/>
          <p:nvPr/>
        </p:nvSpPr>
        <p:spPr>
          <a:xfrm>
            <a:off x="3333750" y="1333500"/>
            <a:ext cx="20478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D9381E"/>
                </a:solidFill>
                <a:latin typeface="JetBrains Mono"/>
                <a:ea typeface="JetBrains Mono"/>
                <a:cs typeface="JetBrains Mono"/>
                <a:sym typeface="JetBrains Mono"/>
              </a:rPr>
              <a:t>STEP 02 : SEGMENT</a:t>
            </a:r>
            <a:endParaRPr b="1" sz="80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Tokenization</a:t>
            </a:r>
            <a:endParaRPr b="1" sz="800">
              <a:solidFill>
                <a:srgbClr val="D9381E"/>
              </a:solidFill>
              <a:latin typeface="JetBrains Mono"/>
              <a:ea typeface="JetBrains Mono"/>
              <a:cs typeface="JetBrains Mono"/>
              <a:sym typeface="JetBrains Mono"/>
            </a:endParaRPr>
          </a:p>
        </p:txBody>
      </p:sp>
      <p:sp>
        <p:nvSpPr>
          <p:cNvPr id="249" name="Google Shape;249;p20"/>
          <p:cNvSpPr/>
          <p:nvPr/>
        </p:nvSpPr>
        <p:spPr>
          <a:xfrm>
            <a:off x="3333750" y="1857375"/>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1:  </a:t>
            </a:r>
            <a:r>
              <a:rPr b="1" lang="en-GB" sz="1100">
                <a:solidFill>
                  <a:srgbClr val="D9381E"/>
                </a:solidFill>
                <a:latin typeface="JetBrains Mono"/>
                <a:ea typeface="JetBrains Mono"/>
                <a:cs typeface="JetBrains Mono"/>
                <a:sym typeface="JetBrains Mono"/>
              </a:rPr>
              <a:t>"Studio"</a:t>
            </a:r>
            <a:endParaRPr sz="750">
              <a:solidFill>
                <a:srgbClr val="5A626A"/>
              </a:solidFill>
              <a:latin typeface="JetBrains Mono"/>
              <a:ea typeface="JetBrains Mono"/>
              <a:cs typeface="JetBrains Mono"/>
              <a:sym typeface="JetBrains Mono"/>
            </a:endParaRPr>
          </a:p>
        </p:txBody>
      </p:sp>
      <p:sp>
        <p:nvSpPr>
          <p:cNvPr id="250" name="Google Shape;250;p20"/>
          <p:cNvSpPr/>
          <p:nvPr/>
        </p:nvSpPr>
        <p:spPr>
          <a:xfrm>
            <a:off x="3333750" y="2305050"/>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2:  </a:t>
            </a:r>
            <a:r>
              <a:rPr b="1" lang="en-GB" sz="1100">
                <a:solidFill>
                  <a:srgbClr val="D9381E"/>
                </a:solidFill>
                <a:latin typeface="JetBrains Mono"/>
                <a:ea typeface="JetBrains Mono"/>
                <a:cs typeface="JetBrains Mono"/>
                <a:sym typeface="JetBrains Mono"/>
              </a:rPr>
              <a:t>"Room"</a:t>
            </a:r>
            <a:endParaRPr sz="750">
              <a:solidFill>
                <a:srgbClr val="5A626A"/>
              </a:solidFill>
              <a:latin typeface="JetBrains Mono"/>
              <a:ea typeface="JetBrains Mono"/>
              <a:cs typeface="JetBrains Mono"/>
              <a:sym typeface="JetBrains Mono"/>
            </a:endParaRPr>
          </a:p>
        </p:txBody>
      </p:sp>
      <p:sp>
        <p:nvSpPr>
          <p:cNvPr id="251" name="Google Shape;251;p20"/>
          <p:cNvSpPr/>
          <p:nvPr/>
        </p:nvSpPr>
        <p:spPr>
          <a:xfrm>
            <a:off x="3333750" y="2809875"/>
            <a:ext cx="20478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Word Tokens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Text is divided into discrete word units. Each word corresponds to an index entry.</a:t>
            </a:r>
            <a:endParaRPr b="1" i="0" sz="950" u="none" strike="noStrike">
              <a:solidFill>
                <a:srgbClr val="111315"/>
              </a:solidFill>
              <a:latin typeface="Inter"/>
              <a:ea typeface="Inter"/>
              <a:cs typeface="Inter"/>
              <a:sym typeface="Inter"/>
            </a:endParaRPr>
          </a:p>
        </p:txBody>
      </p:sp>
      <p:cxnSp>
        <p:nvCxnSpPr>
          <p:cNvPr id="252" name="Google Shape;252;p20"/>
          <p:cNvCxnSpPr/>
          <p:nvPr/>
        </p:nvCxnSpPr>
        <p:spPr>
          <a:xfrm>
            <a:off x="5524500" y="2257425"/>
            <a:ext cx="428700" cy="0"/>
          </a:xfrm>
          <a:prstGeom prst="straightConnector1">
            <a:avLst/>
          </a:prstGeom>
          <a:solidFill>
            <a:srgbClr val="FFFFFF"/>
          </a:solidFill>
          <a:ln cap="flat" cmpd="sng" w="14300">
            <a:solidFill>
              <a:srgbClr val="1D4ED8"/>
            </a:solidFill>
            <a:prstDash val="solid"/>
            <a:round/>
            <a:headEnd len="sm" w="sm" type="none"/>
            <a:tailEnd len="sm" w="sm" type="triangle"/>
          </a:ln>
        </p:spPr>
      </p:cxnSp>
      <p:sp>
        <p:nvSpPr>
          <p:cNvPr id="253" name="Google Shape;253;p20"/>
          <p:cNvSpPr/>
          <p:nvPr/>
        </p:nvSpPr>
        <p:spPr>
          <a:xfrm>
            <a:off x="542925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vectorize</a:t>
            </a:r>
            <a:endParaRPr b="1" sz="750">
              <a:solidFill>
                <a:srgbClr val="1D4ED8"/>
              </a:solidFill>
              <a:latin typeface="JetBrains Mono"/>
              <a:ea typeface="JetBrains Mono"/>
              <a:cs typeface="JetBrains Mono"/>
              <a:sym typeface="JetBrains Mono"/>
            </a:endParaRPr>
          </a:p>
        </p:txBody>
      </p:sp>
      <p:sp>
        <p:nvSpPr>
          <p:cNvPr id="254" name="Google Shape;254;p20"/>
          <p:cNvSpPr/>
          <p:nvPr/>
        </p:nvSpPr>
        <p:spPr>
          <a:xfrm>
            <a:off x="6096000" y="1333500"/>
            <a:ext cx="22860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1D4ED8"/>
                </a:solidFill>
                <a:latin typeface="JetBrains Mono"/>
                <a:ea typeface="JetBrains Mono"/>
                <a:cs typeface="JetBrains Mono"/>
                <a:sym typeface="JetBrains Mono"/>
              </a:rPr>
              <a:t>STEP 03 : ENCODE</a:t>
            </a:r>
            <a:endParaRPr b="1" sz="80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Vectorization</a:t>
            </a:r>
            <a:endParaRPr b="1" sz="800">
              <a:solidFill>
                <a:srgbClr val="1D4ED8"/>
              </a:solidFill>
              <a:latin typeface="JetBrains Mono"/>
              <a:ea typeface="JetBrains Mono"/>
              <a:cs typeface="JetBrains Mono"/>
              <a:sym typeface="JetBrains Mono"/>
            </a:endParaRPr>
          </a:p>
        </p:txBody>
      </p:sp>
      <p:sp>
        <p:nvSpPr>
          <p:cNvPr id="255" name="Google Shape;255;p20"/>
          <p:cNvSpPr/>
          <p:nvPr/>
        </p:nvSpPr>
        <p:spPr>
          <a:xfrm>
            <a:off x="6096000" y="1857375"/>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"Studio" → </a:t>
            </a:r>
            <a:r>
              <a:rPr b="1" lang="en-GB" sz="1050">
                <a:solidFill>
                  <a:srgbClr val="1D4ED8"/>
                </a:solidFill>
                <a:latin typeface="JetBrains Mono"/>
                <a:ea typeface="JetBrains Mono"/>
                <a:cs typeface="JetBrains Mono"/>
                <a:sym typeface="JetBrains Mono"/>
              </a:rPr>
              <a:t>[ 0.42, 0.85 ]</a:t>
            </a:r>
            <a:endParaRPr sz="750">
              <a:solidFill>
                <a:srgbClr val="5A626A"/>
              </a:solidFill>
              <a:latin typeface="JetBrains Mono"/>
              <a:ea typeface="JetBrains Mono"/>
              <a:cs typeface="JetBrains Mono"/>
              <a:sym typeface="JetBrains Mono"/>
            </a:endParaRPr>
          </a:p>
        </p:txBody>
      </p:sp>
      <p:sp>
        <p:nvSpPr>
          <p:cNvPr id="256" name="Google Shape;256;p20"/>
          <p:cNvSpPr/>
          <p:nvPr/>
        </p:nvSpPr>
        <p:spPr>
          <a:xfrm>
            <a:off x="6096000" y="2305050"/>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"Room"   → </a:t>
            </a:r>
            <a:r>
              <a:rPr b="1" lang="en-GB" sz="1050">
                <a:solidFill>
                  <a:srgbClr val="1D4ED8"/>
                </a:solidFill>
                <a:latin typeface="JetBrains Mono"/>
                <a:ea typeface="JetBrains Mono"/>
                <a:cs typeface="JetBrains Mono"/>
                <a:sym typeface="JetBrains Mono"/>
              </a:rPr>
              <a:t>[ 0.78, 0.31 ]</a:t>
            </a:r>
            <a:endParaRPr sz="750">
              <a:solidFill>
                <a:srgbClr val="5A626A"/>
              </a:solidFill>
              <a:latin typeface="JetBrains Mono"/>
              <a:ea typeface="JetBrains Mono"/>
              <a:cs typeface="JetBrains Mono"/>
              <a:sym typeface="JetBrains Mono"/>
            </a:endParaRPr>
          </a:p>
        </p:txBody>
      </p:sp>
      <p:sp>
        <p:nvSpPr>
          <p:cNvPr id="257" name="Google Shape;257;p20"/>
          <p:cNvSpPr/>
          <p:nvPr/>
        </p:nvSpPr>
        <p:spPr>
          <a:xfrm>
            <a:off x="6096000" y="2809875"/>
            <a:ext cx="22860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Coordinate Vectors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Each word token corresponds to coordinates in a continuous vector space. Distance indicates statistical correlation.</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Vector Embeddings and Latent Space</a:t>
            </a:r>
            <a:endParaRPr b="1" i="0" sz="222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1249" u="none" strike="noStrike">
                <a:solidFill>
                  <a:srgbClr val="5A626A"/>
                </a:solidFill>
                <a:latin typeface="Space Grotesk SemiBold"/>
                <a:ea typeface="Space Grotesk SemiBold"/>
                <a:cs typeface="Space Grotesk SemiBold"/>
                <a:sym typeface="Space Grotesk SemiBold"/>
              </a:rPr>
              <a:t>Words and spatial room labels map to coordinate values. Proximity corresponds to mathematical correlation.</a:t>
            </a:r>
            <a:endParaRPr b="1" i="0" sz="2220" u="none" strike="noStrike">
              <a:solidFill>
                <a:srgbClr val="111315"/>
              </a:solidFill>
              <a:latin typeface="Space Grotesk"/>
              <a:ea typeface="Space Grotesk"/>
              <a:cs typeface="Space Grotesk"/>
              <a:sym typeface="Space Grotesk"/>
            </a:endParaRPr>
          </a:p>
        </p:txBody>
      </p:sp>
      <p:grpSp>
        <p:nvGrpSpPr>
          <p:cNvPr id="263" name="Google Shape;263;p21"/>
          <p:cNvGrpSpPr/>
          <p:nvPr/>
        </p:nvGrpSpPr>
        <p:grpSpPr>
          <a:xfrm>
            <a:off x="1524000" y="1143000"/>
            <a:ext cx="6096000" cy="2857500"/>
            <a:chOff x="1524000" y="1143000"/>
            <a:chExt cx="6096000" cy="2857500"/>
          </a:xfrm>
        </p:grpSpPr>
        <p:sp>
          <p:nvSpPr>
            <p:cNvPr id="264" name="Google Shape;264;p21"/>
            <p:cNvSpPr/>
            <p:nvPr/>
          </p:nvSpPr>
          <p:spPr>
            <a:xfrm>
              <a:off x="1524000" y="1143000"/>
              <a:ext cx="6096000" cy="2857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65" name="Google Shape;265;p21"/>
            <p:cNvPicPr preferRelativeResize="0"/>
            <p:nvPr/>
          </p:nvPicPr>
          <p:blipFill rotWithShape="1">
            <a:blip r:embed="rId3">
              <a:alphaModFix/>
            </a:blip>
            <a:srcRect b="0" l="0" r="0" t="0"/>
            <a:stretch/>
          </p:blipFill>
          <p:spPr>
            <a:xfrm>
              <a:off x="2662238" y="1143000"/>
              <a:ext cx="9600" cy="2838600"/>
            </a:xfrm>
            <a:prstGeom prst="rect">
              <a:avLst/>
            </a:prstGeom>
            <a:noFill/>
            <a:ln>
              <a:noFill/>
            </a:ln>
          </p:spPr>
        </p:pic>
        <p:pic>
          <p:nvPicPr>
            <p:cNvPr id="266" name="Google Shape;266;p21"/>
            <p:cNvPicPr preferRelativeResize="0"/>
            <p:nvPr/>
          </p:nvPicPr>
          <p:blipFill rotWithShape="1">
            <a:blip r:embed="rId3">
              <a:alphaModFix/>
            </a:blip>
            <a:srcRect b="0" l="0" r="0" t="0"/>
            <a:stretch/>
          </p:blipFill>
          <p:spPr>
            <a:xfrm>
              <a:off x="3805238" y="1143000"/>
              <a:ext cx="9600" cy="2838600"/>
            </a:xfrm>
            <a:prstGeom prst="rect">
              <a:avLst/>
            </a:prstGeom>
            <a:noFill/>
            <a:ln>
              <a:noFill/>
            </a:ln>
          </p:spPr>
        </p:pic>
        <p:pic>
          <p:nvPicPr>
            <p:cNvPr id="267" name="Google Shape;267;p21"/>
            <p:cNvPicPr preferRelativeResize="0"/>
            <p:nvPr/>
          </p:nvPicPr>
          <p:blipFill rotWithShape="1">
            <a:blip r:embed="rId3">
              <a:alphaModFix/>
            </a:blip>
            <a:srcRect b="0" l="0" r="0" t="0"/>
            <a:stretch/>
          </p:blipFill>
          <p:spPr>
            <a:xfrm>
              <a:off x="4948238" y="1143000"/>
              <a:ext cx="9600" cy="2838600"/>
            </a:xfrm>
            <a:prstGeom prst="rect">
              <a:avLst/>
            </a:prstGeom>
            <a:noFill/>
            <a:ln>
              <a:noFill/>
            </a:ln>
          </p:spPr>
        </p:pic>
        <p:pic>
          <p:nvPicPr>
            <p:cNvPr id="268" name="Google Shape;268;p21"/>
            <p:cNvPicPr preferRelativeResize="0"/>
            <p:nvPr/>
          </p:nvPicPr>
          <p:blipFill rotWithShape="1">
            <a:blip r:embed="rId3">
              <a:alphaModFix/>
            </a:blip>
            <a:srcRect b="0" l="0" r="0" t="0"/>
            <a:stretch/>
          </p:blipFill>
          <p:spPr>
            <a:xfrm>
              <a:off x="6091238" y="1143000"/>
              <a:ext cx="9600" cy="2838600"/>
            </a:xfrm>
            <a:prstGeom prst="rect">
              <a:avLst/>
            </a:prstGeom>
            <a:noFill/>
            <a:ln>
              <a:noFill/>
            </a:ln>
          </p:spPr>
        </p:pic>
        <p:pic>
          <p:nvPicPr>
            <p:cNvPr id="269" name="Google Shape;269;p21"/>
            <p:cNvPicPr preferRelativeResize="0"/>
            <p:nvPr/>
          </p:nvPicPr>
          <p:blipFill rotWithShape="1">
            <a:blip r:embed="rId4">
              <a:alphaModFix/>
            </a:blip>
            <a:srcRect b="0" l="0" r="0" t="0"/>
            <a:stretch/>
          </p:blipFill>
          <p:spPr>
            <a:xfrm>
              <a:off x="1524000" y="1709738"/>
              <a:ext cx="6077100" cy="9600"/>
            </a:xfrm>
            <a:prstGeom prst="rect">
              <a:avLst/>
            </a:prstGeom>
            <a:noFill/>
            <a:ln>
              <a:noFill/>
            </a:ln>
          </p:spPr>
        </p:pic>
        <p:pic>
          <p:nvPicPr>
            <p:cNvPr id="270" name="Google Shape;270;p21"/>
            <p:cNvPicPr preferRelativeResize="0"/>
            <p:nvPr/>
          </p:nvPicPr>
          <p:blipFill rotWithShape="1">
            <a:blip r:embed="rId4">
              <a:alphaModFix/>
            </a:blip>
            <a:srcRect b="0" l="0" r="0" t="0"/>
            <a:stretch/>
          </p:blipFill>
          <p:spPr>
            <a:xfrm>
              <a:off x="1524000" y="2281238"/>
              <a:ext cx="6077100" cy="9600"/>
            </a:xfrm>
            <a:prstGeom prst="rect">
              <a:avLst/>
            </a:prstGeom>
            <a:noFill/>
            <a:ln>
              <a:noFill/>
            </a:ln>
          </p:spPr>
        </p:pic>
        <p:pic>
          <p:nvPicPr>
            <p:cNvPr id="271" name="Google Shape;271;p21"/>
            <p:cNvPicPr preferRelativeResize="0"/>
            <p:nvPr/>
          </p:nvPicPr>
          <p:blipFill rotWithShape="1">
            <a:blip r:embed="rId4">
              <a:alphaModFix/>
            </a:blip>
            <a:srcRect b="0" l="0" r="0" t="0"/>
            <a:stretch/>
          </p:blipFill>
          <p:spPr>
            <a:xfrm>
              <a:off x="1524000" y="2852738"/>
              <a:ext cx="6077100" cy="9600"/>
            </a:xfrm>
            <a:prstGeom prst="rect">
              <a:avLst/>
            </a:prstGeom>
            <a:noFill/>
            <a:ln>
              <a:noFill/>
            </a:ln>
          </p:spPr>
        </p:pic>
        <p:pic>
          <p:nvPicPr>
            <p:cNvPr id="272" name="Google Shape;272;p21"/>
            <p:cNvPicPr preferRelativeResize="0"/>
            <p:nvPr/>
          </p:nvPicPr>
          <p:blipFill rotWithShape="1">
            <a:blip r:embed="rId4">
              <a:alphaModFix/>
            </a:blip>
            <a:srcRect b="0" l="0" r="0" t="0"/>
            <a:stretch/>
          </p:blipFill>
          <p:spPr>
            <a:xfrm>
              <a:off x="1524000" y="3424238"/>
              <a:ext cx="6077100" cy="9600"/>
            </a:xfrm>
            <a:prstGeom prst="rect">
              <a:avLst/>
            </a:prstGeom>
            <a:noFill/>
            <a:ln>
              <a:noFill/>
            </a:ln>
          </p:spPr>
        </p:pic>
        <p:cxnSp>
          <p:nvCxnSpPr>
            <p:cNvPr id="273" name="Google Shape;273;p21"/>
            <p:cNvCxnSpPr/>
            <p:nvPr/>
          </p:nvCxnSpPr>
          <p:spPr>
            <a:xfrm rot="10800000">
              <a:off x="2000250" y="1380975"/>
              <a:ext cx="0" cy="2381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4" name="Google Shape;274;p21"/>
            <p:cNvSpPr/>
            <p:nvPr/>
          </p:nvSpPr>
          <p:spPr>
            <a:xfrm>
              <a:off x="1962150" y="1304925"/>
              <a:ext cx="76200" cy="95400"/>
            </a:xfrm>
            <a:custGeom>
              <a:rect b="b" l="l" r="r" t="t"/>
              <a:pathLst>
                <a:path extrusionOk="0" h="120000" w="120000">
                  <a:moveTo>
                    <a:pt x="60000" y="0"/>
                  </a:moveTo>
                  <a:lnTo>
                    <a:pt x="0" y="12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275" name="Google Shape;275;p21"/>
            <p:cNvCxnSpPr/>
            <p:nvPr/>
          </p:nvCxnSpPr>
          <p:spPr>
            <a:xfrm>
              <a:off x="1857375" y="3619500"/>
              <a:ext cx="54294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6" name="Google Shape;276;p21"/>
            <p:cNvSpPr/>
            <p:nvPr/>
          </p:nvSpPr>
          <p:spPr>
            <a:xfrm>
              <a:off x="7267575" y="3581400"/>
              <a:ext cx="95400" cy="76200"/>
            </a:xfrm>
            <a:custGeom>
              <a:rect b="b" l="l" r="r" t="t"/>
              <a:pathLst>
                <a:path extrusionOk="0" h="120000" w="120000">
                  <a:moveTo>
                    <a:pt x="120000" y="60000"/>
                  </a:moveTo>
                  <a:lnTo>
                    <a:pt x="0" y="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21"/>
            <p:cNvSpPr txBox="1"/>
            <p:nvPr/>
          </p:nvSpPr>
          <p:spPr>
            <a:xfrm>
              <a:off x="1656825" y="1178380"/>
              <a:ext cx="13335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Equipment Load ↑</a:t>
              </a:r>
              <a:endParaRPr b="1" sz="825">
                <a:solidFill>
                  <a:srgbClr val="111315"/>
                </a:solidFill>
                <a:latin typeface="JetBrains Mono"/>
                <a:ea typeface="JetBrains Mono"/>
                <a:cs typeface="JetBrains Mono"/>
                <a:sym typeface="JetBrains Mono"/>
              </a:endParaRPr>
            </a:p>
          </p:txBody>
        </p:sp>
        <p:sp>
          <p:nvSpPr>
            <p:cNvPr id="278" name="Google Shape;278;p21"/>
            <p:cNvSpPr txBox="1"/>
            <p:nvPr/>
          </p:nvSpPr>
          <p:spPr>
            <a:xfrm>
              <a:off x="6096000" y="3714750"/>
              <a:ext cx="1428900" cy="2382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825">
                  <a:solidFill>
                    <a:srgbClr val="111315"/>
                  </a:solidFill>
                  <a:latin typeface="JetBrains Mono"/>
                  <a:ea typeface="JetBrains Mono"/>
                  <a:cs typeface="JetBrains Mono"/>
                  <a:sym typeface="JetBrains Mono"/>
                </a:rPr>
                <a:t>Acoustic Privacy →</a:t>
              </a:r>
              <a:endParaRPr b="1" sz="825">
                <a:solidFill>
                  <a:srgbClr val="111315"/>
                </a:solidFill>
                <a:latin typeface="JetBrains Mono"/>
                <a:ea typeface="JetBrains Mono"/>
                <a:cs typeface="JetBrains Mono"/>
                <a:sym typeface="JetBrains Mono"/>
              </a:endParaRPr>
            </a:p>
          </p:txBody>
        </p:sp>
        <p:sp>
          <p:nvSpPr>
            <p:cNvPr id="279" name="Google Shape;279;p21"/>
            <p:cNvSpPr/>
            <p:nvPr/>
          </p:nvSpPr>
          <p:spPr>
            <a:xfrm>
              <a:off x="6048375" y="1257300"/>
              <a:ext cx="1428900" cy="2478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0" name="Google Shape;280;p21"/>
            <p:cNvSpPr txBox="1"/>
            <p:nvPr/>
          </p:nvSpPr>
          <p:spPr>
            <a:xfrm>
              <a:off x="6048375" y="1257300"/>
              <a:ext cx="1428900" cy="247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Embedding = (x, y)</a:t>
              </a:r>
              <a:endParaRPr/>
            </a:p>
          </p:txBody>
        </p:sp>
        <p:grpSp>
          <p:nvGrpSpPr>
            <p:cNvPr id="281" name="Google Shape;281;p21"/>
            <p:cNvGrpSpPr/>
            <p:nvPr/>
          </p:nvGrpSpPr>
          <p:grpSpPr>
            <a:xfrm>
              <a:off x="2276475" y="1514475"/>
              <a:ext cx="1748315" cy="971700"/>
              <a:chOff x="2276475" y="1514475"/>
              <a:chExt cx="1748315" cy="971700"/>
            </a:xfrm>
          </p:grpSpPr>
          <p:pic>
            <p:nvPicPr>
              <p:cNvPr id="282" name="Google Shape;282;p21"/>
              <p:cNvPicPr preferRelativeResize="0"/>
              <p:nvPr/>
            </p:nvPicPr>
            <p:blipFill rotWithShape="1">
              <a:blip r:embed="rId5">
                <a:alphaModFix/>
              </a:blip>
              <a:srcRect b="0" l="0" r="0" t="0"/>
              <a:stretch/>
            </p:blipFill>
            <p:spPr>
              <a:xfrm>
                <a:off x="2276475" y="1514475"/>
                <a:ext cx="1543200" cy="971700"/>
              </a:xfrm>
              <a:prstGeom prst="rect">
                <a:avLst/>
              </a:prstGeom>
              <a:noFill/>
              <a:ln>
                <a:noFill/>
              </a:ln>
            </p:spPr>
          </p:pic>
          <p:sp>
            <p:nvSpPr>
              <p:cNvPr id="283" name="Google Shape;283;p21"/>
              <p:cNvSpPr txBox="1"/>
              <p:nvPr/>
            </p:nvSpPr>
            <p:spPr>
              <a:xfrm>
                <a:off x="2500790" y="163622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Heavy Fabrication</a:t>
                </a:r>
                <a:endParaRPr/>
              </a:p>
            </p:txBody>
          </p:sp>
          <p:sp>
            <p:nvSpPr>
              <p:cNvPr id="284" name="Google Shape;284;p21"/>
              <p:cNvSpPr/>
              <p:nvPr/>
            </p:nvSpPr>
            <p:spPr>
              <a:xfrm>
                <a:off x="2676525" y="20097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5" name="Google Shape;285;p21"/>
              <p:cNvSpPr txBox="1"/>
              <p:nvPr/>
            </p:nvSpPr>
            <p:spPr>
              <a:xfrm>
                <a:off x="2333625" y="2114550"/>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Woodshop</a:t>
                </a:r>
                <a:endParaRPr/>
              </a:p>
            </p:txBody>
          </p:sp>
          <p:sp>
            <p:nvSpPr>
              <p:cNvPr id="286" name="Google Shape;286;p21"/>
              <p:cNvSpPr/>
              <p:nvPr/>
            </p:nvSpPr>
            <p:spPr>
              <a:xfrm>
                <a:off x="3343275" y="186690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7" name="Google Shape;287;p21"/>
              <p:cNvSpPr txBox="1"/>
              <p:nvPr/>
            </p:nvSpPr>
            <p:spPr>
              <a:xfrm>
                <a:off x="3048000" y="1971675"/>
                <a:ext cx="666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CNC Lab</a:t>
                </a:r>
                <a:endParaRPr/>
              </a:p>
            </p:txBody>
          </p:sp>
        </p:grpSp>
        <p:grpSp>
          <p:nvGrpSpPr>
            <p:cNvPr id="288" name="Google Shape;288;p21"/>
            <p:cNvGrpSpPr/>
            <p:nvPr/>
          </p:nvGrpSpPr>
          <p:grpSpPr>
            <a:xfrm>
              <a:off x="3848100" y="2133600"/>
              <a:ext cx="1756709" cy="876300"/>
              <a:chOff x="3848100" y="2133600"/>
              <a:chExt cx="1756709" cy="876300"/>
            </a:xfrm>
          </p:grpSpPr>
          <p:pic>
            <p:nvPicPr>
              <p:cNvPr id="289" name="Google Shape;289;p21"/>
              <p:cNvPicPr preferRelativeResize="0"/>
              <p:nvPr/>
            </p:nvPicPr>
            <p:blipFill rotWithShape="1">
              <a:blip r:embed="rId6">
                <a:alphaModFix/>
              </a:blip>
              <a:srcRect b="0" l="0" r="0" t="0"/>
              <a:stretch/>
            </p:blipFill>
            <p:spPr>
              <a:xfrm>
                <a:off x="3848100" y="2133600"/>
                <a:ext cx="1447800" cy="876300"/>
              </a:xfrm>
              <a:prstGeom prst="rect">
                <a:avLst/>
              </a:prstGeom>
              <a:noFill/>
              <a:ln>
                <a:noFill/>
              </a:ln>
            </p:spPr>
          </p:pic>
          <p:sp>
            <p:nvSpPr>
              <p:cNvPr id="290" name="Google Shape;290;p21"/>
              <p:cNvSpPr txBox="1"/>
              <p:nvPr/>
            </p:nvSpPr>
            <p:spPr>
              <a:xfrm>
                <a:off x="4080809" y="225667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Design Workspace</a:t>
                </a:r>
                <a:endParaRPr/>
              </a:p>
            </p:txBody>
          </p:sp>
          <p:sp>
            <p:nvSpPr>
              <p:cNvPr id="291" name="Google Shape;291;p21"/>
              <p:cNvSpPr/>
              <p:nvPr/>
            </p:nvSpPr>
            <p:spPr>
              <a:xfrm>
                <a:off x="4533900" y="2581275"/>
                <a:ext cx="76200" cy="762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2" name="Google Shape;292;p21"/>
              <p:cNvSpPr txBox="1"/>
              <p:nvPr/>
            </p:nvSpPr>
            <p:spPr>
              <a:xfrm>
                <a:off x="3952875" y="2686050"/>
                <a:ext cx="1238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Drafting Studio</a:t>
                </a:r>
                <a:endParaRPr/>
              </a:p>
            </p:txBody>
          </p:sp>
        </p:grpSp>
        <p:grpSp>
          <p:nvGrpSpPr>
            <p:cNvPr id="293" name="Google Shape;293;p21"/>
            <p:cNvGrpSpPr/>
            <p:nvPr/>
          </p:nvGrpSpPr>
          <p:grpSpPr>
            <a:xfrm>
              <a:off x="5372100" y="2514600"/>
              <a:ext cx="1907988" cy="971700"/>
              <a:chOff x="5372100" y="2514600"/>
              <a:chExt cx="1907988" cy="971700"/>
            </a:xfrm>
          </p:grpSpPr>
          <p:pic>
            <p:nvPicPr>
              <p:cNvPr id="294" name="Google Shape;294;p21"/>
              <p:cNvPicPr preferRelativeResize="0"/>
              <p:nvPr/>
            </p:nvPicPr>
            <p:blipFill rotWithShape="1">
              <a:blip r:embed="rId7">
                <a:alphaModFix/>
              </a:blip>
              <a:srcRect b="0" l="0" r="0" t="0"/>
              <a:stretch/>
            </p:blipFill>
            <p:spPr>
              <a:xfrm>
                <a:off x="5372100" y="2514600"/>
                <a:ext cx="1638300" cy="971700"/>
              </a:xfrm>
              <a:prstGeom prst="rect">
                <a:avLst/>
              </a:prstGeom>
              <a:noFill/>
              <a:ln>
                <a:noFill/>
              </a:ln>
            </p:spPr>
          </p:pic>
          <p:sp>
            <p:nvSpPr>
              <p:cNvPr id="295" name="Google Shape;295;p21"/>
              <p:cNvSpPr txBox="1"/>
              <p:nvPr/>
            </p:nvSpPr>
            <p:spPr>
              <a:xfrm>
                <a:off x="5756088" y="2618815"/>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Quiet Assembly</a:t>
                </a:r>
                <a:endParaRPr/>
              </a:p>
            </p:txBody>
          </p:sp>
          <p:sp>
            <p:nvSpPr>
              <p:cNvPr id="296" name="Google Shape;296;p21"/>
              <p:cNvSpPr/>
              <p:nvPr/>
            </p:nvSpPr>
            <p:spPr>
              <a:xfrm>
                <a:off x="5819775" y="29622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7" name="Google Shape;297;p21"/>
              <p:cNvSpPr txBox="1"/>
              <p:nvPr/>
            </p:nvSpPr>
            <p:spPr>
              <a:xfrm>
                <a:off x="5381625" y="3067050"/>
                <a:ext cx="9525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Lecture Hall</a:t>
                </a:r>
                <a:endParaRPr/>
              </a:p>
            </p:txBody>
          </p:sp>
          <p:sp>
            <p:nvSpPr>
              <p:cNvPr id="298" name="Google Shape;298;p21"/>
              <p:cNvSpPr/>
              <p:nvPr/>
            </p:nvSpPr>
            <p:spPr>
              <a:xfrm>
                <a:off x="6486525" y="310515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9" name="Google Shape;299;p21"/>
              <p:cNvSpPr txBox="1"/>
              <p:nvPr/>
            </p:nvSpPr>
            <p:spPr>
              <a:xfrm>
                <a:off x="6143625" y="3209925"/>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Crit Room</a:t>
                </a:r>
                <a:endParaRPr/>
              </a:p>
            </p:txBody>
          </p:sp>
        </p:grpSp>
      </p:grpSp>
      <p:sp>
        <p:nvSpPr>
          <p:cNvPr id="300" name="Google Shape;300;p2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Mikolov et al. (2013), Word2Vec.</a:t>
            </a:r>
            <a:endParaRPr b="0" sz="750">
              <a:solidFill>
                <a:srgbClr val="5A626A"/>
              </a:solidFill>
              <a:latin typeface="JetBrains Mono"/>
              <a:ea typeface="JetBrains Mono"/>
              <a:cs typeface="JetBrains Mono"/>
              <a:sym typeface="JetBrains Mono"/>
            </a:endParaRPr>
          </a:p>
        </p:txBody>
      </p:sp>
      <p:grpSp>
        <p:nvGrpSpPr>
          <p:cNvPr id="301" name="Google Shape;301;p21"/>
          <p:cNvGrpSpPr/>
          <p:nvPr/>
        </p:nvGrpSpPr>
        <p:grpSpPr>
          <a:xfrm>
            <a:off x="381000" y="4762500"/>
            <a:ext cx="8382000" cy="285750"/>
            <a:chOff x="381000" y="4762500"/>
            <a:chExt cx="8382000" cy="285750"/>
          </a:xfrm>
        </p:grpSpPr>
        <p:cxnSp>
          <p:nvCxnSpPr>
            <p:cNvPr id="302" name="Google Shape;302;p2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03" name="Google Shape;303;p2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2"/>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Next-Token Prediction Using Vectors</a:t>
            </a:r>
            <a:endParaRPr b="1" i="0" sz="2400" u="none" strike="noStrike">
              <a:solidFill>
                <a:srgbClr val="111315"/>
              </a:solidFill>
              <a:latin typeface="Space Grotesk"/>
              <a:ea typeface="Space Grotesk"/>
              <a:cs typeface="Space Grotesk"/>
              <a:sym typeface="Space Grotesk"/>
            </a:endParaRPr>
          </a:p>
        </p:txBody>
      </p:sp>
      <p:grpSp>
        <p:nvGrpSpPr>
          <p:cNvPr id="309" name="Google Shape;309;p22"/>
          <p:cNvGrpSpPr/>
          <p:nvPr/>
        </p:nvGrpSpPr>
        <p:grpSpPr>
          <a:xfrm>
            <a:off x="762000" y="1095375"/>
            <a:ext cx="7239000" cy="2381400"/>
            <a:chOff x="762000" y="1095375"/>
            <a:chExt cx="7239000" cy="2381400"/>
          </a:xfrm>
        </p:grpSpPr>
        <p:grpSp>
          <p:nvGrpSpPr>
            <p:cNvPr id="310" name="Google Shape;310;p22"/>
            <p:cNvGrpSpPr/>
            <p:nvPr/>
          </p:nvGrpSpPr>
          <p:grpSpPr>
            <a:xfrm>
              <a:off x="762000" y="2047875"/>
              <a:ext cx="1047900" cy="476400"/>
              <a:chOff x="0" y="0"/>
              <a:chExt cx="1047900" cy="476400"/>
            </a:xfrm>
          </p:grpSpPr>
          <p:sp>
            <p:nvSpPr>
              <p:cNvPr id="311" name="Google Shape;311;p22"/>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22"/>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 (now a vector)</a:t>
                </a:r>
                <a:endParaRPr b="1" sz="1050">
                  <a:solidFill>
                    <a:srgbClr val="111315"/>
                  </a:solidFill>
                  <a:latin typeface="Inter"/>
                  <a:ea typeface="Inter"/>
                  <a:cs typeface="Inter"/>
                  <a:sym typeface="Inter"/>
                </a:endParaRPr>
              </a:p>
            </p:txBody>
          </p:sp>
        </p:grpSp>
        <p:grpSp>
          <p:nvGrpSpPr>
            <p:cNvPr id="313" name="Google Shape;313;p22"/>
            <p:cNvGrpSpPr/>
            <p:nvPr/>
          </p:nvGrpSpPr>
          <p:grpSpPr>
            <a:xfrm>
              <a:off x="2476500" y="1095375"/>
              <a:ext cx="1047900" cy="1047900"/>
              <a:chOff x="0" y="0"/>
              <a:chExt cx="1047900" cy="1047900"/>
            </a:xfrm>
          </p:grpSpPr>
          <p:sp>
            <p:nvSpPr>
              <p:cNvPr id="314" name="Google Shape;314;p22"/>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5" name="Google Shape;315;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316" name="Google Shape;316;p22"/>
            <p:cNvGrpSpPr/>
            <p:nvPr/>
          </p:nvGrpSpPr>
          <p:grpSpPr>
            <a:xfrm>
              <a:off x="2476500" y="2428875"/>
              <a:ext cx="1047900" cy="1047900"/>
              <a:chOff x="0" y="0"/>
              <a:chExt cx="1047900" cy="1047900"/>
            </a:xfrm>
          </p:grpSpPr>
          <p:sp>
            <p:nvSpPr>
              <p:cNvPr id="317" name="Google Shape;317;p22"/>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8" name="Google Shape;318;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319" name="Google Shape;319;p22"/>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320" name="Google Shape;320;p22"/>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321" name="Google Shape;321;p22"/>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322" name="Google Shape;322;p22"/>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323" name="Google Shape;323;p22"/>
            <p:cNvGrpSpPr/>
            <p:nvPr/>
          </p:nvGrpSpPr>
          <p:grpSpPr>
            <a:xfrm>
              <a:off x="5334000" y="1238250"/>
              <a:ext cx="2667000" cy="2095500"/>
              <a:chOff x="0" y="0"/>
              <a:chExt cx="2667000" cy="2095500"/>
            </a:xfrm>
          </p:grpSpPr>
          <p:sp>
            <p:nvSpPr>
              <p:cNvPr id="324" name="Google Shape;324;p22"/>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325" name="Google Shape;325;p22"/>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326" name="Google Shape;326;p22"/>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Latent Space</a:t>
                </a:r>
                <a:endParaRPr b="1" sz="975">
                  <a:solidFill>
                    <a:srgbClr val="111315"/>
                  </a:solidFill>
                  <a:latin typeface="Inter"/>
                  <a:ea typeface="Inter"/>
                  <a:cs typeface="Inter"/>
                  <a:sym typeface="Inter"/>
                </a:endParaRPr>
              </a:p>
            </p:txBody>
          </p:sp>
          <p:cxnSp>
            <p:nvCxnSpPr>
              <p:cNvPr id="327" name="Google Shape;327;p22"/>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28" name="Google Shape;328;p22"/>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9" name="Google Shape;329;p22"/>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330" name="Google Shape;330;p22"/>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31" name="Google Shape;331;p22"/>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2" name="Google Shape;332;p22"/>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333" name="Google Shape;333;p22"/>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334" name="Google Shape;334;p22"/>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335" name="Google Shape;335;p22"/>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6" name="Google Shape;336;p22"/>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a:t>
                </a:r>
                <a:r>
                  <a:rPr lang="en-GB" sz="675">
                    <a:solidFill>
                      <a:srgbClr val="5A626A"/>
                    </a:solidFill>
                    <a:latin typeface="JetBrains Mono"/>
                    <a:ea typeface="JetBrains Mono"/>
                    <a:cs typeface="JetBrains Mono"/>
                    <a:sym typeface="JetBrains Mono"/>
                  </a:rPr>
                  <a:t>output vector</a:t>
                </a:r>
                <a:endParaRPr b="0" sz="675">
                  <a:solidFill>
                    <a:srgbClr val="5A626A"/>
                  </a:solidFill>
                  <a:latin typeface="JetBrains Mono"/>
                  <a:ea typeface="JetBrains Mono"/>
                  <a:cs typeface="JetBrains Mono"/>
                  <a:sym typeface="JetBrains Mono"/>
                </a:endParaRPr>
              </a:p>
            </p:txBody>
          </p:sp>
        </p:grpSp>
      </p:grpSp>
      <p:sp>
        <p:nvSpPr>
          <p:cNvPr id="337" name="Google Shape;337;p22"/>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338" name="Google Shape;338;p22"/>
          <p:cNvGrpSpPr/>
          <p:nvPr/>
        </p:nvGrpSpPr>
        <p:grpSpPr>
          <a:xfrm>
            <a:off x="381000" y="4762500"/>
            <a:ext cx="8382000" cy="285750"/>
            <a:chOff x="381000" y="4762500"/>
            <a:chExt cx="8382000" cy="285750"/>
          </a:xfrm>
        </p:grpSpPr>
        <p:cxnSp>
          <p:nvCxnSpPr>
            <p:cNvPr id="339" name="Google Shape;339;p22"/>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40" name="Google Shape;340;p22"/>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3"/>
          <p:cNvSpPr txBox="1"/>
          <p:nvPr/>
        </p:nvSpPr>
        <p:spPr>
          <a:xfrm>
            <a:off x="381000" y="3048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785" u="none" strike="noStrike">
                <a:solidFill>
                  <a:srgbClr val="111315"/>
                </a:solidFill>
                <a:latin typeface="Space Grotesk"/>
                <a:ea typeface="Space Grotesk"/>
                <a:cs typeface="Space Grotesk"/>
                <a:sym typeface="Space Grotesk"/>
              </a:rPr>
              <a:t>Sequential Next-Token Prediction (Autoregression and Recurrent Models)</a:t>
            </a:r>
            <a:endParaRPr b="0" i="0" sz="1785" u="none" strike="noStrike">
              <a:solidFill>
                <a:srgbClr val="111315"/>
              </a:solidFill>
              <a:latin typeface="Space Grotesk"/>
              <a:ea typeface="Space Grotesk"/>
              <a:cs typeface="Space Grotesk"/>
              <a:sym typeface="Space Grotesk"/>
            </a:endParaRPr>
          </a:p>
        </p:txBody>
      </p:sp>
      <p:sp>
        <p:nvSpPr>
          <p:cNvPr id="346" name="Google Shape;346;p23"/>
          <p:cNvSpPr txBox="1"/>
          <p:nvPr/>
        </p:nvSpPr>
        <p:spPr>
          <a:xfrm>
            <a:off x="381000" y="685800"/>
            <a:ext cx="8382000" cy="26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050" u="none" strike="noStrike">
                <a:solidFill>
                  <a:srgbClr val="111315"/>
                </a:solidFill>
                <a:latin typeface="Inter SemiBold"/>
                <a:ea typeface="Inter SemiBold"/>
                <a:cs typeface="Inter SemiBold"/>
                <a:sym typeface="Inter SemiBold"/>
              </a:rPr>
              <a:t>Sequential models store preceding token states in a fixed memory vector.</a:t>
            </a:r>
            <a:endParaRPr b="0" i="0" sz="1050" u="none" strike="noStrike">
              <a:solidFill>
                <a:srgbClr val="111315"/>
              </a:solidFill>
              <a:latin typeface="Inter SemiBold"/>
              <a:ea typeface="Inter SemiBold"/>
              <a:cs typeface="Inter SemiBold"/>
              <a:sym typeface="Inter SemiBold"/>
            </a:endParaRPr>
          </a:p>
        </p:txBody>
      </p:sp>
      <p:grpSp>
        <p:nvGrpSpPr>
          <p:cNvPr id="347" name="Google Shape;347;p23"/>
          <p:cNvGrpSpPr/>
          <p:nvPr/>
        </p:nvGrpSpPr>
        <p:grpSpPr>
          <a:xfrm>
            <a:off x="381000" y="1028700"/>
            <a:ext cx="8382000" cy="3200400"/>
            <a:chOff x="381000" y="1028700"/>
            <a:chExt cx="8382000" cy="3200400"/>
          </a:xfrm>
        </p:grpSpPr>
        <p:grpSp>
          <p:nvGrpSpPr>
            <p:cNvPr id="348" name="Google Shape;348;p23"/>
            <p:cNvGrpSpPr/>
            <p:nvPr/>
          </p:nvGrpSpPr>
          <p:grpSpPr>
            <a:xfrm>
              <a:off x="381000" y="1028700"/>
              <a:ext cx="7810650" cy="762000"/>
              <a:chOff x="0" y="0"/>
              <a:chExt cx="7810650" cy="762000"/>
            </a:xfrm>
          </p:grpSpPr>
          <p:sp>
            <p:nvSpPr>
              <p:cNvPr id="349" name="Google Shape;349;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0" name="Google Shape;350;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01</a:t>
                </a:r>
                <a:endParaRPr/>
              </a:p>
            </p:txBody>
          </p:sp>
          <p:sp>
            <p:nvSpPr>
              <p:cNvPr id="351" name="Google Shape;351;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2" name="Google Shape;352;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53" name="Google Shape;353;p23"/>
              <p:cNvGrpSpPr/>
              <p:nvPr/>
            </p:nvGrpSpPr>
            <p:grpSpPr>
              <a:xfrm>
                <a:off x="3067050" y="438150"/>
                <a:ext cx="342900" cy="76200"/>
                <a:chOff x="0" y="-38100"/>
                <a:chExt cx="342900" cy="76200"/>
              </a:xfrm>
            </p:grpSpPr>
            <p:cxnSp>
              <p:nvCxnSpPr>
                <p:cNvPr id="354" name="Google Shape;354;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55" name="Google Shape;355;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56" name="Google Shape;356;p23"/>
              <p:cNvGrpSpPr/>
              <p:nvPr/>
            </p:nvGrpSpPr>
            <p:grpSpPr>
              <a:xfrm>
                <a:off x="3524250" y="0"/>
                <a:ext cx="4286400" cy="762000"/>
                <a:chOff x="0" y="0"/>
                <a:chExt cx="4286400" cy="762000"/>
              </a:xfrm>
            </p:grpSpPr>
            <p:sp>
              <p:nvSpPr>
                <p:cNvPr id="357" name="Google Shape;357;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58" name="Google Shape;358;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59" name="Google Shape;359;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60" name="Google Shape;360;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red</a:t>
                  </a:r>
                  <a:endParaRPr b="1" sz="825">
                    <a:solidFill>
                      <a:srgbClr val="D9381E"/>
                    </a:solidFill>
                    <a:latin typeface="JetBrains Mono"/>
                    <a:ea typeface="JetBrains Mono"/>
                    <a:cs typeface="JetBrains Mono"/>
                    <a:sym typeface="JetBrains Mono"/>
                  </a:endParaRPr>
                </a:p>
              </p:txBody>
            </p:sp>
            <p:sp>
              <p:nvSpPr>
                <p:cNvPr id="361" name="Google Shape;361;p23"/>
                <p:cNvSpPr/>
                <p:nvPr/>
              </p:nvSpPr>
              <p:spPr>
                <a:xfrm>
                  <a:off x="666750" y="247650"/>
                  <a:ext cx="1714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2" name="Google Shape;362;p23"/>
                <p:cNvSpPr txBox="1"/>
                <p:nvPr/>
              </p:nvSpPr>
              <p:spPr>
                <a:xfrm>
                  <a:off x="2457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45%</a:t>
                  </a:r>
                  <a:endParaRPr b="1" sz="825">
                    <a:solidFill>
                      <a:srgbClr val="D9381E"/>
                    </a:solidFill>
                    <a:latin typeface="JetBrains Mono"/>
                    <a:ea typeface="JetBrains Mono"/>
                    <a:cs typeface="JetBrains Mono"/>
                    <a:sym typeface="JetBrains Mono"/>
                  </a:endParaRPr>
                </a:p>
              </p:txBody>
            </p:sp>
            <p:sp>
              <p:nvSpPr>
                <p:cNvPr id="363" name="Google Shape;363;p23"/>
                <p:cNvSpPr/>
                <p:nvPr/>
              </p:nvSpPr>
              <p:spPr>
                <a:xfrm>
                  <a:off x="2857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4" name="Google Shape;364;p23"/>
                <p:cNvSpPr txBox="1"/>
                <p:nvPr/>
              </p:nvSpPr>
              <p:spPr>
                <a:xfrm>
                  <a:off x="2857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65" name="Google Shape;365;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round</a:t>
                  </a:r>
                  <a:endParaRPr b="0" sz="825">
                    <a:solidFill>
                      <a:srgbClr val="5A626A"/>
                    </a:solidFill>
                    <a:latin typeface="JetBrains Mono"/>
                    <a:ea typeface="JetBrains Mono"/>
                    <a:cs typeface="JetBrains Mono"/>
                    <a:sym typeface="JetBrains Mono"/>
                  </a:endParaRPr>
                </a:p>
              </p:txBody>
            </p:sp>
            <p:sp>
              <p:nvSpPr>
                <p:cNvPr id="366" name="Google Shape;366;p23"/>
                <p:cNvSpPr/>
                <p:nvPr/>
              </p:nvSpPr>
              <p:spPr>
                <a:xfrm>
                  <a:off x="666750" y="419100"/>
                  <a:ext cx="1333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7" name="Google Shape;367;p23"/>
                <p:cNvSpPr txBox="1"/>
                <p:nvPr/>
              </p:nvSpPr>
              <p:spPr>
                <a:xfrm>
                  <a:off x="2076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368" name="Google Shape;368;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sweet</a:t>
                  </a:r>
                  <a:endParaRPr b="0" sz="825">
                    <a:solidFill>
                      <a:srgbClr val="5A626A"/>
                    </a:solidFill>
                    <a:latin typeface="JetBrains Mono"/>
                    <a:ea typeface="JetBrains Mono"/>
                    <a:cs typeface="JetBrains Mono"/>
                    <a:sym typeface="JetBrains Mono"/>
                  </a:endParaRPr>
                </a:p>
              </p:txBody>
            </p:sp>
            <p:sp>
              <p:nvSpPr>
                <p:cNvPr id="369" name="Google Shape;369;p23"/>
                <p:cNvSpPr/>
                <p:nvPr/>
              </p:nvSpPr>
              <p:spPr>
                <a:xfrm>
                  <a:off x="666750" y="590550"/>
                  <a:ext cx="762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0" name="Google Shape;370;p23"/>
                <p:cNvSpPr txBox="1"/>
                <p:nvPr/>
              </p:nvSpPr>
              <p:spPr>
                <a:xfrm>
                  <a:off x="1504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20%</a:t>
                  </a:r>
                  <a:endParaRPr b="0" sz="825">
                    <a:solidFill>
                      <a:srgbClr val="5A626A"/>
                    </a:solidFill>
                    <a:latin typeface="JetBrains Mono"/>
                    <a:ea typeface="JetBrains Mono"/>
                    <a:cs typeface="JetBrains Mono"/>
                    <a:sym typeface="JetBrains Mono"/>
                  </a:endParaRPr>
                </a:p>
              </p:txBody>
            </p:sp>
          </p:grpSp>
        </p:grpSp>
        <p:grpSp>
          <p:nvGrpSpPr>
            <p:cNvPr id="371" name="Google Shape;371;p23"/>
            <p:cNvGrpSpPr/>
            <p:nvPr/>
          </p:nvGrpSpPr>
          <p:grpSpPr>
            <a:xfrm>
              <a:off x="381000" y="2019300"/>
              <a:ext cx="7810650" cy="762000"/>
              <a:chOff x="0" y="0"/>
              <a:chExt cx="7810650" cy="762000"/>
            </a:xfrm>
          </p:grpSpPr>
          <p:sp>
            <p:nvSpPr>
              <p:cNvPr id="372" name="Google Shape;372;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3" name="Google Shape;373;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02</a:t>
                </a:r>
                <a:endParaRPr/>
              </a:p>
            </p:txBody>
          </p:sp>
          <p:sp>
            <p:nvSpPr>
              <p:cNvPr id="374" name="Google Shape;374;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5" name="Google Shape;375;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'red'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76" name="Google Shape;376;p23"/>
              <p:cNvGrpSpPr/>
              <p:nvPr/>
            </p:nvGrpSpPr>
            <p:grpSpPr>
              <a:xfrm>
                <a:off x="3067050" y="438150"/>
                <a:ext cx="342900" cy="76200"/>
                <a:chOff x="0" y="-38100"/>
                <a:chExt cx="342900" cy="76200"/>
              </a:xfrm>
            </p:grpSpPr>
            <p:cxnSp>
              <p:nvCxnSpPr>
                <p:cNvPr id="377" name="Google Shape;377;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78" name="Google Shape;378;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79" name="Google Shape;379;p23"/>
              <p:cNvGrpSpPr/>
              <p:nvPr/>
            </p:nvGrpSpPr>
            <p:grpSpPr>
              <a:xfrm>
                <a:off x="3524250" y="0"/>
                <a:ext cx="4286400" cy="762000"/>
                <a:chOff x="0" y="0"/>
                <a:chExt cx="4286400" cy="762000"/>
              </a:xfrm>
            </p:grpSpPr>
            <p:sp>
              <p:nvSpPr>
                <p:cNvPr id="380" name="Google Shape;380;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81" name="Google Shape;381;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82" name="Google Shape;382;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83" name="Google Shape;383;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and</a:t>
                  </a:r>
                  <a:endParaRPr b="1" sz="825">
                    <a:solidFill>
                      <a:srgbClr val="D9381E"/>
                    </a:solidFill>
                    <a:latin typeface="JetBrains Mono"/>
                    <a:ea typeface="JetBrains Mono"/>
                    <a:cs typeface="JetBrains Mono"/>
                    <a:sym typeface="JetBrains Mono"/>
                  </a:endParaRPr>
                </a:p>
              </p:txBody>
            </p:sp>
            <p:sp>
              <p:nvSpPr>
                <p:cNvPr id="384" name="Google Shape;384;p23"/>
                <p:cNvSpPr/>
                <p:nvPr/>
              </p:nvSpPr>
              <p:spPr>
                <a:xfrm>
                  <a:off x="666750" y="247650"/>
                  <a:ext cx="2095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5" name="Google Shape;385;p23"/>
                <p:cNvSpPr txBox="1"/>
                <p:nvPr/>
              </p:nvSpPr>
              <p:spPr>
                <a:xfrm>
                  <a:off x="2838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386" name="Google Shape;386;p23"/>
                <p:cNvSpPr/>
                <p:nvPr/>
              </p:nvSpPr>
              <p:spPr>
                <a:xfrm>
                  <a:off x="3238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3"/>
                <p:cNvSpPr txBox="1"/>
                <p:nvPr/>
              </p:nvSpPr>
              <p:spPr>
                <a:xfrm>
                  <a:off x="3238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88" name="Google Shape;388;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with</a:t>
                  </a:r>
                  <a:endParaRPr b="0" sz="825">
                    <a:solidFill>
                      <a:srgbClr val="5A626A"/>
                    </a:solidFill>
                    <a:latin typeface="JetBrains Mono"/>
                    <a:ea typeface="JetBrains Mono"/>
                    <a:cs typeface="JetBrains Mono"/>
                    <a:sym typeface="JetBrains Mono"/>
                  </a:endParaRPr>
                </a:p>
              </p:txBody>
            </p:sp>
            <p:sp>
              <p:nvSpPr>
                <p:cNvPr id="389" name="Google Shape;389;p23"/>
                <p:cNvSpPr/>
                <p:nvPr/>
              </p:nvSpPr>
              <p:spPr>
                <a:xfrm>
                  <a:off x="666750" y="419100"/>
                  <a:ext cx="1143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0" name="Google Shape;390;p23"/>
                <p:cNvSpPr txBox="1"/>
                <p:nvPr/>
              </p:nvSpPr>
              <p:spPr>
                <a:xfrm>
                  <a:off x="18859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391" name="Google Shape;391;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t>
                  </a:r>
                  <a:endParaRPr b="0" sz="825">
                    <a:solidFill>
                      <a:srgbClr val="5A626A"/>
                    </a:solidFill>
                    <a:latin typeface="JetBrains Mono"/>
                    <a:ea typeface="JetBrains Mono"/>
                    <a:cs typeface="JetBrains Mono"/>
                    <a:sym typeface="JetBrains Mono"/>
                  </a:endParaRPr>
                </a:p>
              </p:txBody>
            </p:sp>
            <p:sp>
              <p:nvSpPr>
                <p:cNvPr id="392" name="Google Shape;392;p23"/>
                <p:cNvSpPr/>
                <p:nvPr/>
              </p:nvSpPr>
              <p:spPr>
                <a:xfrm>
                  <a:off x="666750" y="590550"/>
                  <a:ext cx="571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3" name="Google Shape;393;p23"/>
                <p:cNvSpPr txBox="1"/>
                <p:nvPr/>
              </p:nvSpPr>
              <p:spPr>
                <a:xfrm>
                  <a:off x="13144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grpSp>
          <p:nvGrpSpPr>
            <p:cNvPr id="394" name="Google Shape;394;p23"/>
            <p:cNvGrpSpPr/>
            <p:nvPr/>
          </p:nvGrpSpPr>
          <p:grpSpPr>
            <a:xfrm>
              <a:off x="381000" y="3009900"/>
              <a:ext cx="7810650" cy="762000"/>
              <a:chOff x="0" y="0"/>
              <a:chExt cx="7810650" cy="762000"/>
            </a:xfrm>
          </p:grpSpPr>
          <p:sp>
            <p:nvSpPr>
              <p:cNvPr id="395" name="Google Shape;395;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6" name="Google Shape;396;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03</a:t>
                </a:r>
                <a:endParaRPr/>
              </a:p>
            </p:txBody>
          </p:sp>
          <p:sp>
            <p:nvSpPr>
              <p:cNvPr id="397" name="Google Shape;397;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8" name="Google Shape;398;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'and'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and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99" name="Google Shape;399;p23"/>
              <p:cNvGrpSpPr/>
              <p:nvPr/>
            </p:nvGrpSpPr>
            <p:grpSpPr>
              <a:xfrm>
                <a:off x="3067050" y="438150"/>
                <a:ext cx="342900" cy="76200"/>
                <a:chOff x="0" y="-38100"/>
                <a:chExt cx="342900" cy="76200"/>
              </a:xfrm>
            </p:grpSpPr>
            <p:cxnSp>
              <p:nvCxnSpPr>
                <p:cNvPr id="400" name="Google Shape;400;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401" name="Google Shape;401;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402" name="Google Shape;402;p23"/>
              <p:cNvGrpSpPr/>
              <p:nvPr/>
            </p:nvGrpSpPr>
            <p:grpSpPr>
              <a:xfrm>
                <a:off x="3524250" y="0"/>
                <a:ext cx="4286400" cy="762000"/>
                <a:chOff x="0" y="0"/>
                <a:chExt cx="4286400" cy="762000"/>
              </a:xfrm>
            </p:grpSpPr>
            <p:sp>
              <p:nvSpPr>
                <p:cNvPr id="403" name="Google Shape;403;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404" name="Google Shape;404;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405" name="Google Shape;405;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406" name="Google Shape;406;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round</a:t>
                  </a:r>
                  <a:endParaRPr b="1" sz="825">
                    <a:solidFill>
                      <a:srgbClr val="D9381E"/>
                    </a:solidFill>
                    <a:latin typeface="JetBrains Mono"/>
                    <a:ea typeface="JetBrains Mono"/>
                    <a:cs typeface="JetBrains Mono"/>
                    <a:sym typeface="JetBrains Mono"/>
                  </a:endParaRPr>
                </a:p>
              </p:txBody>
            </p:sp>
            <p:sp>
              <p:nvSpPr>
                <p:cNvPr id="407" name="Google Shape;407;p23"/>
                <p:cNvSpPr/>
                <p:nvPr/>
              </p:nvSpPr>
              <p:spPr>
                <a:xfrm>
                  <a:off x="666750" y="247650"/>
                  <a:ext cx="23814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8" name="Google Shape;408;p23"/>
                <p:cNvSpPr txBox="1"/>
                <p:nvPr/>
              </p:nvSpPr>
              <p:spPr>
                <a:xfrm>
                  <a:off x="312420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65%</a:t>
                  </a:r>
                  <a:endParaRPr b="1" sz="825">
                    <a:solidFill>
                      <a:srgbClr val="D9381E"/>
                    </a:solidFill>
                    <a:latin typeface="JetBrains Mono"/>
                    <a:ea typeface="JetBrains Mono"/>
                    <a:cs typeface="JetBrains Mono"/>
                    <a:sym typeface="JetBrains Mono"/>
                  </a:endParaRPr>
                </a:p>
              </p:txBody>
            </p:sp>
            <p:sp>
              <p:nvSpPr>
                <p:cNvPr id="409" name="Google Shape;409;p23"/>
                <p:cNvSpPr/>
                <p:nvPr/>
              </p:nvSpPr>
              <p:spPr>
                <a:xfrm>
                  <a:off x="352425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0" name="Google Shape;410;p23"/>
                <p:cNvSpPr txBox="1"/>
                <p:nvPr/>
              </p:nvSpPr>
              <p:spPr>
                <a:xfrm>
                  <a:off x="352425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411" name="Google Shape;411;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juicy</a:t>
                  </a:r>
                  <a:endParaRPr b="0" sz="825">
                    <a:solidFill>
                      <a:srgbClr val="5A626A"/>
                    </a:solidFill>
                    <a:latin typeface="JetBrains Mono"/>
                    <a:ea typeface="JetBrains Mono"/>
                    <a:cs typeface="JetBrains Mono"/>
                    <a:sym typeface="JetBrains Mono"/>
                  </a:endParaRPr>
                </a:p>
              </p:txBody>
            </p:sp>
            <p:sp>
              <p:nvSpPr>
                <p:cNvPr id="412" name="Google Shape;412;p23"/>
                <p:cNvSpPr/>
                <p:nvPr/>
              </p:nvSpPr>
              <p:spPr>
                <a:xfrm>
                  <a:off x="666750" y="419100"/>
                  <a:ext cx="952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3" name="Google Shape;413;p23"/>
                <p:cNvSpPr txBox="1"/>
                <p:nvPr/>
              </p:nvSpPr>
              <p:spPr>
                <a:xfrm>
                  <a:off x="1695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25%</a:t>
                  </a:r>
                  <a:endParaRPr b="0" sz="825">
                    <a:solidFill>
                      <a:srgbClr val="5A626A"/>
                    </a:solidFill>
                    <a:latin typeface="JetBrains Mono"/>
                    <a:ea typeface="JetBrains Mono"/>
                    <a:cs typeface="JetBrains Mono"/>
                    <a:sym typeface="JetBrains Mono"/>
                  </a:endParaRPr>
                </a:p>
              </p:txBody>
            </p:sp>
            <p:sp>
              <p:nvSpPr>
                <p:cNvPr id="414" name="Google Shape;414;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crisp</a:t>
                  </a:r>
                  <a:endParaRPr b="0" sz="825">
                    <a:solidFill>
                      <a:srgbClr val="5A626A"/>
                    </a:solidFill>
                    <a:latin typeface="JetBrains Mono"/>
                    <a:ea typeface="JetBrains Mono"/>
                    <a:cs typeface="JetBrains Mono"/>
                    <a:sym typeface="JetBrains Mono"/>
                  </a:endParaRPr>
                </a:p>
              </p:txBody>
            </p:sp>
            <p:sp>
              <p:nvSpPr>
                <p:cNvPr id="415" name="Google Shape;415;p23"/>
                <p:cNvSpPr/>
                <p:nvPr/>
              </p:nvSpPr>
              <p:spPr>
                <a:xfrm>
                  <a:off x="666750" y="590550"/>
                  <a:ext cx="381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6" name="Google Shape;416;p23"/>
                <p:cNvSpPr txBox="1"/>
                <p:nvPr/>
              </p:nvSpPr>
              <p:spPr>
                <a:xfrm>
                  <a:off x="1123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10%</a:t>
                  </a:r>
                  <a:endParaRPr b="0" sz="825">
                    <a:solidFill>
                      <a:srgbClr val="5A626A"/>
                    </a:solidFill>
                    <a:latin typeface="JetBrains Mono"/>
                    <a:ea typeface="JetBrains Mono"/>
                    <a:cs typeface="JetBrains Mono"/>
                    <a:sym typeface="JetBrains Mono"/>
                  </a:endParaRPr>
                </a:p>
              </p:txBody>
            </p:sp>
          </p:grpSp>
        </p:grpSp>
        <p:grpSp>
          <p:nvGrpSpPr>
            <p:cNvPr id="417" name="Google Shape;417;p23"/>
            <p:cNvGrpSpPr/>
            <p:nvPr/>
          </p:nvGrpSpPr>
          <p:grpSpPr>
            <a:xfrm>
              <a:off x="381000" y="3924300"/>
              <a:ext cx="8382000" cy="304800"/>
              <a:chOff x="0" y="0"/>
              <a:chExt cx="8382000" cy="304800"/>
            </a:xfrm>
          </p:grpSpPr>
          <p:sp>
            <p:nvSpPr>
              <p:cNvPr id="418" name="Google Shape;418;p23"/>
              <p:cNvSpPr/>
              <p:nvPr/>
            </p:nvSpPr>
            <p:spPr>
              <a:xfrm>
                <a:off x="0" y="0"/>
                <a:ext cx="8382000" cy="3048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9" name="Google Shape;419;p23"/>
              <p:cNvSpPr txBox="1"/>
              <p:nvPr/>
            </p:nvSpPr>
            <p:spPr>
              <a:xfrm>
                <a:off x="152400" y="57150"/>
                <a:ext cx="80772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825" u="none" strike="noStrike">
                    <a:solidFill>
                      <a:srgbClr val="D9381E"/>
                    </a:solidFill>
                    <a:latin typeface="JetBrains Mono"/>
                    <a:ea typeface="JetBrains Mono"/>
                    <a:cs typeface="JetBrains Mono"/>
                    <a:sym typeface="JetBrains Mono"/>
                  </a:rPr>
                  <a:t>AUTOREGRESSIVE LOOP:</a:t>
                </a:r>
                <a:r>
                  <a:rPr b="0" i="0" lang="en-GB" sz="825" u="none" strike="noStrike">
                    <a:solidFill>
                      <a:srgbClr val="D9381E"/>
                    </a:solidFill>
                    <a:latin typeface="JetBrains Mono"/>
                    <a:ea typeface="JetBrains Mono"/>
                    <a:cs typeface="JetBrains Mono"/>
                    <a:sym typeface="JetBrains Mono"/>
                  </a:rPr>
                  <a:t> Output tokens are iteratively appended to input sequences to generate subsequent tokens sequentially.</a:t>
                </a:r>
                <a:endParaRPr b="1" i="0" sz="825" u="none" strike="noStrike">
                  <a:solidFill>
                    <a:srgbClr val="D9381E"/>
                  </a:solidFill>
                  <a:latin typeface="JetBrains Mono"/>
                  <a:ea typeface="JetBrains Mono"/>
                  <a:cs typeface="JetBrains Mono"/>
                  <a:sym typeface="JetBrains Mono"/>
                </a:endParaRPr>
              </a:p>
            </p:txBody>
          </p:sp>
        </p:grpSp>
      </p:grpSp>
      <p:sp>
        <p:nvSpPr>
          <p:cNvPr id="420" name="Google Shape;420;p23"/>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Hochreiter &amp; Schmidhuber (1997).</a:t>
            </a:r>
            <a:endParaRPr b="0" sz="825">
              <a:solidFill>
                <a:srgbClr val="5A626A"/>
              </a:solidFill>
              <a:latin typeface="JetBrains Mono"/>
              <a:ea typeface="JetBrains Mono"/>
              <a:cs typeface="JetBrains Mono"/>
              <a:sym typeface="JetBrains Mono"/>
            </a:endParaRPr>
          </a:p>
        </p:txBody>
      </p:sp>
      <p:grpSp>
        <p:nvGrpSpPr>
          <p:cNvPr id="421" name="Google Shape;421;p23"/>
          <p:cNvGrpSpPr/>
          <p:nvPr/>
        </p:nvGrpSpPr>
        <p:grpSpPr>
          <a:xfrm>
            <a:off x="381000" y="4762500"/>
            <a:ext cx="8382000" cy="285750"/>
            <a:chOff x="381000" y="4762500"/>
            <a:chExt cx="8382000" cy="285750"/>
          </a:xfrm>
        </p:grpSpPr>
        <p:cxnSp>
          <p:nvCxnSpPr>
            <p:cNvPr id="422" name="Google Shape;422;p23"/>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423" name="Google Shape;423;p23"/>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24"/>
          <p:cNvSpPr txBox="1"/>
          <p:nvPr/>
        </p:nvSpPr>
        <p:spPr>
          <a:xfrm>
            <a:off x="381000" y="28575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Transformers: Conditional Probabilities Based on Context</a:t>
            </a:r>
            <a:endParaRPr b="0" i="0" sz="1950" u="none" strike="noStrike">
              <a:solidFill>
                <a:srgbClr val="111315"/>
              </a:solidFill>
              <a:latin typeface="Space Grotesk"/>
              <a:ea typeface="Space Grotesk"/>
              <a:cs typeface="Space Grotesk"/>
              <a:sym typeface="Space Grotesk"/>
            </a:endParaRPr>
          </a:p>
        </p:txBody>
      </p:sp>
      <p:grpSp>
        <p:nvGrpSpPr>
          <p:cNvPr id="429" name="Google Shape;429;p24"/>
          <p:cNvGrpSpPr/>
          <p:nvPr/>
        </p:nvGrpSpPr>
        <p:grpSpPr>
          <a:xfrm>
            <a:off x="381000" y="762000"/>
            <a:ext cx="8382000" cy="1619100"/>
            <a:chOff x="0" y="0"/>
            <a:chExt cx="8382000" cy="1619100"/>
          </a:xfrm>
        </p:grpSpPr>
        <p:sp>
          <p:nvSpPr>
            <p:cNvPr id="430" name="Google Shape;430;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1" name="Google Shape;431;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2" name="Google Shape;432;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A: FRUIT MARKET</a:t>
              </a:r>
              <a:endParaRPr b="1" sz="825">
                <a:solidFill>
                  <a:srgbClr val="111315"/>
                </a:solidFill>
                <a:latin typeface="JetBrains Mono"/>
                <a:ea typeface="JetBrains Mono"/>
                <a:cs typeface="JetBrains Mono"/>
                <a:sym typeface="JetBrains Mono"/>
              </a:endParaRPr>
            </a:p>
          </p:txBody>
        </p:sp>
        <p:cxnSp>
          <p:nvCxnSpPr>
            <p:cNvPr id="433" name="Google Shape;433;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34" name="Google Shape;434;p24"/>
            <p:cNvPicPr preferRelativeResize="0"/>
            <p:nvPr/>
          </p:nvPicPr>
          <p:blipFill rotWithShape="1">
            <a:blip r:embed="rId3">
              <a:alphaModFix/>
            </a:blip>
            <a:srcRect b="0" l="0" r="0" t="0"/>
            <a:stretch/>
          </p:blipFill>
          <p:spPr>
            <a:xfrm>
              <a:off x="823913" y="528638"/>
              <a:ext cx="3419400" cy="238200"/>
            </a:xfrm>
            <a:prstGeom prst="rect">
              <a:avLst/>
            </a:prstGeom>
            <a:noFill/>
            <a:ln>
              <a:noFill/>
            </a:ln>
          </p:spPr>
        </p:pic>
        <p:pic>
          <p:nvPicPr>
            <p:cNvPr id="435" name="Google Shape;435;p24"/>
            <p:cNvPicPr preferRelativeResize="0"/>
            <p:nvPr/>
          </p:nvPicPr>
          <p:blipFill rotWithShape="1">
            <a:blip r:embed="rId4">
              <a:alphaModFix/>
            </a:blip>
            <a:srcRect b="0" l="0" r="0" t="0"/>
            <a:stretch/>
          </p:blipFill>
          <p:spPr>
            <a:xfrm>
              <a:off x="1543050" y="590550"/>
              <a:ext cx="2700300" cy="171600"/>
            </a:xfrm>
            <a:prstGeom prst="rect">
              <a:avLst/>
            </a:prstGeom>
            <a:noFill/>
            <a:ln>
              <a:noFill/>
            </a:ln>
          </p:spPr>
        </p:pic>
        <p:sp>
          <p:nvSpPr>
            <p:cNvPr id="436" name="Google Shape;436;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Attention Weight</a:t>
              </a:r>
              <a:endParaRPr b="1" sz="750">
                <a:solidFill>
                  <a:srgbClr val="1D4ED8"/>
                </a:solidFill>
                <a:latin typeface="JetBrains Mono"/>
                <a:ea typeface="JetBrains Mono"/>
                <a:cs typeface="JetBrains Mono"/>
                <a:sym typeface="JetBrains Mono"/>
              </a:endParaRPr>
            </a:p>
          </p:txBody>
        </p:sp>
        <p:sp>
          <p:nvSpPr>
            <p:cNvPr id="437" name="Google Shape;437;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8" name="Google Shape;438;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39" name="Google Shape;439;p24"/>
            <p:cNvSpPr/>
            <p:nvPr/>
          </p:nvSpPr>
          <p:spPr>
            <a:xfrm>
              <a:off x="523875" y="781050"/>
              <a:ext cx="6669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0" name="Google Shape;440;p24"/>
            <p:cNvSpPr txBox="1"/>
            <p:nvPr/>
          </p:nvSpPr>
          <p:spPr>
            <a:xfrm>
              <a:off x="523875"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fruit</a:t>
              </a:r>
              <a:endParaRPr/>
            </a:p>
          </p:txBody>
        </p:sp>
        <p:sp>
          <p:nvSpPr>
            <p:cNvPr id="441" name="Google Shape;441;p24"/>
            <p:cNvSpPr/>
            <p:nvPr/>
          </p:nvSpPr>
          <p:spPr>
            <a:xfrm>
              <a:off x="1238250" y="781050"/>
              <a:ext cx="7620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2" name="Google Shape;442;p24"/>
            <p:cNvSpPr txBox="1"/>
            <p:nvPr/>
          </p:nvSpPr>
          <p:spPr>
            <a:xfrm>
              <a:off x="1238250"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market</a:t>
              </a:r>
              <a:endParaRPr/>
            </a:p>
          </p:txBody>
        </p:sp>
        <p:sp>
          <p:nvSpPr>
            <p:cNvPr id="443" name="Google Shape;443;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4" name="Google Shape;444;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45" name="Google Shape;445;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6" name="Google Shape;446;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47" name="Google Shape;447;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8" name="Google Shape;448;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49" name="Google Shape;449;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0" name="Google Shape;450;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51" name="Google Shape;451;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2" name="Google Shape;452;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53" name="Google Shape;453;p24"/>
            <p:cNvSpPr/>
            <p:nvPr/>
          </p:nvSpPr>
          <p:spPr>
            <a:xfrm>
              <a:off x="4076700" y="781050"/>
              <a:ext cx="400200" cy="266700"/>
            </a:xfrm>
            <a:prstGeom prst="rect">
              <a:avLst/>
            </a:prstGeom>
            <a:solidFill>
              <a:srgbClr val="1D4ED8"/>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4" name="Google Shape;454;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55" name="Google Shape;455;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fruit market is busy. An apple is _____"</a:t>
              </a:r>
              <a:endParaRPr b="0" sz="825">
                <a:solidFill>
                  <a:srgbClr val="5A626A"/>
                </a:solidFill>
                <a:latin typeface="JetBrains Mono"/>
                <a:ea typeface="JetBrains Mono"/>
                <a:cs typeface="JetBrains Mono"/>
                <a:sym typeface="JetBrains Mono"/>
              </a:endParaRPr>
            </a:p>
          </p:txBody>
        </p:sp>
        <p:sp>
          <p:nvSpPr>
            <p:cNvPr id="456" name="Google Shape;456;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57" name="Google Shape;457;p24"/>
            <p:cNvSpPr txBox="1"/>
            <p:nvPr/>
          </p:nvSpPr>
          <p:spPr>
            <a:xfrm>
              <a:off x="4762500" y="4000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red</a:t>
              </a:r>
              <a:endParaRPr/>
            </a:p>
          </p:txBody>
        </p:sp>
        <p:sp>
          <p:nvSpPr>
            <p:cNvPr id="458" name="Google Shape;458;p24"/>
            <p:cNvSpPr/>
            <p:nvPr/>
          </p:nvSpPr>
          <p:spPr>
            <a:xfrm>
              <a:off x="5476875" y="400050"/>
              <a:ext cx="1714500" cy="190500"/>
            </a:xfrm>
            <a:prstGeom prst="roundRect">
              <a:avLst>
                <a:gd fmla="val 10000" name="adj"/>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9" name="Google Shape;459;p24"/>
            <p:cNvSpPr txBox="1"/>
            <p:nvPr/>
          </p:nvSpPr>
          <p:spPr>
            <a:xfrm>
              <a:off x="726757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50%</a:t>
              </a:r>
              <a:endParaRPr b="1" sz="825">
                <a:solidFill>
                  <a:srgbClr val="1D4ED8"/>
                </a:solidFill>
                <a:latin typeface="JetBrains Mono"/>
                <a:ea typeface="JetBrains Mono"/>
                <a:cs typeface="JetBrains Mono"/>
                <a:sym typeface="JetBrains Mono"/>
              </a:endParaRPr>
            </a:p>
          </p:txBody>
        </p:sp>
        <p:sp>
          <p:nvSpPr>
            <p:cNvPr id="460" name="Google Shape;460;p24"/>
            <p:cNvSpPr txBox="1"/>
            <p:nvPr/>
          </p:nvSpPr>
          <p:spPr>
            <a:xfrm>
              <a:off x="4762500" y="7048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round</a:t>
              </a:r>
              <a:endParaRPr/>
            </a:p>
          </p:txBody>
        </p:sp>
        <p:sp>
          <p:nvSpPr>
            <p:cNvPr id="461" name="Google Shape;461;p24"/>
            <p:cNvSpPr/>
            <p:nvPr/>
          </p:nvSpPr>
          <p:spPr>
            <a:xfrm>
              <a:off x="5476875" y="704850"/>
              <a:ext cx="1200300" cy="190500"/>
            </a:xfrm>
            <a:prstGeom prst="roundRect">
              <a:avLst>
                <a:gd fmla="val 10000" name="adj"/>
              </a:avLst>
            </a:prstGeom>
            <a:solidFill>
              <a:srgbClr val="1D4ED8">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2" name="Google Shape;462;p24"/>
            <p:cNvSpPr txBox="1"/>
            <p:nvPr/>
          </p:nvSpPr>
          <p:spPr>
            <a:xfrm>
              <a:off x="675322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463" name="Google Shape;463;p24"/>
            <p:cNvSpPr txBox="1"/>
            <p:nvPr/>
          </p:nvSpPr>
          <p:spPr>
            <a:xfrm>
              <a:off x="4762500" y="10096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fresh</a:t>
              </a:r>
              <a:endParaRPr/>
            </a:p>
          </p:txBody>
        </p:sp>
        <p:sp>
          <p:nvSpPr>
            <p:cNvPr id="464" name="Google Shape;464;p24"/>
            <p:cNvSpPr/>
            <p:nvPr/>
          </p:nvSpPr>
          <p:spPr>
            <a:xfrm>
              <a:off x="5476875" y="1009650"/>
              <a:ext cx="514500" cy="190500"/>
            </a:xfrm>
            <a:prstGeom prst="roundRect">
              <a:avLst>
                <a:gd fmla="val 10000" name="adj"/>
              </a:avLst>
            </a:prstGeom>
            <a:solidFill>
              <a:srgbClr val="1D4ED8">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5" name="Google Shape;465;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nvGrpSpPr>
          <p:cNvPr id="466" name="Google Shape;466;p24"/>
          <p:cNvGrpSpPr/>
          <p:nvPr/>
        </p:nvGrpSpPr>
        <p:grpSpPr>
          <a:xfrm>
            <a:off x="381000" y="2524125"/>
            <a:ext cx="8382000" cy="1619100"/>
            <a:chOff x="0" y="0"/>
            <a:chExt cx="8382000" cy="1619100"/>
          </a:xfrm>
        </p:grpSpPr>
        <p:sp>
          <p:nvSpPr>
            <p:cNvPr id="467" name="Google Shape;467;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8" name="Google Shape;468;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9" name="Google Shape;469;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B: LAPTOP STORE</a:t>
              </a:r>
              <a:endParaRPr b="1" sz="825">
                <a:solidFill>
                  <a:srgbClr val="111315"/>
                </a:solidFill>
                <a:latin typeface="JetBrains Mono"/>
                <a:ea typeface="JetBrains Mono"/>
                <a:cs typeface="JetBrains Mono"/>
                <a:sym typeface="JetBrains Mono"/>
              </a:endParaRPr>
            </a:p>
          </p:txBody>
        </p:sp>
        <p:cxnSp>
          <p:nvCxnSpPr>
            <p:cNvPr id="470" name="Google Shape;470;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71" name="Google Shape;471;p24"/>
            <p:cNvPicPr preferRelativeResize="0"/>
            <p:nvPr/>
          </p:nvPicPr>
          <p:blipFill rotWithShape="1">
            <a:blip r:embed="rId5">
              <a:alphaModFix/>
            </a:blip>
            <a:srcRect b="0" l="0" r="0" t="0"/>
            <a:stretch/>
          </p:blipFill>
          <p:spPr>
            <a:xfrm>
              <a:off x="871538" y="528638"/>
              <a:ext cx="3372000" cy="238200"/>
            </a:xfrm>
            <a:prstGeom prst="rect">
              <a:avLst/>
            </a:prstGeom>
            <a:noFill/>
            <a:ln>
              <a:noFill/>
            </a:ln>
          </p:spPr>
        </p:pic>
        <p:pic>
          <p:nvPicPr>
            <p:cNvPr id="472" name="Google Shape;472;p24"/>
            <p:cNvPicPr preferRelativeResize="0"/>
            <p:nvPr/>
          </p:nvPicPr>
          <p:blipFill rotWithShape="1">
            <a:blip r:embed="rId6">
              <a:alphaModFix/>
            </a:blip>
            <a:srcRect b="0" l="0" r="0" t="0"/>
            <a:stretch/>
          </p:blipFill>
          <p:spPr>
            <a:xfrm>
              <a:off x="1638300" y="590550"/>
              <a:ext cx="2605200" cy="171600"/>
            </a:xfrm>
            <a:prstGeom prst="rect">
              <a:avLst/>
            </a:prstGeom>
            <a:noFill/>
            <a:ln>
              <a:noFill/>
            </a:ln>
          </p:spPr>
        </p:pic>
        <p:sp>
          <p:nvSpPr>
            <p:cNvPr id="473" name="Google Shape;473;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Attention Weight</a:t>
              </a:r>
              <a:endParaRPr b="1" sz="750">
                <a:solidFill>
                  <a:srgbClr val="D9381E"/>
                </a:solidFill>
                <a:latin typeface="JetBrains Mono"/>
                <a:ea typeface="JetBrains Mono"/>
                <a:cs typeface="JetBrains Mono"/>
                <a:sym typeface="JetBrains Mono"/>
              </a:endParaRPr>
            </a:p>
          </p:txBody>
        </p:sp>
        <p:sp>
          <p:nvSpPr>
            <p:cNvPr id="474" name="Google Shape;474;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5" name="Google Shape;475;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76" name="Google Shape;476;p24"/>
            <p:cNvSpPr/>
            <p:nvPr/>
          </p:nvSpPr>
          <p:spPr>
            <a:xfrm>
              <a:off x="523875" y="781050"/>
              <a:ext cx="7620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7" name="Google Shape;477;p24"/>
            <p:cNvSpPr txBox="1"/>
            <p:nvPr/>
          </p:nvSpPr>
          <p:spPr>
            <a:xfrm>
              <a:off x="523875"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laptop</a:t>
              </a:r>
              <a:endParaRPr/>
            </a:p>
          </p:txBody>
        </p:sp>
        <p:sp>
          <p:nvSpPr>
            <p:cNvPr id="478" name="Google Shape;478;p24"/>
            <p:cNvSpPr/>
            <p:nvPr/>
          </p:nvSpPr>
          <p:spPr>
            <a:xfrm>
              <a:off x="1333500" y="781050"/>
              <a:ext cx="6669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9" name="Google Shape;479;p24"/>
            <p:cNvSpPr txBox="1"/>
            <p:nvPr/>
          </p:nvSpPr>
          <p:spPr>
            <a:xfrm>
              <a:off x="1333500"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store</a:t>
              </a:r>
              <a:endParaRPr/>
            </a:p>
          </p:txBody>
        </p:sp>
        <p:sp>
          <p:nvSpPr>
            <p:cNvPr id="480" name="Google Shape;480;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1" name="Google Shape;481;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82" name="Google Shape;482;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3" name="Google Shape;483;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84" name="Google Shape;484;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5" name="Google Shape;485;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86" name="Google Shape;486;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7" name="Google Shape;487;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88" name="Google Shape;488;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9" name="Google Shape;489;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90" name="Google Shape;490;p24"/>
            <p:cNvSpPr/>
            <p:nvPr/>
          </p:nvSpPr>
          <p:spPr>
            <a:xfrm>
              <a:off x="4076700" y="781050"/>
              <a:ext cx="400200" cy="266700"/>
            </a:xfrm>
            <a:prstGeom prst="rect">
              <a:avLst/>
            </a:prstGeom>
            <a:solidFill>
              <a:srgbClr val="D9381E"/>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1" name="Google Shape;491;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92" name="Google Shape;492;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laptop store is busy. An Apple is _____"</a:t>
              </a:r>
              <a:endParaRPr b="0" sz="825">
                <a:solidFill>
                  <a:srgbClr val="5A626A"/>
                </a:solidFill>
                <a:latin typeface="JetBrains Mono"/>
                <a:ea typeface="JetBrains Mono"/>
                <a:cs typeface="JetBrains Mono"/>
                <a:sym typeface="JetBrains Mono"/>
              </a:endParaRPr>
            </a:p>
          </p:txBody>
        </p:sp>
        <p:sp>
          <p:nvSpPr>
            <p:cNvPr id="493" name="Google Shape;493;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94" name="Google Shape;494;p24"/>
            <p:cNvSpPr txBox="1"/>
            <p:nvPr/>
          </p:nvSpPr>
          <p:spPr>
            <a:xfrm>
              <a:off x="4619625" y="4000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expensive</a:t>
              </a:r>
              <a:endParaRPr/>
            </a:p>
          </p:txBody>
        </p:sp>
        <p:sp>
          <p:nvSpPr>
            <p:cNvPr id="495" name="Google Shape;495;p24"/>
            <p:cNvSpPr/>
            <p:nvPr/>
          </p:nvSpPr>
          <p:spPr>
            <a:xfrm>
              <a:off x="5476875" y="400050"/>
              <a:ext cx="1886100" cy="190500"/>
            </a:xfrm>
            <a:prstGeom prst="roundRect">
              <a:avLst>
                <a:gd fmla="val 10000" name="adj"/>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6" name="Google Shape;496;p24"/>
            <p:cNvSpPr txBox="1"/>
            <p:nvPr/>
          </p:nvSpPr>
          <p:spPr>
            <a:xfrm>
              <a:off x="743902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497" name="Google Shape;497;p24"/>
            <p:cNvSpPr txBox="1"/>
            <p:nvPr/>
          </p:nvSpPr>
          <p:spPr>
            <a:xfrm>
              <a:off x="4619625" y="7048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aluminum</a:t>
              </a:r>
              <a:endParaRPr/>
            </a:p>
          </p:txBody>
        </p:sp>
        <p:sp>
          <p:nvSpPr>
            <p:cNvPr id="498" name="Google Shape;498;p24"/>
            <p:cNvSpPr/>
            <p:nvPr/>
          </p:nvSpPr>
          <p:spPr>
            <a:xfrm>
              <a:off x="5476875" y="704850"/>
              <a:ext cx="1028700" cy="190500"/>
            </a:xfrm>
            <a:prstGeom prst="roundRect">
              <a:avLst>
                <a:gd fmla="val 10000" name="adj"/>
              </a:avLst>
            </a:prstGeom>
            <a:solidFill>
              <a:srgbClr val="D9381E">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9" name="Google Shape;499;p24"/>
            <p:cNvSpPr txBox="1"/>
            <p:nvPr/>
          </p:nvSpPr>
          <p:spPr>
            <a:xfrm>
              <a:off x="658177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500" name="Google Shape;500;p24"/>
            <p:cNvSpPr txBox="1"/>
            <p:nvPr/>
          </p:nvSpPr>
          <p:spPr>
            <a:xfrm>
              <a:off x="4619625" y="10096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fast</a:t>
              </a:r>
              <a:endParaRPr/>
            </a:p>
          </p:txBody>
        </p:sp>
        <p:sp>
          <p:nvSpPr>
            <p:cNvPr id="501" name="Google Shape;501;p24"/>
            <p:cNvSpPr/>
            <p:nvPr/>
          </p:nvSpPr>
          <p:spPr>
            <a:xfrm>
              <a:off x="5476875" y="1009650"/>
              <a:ext cx="514500" cy="190500"/>
            </a:xfrm>
            <a:prstGeom prst="roundRect">
              <a:avLst>
                <a:gd fmla="val 10000" name="adj"/>
              </a:avLst>
            </a:prstGeom>
            <a:solidFill>
              <a:srgbClr val="D9381E">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02" name="Google Shape;502;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sp>
        <p:nvSpPr>
          <p:cNvPr id="503" name="Google Shape;503;p2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Vaswani et al. (2017), Attention Is All You Need.</a:t>
            </a:r>
            <a:endParaRPr b="0" sz="825">
              <a:solidFill>
                <a:srgbClr val="5A626A"/>
              </a:solidFill>
              <a:latin typeface="JetBrains Mono"/>
              <a:ea typeface="JetBrains Mono"/>
              <a:cs typeface="JetBrains Mono"/>
              <a:sym typeface="JetBrains Mono"/>
            </a:endParaRPr>
          </a:p>
        </p:txBody>
      </p:sp>
      <p:grpSp>
        <p:nvGrpSpPr>
          <p:cNvPr id="504" name="Google Shape;504;p24"/>
          <p:cNvGrpSpPr/>
          <p:nvPr/>
        </p:nvGrpSpPr>
        <p:grpSpPr>
          <a:xfrm>
            <a:off x="381000" y="4714875"/>
            <a:ext cx="8382000" cy="285750"/>
            <a:chOff x="381000" y="4714875"/>
            <a:chExt cx="8382000" cy="285750"/>
          </a:xfrm>
        </p:grpSpPr>
        <p:cxnSp>
          <p:nvCxnSpPr>
            <p:cNvPr id="505" name="Google Shape;505;p24"/>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06" name="Google Shape;506;p24"/>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10" name="Shape 510"/>
        <p:cNvGrpSpPr/>
        <p:nvPr/>
      </p:nvGrpSpPr>
      <p:grpSpPr>
        <a:xfrm>
          <a:off x="0" y="0"/>
          <a:ext cx="0" cy="0"/>
          <a:chOff x="0" y="0"/>
          <a:chExt cx="0" cy="0"/>
        </a:xfrm>
      </p:grpSpPr>
      <p:sp>
        <p:nvSpPr>
          <p:cNvPr id="511" name="Google Shape;511;p2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100">
                <a:solidFill>
                  <a:srgbClr val="111315"/>
                </a:solidFill>
                <a:latin typeface="Space Grotesk"/>
                <a:ea typeface="Space Grotesk"/>
                <a:cs typeface="Space Grotesk"/>
                <a:sym typeface="Space Grotesk"/>
              </a:rPr>
              <a:t>Images, 3D Models, and Other Media</a:t>
            </a:r>
            <a:endParaRPr b="1" sz="2100">
              <a:solidFill>
                <a:srgbClr val="111315"/>
              </a:solidFill>
              <a:latin typeface="Space Grotesk"/>
              <a:ea typeface="Space Grotesk"/>
              <a:cs typeface="Space Grotesk"/>
              <a:sym typeface="Space Grotesk"/>
            </a:endParaRPr>
          </a:p>
        </p:txBody>
      </p:sp>
      <p:grpSp>
        <p:nvGrpSpPr>
          <p:cNvPr id="512" name="Google Shape;512;p25"/>
          <p:cNvGrpSpPr/>
          <p:nvPr/>
        </p:nvGrpSpPr>
        <p:grpSpPr>
          <a:xfrm>
            <a:off x="762000" y="1238250"/>
            <a:ext cx="7620000" cy="2667000"/>
            <a:chOff x="762000" y="1238250"/>
            <a:chExt cx="7620000" cy="2667000"/>
          </a:xfrm>
        </p:grpSpPr>
        <p:grpSp>
          <p:nvGrpSpPr>
            <p:cNvPr id="513" name="Google Shape;513;p25"/>
            <p:cNvGrpSpPr/>
            <p:nvPr/>
          </p:nvGrpSpPr>
          <p:grpSpPr>
            <a:xfrm>
              <a:off x="762000" y="1238250"/>
              <a:ext cx="1905000" cy="2667000"/>
              <a:chOff x="0" y="0"/>
              <a:chExt cx="1905000" cy="2667000"/>
            </a:xfrm>
          </p:grpSpPr>
          <p:sp>
            <p:nvSpPr>
              <p:cNvPr id="514" name="Google Shape;514;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5" name="Google Shape;515;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6" name="Google Shape;516;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INPUT DOMAINS (TOKENS)</a:t>
                </a:r>
                <a:endParaRPr b="1" sz="750">
                  <a:solidFill>
                    <a:srgbClr val="111315"/>
                  </a:solidFill>
                  <a:latin typeface="JetBrains Mono"/>
                  <a:ea typeface="JetBrains Mono"/>
                  <a:cs typeface="JetBrains Mono"/>
                  <a:sym typeface="JetBrains Mono"/>
                </a:endParaRPr>
              </a:p>
            </p:txBody>
          </p:sp>
          <p:grpSp>
            <p:nvGrpSpPr>
              <p:cNvPr id="517" name="Google Shape;517;p25"/>
              <p:cNvGrpSpPr/>
              <p:nvPr/>
            </p:nvGrpSpPr>
            <p:grpSpPr>
              <a:xfrm>
                <a:off x="142875" y="428625"/>
                <a:ext cx="1619100" cy="438300"/>
                <a:chOff x="0" y="0"/>
                <a:chExt cx="1619100" cy="438300"/>
              </a:xfrm>
            </p:grpSpPr>
            <p:sp>
              <p:nvSpPr>
                <p:cNvPr id="518" name="Google Shape;518;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9" name="Google Shape;519;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Image Patches</a:t>
                  </a:r>
                  <a:endParaRPr b="1" sz="975">
                    <a:solidFill>
                      <a:srgbClr val="111315"/>
                    </a:solidFill>
                    <a:latin typeface="Inter"/>
                    <a:ea typeface="Inter"/>
                    <a:cs typeface="Inter"/>
                    <a:sym typeface="Inter"/>
                  </a:endParaRPr>
                </a:p>
              </p:txBody>
            </p:sp>
          </p:grpSp>
          <p:grpSp>
            <p:nvGrpSpPr>
              <p:cNvPr id="520" name="Google Shape;520;p25"/>
              <p:cNvGrpSpPr/>
              <p:nvPr/>
            </p:nvGrpSpPr>
            <p:grpSpPr>
              <a:xfrm>
                <a:off x="142875" y="962025"/>
                <a:ext cx="1619100" cy="438300"/>
                <a:chOff x="0" y="0"/>
                <a:chExt cx="1619100" cy="438300"/>
              </a:xfrm>
            </p:grpSpPr>
            <p:sp>
              <p:nvSpPr>
                <p:cNvPr id="521" name="Google Shape;521;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2" name="Google Shape;522;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Meshes</a:t>
                  </a:r>
                  <a:endParaRPr b="1" sz="975">
                    <a:solidFill>
                      <a:srgbClr val="111315"/>
                    </a:solidFill>
                    <a:latin typeface="Inter"/>
                    <a:ea typeface="Inter"/>
                    <a:cs typeface="Inter"/>
                    <a:sym typeface="Inter"/>
                  </a:endParaRPr>
                </a:p>
              </p:txBody>
            </p:sp>
          </p:grpSp>
          <p:grpSp>
            <p:nvGrpSpPr>
              <p:cNvPr id="523" name="Google Shape;523;p25"/>
              <p:cNvGrpSpPr/>
              <p:nvPr/>
            </p:nvGrpSpPr>
            <p:grpSpPr>
              <a:xfrm>
                <a:off x="142875" y="1495425"/>
                <a:ext cx="1619100" cy="438300"/>
                <a:chOff x="0" y="0"/>
                <a:chExt cx="1619100" cy="438300"/>
              </a:xfrm>
            </p:grpSpPr>
            <p:sp>
              <p:nvSpPr>
                <p:cNvPr id="524" name="Google Shape;524;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5" name="Google Shape;525;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Audio</a:t>
                  </a:r>
                  <a:endParaRPr b="1" sz="975">
                    <a:solidFill>
                      <a:srgbClr val="111315"/>
                    </a:solidFill>
                    <a:latin typeface="Inter"/>
                    <a:ea typeface="Inter"/>
                    <a:cs typeface="Inter"/>
                    <a:sym typeface="Inter"/>
                  </a:endParaRPr>
                </a:p>
              </p:txBody>
            </p:sp>
          </p:grpSp>
          <p:grpSp>
            <p:nvGrpSpPr>
              <p:cNvPr id="526" name="Google Shape;526;p25"/>
              <p:cNvGrpSpPr/>
              <p:nvPr/>
            </p:nvGrpSpPr>
            <p:grpSpPr>
              <a:xfrm>
                <a:off x="142875" y="2028825"/>
                <a:ext cx="1619100" cy="438300"/>
                <a:chOff x="0" y="0"/>
                <a:chExt cx="1619100" cy="438300"/>
              </a:xfrm>
            </p:grpSpPr>
            <p:sp>
              <p:nvSpPr>
                <p:cNvPr id="527" name="Google Shape;527;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8" name="Google Shape;528;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Text</a:t>
                  </a:r>
                  <a:endParaRPr b="1" sz="975">
                    <a:solidFill>
                      <a:srgbClr val="111315"/>
                    </a:solidFill>
                    <a:latin typeface="Inter"/>
                    <a:ea typeface="Inter"/>
                    <a:cs typeface="Inter"/>
                    <a:sym typeface="Inter"/>
                  </a:endParaRPr>
                </a:p>
              </p:txBody>
            </p:sp>
          </p:grpSp>
        </p:grpSp>
        <p:grpSp>
          <p:nvGrpSpPr>
            <p:cNvPr id="529" name="Google Shape;529;p25"/>
            <p:cNvGrpSpPr/>
            <p:nvPr/>
          </p:nvGrpSpPr>
          <p:grpSpPr>
            <a:xfrm>
              <a:off x="2667000" y="2355438"/>
              <a:ext cx="694477" cy="264087"/>
              <a:chOff x="0" y="-216312"/>
              <a:chExt cx="694477" cy="264087"/>
            </a:xfrm>
          </p:grpSpPr>
          <p:cxnSp>
            <p:nvCxnSpPr>
              <p:cNvPr id="530" name="Google Shape;530;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1" name="Google Shape;531;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2" name="Google Shape;532;p25"/>
              <p:cNvSpPr txBox="1"/>
              <p:nvPr/>
            </p:nvSpPr>
            <p:spPr>
              <a:xfrm>
                <a:off x="122977" y="-216312"/>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Embed</a:t>
                </a:r>
                <a:endParaRPr/>
              </a:p>
            </p:txBody>
          </p:sp>
        </p:grpSp>
        <p:grpSp>
          <p:nvGrpSpPr>
            <p:cNvPr id="533" name="Google Shape;533;p25"/>
            <p:cNvGrpSpPr/>
            <p:nvPr/>
          </p:nvGrpSpPr>
          <p:grpSpPr>
            <a:xfrm>
              <a:off x="3238500" y="1428750"/>
              <a:ext cx="2667000" cy="2286000"/>
              <a:chOff x="0" y="0"/>
              <a:chExt cx="2667000" cy="2286000"/>
            </a:xfrm>
          </p:grpSpPr>
          <p:sp>
            <p:nvSpPr>
              <p:cNvPr id="534" name="Google Shape;534;p25"/>
              <p:cNvSpPr/>
              <p:nvPr/>
            </p:nvSpPr>
            <p:spPr>
              <a:xfrm>
                <a:off x="0" y="0"/>
                <a:ext cx="2667000" cy="2286000"/>
              </a:xfrm>
              <a:prstGeom prst="rect">
                <a:avLst/>
              </a:prstGeom>
              <a:solidFill>
                <a:srgbClr val="FFFFFF"/>
              </a:solidFill>
              <a:ln cap="flat" cmpd="sng" w="1905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35" name="Google Shape;535;p25"/>
              <p:cNvPicPr preferRelativeResize="0"/>
              <p:nvPr/>
            </p:nvPicPr>
            <p:blipFill rotWithShape="1">
              <a:blip r:embed="rId3">
                <a:alphaModFix/>
              </a:blip>
              <a:srcRect b="0" l="0" r="0" t="0"/>
              <a:stretch/>
            </p:blipFill>
            <p:spPr>
              <a:xfrm>
                <a:off x="71438" y="71438"/>
                <a:ext cx="2524200" cy="2143200"/>
              </a:xfrm>
              <a:prstGeom prst="rect">
                <a:avLst/>
              </a:prstGeom>
              <a:noFill/>
              <a:ln>
                <a:noFill/>
              </a:ln>
            </p:spPr>
          </p:pic>
          <p:sp>
            <p:nvSpPr>
              <p:cNvPr id="536" name="Google Shape;536;p25"/>
              <p:cNvSpPr txBox="1"/>
              <p:nvPr/>
            </p:nvSpPr>
            <p:spPr>
              <a:xfrm>
                <a:off x="190500" y="285750"/>
                <a:ext cx="2286000" cy="1714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PROCESSING ARCHITECTURE</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600"/>
                  </a:spcBef>
                  <a:spcAft>
                    <a:spcPts val="0"/>
                  </a:spcAft>
                  <a:buNone/>
                </a:pPr>
                <a:r>
                  <a:rPr b="1" i="0" lang="en-GB" sz="1350" u="none" strike="noStrike">
                    <a:solidFill>
                      <a:srgbClr val="111315"/>
                    </a:solidFill>
                    <a:latin typeface="Space Grotesk"/>
                    <a:ea typeface="Space Grotesk"/>
                    <a:cs typeface="Space Grotesk"/>
                    <a:sym typeface="Space Grotesk"/>
                  </a:rPr>
                  <a:t>Latent Space and Transformer Blocks</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900"/>
                  </a:spcBef>
                  <a:spcAft>
                    <a:spcPts val="0"/>
                  </a:spcAft>
                  <a:buNone/>
                </a:pPr>
                <a:r>
                  <a:rPr b="0" i="0" lang="en-GB" sz="750" u="none" strike="noStrike">
                    <a:solidFill>
                      <a:srgbClr val="5A626A"/>
                    </a:solidFill>
                    <a:latin typeface="JetBrains Mono"/>
                    <a:ea typeface="JetBrains Mono"/>
                    <a:cs typeface="JetBrains Mono"/>
                    <a:sym typeface="JetBrains Mono"/>
                  </a:rPr>
                  <a:t>Uniform Token Processing Pipeline</a:t>
                </a:r>
                <a:endParaRPr b="0" i="0" sz="750" u="none" strike="noStrike">
                  <a:solidFill>
                    <a:srgbClr val="D9381E"/>
                  </a:solidFill>
                  <a:latin typeface="JetBrains Mono"/>
                  <a:ea typeface="JetBrains Mono"/>
                  <a:cs typeface="JetBrains Mono"/>
                  <a:sym typeface="JetBrains Mono"/>
                </a:endParaRPr>
              </a:p>
            </p:txBody>
          </p:sp>
        </p:grpSp>
        <p:grpSp>
          <p:nvGrpSpPr>
            <p:cNvPr id="537" name="Google Shape;537;p25"/>
            <p:cNvGrpSpPr/>
            <p:nvPr/>
          </p:nvGrpSpPr>
          <p:grpSpPr>
            <a:xfrm>
              <a:off x="5905500" y="2344895"/>
              <a:ext cx="673294" cy="274630"/>
              <a:chOff x="0" y="-226855"/>
              <a:chExt cx="673294" cy="274630"/>
            </a:xfrm>
          </p:grpSpPr>
          <p:cxnSp>
            <p:nvCxnSpPr>
              <p:cNvPr id="538" name="Google Shape;538;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9" name="Google Shape;539;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0" name="Google Shape;540;p25"/>
              <p:cNvSpPr txBox="1"/>
              <p:nvPr/>
            </p:nvSpPr>
            <p:spPr>
              <a:xfrm>
                <a:off x="101794" y="-226855"/>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Decode</a:t>
                </a:r>
                <a:endParaRPr/>
              </a:p>
            </p:txBody>
          </p:sp>
        </p:grpSp>
        <p:grpSp>
          <p:nvGrpSpPr>
            <p:cNvPr id="541" name="Google Shape;541;p25"/>
            <p:cNvGrpSpPr/>
            <p:nvPr/>
          </p:nvGrpSpPr>
          <p:grpSpPr>
            <a:xfrm>
              <a:off x="6477000" y="1238250"/>
              <a:ext cx="1905000" cy="2667000"/>
              <a:chOff x="0" y="0"/>
              <a:chExt cx="1905000" cy="2667000"/>
            </a:xfrm>
          </p:grpSpPr>
          <p:sp>
            <p:nvSpPr>
              <p:cNvPr id="542" name="Google Shape;542;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3" name="Google Shape;543;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4" name="Google Shape;544;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GENERATED OUTPUTS</a:t>
                </a:r>
                <a:endParaRPr b="1" sz="750">
                  <a:solidFill>
                    <a:srgbClr val="111315"/>
                  </a:solidFill>
                  <a:latin typeface="JetBrains Mono"/>
                  <a:ea typeface="JetBrains Mono"/>
                  <a:cs typeface="JetBrains Mono"/>
                  <a:sym typeface="JetBrains Mono"/>
                </a:endParaRPr>
              </a:p>
            </p:txBody>
          </p:sp>
          <p:grpSp>
            <p:nvGrpSpPr>
              <p:cNvPr id="545" name="Google Shape;545;p25"/>
              <p:cNvGrpSpPr/>
              <p:nvPr/>
            </p:nvGrpSpPr>
            <p:grpSpPr>
              <a:xfrm>
                <a:off x="142875" y="495300"/>
                <a:ext cx="1619100" cy="552600"/>
                <a:chOff x="0" y="0"/>
                <a:chExt cx="1619100" cy="552600"/>
              </a:xfrm>
            </p:grpSpPr>
            <p:sp>
              <p:nvSpPr>
                <p:cNvPr id="546" name="Google Shape;546;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7" name="Google Shape;547;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Generated Images</a:t>
                  </a:r>
                  <a:endParaRPr b="1" sz="975">
                    <a:solidFill>
                      <a:srgbClr val="111315"/>
                    </a:solidFill>
                    <a:latin typeface="Inter"/>
                    <a:ea typeface="Inter"/>
                    <a:cs typeface="Inter"/>
                    <a:sym typeface="Inter"/>
                  </a:endParaRPr>
                </a:p>
              </p:txBody>
            </p:sp>
          </p:grpSp>
          <p:grpSp>
            <p:nvGrpSpPr>
              <p:cNvPr id="548" name="Google Shape;548;p25"/>
              <p:cNvGrpSpPr/>
              <p:nvPr/>
            </p:nvGrpSpPr>
            <p:grpSpPr>
              <a:xfrm>
                <a:off x="142875" y="1200150"/>
                <a:ext cx="1619100" cy="552600"/>
                <a:chOff x="0" y="0"/>
                <a:chExt cx="1619100" cy="552600"/>
              </a:xfrm>
            </p:grpSpPr>
            <p:sp>
              <p:nvSpPr>
                <p:cNvPr id="549" name="Google Shape;549;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0" name="Google Shape;550;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Geometry</a:t>
                  </a:r>
                  <a:endParaRPr b="1" sz="975">
                    <a:solidFill>
                      <a:srgbClr val="111315"/>
                    </a:solidFill>
                    <a:latin typeface="Inter"/>
                    <a:ea typeface="Inter"/>
                    <a:cs typeface="Inter"/>
                    <a:sym typeface="Inter"/>
                  </a:endParaRPr>
                </a:p>
              </p:txBody>
            </p:sp>
          </p:grpSp>
          <p:grpSp>
            <p:nvGrpSpPr>
              <p:cNvPr id="551" name="Google Shape;551;p25"/>
              <p:cNvGrpSpPr/>
              <p:nvPr/>
            </p:nvGrpSpPr>
            <p:grpSpPr>
              <a:xfrm>
                <a:off x="142875" y="1905000"/>
                <a:ext cx="1619100" cy="552600"/>
                <a:chOff x="0" y="0"/>
                <a:chExt cx="1619100" cy="552600"/>
              </a:xfrm>
            </p:grpSpPr>
            <p:sp>
              <p:nvSpPr>
                <p:cNvPr id="552" name="Google Shape;552;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3" name="Google Shape;553;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CAD Commands</a:t>
                  </a:r>
                  <a:endParaRPr b="1" sz="975">
                    <a:solidFill>
                      <a:srgbClr val="111315"/>
                    </a:solidFill>
                    <a:latin typeface="Inter"/>
                    <a:ea typeface="Inter"/>
                    <a:cs typeface="Inter"/>
                    <a:sym typeface="Inter"/>
                  </a:endParaRPr>
                </a:p>
              </p:txBody>
            </p:sp>
          </p:grpSp>
        </p:grpSp>
      </p:grpSp>
      <p:sp>
        <p:nvSpPr>
          <p:cNvPr id="554" name="Google Shape;554;p25"/>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Dosovitskiy et al. (2020), Vision Transformer.</a:t>
            </a:r>
            <a:endParaRPr b="0" sz="750">
              <a:solidFill>
                <a:srgbClr val="5A626A"/>
              </a:solidFill>
              <a:latin typeface="JetBrains Mono"/>
              <a:ea typeface="JetBrains Mono"/>
              <a:cs typeface="JetBrains Mono"/>
              <a:sym typeface="JetBrains Mono"/>
            </a:endParaRPr>
          </a:p>
        </p:txBody>
      </p:sp>
      <p:grpSp>
        <p:nvGrpSpPr>
          <p:cNvPr id="555" name="Google Shape;555;p25"/>
          <p:cNvGrpSpPr/>
          <p:nvPr/>
        </p:nvGrpSpPr>
        <p:grpSpPr>
          <a:xfrm>
            <a:off x="381000" y="4762500"/>
            <a:ext cx="8382000" cy="285750"/>
            <a:chOff x="381000" y="4762500"/>
            <a:chExt cx="8382000" cy="285750"/>
          </a:xfrm>
        </p:grpSpPr>
        <p:cxnSp>
          <p:nvCxnSpPr>
            <p:cNvPr id="556" name="Google Shape;556;p2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57" name="Google Shape;557;p2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26"/>
          <p:cNvSpPr txBox="1"/>
          <p:nvPr/>
        </p:nvSpPr>
        <p:spPr>
          <a:xfrm>
            <a:off x="381000" y="381000"/>
            <a:ext cx="83820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Prompts and Model Interaction Structure</a:t>
            </a:r>
            <a:endParaRPr b="1" i="0" sz="2400" u="none" strike="noStrike">
              <a:solidFill>
                <a:srgbClr val="111315"/>
              </a:solidFill>
              <a:latin typeface="Space Grotesk"/>
              <a:ea typeface="Space Grotesk"/>
              <a:cs typeface="Space Grotesk"/>
              <a:sym typeface="Space Grotesk"/>
            </a:endParaRPr>
          </a:p>
        </p:txBody>
      </p:sp>
      <p:grpSp>
        <p:nvGrpSpPr>
          <p:cNvPr id="563" name="Google Shape;563;p26"/>
          <p:cNvGrpSpPr/>
          <p:nvPr/>
        </p:nvGrpSpPr>
        <p:grpSpPr>
          <a:xfrm>
            <a:off x="571500" y="1333500"/>
            <a:ext cx="8001000" cy="3143400"/>
            <a:chOff x="571500" y="1333500"/>
            <a:chExt cx="8001000" cy="3143400"/>
          </a:xfrm>
        </p:grpSpPr>
        <p:grpSp>
          <p:nvGrpSpPr>
            <p:cNvPr id="564" name="Google Shape;564;p26"/>
            <p:cNvGrpSpPr/>
            <p:nvPr/>
          </p:nvGrpSpPr>
          <p:grpSpPr>
            <a:xfrm>
              <a:off x="571500" y="1333500"/>
              <a:ext cx="3810000" cy="3143400"/>
              <a:chOff x="0" y="0"/>
              <a:chExt cx="3810000" cy="3143400"/>
            </a:xfrm>
          </p:grpSpPr>
          <p:sp>
            <p:nvSpPr>
              <p:cNvPr id="565" name="Google Shape;565;p26"/>
              <p:cNvSpPr/>
              <p:nvPr/>
            </p:nvSpPr>
            <p:spPr>
              <a:xfrm>
                <a:off x="0" y="0"/>
                <a:ext cx="3810000" cy="3143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6" name="Google Shape;566;p26"/>
              <p:cNvSpPr/>
              <p:nvPr/>
            </p:nvSpPr>
            <p:spPr>
              <a:xfrm>
                <a:off x="190500" y="190500"/>
                <a:ext cx="15240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7" name="Google Shape;567;p26"/>
              <p:cNvSpPr txBox="1"/>
              <p:nvPr/>
            </p:nvSpPr>
            <p:spPr>
              <a:xfrm>
                <a:off x="190500" y="190500"/>
                <a:ext cx="1524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USER INTERFACE VIEW</a:t>
                </a:r>
                <a:endParaRPr b="1" i="0" sz="750" u="none" strike="noStrike">
                  <a:solidFill>
                    <a:srgbClr val="D9381E"/>
                  </a:solidFill>
                  <a:latin typeface="JetBrains Mono"/>
                  <a:ea typeface="JetBrains Mono"/>
                  <a:cs typeface="JetBrains Mono"/>
                  <a:sym typeface="JetBrains Mono"/>
                </a:endParaRPr>
              </a:p>
            </p:txBody>
          </p:sp>
          <p:sp>
            <p:nvSpPr>
              <p:cNvPr id="568" name="Google Shape;568;p26"/>
              <p:cNvSpPr txBox="1"/>
              <p:nvPr/>
            </p:nvSpPr>
            <p:spPr>
              <a:xfrm>
                <a:off x="190500" y="571500"/>
                <a:ext cx="3429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350" u="none" strike="noStrike">
                    <a:solidFill>
                      <a:srgbClr val="111315"/>
                    </a:solidFill>
                    <a:latin typeface="Space Grotesk SemiBold"/>
                    <a:ea typeface="Space Grotesk SemiBold"/>
                    <a:cs typeface="Space Grotesk SemiBold"/>
                    <a:sym typeface="Space Grotesk SemiBold"/>
                  </a:rPr>
                  <a:t>Interactive chat interface.</a:t>
                </a:r>
                <a:endParaRPr b="0" i="0" sz="1350" u="none" strike="noStrike">
                  <a:solidFill>
                    <a:srgbClr val="111315"/>
                  </a:solidFill>
                  <a:latin typeface="Space Grotesk SemiBold"/>
                  <a:ea typeface="Space Grotesk SemiBold"/>
                  <a:cs typeface="Space Grotesk SemiBold"/>
                  <a:sym typeface="Space Grotesk SemiBold"/>
                </a:endParaRPr>
              </a:p>
            </p:txBody>
          </p:sp>
          <p:grpSp>
            <p:nvGrpSpPr>
              <p:cNvPr id="569" name="Google Shape;569;p26"/>
              <p:cNvGrpSpPr/>
              <p:nvPr/>
            </p:nvGrpSpPr>
            <p:grpSpPr>
              <a:xfrm>
                <a:off x="190500" y="1381125"/>
                <a:ext cx="3429000" cy="1381200"/>
                <a:chOff x="0" y="0"/>
                <a:chExt cx="3429000" cy="1381200"/>
              </a:xfrm>
            </p:grpSpPr>
            <p:sp>
              <p:nvSpPr>
                <p:cNvPr id="570" name="Google Shape;570;p26"/>
                <p:cNvSpPr/>
                <p:nvPr/>
              </p:nvSpPr>
              <p:spPr>
                <a:xfrm>
                  <a:off x="0" y="0"/>
                  <a:ext cx="3429000" cy="13812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1" name="Google Shape;571;p26"/>
                <p:cNvSpPr/>
                <p:nvPr/>
              </p:nvSpPr>
              <p:spPr>
                <a:xfrm>
                  <a:off x="238125" y="400050"/>
                  <a:ext cx="952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2" name="Google Shape;572;p26"/>
                <p:cNvSpPr txBox="1"/>
                <p:nvPr/>
              </p:nvSpPr>
              <p:spPr>
                <a:xfrm>
                  <a:off x="238125" y="400050"/>
                  <a:ext cx="952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User</a:t>
                  </a:r>
                  <a:endParaRPr b="1" sz="1050">
                    <a:solidFill>
                      <a:srgbClr val="111315"/>
                    </a:solidFill>
                    <a:latin typeface="Inter"/>
                    <a:ea typeface="Inter"/>
                    <a:cs typeface="Inter"/>
                    <a:sym typeface="Inter"/>
                  </a:endParaRPr>
                </a:p>
              </p:txBody>
            </p:sp>
            <p:sp>
              <p:nvSpPr>
                <p:cNvPr id="573" name="Google Shape;573;p26"/>
                <p:cNvSpPr/>
                <p:nvPr/>
              </p:nvSpPr>
              <p:spPr>
                <a:xfrm>
                  <a:off x="2238375" y="400050"/>
                  <a:ext cx="952500" cy="5715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4" name="Google Shape;574;p26"/>
                <p:cNvSpPr txBox="1"/>
                <p:nvPr/>
              </p:nvSpPr>
              <p:spPr>
                <a:xfrm>
                  <a:off x="2238375" y="400050"/>
                  <a:ext cx="952500" cy="571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D9381E"/>
                      </a:solidFill>
                      <a:latin typeface="Inter"/>
                      <a:ea typeface="Inter"/>
                      <a:cs typeface="Inter"/>
                      <a:sym typeface="Inter"/>
                    </a:rPr>
                    <a:t>Model Output</a:t>
                  </a:r>
                  <a:endParaRPr b="1" i="0" sz="1050" u="none" strike="noStrike">
                    <a:solidFill>
                      <a:srgbClr val="D9381E"/>
                    </a:solidFill>
                    <a:latin typeface="Inter"/>
                    <a:ea typeface="Inter"/>
                    <a:cs typeface="Inter"/>
                    <a:sym typeface="Inter"/>
                  </a:endParaRPr>
                </a:p>
              </p:txBody>
            </p:sp>
            <p:pic>
              <p:nvPicPr>
                <p:cNvPr id="575" name="Google Shape;575;p26"/>
                <p:cNvPicPr preferRelativeResize="0"/>
                <p:nvPr/>
              </p:nvPicPr>
              <p:blipFill rotWithShape="1">
                <a:blip r:embed="rId3">
                  <a:alphaModFix/>
                </a:blip>
                <a:srcRect b="0" l="0" r="0" t="0"/>
                <a:stretch/>
              </p:blipFill>
              <p:spPr>
                <a:xfrm>
                  <a:off x="1233488" y="476250"/>
                  <a:ext cx="933600" cy="123900"/>
                </a:xfrm>
                <a:prstGeom prst="rect">
                  <a:avLst/>
                </a:prstGeom>
                <a:noFill/>
                <a:ln>
                  <a:noFill/>
                </a:ln>
              </p:spPr>
            </p:pic>
            <p:sp>
              <p:nvSpPr>
                <p:cNvPr id="576" name="Google Shape;576;p26"/>
                <p:cNvSpPr/>
                <p:nvPr/>
              </p:nvSpPr>
              <p:spPr>
                <a:xfrm>
                  <a:off x="2171700" y="542925"/>
                  <a:ext cx="66600" cy="85800"/>
                </a:xfrm>
                <a:custGeom>
                  <a:rect b="b" l="l" r="r" t="t"/>
                  <a:pathLst>
                    <a:path extrusionOk="0" h="120000" w="120000">
                      <a:moveTo>
                        <a:pt x="0" y="120000"/>
                      </a:moveTo>
                      <a:lnTo>
                        <a:pt x="120000" y="66667"/>
                      </a:lnTo>
                      <a:lnTo>
                        <a:pt x="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77" name="Google Shape;577;p26"/>
                <p:cNvPicPr preferRelativeResize="0"/>
                <p:nvPr/>
              </p:nvPicPr>
              <p:blipFill rotWithShape="1">
                <a:blip r:embed="rId4">
                  <a:alphaModFix/>
                </a:blip>
                <a:srcRect b="0" l="0" r="0" t="0"/>
                <a:stretch/>
              </p:blipFill>
              <p:spPr>
                <a:xfrm>
                  <a:off x="1262063" y="771525"/>
                  <a:ext cx="933600" cy="123900"/>
                </a:xfrm>
                <a:prstGeom prst="rect">
                  <a:avLst/>
                </a:prstGeom>
                <a:noFill/>
                <a:ln>
                  <a:noFill/>
                </a:ln>
              </p:spPr>
            </p:pic>
            <p:sp>
              <p:nvSpPr>
                <p:cNvPr id="578" name="Google Shape;578;p26"/>
                <p:cNvSpPr/>
                <p:nvPr/>
              </p:nvSpPr>
              <p:spPr>
                <a:xfrm>
                  <a:off x="1190625" y="742950"/>
                  <a:ext cx="66600" cy="85800"/>
                </a:xfrm>
                <a:custGeom>
                  <a:rect b="b" l="l" r="r" t="t"/>
                  <a:pathLst>
                    <a:path extrusionOk="0" h="120000" w="120000">
                      <a:moveTo>
                        <a:pt x="120000" y="0"/>
                      </a:moveTo>
                      <a:lnTo>
                        <a:pt x="0" y="53333"/>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9" name="Google Shape;579;p26"/>
                <p:cNvSpPr txBox="1"/>
                <p:nvPr/>
              </p:nvSpPr>
              <p:spPr>
                <a:xfrm>
                  <a:off x="1047750" y="1123950"/>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675" u="none" strike="noStrike">
                      <a:solidFill>
                        <a:srgbClr val="5A626A"/>
                      </a:solidFill>
                      <a:latin typeface="JetBrains Mono"/>
                      <a:ea typeface="JetBrains Mono"/>
                      <a:cs typeface="JetBrains Mono"/>
                      <a:sym typeface="JetBrains Mono"/>
                    </a:rPr>
                    <a:t>Text Interface Display</a:t>
                  </a:r>
                  <a:endParaRPr b="0" i="0" sz="675" u="none" strike="noStrike">
                    <a:solidFill>
                      <a:srgbClr val="5A626A"/>
                    </a:solidFill>
                    <a:latin typeface="JetBrains Mono"/>
                    <a:ea typeface="JetBrains Mono"/>
                    <a:cs typeface="JetBrains Mono"/>
                    <a:sym typeface="JetBrains Mono"/>
                  </a:endParaRPr>
                </a:p>
              </p:txBody>
            </p:sp>
          </p:grpSp>
        </p:grpSp>
        <p:grpSp>
          <p:nvGrpSpPr>
            <p:cNvPr id="580" name="Google Shape;580;p26"/>
            <p:cNvGrpSpPr/>
            <p:nvPr/>
          </p:nvGrpSpPr>
          <p:grpSpPr>
            <a:xfrm>
              <a:off x="4762500" y="1333500"/>
              <a:ext cx="3810000" cy="3143400"/>
              <a:chOff x="0" y="0"/>
              <a:chExt cx="3810000" cy="3143400"/>
            </a:xfrm>
          </p:grpSpPr>
          <p:sp>
            <p:nvSpPr>
              <p:cNvPr id="581" name="Google Shape;581;p26"/>
              <p:cNvSpPr/>
              <p:nvPr/>
            </p:nvSpPr>
            <p:spPr>
              <a:xfrm>
                <a:off x="0" y="0"/>
                <a:ext cx="3810000" cy="3143400"/>
              </a:xfrm>
              <a:prstGeom prst="rect">
                <a:avLst/>
              </a:prstGeom>
              <a:solidFill>
                <a:srgbClr val="111315"/>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2" name="Google Shape;582;p26"/>
              <p:cNvSpPr/>
              <p:nvPr/>
            </p:nvSpPr>
            <p:spPr>
              <a:xfrm>
                <a:off x="190500" y="190500"/>
                <a:ext cx="2190900" cy="2286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3" name="Google Shape;583;p26"/>
              <p:cNvSpPr txBox="1"/>
              <p:nvPr/>
            </p:nvSpPr>
            <p:spPr>
              <a:xfrm>
                <a:off x="190500" y="190500"/>
                <a:ext cx="21909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INPUT DATA TO MODEL</a:t>
                </a:r>
                <a:endParaRPr b="1" i="0" sz="750" u="none" strike="noStrike">
                  <a:solidFill>
                    <a:srgbClr val="FFFFFF"/>
                  </a:solidFill>
                  <a:latin typeface="JetBrains Mono"/>
                  <a:ea typeface="JetBrains Mono"/>
                  <a:cs typeface="JetBrains Mono"/>
                  <a:sym typeface="JetBrains Mono"/>
                </a:endParaRPr>
              </a:p>
            </p:txBody>
          </p:sp>
          <p:grpSp>
            <p:nvGrpSpPr>
              <p:cNvPr id="584" name="Google Shape;584;p26"/>
              <p:cNvGrpSpPr/>
              <p:nvPr/>
            </p:nvGrpSpPr>
            <p:grpSpPr>
              <a:xfrm>
                <a:off x="190500" y="552450"/>
                <a:ext cx="3429000" cy="2286000"/>
                <a:chOff x="0" y="0"/>
                <a:chExt cx="3429000" cy="2286000"/>
              </a:xfrm>
            </p:grpSpPr>
            <p:sp>
              <p:nvSpPr>
                <p:cNvPr id="585" name="Google Shape;585;p26"/>
                <p:cNvSpPr/>
                <p:nvPr/>
              </p:nvSpPr>
              <p:spPr>
                <a:xfrm>
                  <a:off x="0" y="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6" name="Google Shape;586;p26"/>
                <p:cNvCxnSpPr/>
                <p:nvPr/>
              </p:nvCxnSpPr>
              <p:spPr>
                <a:xfrm>
                  <a:off x="0" y="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87" name="Google Shape;587;p26"/>
                <p:cNvSpPr txBox="1"/>
                <p:nvPr/>
              </p:nvSpPr>
              <p:spPr>
                <a:xfrm>
                  <a:off x="133350" y="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[Hidden System Prompt]</a:t>
                  </a:r>
                  <a:endParaRPr b="0" sz="788">
                    <a:solidFill>
                      <a:srgbClr val="F8F9FA"/>
                    </a:solidFill>
                    <a:latin typeface="JetBrains Mono"/>
                    <a:ea typeface="JetBrains Mono"/>
                    <a:cs typeface="JetBrains Mono"/>
                    <a:sym typeface="JetBrains Mono"/>
                  </a:endParaRPr>
                </a:p>
              </p:txBody>
            </p:sp>
            <p:sp>
              <p:nvSpPr>
                <p:cNvPr id="588" name="Google Shape;588;p26"/>
                <p:cNvSpPr/>
                <p:nvPr/>
              </p:nvSpPr>
              <p:spPr>
                <a:xfrm>
                  <a:off x="0" y="51435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9" name="Google Shape;589;p26"/>
                <p:cNvCxnSpPr/>
                <p:nvPr/>
              </p:nvCxnSpPr>
              <p:spPr>
                <a:xfrm>
                  <a:off x="0" y="51435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0" name="Google Shape;590;p26"/>
                <p:cNvSpPr txBox="1"/>
                <p:nvPr/>
              </p:nvSpPr>
              <p:spPr>
                <a:xfrm>
                  <a:off x="133350" y="51435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[Relevant Files &amp; CAD State Selected by Harness]</a:t>
                  </a:r>
                  <a:endParaRPr b="0" sz="788">
                    <a:solidFill>
                      <a:srgbClr val="F8F9FA"/>
                    </a:solidFill>
                    <a:latin typeface="JetBrains Mono"/>
                    <a:ea typeface="JetBrains Mono"/>
                    <a:cs typeface="JetBrains Mono"/>
                    <a:sym typeface="JetBrains Mono"/>
                  </a:endParaRPr>
                </a:p>
              </p:txBody>
            </p:sp>
            <p:sp>
              <p:nvSpPr>
                <p:cNvPr id="591" name="Google Shape;591;p26"/>
                <p:cNvSpPr/>
                <p:nvPr/>
              </p:nvSpPr>
              <p:spPr>
                <a:xfrm>
                  <a:off x="0" y="102870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92" name="Google Shape;592;p26"/>
                <p:cNvCxnSpPr/>
                <p:nvPr/>
              </p:nvCxnSpPr>
              <p:spPr>
                <a:xfrm>
                  <a:off x="0" y="102870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3" name="Google Shape;593;p26"/>
                <p:cNvSpPr txBox="1"/>
                <p:nvPr/>
              </p:nvSpPr>
              <p:spPr>
                <a:xfrm>
                  <a:off x="133350" y="102870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[User Prompt]</a:t>
                  </a:r>
                  <a:endParaRPr b="0" sz="788">
                    <a:solidFill>
                      <a:srgbClr val="F8F9FA"/>
                    </a:solidFill>
                    <a:latin typeface="JetBrains Mono"/>
                    <a:ea typeface="JetBrains Mono"/>
                    <a:cs typeface="JetBrains Mono"/>
                    <a:sym typeface="JetBrains Mono"/>
                  </a:endParaRPr>
                </a:p>
              </p:txBody>
            </p:sp>
            <p:cxnSp>
              <p:nvCxnSpPr>
                <p:cNvPr id="594" name="Google Shape;594;p26"/>
                <p:cNvCxnSpPr/>
                <p:nvPr/>
              </p:nvCxnSpPr>
              <p:spPr>
                <a:xfrm>
                  <a:off x="1714500" y="1504950"/>
                  <a:ext cx="0" cy="190500"/>
                </a:xfrm>
                <a:prstGeom prst="straightConnector1">
                  <a:avLst/>
                </a:prstGeom>
                <a:solidFill>
                  <a:srgbClr val="FFFFFF"/>
                </a:solidFill>
                <a:ln cap="flat" cmpd="sng" w="14300">
                  <a:solidFill>
                    <a:srgbClr val="D9381E"/>
                  </a:solidFill>
                  <a:prstDash val="solid"/>
                  <a:round/>
                  <a:headEnd len="sm" w="sm" type="none"/>
                  <a:tailEnd len="sm" w="sm" type="none"/>
                </a:ln>
              </p:spPr>
            </p:cxnSp>
            <p:sp>
              <p:nvSpPr>
                <p:cNvPr id="595" name="Google Shape;595;p26"/>
                <p:cNvSpPr/>
                <p:nvPr/>
              </p:nvSpPr>
              <p:spPr>
                <a:xfrm>
                  <a:off x="1676400" y="1695450"/>
                  <a:ext cx="76200" cy="57300"/>
                </a:xfrm>
                <a:custGeom>
                  <a:rect b="b" l="l" r="r" t="t"/>
                  <a:pathLst>
                    <a:path extrusionOk="0" h="120000" w="120000">
                      <a:moveTo>
                        <a:pt x="0" y="0"/>
                      </a:moveTo>
                      <a:lnTo>
                        <a:pt x="60000" y="120000"/>
                      </a:lnTo>
                      <a:lnTo>
                        <a:pt x="12000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6" name="Google Shape;596;p26"/>
                <p:cNvSpPr/>
                <p:nvPr/>
              </p:nvSpPr>
              <p:spPr>
                <a:xfrm>
                  <a:off x="0" y="1790700"/>
                  <a:ext cx="3429000" cy="495300"/>
                </a:xfrm>
                <a:prstGeom prst="rect">
                  <a:avLst/>
                </a:prstGeom>
                <a:solidFill>
                  <a:srgbClr val="D9381E"/>
                </a:solidFill>
                <a:ln cap="flat" cmpd="sng" w="9525">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7" name="Google Shape;597;p26"/>
                <p:cNvSpPr txBox="1"/>
                <p:nvPr/>
              </p:nvSpPr>
              <p:spPr>
                <a:xfrm>
                  <a:off x="133350" y="1790700"/>
                  <a:ext cx="3200400" cy="4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863" u="none" strike="noStrike">
                      <a:solidFill>
                        <a:srgbClr val="FFFFFF"/>
                      </a:solidFill>
                      <a:latin typeface="JetBrains Mono"/>
                      <a:ea typeface="JetBrains Mono"/>
                      <a:cs typeface="JetBrains Mono"/>
                      <a:sym typeface="JetBrains Mono"/>
                    </a:rPr>
                    <a:t>→ [Token Probability Calculation]</a:t>
                  </a:r>
                  <a:endParaRPr b="1" i="0" sz="863" u="none" strike="noStrike">
                    <a:solidFill>
                      <a:srgbClr val="FFFFFF"/>
                    </a:solidFill>
                    <a:latin typeface="JetBrains Mono"/>
                    <a:ea typeface="JetBrains Mono"/>
                    <a:cs typeface="JetBrains Mono"/>
                    <a:sym typeface="JetBrains Mono"/>
                  </a:endParaRPr>
                </a:p>
              </p:txBody>
            </p:sp>
          </p:grpSp>
        </p:grpSp>
      </p:grpSp>
      <p:grpSp>
        <p:nvGrpSpPr>
          <p:cNvPr id="598" name="Google Shape;598;p26"/>
          <p:cNvGrpSpPr/>
          <p:nvPr/>
        </p:nvGrpSpPr>
        <p:grpSpPr>
          <a:xfrm>
            <a:off x="381000" y="4762500"/>
            <a:ext cx="8382000" cy="285750"/>
            <a:chOff x="381000" y="4762500"/>
            <a:chExt cx="8382000" cy="285750"/>
          </a:xfrm>
        </p:grpSpPr>
        <p:cxnSp>
          <p:nvCxnSpPr>
            <p:cNvPr id="599" name="Google Shape;599;p2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00" name="Google Shape;600;p2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27"/>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950">
                <a:solidFill>
                  <a:srgbClr val="111315"/>
                </a:solidFill>
                <a:latin typeface="Space Grotesk"/>
                <a:ea typeface="Space Grotesk"/>
                <a:cs typeface="Space Grotesk"/>
                <a:sym typeface="Space Grotesk"/>
              </a:rPr>
              <a:t>General Software Architecture: LLMs, Coding Harnesses, and MCPs</a:t>
            </a:r>
            <a:endParaRPr b="1" sz="1950">
              <a:solidFill>
                <a:srgbClr val="111315"/>
              </a:solidFill>
              <a:latin typeface="Space Grotesk"/>
              <a:ea typeface="Space Grotesk"/>
              <a:cs typeface="Space Grotesk"/>
              <a:sym typeface="Space Grotesk"/>
            </a:endParaRPr>
          </a:p>
        </p:txBody>
      </p:sp>
      <p:pic>
        <p:nvPicPr>
          <p:cNvPr id="606" name="Google Shape;606;p27"/>
          <p:cNvPicPr preferRelativeResize="0"/>
          <p:nvPr/>
        </p:nvPicPr>
        <p:blipFill rotWithShape="1">
          <a:blip r:embed="rId3">
            <a:alphaModFix/>
          </a:blip>
          <a:srcRect b="0" l="0" r="0" t="0"/>
          <a:stretch/>
        </p:blipFill>
        <p:spPr>
          <a:xfrm>
            <a:off x="381000" y="947738"/>
            <a:ext cx="8343900" cy="9600"/>
          </a:xfrm>
          <a:prstGeom prst="rect">
            <a:avLst/>
          </a:prstGeom>
          <a:noFill/>
          <a:ln>
            <a:noFill/>
          </a:ln>
        </p:spPr>
      </p:pic>
      <p:grpSp>
        <p:nvGrpSpPr>
          <p:cNvPr id="607" name="Google Shape;607;p27"/>
          <p:cNvGrpSpPr/>
          <p:nvPr/>
        </p:nvGrpSpPr>
        <p:grpSpPr>
          <a:xfrm>
            <a:off x="381000" y="1428750"/>
            <a:ext cx="1247433" cy="2095500"/>
            <a:chOff x="0" y="0"/>
            <a:chExt cx="1666800" cy="2095500"/>
          </a:xfrm>
        </p:grpSpPr>
        <p:sp>
          <p:nvSpPr>
            <p:cNvPr id="608" name="Google Shape;608;p27"/>
            <p:cNvSpPr/>
            <p:nvPr/>
          </p:nvSpPr>
          <p:spPr>
            <a:xfrm>
              <a:off x="0" y="0"/>
              <a:ext cx="16668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09" name="Google Shape;609;p27"/>
            <p:cNvSpPr/>
            <p:nvPr/>
          </p:nvSpPr>
          <p:spPr>
            <a:xfrm>
              <a:off x="0" y="0"/>
              <a:ext cx="16668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0" name="Google Shape;610;p27"/>
            <p:cNvSpPr txBox="1"/>
            <p:nvPr/>
          </p:nvSpPr>
          <p:spPr>
            <a:xfrm>
              <a:off x="114300" y="152400"/>
              <a:ext cx="14382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01 // OPERATOR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1. User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450"/>
                </a:spcAft>
                <a:buNone/>
              </a:pPr>
              <a:r>
                <a:rPr b="0" i="0" lang="en-GB" sz="900" u="none" strike="noStrike">
                  <a:solidFill>
                    <a:srgbClr val="5A626A"/>
                  </a:solidFill>
                  <a:latin typeface="Inter"/>
                  <a:ea typeface="Inter"/>
                  <a:cs typeface="Inter"/>
                  <a:sym typeface="Inter"/>
                </a:rPr>
                <a:t>Operator providing prompt inputs and reviewing system outputs.</a:t>
              </a:r>
              <a:endParaRPr b="0" i="0" sz="750" u="none" strike="noStrike">
                <a:solidFill>
                  <a:srgbClr val="D9381E"/>
                </a:solidFill>
                <a:latin typeface="JetBrains Mono"/>
                <a:ea typeface="JetBrains Mono"/>
                <a:cs typeface="JetBrains Mono"/>
                <a:sym typeface="JetBrains Mono"/>
              </a:endParaRPr>
            </a:p>
          </p:txBody>
        </p:sp>
      </p:grpSp>
      <p:grpSp>
        <p:nvGrpSpPr>
          <p:cNvPr id="611" name="Google Shape;611;p27"/>
          <p:cNvGrpSpPr/>
          <p:nvPr/>
        </p:nvGrpSpPr>
        <p:grpSpPr>
          <a:xfrm>
            <a:off x="1609575" y="2438400"/>
            <a:ext cx="438150" cy="76200"/>
            <a:chOff x="2066925" y="2438400"/>
            <a:chExt cx="438150" cy="76200"/>
          </a:xfrm>
        </p:grpSpPr>
        <p:cxnSp>
          <p:nvCxnSpPr>
            <p:cNvPr id="612" name="Google Shape;612;p27"/>
            <p:cNvCxnSpPr/>
            <p:nvPr/>
          </p:nvCxnSpPr>
          <p:spPr>
            <a:xfrm>
              <a:off x="21240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13" name="Google Shape;613;p27"/>
            <p:cNvSpPr/>
            <p:nvPr/>
          </p:nvSpPr>
          <p:spPr>
            <a:xfrm>
              <a:off x="20669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4" name="Google Shape;614;p27"/>
            <p:cNvSpPr/>
            <p:nvPr/>
          </p:nvSpPr>
          <p:spPr>
            <a:xfrm>
              <a:off x="24288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15" name="Google Shape;615;p27"/>
          <p:cNvGrpSpPr/>
          <p:nvPr/>
        </p:nvGrpSpPr>
        <p:grpSpPr>
          <a:xfrm>
            <a:off x="2047725" y="1428750"/>
            <a:ext cx="1316666" cy="2095500"/>
            <a:chOff x="0" y="0"/>
            <a:chExt cx="2000100" cy="2095500"/>
          </a:xfrm>
        </p:grpSpPr>
        <p:sp>
          <p:nvSpPr>
            <p:cNvPr id="616" name="Google Shape;61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7" name="Google Shape;61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8" name="Google Shape;61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02 // ENVIRONMENT</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2. Coding Harness</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50" u="none" strike="noStrike">
                  <a:solidFill>
                    <a:srgbClr val="111315"/>
                  </a:solidFill>
                  <a:latin typeface="JetBrains Mono"/>
                  <a:ea typeface="JetBrains Mono"/>
                  <a:cs typeface="JetBrains Mono"/>
                  <a:sym typeface="JetBrains Mono"/>
                </a:rPr>
                <a:t>System Context and Execution Loop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00" u="none" strike="noStrike">
                  <a:solidFill>
                    <a:srgbClr val="5A626A"/>
                  </a:solidFill>
                  <a:latin typeface="Inter"/>
                  <a:ea typeface="Inter"/>
                  <a:cs typeface="Inter"/>
                  <a:sym typeface="Inter"/>
                </a:rPr>
                <a:t>Maintains state, prepares context windows, executes code, and processes returned data.</a:t>
              </a:r>
              <a:endParaRPr b="0" i="0" sz="750" u="none" strike="noStrike">
                <a:solidFill>
                  <a:srgbClr val="1D4ED8"/>
                </a:solidFill>
                <a:latin typeface="JetBrains Mono"/>
                <a:ea typeface="JetBrains Mono"/>
                <a:cs typeface="JetBrains Mono"/>
                <a:sym typeface="JetBrains Mono"/>
              </a:endParaRPr>
            </a:p>
          </p:txBody>
        </p:sp>
      </p:grpSp>
      <p:grpSp>
        <p:nvGrpSpPr>
          <p:cNvPr id="619" name="Google Shape;619;p27"/>
          <p:cNvGrpSpPr/>
          <p:nvPr/>
        </p:nvGrpSpPr>
        <p:grpSpPr>
          <a:xfrm>
            <a:off x="3364400" y="2438400"/>
            <a:ext cx="438150" cy="76200"/>
            <a:chOff x="4543425" y="2438400"/>
            <a:chExt cx="438150" cy="76200"/>
          </a:xfrm>
        </p:grpSpPr>
        <p:cxnSp>
          <p:nvCxnSpPr>
            <p:cNvPr id="620" name="Google Shape;620;p27"/>
            <p:cNvCxnSpPr/>
            <p:nvPr/>
          </p:nvCxnSpPr>
          <p:spPr>
            <a:xfrm>
              <a:off x="46005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1" name="Google Shape;621;p27"/>
            <p:cNvSpPr/>
            <p:nvPr/>
          </p:nvSpPr>
          <p:spPr>
            <a:xfrm>
              <a:off x="45434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2" name="Google Shape;622;p27"/>
            <p:cNvSpPr/>
            <p:nvPr/>
          </p:nvSpPr>
          <p:spPr>
            <a:xfrm>
              <a:off x="49053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23" name="Google Shape;623;p27"/>
          <p:cNvGrpSpPr/>
          <p:nvPr/>
        </p:nvGrpSpPr>
        <p:grpSpPr>
          <a:xfrm>
            <a:off x="3802550" y="1428750"/>
            <a:ext cx="1247470" cy="2095500"/>
            <a:chOff x="0" y="0"/>
            <a:chExt cx="1714500" cy="2095500"/>
          </a:xfrm>
        </p:grpSpPr>
        <p:sp>
          <p:nvSpPr>
            <p:cNvPr id="624" name="Google Shape;624;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5" name="Google Shape;625;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6" name="Google Shape;626;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03 // MODEL</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3. LLM</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Probabilistic model generating text tokens, code, and tool commands.</a:t>
              </a:r>
              <a:endParaRPr b="0" i="0" sz="750" u="none" strike="noStrike">
                <a:solidFill>
                  <a:srgbClr val="D9381E"/>
                </a:solidFill>
                <a:latin typeface="JetBrains Mono"/>
                <a:ea typeface="JetBrains Mono"/>
                <a:cs typeface="JetBrains Mono"/>
                <a:sym typeface="JetBrains Mono"/>
              </a:endParaRPr>
            </a:p>
          </p:txBody>
        </p:sp>
      </p:grpSp>
      <p:grpSp>
        <p:nvGrpSpPr>
          <p:cNvPr id="627" name="Google Shape;627;p27"/>
          <p:cNvGrpSpPr/>
          <p:nvPr/>
        </p:nvGrpSpPr>
        <p:grpSpPr>
          <a:xfrm>
            <a:off x="5075188" y="2438400"/>
            <a:ext cx="438150" cy="76200"/>
            <a:chOff x="6734175" y="2438400"/>
            <a:chExt cx="438150" cy="76200"/>
          </a:xfrm>
        </p:grpSpPr>
        <p:cxnSp>
          <p:nvCxnSpPr>
            <p:cNvPr id="628" name="Google Shape;628;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9" name="Google Shape;629;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0" name="Google Shape;630;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31" name="Google Shape;631;p27"/>
          <p:cNvSpPr txBox="1"/>
          <p:nvPr/>
        </p:nvSpPr>
        <p:spPr>
          <a:xfrm>
            <a:off x="381000" y="4333875"/>
            <a:ext cx="8382000" cy="2382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Anthropic (2024), Model Context Protocol.</a:t>
            </a:r>
            <a:endParaRPr b="0" sz="750">
              <a:solidFill>
                <a:srgbClr val="5A626A"/>
              </a:solidFill>
              <a:latin typeface="JetBrains Mono"/>
              <a:ea typeface="JetBrains Mono"/>
              <a:cs typeface="JetBrains Mono"/>
              <a:sym typeface="JetBrains Mono"/>
            </a:endParaRPr>
          </a:p>
        </p:txBody>
      </p:sp>
      <p:grpSp>
        <p:nvGrpSpPr>
          <p:cNvPr id="632" name="Google Shape;632;p27"/>
          <p:cNvGrpSpPr/>
          <p:nvPr/>
        </p:nvGrpSpPr>
        <p:grpSpPr>
          <a:xfrm>
            <a:off x="381000" y="4714875"/>
            <a:ext cx="8382000" cy="285750"/>
            <a:chOff x="381000" y="4714875"/>
            <a:chExt cx="8382000" cy="285750"/>
          </a:xfrm>
        </p:grpSpPr>
        <p:cxnSp>
          <p:nvCxnSpPr>
            <p:cNvPr id="633" name="Google Shape;633;p27"/>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34" name="Google Shape;634;p27"/>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635" name="Google Shape;635;p27"/>
          <p:cNvGrpSpPr/>
          <p:nvPr/>
        </p:nvGrpSpPr>
        <p:grpSpPr>
          <a:xfrm>
            <a:off x="5538525" y="1428750"/>
            <a:ext cx="1187859" cy="2095500"/>
            <a:chOff x="0" y="0"/>
            <a:chExt cx="2000100" cy="2095500"/>
          </a:xfrm>
        </p:grpSpPr>
        <p:sp>
          <p:nvSpPr>
            <p:cNvPr id="636" name="Google Shape;63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7" name="Google Shape;63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8" name="Google Shape;63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04 // INTERFACE</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4. MCP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Provides command interfaces and tool definitions to execute software operations.</a:t>
              </a:r>
              <a:endParaRPr b="0" i="0" sz="750" u="none" strike="noStrike">
                <a:solidFill>
                  <a:srgbClr val="1D4ED8"/>
                </a:solidFill>
                <a:latin typeface="JetBrains Mono"/>
                <a:ea typeface="JetBrains Mono"/>
                <a:cs typeface="JetBrains Mono"/>
                <a:sym typeface="JetBrains Mono"/>
              </a:endParaRPr>
            </a:p>
          </p:txBody>
        </p:sp>
      </p:grpSp>
      <p:grpSp>
        <p:nvGrpSpPr>
          <p:cNvPr id="639" name="Google Shape;639;p27"/>
          <p:cNvGrpSpPr/>
          <p:nvPr/>
        </p:nvGrpSpPr>
        <p:grpSpPr>
          <a:xfrm>
            <a:off x="7214875" y="1428750"/>
            <a:ext cx="1247470" cy="2095500"/>
            <a:chOff x="0" y="0"/>
            <a:chExt cx="1714500" cy="2095500"/>
          </a:xfrm>
        </p:grpSpPr>
        <p:sp>
          <p:nvSpPr>
            <p:cNvPr id="640" name="Google Shape;640;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1" name="Google Shape;641;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2" name="Google Shape;642;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05 // APPLICATION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5. Target Software</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CAD and BIM software where geometry modifications execute via API or CLI commands.</a:t>
              </a:r>
              <a:endParaRPr b="0" i="0" sz="750" u="none" strike="noStrike">
                <a:solidFill>
                  <a:srgbClr val="D9381E"/>
                </a:solidFill>
                <a:latin typeface="JetBrains Mono"/>
                <a:ea typeface="JetBrains Mono"/>
                <a:cs typeface="JetBrains Mono"/>
                <a:sym typeface="JetBrains Mono"/>
              </a:endParaRPr>
            </a:p>
          </p:txBody>
        </p:sp>
      </p:grpSp>
      <p:grpSp>
        <p:nvGrpSpPr>
          <p:cNvPr id="643" name="Google Shape;643;p27"/>
          <p:cNvGrpSpPr/>
          <p:nvPr/>
        </p:nvGrpSpPr>
        <p:grpSpPr>
          <a:xfrm>
            <a:off x="6751538" y="2438400"/>
            <a:ext cx="438150" cy="76200"/>
            <a:chOff x="6734175" y="2438400"/>
            <a:chExt cx="438150" cy="76200"/>
          </a:xfrm>
        </p:grpSpPr>
        <p:cxnSp>
          <p:nvCxnSpPr>
            <p:cNvPr id="644" name="Google Shape;644;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5" name="Google Shape;645;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6" name="Google Shape;646;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sp>
        <p:nvSpPr>
          <p:cNvPr id="651" name="Google Shape;651;p28"/>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Live Demonstrations: CAD Automation via MCP</a:t>
            </a:r>
            <a:endParaRPr b="1" i="0" sz="1850" u="none" strike="noStrike">
              <a:solidFill>
                <a:srgbClr val="111315"/>
              </a:solidFill>
              <a:latin typeface="Space Grotesk"/>
              <a:ea typeface="Space Grotesk"/>
              <a:cs typeface="Space Grotesk"/>
              <a:sym typeface="Space Grotesk"/>
            </a:endParaRPr>
          </a:p>
        </p:txBody>
      </p:sp>
      <p:sp>
        <p:nvSpPr>
          <p:cNvPr id="652" name="Google Shape;652;p28"/>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b="0" i="0" lang="en-GB" sz="800" u="none" strike="noStrike">
                <a:solidFill>
                  <a:srgbClr val="1D4ED8"/>
                </a:solidFill>
                <a:latin typeface="JetBrains Mono SemiBold"/>
                <a:ea typeface="JetBrains Mono SemiBold"/>
                <a:cs typeface="JetBrains Mono SemiBold"/>
                <a:sym typeface="JetBrains Mono SemiBold"/>
              </a:rPr>
              <a:t>SECTION 03 // INTERACTIVE EXECUTION WORKFLOWS</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53" name="Google Shape;653;p28"/>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4" name="Google Shape;654;p28"/>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Anthropic Model Context Protocol (MCP); McNeel RhinoAI Integration.</a:t>
            </a:r>
            <a:endParaRPr b="0" i="0" sz="750" u="none" strike="noStrike">
              <a:solidFill>
                <a:srgbClr val="5A626A"/>
              </a:solidFill>
              <a:latin typeface="JetBrains Mono"/>
              <a:ea typeface="JetBrains Mono"/>
              <a:cs typeface="JetBrains Mono"/>
              <a:sym typeface="JetBrains Mono"/>
            </a:endParaRPr>
          </a:p>
        </p:txBody>
      </p:sp>
      <p:cxnSp>
        <p:nvCxnSpPr>
          <p:cNvPr id="655" name="Google Shape;655;p28"/>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6" name="Google Shape;656;p28"/>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57" name="Google Shape;657;p28"/>
          <p:cNvSpPr/>
          <p:nvPr/>
        </p:nvSpPr>
        <p:spPr>
          <a:xfrm>
            <a:off x="381000"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8"/>
          <p:cNvSpPr/>
          <p:nvPr/>
        </p:nvSpPr>
        <p:spPr>
          <a:xfrm>
            <a:off x="381000" y="1200150"/>
            <a:ext cx="26100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8"/>
          <p:cNvSpPr txBox="1"/>
          <p:nvPr/>
        </p:nvSpPr>
        <p:spPr>
          <a:xfrm>
            <a:off x="533400" y="1352550"/>
            <a:ext cx="2305200" cy="283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DEMO 01 // GEOMETRY</a:t>
            </a:r>
            <a:endParaRPr b="1" sz="750">
              <a:solidFill>
                <a:srgbClr val="D9381E"/>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Rhino 8 Model Context</a:t>
            </a:r>
            <a:endParaRPr b="1" sz="75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Direct Viewport &amp; Brep Control</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Native Viewport API: </a:t>
            </a:r>
            <a:r>
              <a:rPr b="0" lang="en-GB" sz="800">
                <a:solidFill>
                  <a:srgbClr val="5A626A"/>
                </a:solidFill>
                <a:latin typeface="Inter"/>
                <a:ea typeface="Inter"/>
                <a:cs typeface="Inter"/>
                <a:sym typeface="Inter"/>
              </a:rPr>
              <a:t>Inspect active layers, materials, and selected geometry.</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Command Execution: </a:t>
            </a:r>
            <a:r>
              <a:rPr b="0" lang="en-GB" sz="800">
                <a:solidFill>
                  <a:srgbClr val="5A626A"/>
                </a:solidFill>
                <a:latin typeface="Inter"/>
                <a:ea typeface="Inter"/>
                <a:cs typeface="Inter"/>
                <a:sym typeface="Inter"/>
              </a:rPr>
              <a:t>Automated NURBS curves, lofting, sweeps, and booleans.</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Bi-Directional State: </a:t>
            </a:r>
            <a:r>
              <a:rPr b="0" lang="en-GB" sz="800">
                <a:solidFill>
                  <a:srgbClr val="5A626A"/>
                </a:solidFill>
                <a:latin typeface="Inter"/>
                <a:ea typeface="Inter"/>
                <a:cs typeface="Inter"/>
                <a:sym typeface="Inter"/>
              </a:rPr>
              <a:t>Streams model bounding boxes and object GUIDs to LLM.</a:t>
            </a:r>
            <a:endParaRPr b="1" sz="750">
              <a:solidFill>
                <a:srgbClr val="D9381E"/>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PROTOCOL: JSON-RPC (STDIO)</a:t>
            </a:r>
            <a:endParaRPr b="1" sz="750">
              <a:solidFill>
                <a:srgbClr val="D9381E"/>
              </a:solidFill>
              <a:latin typeface="JetBrains Mono"/>
              <a:ea typeface="JetBrains Mono"/>
              <a:cs typeface="JetBrains Mono"/>
              <a:sym typeface="JetBrains Mono"/>
            </a:endParaRPr>
          </a:p>
        </p:txBody>
      </p:sp>
      <p:sp>
        <p:nvSpPr>
          <p:cNvPr id="660" name="Google Shape;660;p28"/>
          <p:cNvSpPr/>
          <p:nvPr/>
        </p:nvSpPr>
        <p:spPr>
          <a:xfrm>
            <a:off x="3267075"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8"/>
          <p:cNvSpPr/>
          <p:nvPr/>
        </p:nvSpPr>
        <p:spPr>
          <a:xfrm>
            <a:off x="3267075" y="1200150"/>
            <a:ext cx="26100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8"/>
          <p:cNvSpPr txBox="1"/>
          <p:nvPr/>
        </p:nvSpPr>
        <p:spPr>
          <a:xfrm>
            <a:off x="3419475" y="1352550"/>
            <a:ext cx="2305200" cy="283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DEMO 02 // PARAMETRIC</a:t>
            </a:r>
            <a:endParaRPr b="1"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Grasshopper Nodes</a:t>
            </a:r>
            <a:endParaRPr b="1" sz="75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Algorithmic Graph Modification</a:t>
            </a:r>
            <a:endParaRPr b="1" sz="750">
              <a:solidFill>
                <a:srgbClr val="1D4ED8"/>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Graph Inspection: </a:t>
            </a:r>
            <a:r>
              <a:rPr b="0" lang="en-GB" sz="800">
                <a:solidFill>
                  <a:srgbClr val="5A626A"/>
                </a:solidFill>
                <a:latin typeface="Inter"/>
                <a:ea typeface="Inter"/>
                <a:cs typeface="Inter"/>
                <a:sym typeface="Inter"/>
              </a:rPr>
              <a:t>Reads active sliders, panel parameters, and cluster data.</a:t>
            </a:r>
            <a:endParaRPr b="1" sz="750">
              <a:solidFill>
                <a:srgbClr val="1D4ED8"/>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ENGINE: RHINOCODE PYTHON 3</a:t>
            </a:r>
            <a:endParaRPr b="1" sz="750">
              <a:solidFill>
                <a:srgbClr val="1D4ED8"/>
              </a:solidFill>
              <a:latin typeface="JetBrains Mono"/>
              <a:ea typeface="JetBrains Mono"/>
              <a:cs typeface="JetBrains Mono"/>
              <a:sym typeface="JetBrains Mono"/>
            </a:endParaRPr>
          </a:p>
        </p:txBody>
      </p:sp>
      <p:sp>
        <p:nvSpPr>
          <p:cNvPr id="663" name="Google Shape;663;p28"/>
          <p:cNvSpPr/>
          <p:nvPr/>
        </p:nvSpPr>
        <p:spPr>
          <a:xfrm>
            <a:off x="6153150" y="1200150"/>
            <a:ext cx="2610000" cy="3143400"/>
          </a:xfrm>
          <a:prstGeom prst="roundRect">
            <a:avLst>
              <a:gd fmla="val 0" name="adj"/>
            </a:avLst>
          </a:prstGeom>
          <a:solidFill>
            <a:srgbClr val="111315"/>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8"/>
          <p:cNvSpPr/>
          <p:nvPr/>
        </p:nvSpPr>
        <p:spPr>
          <a:xfrm>
            <a:off x="6153150" y="1200150"/>
            <a:ext cx="26100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28"/>
          <p:cNvSpPr txBox="1"/>
          <p:nvPr/>
        </p:nvSpPr>
        <p:spPr>
          <a:xfrm>
            <a:off x="6305550" y="1352550"/>
            <a:ext cx="2305200" cy="283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DEMO 03 // ECOSYSTEM</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300" u="none" strike="noStrike">
                <a:solidFill>
                  <a:srgbClr val="FFFFFF"/>
                </a:solidFill>
                <a:latin typeface="Space Grotesk"/>
                <a:ea typeface="Space Grotesk"/>
                <a:cs typeface="Space Grotesk"/>
                <a:sym typeface="Space Grotesk"/>
              </a:rPr>
              <a:t>Autodesk &amp; Interop</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200"/>
              </a:spcBef>
              <a:spcAft>
                <a:spcPts val="0"/>
              </a:spcAft>
              <a:buNone/>
            </a:pPr>
            <a:r>
              <a:rPr b="0" i="0" lang="en-GB" sz="850" u="none" strike="noStrike">
                <a:solidFill>
                  <a:srgbClr val="9CA3AF"/>
                </a:solidFill>
                <a:latin typeface="Inter Medium"/>
                <a:ea typeface="Inter Medium"/>
                <a:cs typeface="Inter Medium"/>
                <a:sym typeface="Inter Medium"/>
              </a:rPr>
              <a:t>Cross-Platform Pipeline</a:t>
            </a:r>
            <a:endParaRPr b="1" i="0" sz="750" u="none" strike="noStrike">
              <a:solidFill>
                <a:srgbClr val="D9381E"/>
              </a:solidFill>
              <a:latin typeface="JetBrains Mono"/>
              <a:ea typeface="JetBrains Mono"/>
              <a:cs typeface="JetBrains Mono"/>
              <a:sym typeface="JetBrains Mono"/>
            </a:endParaRPr>
          </a:p>
          <a:p>
            <a:pPr indent="-282575" lvl="0" marL="457200" marR="0" rtl="0" algn="l">
              <a:lnSpc>
                <a:spcPct val="115000"/>
              </a:lnSpc>
              <a:spcBef>
                <a:spcPts val="800"/>
              </a:spcBef>
              <a:spcAft>
                <a:spcPts val="0"/>
              </a:spcAft>
              <a:buClr>
                <a:srgbClr val="FFFFFF"/>
              </a:buClr>
              <a:buSzPts val="850"/>
              <a:buFont typeface="Inter"/>
              <a:buChar char="●"/>
            </a:pPr>
            <a:r>
              <a:rPr b="1" lang="en-GB" sz="850">
                <a:solidFill>
                  <a:srgbClr val="FFFFFF"/>
                </a:solidFill>
                <a:latin typeface="Inter"/>
                <a:ea typeface="Inter"/>
                <a:cs typeface="Inter"/>
                <a:sym typeface="Inter"/>
              </a:rPr>
              <a:t>Forma</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20" u="none" strike="noStrike">
                <a:solidFill>
                  <a:srgbClr val="60A5FA"/>
                </a:solidFill>
                <a:latin typeface="JetBrains Mono"/>
                <a:ea typeface="JetBrains Mono"/>
                <a:cs typeface="JetBrains Mono"/>
                <a:sym typeface="JetBrains Mono"/>
              </a:rPr>
              <a:t>PIPELINE: HYBRID CAD / BIM</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Installing the Rhino MCP </a:t>
            </a:r>
            <a:r>
              <a:rPr b="0" i="0" lang="en-GB" sz="1665" u="none" strike="noStrike">
                <a:solidFill>
                  <a:srgbClr val="5A626A"/>
                </a:solidFill>
                <a:latin typeface="Space Grotesk"/>
                <a:ea typeface="Space Grotesk"/>
                <a:cs typeface="Space Grotesk"/>
                <a:sym typeface="Space Grotesk"/>
              </a:rPr>
              <a:t>(mcneel.github.io/RhinoAI)</a:t>
            </a:r>
            <a:endParaRPr b="1" i="0" sz="1850" u="none" strike="noStrike">
              <a:solidFill>
                <a:srgbClr val="111315"/>
              </a:solidFill>
              <a:latin typeface="Space Grotesk"/>
              <a:ea typeface="Space Grotesk"/>
              <a:cs typeface="Space Grotesk"/>
              <a:sym typeface="Space Grotesk"/>
            </a:endParaRPr>
          </a:p>
        </p:txBody>
      </p:sp>
      <p:sp>
        <p:nvSpPr>
          <p:cNvPr id="671" name="Google Shape;671;p29"/>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lang="en-GB" sz="800">
                <a:solidFill>
                  <a:srgbClr val="1D4ED8"/>
                </a:solidFill>
                <a:latin typeface="JetBrains Mono SemiBold"/>
                <a:ea typeface="JetBrains Mono SemiBold"/>
                <a:cs typeface="JetBrains Mono SemiBold"/>
                <a:sym typeface="JetBrains Mono SemiBold"/>
              </a:rPr>
              <a:t>SETUP GUIDE // RHINO 8 AND CODEX</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72" name="Google Shape;672;p29"/>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3" name="Google Shape;673;p29"/>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McNeel RhinoAI (https://mcneel.github.io/RhinoAI/); Anthropic Claude Desktop MCP Documentation.</a:t>
            </a:r>
            <a:endParaRPr b="0" i="0" sz="750" u="none" strike="noStrike">
              <a:solidFill>
                <a:srgbClr val="5A626A"/>
              </a:solidFill>
              <a:latin typeface="JetBrains Mono"/>
              <a:ea typeface="JetBrains Mono"/>
              <a:cs typeface="JetBrains Mono"/>
              <a:sym typeface="JetBrains Mono"/>
            </a:endParaRPr>
          </a:p>
        </p:txBody>
      </p:sp>
      <p:cxnSp>
        <p:nvCxnSpPr>
          <p:cNvPr id="674" name="Google Shape;674;p29"/>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5" name="Google Shape;675;p29"/>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76" name="Google Shape;676;p29"/>
          <p:cNvSpPr/>
          <p:nvPr/>
        </p:nvSpPr>
        <p:spPr>
          <a:xfrm>
            <a:off x="3810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9"/>
          <p:cNvSpPr/>
          <p:nvPr/>
        </p:nvSpPr>
        <p:spPr>
          <a:xfrm>
            <a:off x="381000" y="1143000"/>
            <a:ext cx="19242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9"/>
          <p:cNvSpPr txBox="1"/>
          <p:nvPr/>
        </p:nvSpPr>
        <p:spPr>
          <a:xfrm>
            <a:off x="4572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STEP 01 // </a:t>
            </a:r>
            <a:r>
              <a:rPr b="1" i="0" lang="en-GB" sz="750" u="none" strike="noStrike">
                <a:solidFill>
                  <a:srgbClr val="5A626A"/>
                </a:solidFill>
                <a:latin typeface="JetBrains Mono"/>
                <a:ea typeface="JetBrains Mono"/>
                <a:cs typeface="JetBrains Mono"/>
                <a:sym typeface="JetBrains Mono"/>
              </a:rPr>
              <a:t>ENVIRONMENT</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lang="en-GB" sz="1200">
                <a:solidFill>
                  <a:srgbClr val="111315"/>
                </a:solidFill>
                <a:latin typeface="Space Grotesk"/>
                <a:ea typeface="Space Grotesk"/>
                <a:cs typeface="Space Grotesk"/>
                <a:sym typeface="Space Grotesk"/>
              </a:rPr>
              <a:t>Rhino 8</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Use current Rhino 8 on an Apple Silicon Mac.</a:t>
            </a:r>
            <a:endParaRPr b="1" i="0" sz="750" u="none" strike="noStrike">
              <a:solidFill>
                <a:srgbClr val="D9381E"/>
              </a:solidFill>
              <a:latin typeface="JetBrains Mono"/>
              <a:ea typeface="JetBrains Mono"/>
              <a:cs typeface="JetBrains Mono"/>
              <a:sym typeface="JetBrains Mono"/>
            </a:endParaRPr>
          </a:p>
        </p:txBody>
      </p:sp>
      <p:sp>
        <p:nvSpPr>
          <p:cNvPr id="679" name="Google Shape;679;p29"/>
          <p:cNvSpPr/>
          <p:nvPr/>
        </p:nvSpPr>
        <p:spPr>
          <a:xfrm>
            <a:off x="4953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9"/>
          <p:cNvSpPr/>
          <p:nvPr/>
        </p:nvSpPr>
        <p:spPr>
          <a:xfrm>
            <a:off x="4953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9"/>
          <p:cNvSpPr txBox="1"/>
          <p:nvPr/>
        </p:nvSpPr>
        <p:spPr>
          <a:xfrm>
            <a:off x="5334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CLI / COMMAND</a:t>
            </a:r>
            <a:endParaRPr b="1" i="0" sz="720" u="none" strike="noStrike">
              <a:solidFill>
                <a:srgbClr val="9CA3AF"/>
              </a:solidFill>
              <a:latin typeface="JetBrains Mono"/>
              <a:ea typeface="JetBrains Mono"/>
              <a:cs typeface="JetBrains Mono"/>
              <a:sym typeface="JetBrains Mono"/>
            </a:endParaRPr>
          </a:p>
        </p:txBody>
      </p:sp>
      <p:sp>
        <p:nvSpPr>
          <p:cNvPr id="682" name="Google Shape;682;p29"/>
          <p:cNvSpPr txBox="1"/>
          <p:nvPr/>
        </p:nvSpPr>
        <p:spPr>
          <a:xfrm>
            <a:off x="5715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6B7280"/>
                </a:solidFill>
                <a:latin typeface="JetBrains Mono"/>
                <a:ea typeface="JetBrains Mono"/>
                <a:cs typeface="JetBrains Mono"/>
                <a:sym typeface="JetBrains Mono"/>
              </a:rPr>
              <a:t># In Rhino 8 command line:</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SystemInfo</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6B7280"/>
                </a:solidFill>
                <a:latin typeface="JetBrains Mono"/>
                <a:ea typeface="JetBrains Mono"/>
                <a:cs typeface="JetBrains Mono"/>
                <a:sym typeface="JetBrains Mono"/>
              </a:rPr>
              <a:t># Check the Rhino version</a:t>
            </a:r>
            <a:endParaRPr sz="720">
              <a:solidFill>
                <a:srgbClr val="6B7280"/>
              </a:solidFill>
              <a:latin typeface="JetBrains Mono"/>
              <a:ea typeface="JetBrains Mono"/>
              <a:cs typeface="JetBrains Mono"/>
              <a:sym typeface="JetBrains Mono"/>
            </a:endParaRPr>
          </a:p>
        </p:txBody>
      </p:sp>
      <p:sp>
        <p:nvSpPr>
          <p:cNvPr id="683" name="Google Shape;683;p29"/>
          <p:cNvSpPr txBox="1"/>
          <p:nvPr/>
        </p:nvSpPr>
        <p:spPr>
          <a:xfrm>
            <a:off x="4953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Tested here: Rhino 8.36 on Apple Silicon.</a:t>
            </a:r>
            <a:endParaRPr sz="720">
              <a:solidFill>
                <a:srgbClr val="5A626A"/>
              </a:solidFill>
              <a:latin typeface="Inter"/>
              <a:ea typeface="Inter"/>
              <a:cs typeface="Inter"/>
              <a:sym typeface="Inter"/>
            </a:endParaRPr>
          </a:p>
        </p:txBody>
      </p:sp>
      <p:sp>
        <p:nvSpPr>
          <p:cNvPr id="684" name="Google Shape;684;p29"/>
          <p:cNvSpPr/>
          <p:nvPr/>
        </p:nvSpPr>
        <p:spPr>
          <a:xfrm>
            <a:off x="25336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29"/>
          <p:cNvSpPr/>
          <p:nvPr/>
        </p:nvSpPr>
        <p:spPr>
          <a:xfrm>
            <a:off x="25336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29"/>
          <p:cNvSpPr txBox="1"/>
          <p:nvPr/>
        </p:nvSpPr>
        <p:spPr>
          <a:xfrm>
            <a:off x="26289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02 // </a:t>
            </a:r>
            <a:r>
              <a:rPr b="1" i="0" lang="en-GB" sz="750" u="none" strike="noStrike">
                <a:solidFill>
                  <a:srgbClr val="5A626A"/>
                </a:solidFill>
                <a:latin typeface="JetBrains Mono"/>
                <a:ea typeface="JetBrains Mono"/>
                <a:cs typeface="JetBrains Mono"/>
                <a:sym typeface="JetBrains Mono"/>
              </a:rPr>
              <a:t>PACKAGE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Install MCP Server</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Install Rhino-MCP-Platform from Rhino Package Manager.</a:t>
            </a:r>
            <a:endParaRPr b="1" i="0" sz="750" u="none" strike="noStrike">
              <a:solidFill>
                <a:srgbClr val="1D4ED8"/>
              </a:solidFill>
              <a:latin typeface="JetBrains Mono"/>
              <a:ea typeface="JetBrains Mono"/>
              <a:cs typeface="JetBrains Mono"/>
              <a:sym typeface="JetBrains Mono"/>
            </a:endParaRPr>
          </a:p>
        </p:txBody>
      </p:sp>
      <p:sp>
        <p:nvSpPr>
          <p:cNvPr id="687" name="Google Shape;687;p29"/>
          <p:cNvSpPr/>
          <p:nvPr/>
        </p:nvSpPr>
        <p:spPr>
          <a:xfrm>
            <a:off x="26479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9"/>
          <p:cNvSpPr/>
          <p:nvPr/>
        </p:nvSpPr>
        <p:spPr>
          <a:xfrm>
            <a:off x="26479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9"/>
          <p:cNvSpPr txBox="1"/>
          <p:nvPr/>
        </p:nvSpPr>
        <p:spPr>
          <a:xfrm>
            <a:off x="27051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lang="en-GB" sz="720">
                <a:solidFill>
                  <a:srgbClr val="9CA3AF"/>
                </a:solidFill>
                <a:latin typeface="JetBrains Mono"/>
                <a:ea typeface="JetBrains Mono"/>
                <a:cs typeface="JetBrains Mono"/>
                <a:sym typeface="JetBrains Mono"/>
              </a:rPr>
              <a:t>RHINO COMMAND</a:t>
            </a:r>
            <a:endParaRPr b="1" i="0" sz="720" u="none" strike="noStrike">
              <a:solidFill>
                <a:srgbClr val="9CA3AF"/>
              </a:solidFill>
              <a:latin typeface="JetBrains Mono"/>
              <a:ea typeface="JetBrains Mono"/>
              <a:cs typeface="JetBrains Mono"/>
              <a:sym typeface="JetBrains Mono"/>
            </a:endParaRPr>
          </a:p>
        </p:txBody>
      </p:sp>
      <p:sp>
        <p:nvSpPr>
          <p:cNvPr id="690" name="Google Shape;690;p29"/>
          <p:cNvSpPr txBox="1"/>
          <p:nvPr/>
        </p:nvSpPr>
        <p:spPr>
          <a:xfrm>
            <a:off x="27241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38BDF8"/>
                </a:solidFill>
                <a:latin typeface="JetBrains Mono"/>
                <a:ea typeface="JetBrains Mono"/>
                <a:cs typeface="JetBrains Mono"/>
                <a:sym typeface="JetBrains Mono"/>
              </a:rPr>
              <a:t>PackageManager</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6B7280"/>
                </a:solidFill>
                <a:latin typeface="JetBrains Mono"/>
                <a:ea typeface="JetBrains Mono"/>
                <a:cs typeface="JetBrains Mono"/>
                <a:sym typeface="JetBrains Mono"/>
              </a:rPr>
              <a:t># Search for:</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38BDF8"/>
                </a:solidFill>
                <a:latin typeface="JetBrains Mono"/>
                <a:ea typeface="JetBrains Mono"/>
                <a:cs typeface="JetBrains Mono"/>
                <a:sym typeface="JetBrains Mono"/>
              </a:rPr>
              <a:t>Rhino-MCP-Platform</a:t>
            </a:r>
            <a:endParaRPr sz="720">
              <a:solidFill>
                <a:srgbClr val="38BDF8"/>
              </a:solidFill>
              <a:latin typeface="JetBrains Mono"/>
              <a:ea typeface="JetBrains Mono"/>
              <a:cs typeface="JetBrains Mono"/>
              <a:sym typeface="JetBrains Mono"/>
            </a:endParaRPr>
          </a:p>
        </p:txBody>
      </p:sp>
      <p:sp>
        <p:nvSpPr>
          <p:cNvPr id="691" name="Google Shape;691;p29"/>
          <p:cNvSpPr txBox="1"/>
          <p:nvPr/>
        </p:nvSpPr>
        <p:spPr>
          <a:xfrm>
            <a:off x="26479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Restart Rhino after the package installs.</a:t>
            </a:r>
            <a:endParaRPr sz="720">
              <a:solidFill>
                <a:srgbClr val="5A626A"/>
              </a:solidFill>
              <a:latin typeface="Inter"/>
              <a:ea typeface="Inter"/>
              <a:cs typeface="Inter"/>
              <a:sym typeface="Inter"/>
            </a:endParaRPr>
          </a:p>
        </p:txBody>
      </p:sp>
      <p:sp>
        <p:nvSpPr>
          <p:cNvPr id="692" name="Google Shape;692;p29"/>
          <p:cNvSpPr/>
          <p:nvPr/>
        </p:nvSpPr>
        <p:spPr>
          <a:xfrm>
            <a:off x="46863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9"/>
          <p:cNvSpPr/>
          <p:nvPr/>
        </p:nvSpPr>
        <p:spPr>
          <a:xfrm>
            <a:off x="4686300" y="1143000"/>
            <a:ext cx="19242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9"/>
          <p:cNvSpPr txBox="1"/>
          <p:nvPr/>
        </p:nvSpPr>
        <p:spPr>
          <a:xfrm>
            <a:off x="48006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11315"/>
                </a:solidFill>
                <a:latin typeface="JetBrains Mono"/>
                <a:ea typeface="JetBrains Mono"/>
                <a:cs typeface="JetBrains Mono"/>
                <a:sym typeface="JetBrains Mono"/>
              </a:rPr>
              <a:t>STEP 03 // </a:t>
            </a:r>
            <a:r>
              <a:rPr b="1" i="0" lang="en-GB" sz="750" u="none" strike="noStrike">
                <a:solidFill>
                  <a:srgbClr val="5A626A"/>
                </a:solidFill>
                <a:latin typeface="JetBrains Mono"/>
                <a:ea typeface="JetBrains Mono"/>
                <a:cs typeface="JetBrains Mono"/>
                <a:sym typeface="JetBrains Mono"/>
              </a:rPr>
              <a:t>CONFIG</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Configure Harness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In MCPConnect, click Install next to Codex.</a:t>
            </a:r>
            <a:endParaRPr b="1" i="0" sz="750" u="none" strike="noStrike">
              <a:solidFill>
                <a:srgbClr val="111315"/>
              </a:solidFill>
              <a:latin typeface="JetBrains Mono"/>
              <a:ea typeface="JetBrains Mono"/>
              <a:cs typeface="JetBrains Mono"/>
              <a:sym typeface="JetBrains Mono"/>
            </a:endParaRPr>
          </a:p>
        </p:txBody>
      </p:sp>
      <p:sp>
        <p:nvSpPr>
          <p:cNvPr id="695" name="Google Shape;695;p29"/>
          <p:cNvSpPr/>
          <p:nvPr/>
        </p:nvSpPr>
        <p:spPr>
          <a:xfrm>
            <a:off x="48006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9"/>
          <p:cNvSpPr/>
          <p:nvPr/>
        </p:nvSpPr>
        <p:spPr>
          <a:xfrm>
            <a:off x="48006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9"/>
          <p:cNvSpPr txBox="1"/>
          <p:nvPr/>
        </p:nvSpPr>
        <p:spPr>
          <a:xfrm>
            <a:off x="48768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lang="en-GB" sz="720">
                <a:solidFill>
                  <a:srgbClr val="9CA3AF"/>
                </a:solidFill>
                <a:latin typeface="JetBrains Mono"/>
                <a:ea typeface="JetBrains Mono"/>
                <a:cs typeface="JetBrains Mono"/>
                <a:sym typeface="JetBrains Mono"/>
              </a:rPr>
              <a:t>CODEX CONNECTION</a:t>
            </a:r>
            <a:endParaRPr b="1" i="0" sz="720" u="none" strike="noStrike">
              <a:solidFill>
                <a:srgbClr val="9CA3AF"/>
              </a:solidFill>
              <a:latin typeface="JetBrains Mono"/>
              <a:ea typeface="JetBrains Mono"/>
              <a:cs typeface="JetBrains Mono"/>
              <a:sym typeface="JetBrains Mono"/>
            </a:endParaRPr>
          </a:p>
        </p:txBody>
      </p:sp>
      <p:sp>
        <p:nvSpPr>
          <p:cNvPr id="698" name="Google Shape;698;p29"/>
          <p:cNvSpPr txBox="1"/>
          <p:nvPr/>
        </p:nvSpPr>
        <p:spPr>
          <a:xfrm>
            <a:off x="48768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200"/>
              </a:spcAft>
              <a:buNone/>
            </a:pPr>
            <a:r>
              <a:rPr lang="en-GB" sz="720">
                <a:solidFill>
                  <a:srgbClr val="38BDF8"/>
                </a:solidFill>
                <a:latin typeface="JetBrains Mono"/>
                <a:ea typeface="JetBrains Mono"/>
                <a:cs typeface="JetBrains Mono"/>
                <a:sym typeface="JetBrains Mono"/>
              </a:rPr>
              <a:t>MCPConnect</a:t>
            </a:r>
            <a:endParaRPr sz="720">
              <a:solidFill>
                <a:srgbClr val="38BDF8"/>
              </a:solidFill>
              <a:latin typeface="JetBrains Mono"/>
              <a:ea typeface="JetBrains Mono"/>
              <a:cs typeface="JetBrains Mono"/>
              <a:sym typeface="JetBrains Mono"/>
            </a:endParaRPr>
          </a:p>
        </p:txBody>
      </p:sp>
      <p:sp>
        <p:nvSpPr>
          <p:cNvPr id="699" name="Google Shape;699;p29"/>
          <p:cNvSpPr txBox="1"/>
          <p:nvPr/>
        </p:nvSpPr>
        <p:spPr>
          <a:xfrm>
            <a:off x="48006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Restart Codex to load the Rhino tools.</a:t>
            </a:r>
            <a:endParaRPr sz="720">
              <a:solidFill>
                <a:srgbClr val="5A626A"/>
              </a:solidFill>
              <a:latin typeface="Inter"/>
              <a:ea typeface="Inter"/>
              <a:cs typeface="Inter"/>
              <a:sym typeface="Inter"/>
            </a:endParaRPr>
          </a:p>
        </p:txBody>
      </p:sp>
      <p:sp>
        <p:nvSpPr>
          <p:cNvPr id="700" name="Google Shape;700;p29"/>
          <p:cNvSpPr/>
          <p:nvPr/>
        </p:nvSpPr>
        <p:spPr>
          <a:xfrm>
            <a:off x="68389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9"/>
          <p:cNvSpPr/>
          <p:nvPr/>
        </p:nvSpPr>
        <p:spPr>
          <a:xfrm>
            <a:off x="68389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9"/>
          <p:cNvSpPr txBox="1"/>
          <p:nvPr/>
        </p:nvSpPr>
        <p:spPr>
          <a:xfrm>
            <a:off x="69723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04 // </a:t>
            </a:r>
            <a:r>
              <a:rPr b="1" i="0" lang="en-GB" sz="750" u="none" strike="noStrike">
                <a:solidFill>
                  <a:srgbClr val="5A626A"/>
                </a:solidFill>
                <a:latin typeface="JetBrains Mono"/>
                <a:ea typeface="JetBrains Mono"/>
                <a:cs typeface="JetBrains Mono"/>
                <a:sym typeface="JetBrains Mono"/>
              </a:rPr>
              <a:t>EXECUTE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Verify Connection</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Launch MCP bridge inside Rhino and prompt the LLM.</a:t>
            </a:r>
            <a:endParaRPr b="1" i="0" sz="750" u="none" strike="noStrike">
              <a:solidFill>
                <a:srgbClr val="1D4ED8"/>
              </a:solidFill>
              <a:latin typeface="JetBrains Mono"/>
              <a:ea typeface="JetBrains Mono"/>
              <a:cs typeface="JetBrains Mono"/>
              <a:sym typeface="JetBrains Mono"/>
            </a:endParaRPr>
          </a:p>
        </p:txBody>
      </p:sp>
      <p:sp>
        <p:nvSpPr>
          <p:cNvPr id="703" name="Google Shape;703;p29"/>
          <p:cNvSpPr/>
          <p:nvPr/>
        </p:nvSpPr>
        <p:spPr>
          <a:xfrm>
            <a:off x="69532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9"/>
          <p:cNvSpPr/>
          <p:nvPr/>
        </p:nvSpPr>
        <p:spPr>
          <a:xfrm>
            <a:off x="69532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9"/>
          <p:cNvSpPr txBox="1"/>
          <p:nvPr/>
        </p:nvSpPr>
        <p:spPr>
          <a:xfrm>
            <a:off x="70485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RHINO 8 VERIFICATION</a:t>
            </a:r>
            <a:endParaRPr b="1" i="0" sz="720" u="none" strike="noStrike">
              <a:solidFill>
                <a:srgbClr val="9CA3AF"/>
              </a:solidFill>
              <a:latin typeface="JetBrains Mono"/>
              <a:ea typeface="JetBrains Mono"/>
              <a:cs typeface="JetBrains Mono"/>
              <a:sym typeface="JetBrains Mono"/>
            </a:endParaRPr>
          </a:p>
        </p:txBody>
      </p:sp>
      <p:sp>
        <p:nvSpPr>
          <p:cNvPr id="706" name="Google Shape;706;p29"/>
          <p:cNvSpPr txBox="1"/>
          <p:nvPr/>
        </p:nvSpPr>
        <p:spPr>
          <a:xfrm>
            <a:off x="70294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 Inside Rhino 8:</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MCPStart</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 Prompt: 'Draw a torus'</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t/>
            </a:r>
            <a:endParaRPr sz="720">
              <a:solidFill>
                <a:srgbClr val="6B7280"/>
              </a:solidFill>
              <a:latin typeface="JetBrains Mono"/>
              <a:ea typeface="JetBrains Mono"/>
              <a:cs typeface="JetBrains Mono"/>
              <a:sym typeface="JetBrains Mono"/>
            </a:endParaRPr>
          </a:p>
        </p:txBody>
      </p:sp>
      <p:sp>
        <p:nvSpPr>
          <p:cNvPr id="707" name="Google Shape;707;p29"/>
          <p:cNvSpPr txBox="1"/>
          <p:nvPr/>
        </p:nvSpPr>
        <p:spPr>
          <a:xfrm>
            <a:off x="69532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Check: read the model, then create one torus.</a:t>
            </a:r>
            <a:endParaRPr sz="720">
              <a:solidFill>
                <a:srgbClr val="5A626A"/>
              </a:solidFill>
              <a:latin typeface="Inter"/>
              <a:ea typeface="Inter"/>
              <a:cs typeface="Inter"/>
              <a:sym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30"/>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Example 1A: Rhino MCP Command Selection</a:t>
            </a:r>
            <a:endParaRPr b="1" i="0" sz="2400" u="none" strike="noStrike">
              <a:solidFill>
                <a:srgbClr val="111315"/>
              </a:solidFill>
              <a:latin typeface="Space Grotesk"/>
              <a:ea typeface="Space Grotesk"/>
              <a:cs typeface="Space Grotesk"/>
              <a:sym typeface="Space Grotesk"/>
            </a:endParaRPr>
          </a:p>
        </p:txBody>
      </p:sp>
      <p:grpSp>
        <p:nvGrpSpPr>
          <p:cNvPr id="713" name="Google Shape;713;p30"/>
          <p:cNvGrpSpPr/>
          <p:nvPr/>
        </p:nvGrpSpPr>
        <p:grpSpPr>
          <a:xfrm>
            <a:off x="571500" y="1428750"/>
            <a:ext cx="8001150" cy="2286000"/>
            <a:chOff x="571500" y="1428750"/>
            <a:chExt cx="8001150" cy="2286000"/>
          </a:xfrm>
        </p:grpSpPr>
        <p:grpSp>
          <p:nvGrpSpPr>
            <p:cNvPr id="714" name="Google Shape;714;p30"/>
            <p:cNvGrpSpPr/>
            <p:nvPr/>
          </p:nvGrpSpPr>
          <p:grpSpPr>
            <a:xfrm>
              <a:off x="571500" y="1428750"/>
              <a:ext cx="2190900" cy="2286000"/>
              <a:chOff x="0" y="0"/>
              <a:chExt cx="2190900" cy="2286000"/>
            </a:xfrm>
          </p:grpSpPr>
          <p:sp>
            <p:nvSpPr>
              <p:cNvPr id="715" name="Google Shape;715;p30"/>
              <p:cNvSpPr/>
              <p:nvPr/>
            </p:nvSpPr>
            <p:spPr>
              <a:xfrm>
                <a:off x="0" y="0"/>
                <a:ext cx="21909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16" name="Google Shape;716;p30"/>
              <p:cNvCxnSpPr/>
              <p:nvPr/>
            </p:nvCxnSpPr>
            <p:spPr>
              <a:xfrm>
                <a:off x="0" y="342900"/>
                <a:ext cx="21909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17" name="Google Shape;717;p30"/>
              <p:cNvSpPr txBox="1"/>
              <p:nvPr/>
            </p:nvSpPr>
            <p:spPr>
              <a:xfrm>
                <a:off x="152400" y="95250"/>
                <a:ext cx="18861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01 / INPUT GOAL</a:t>
                </a:r>
                <a:endParaRPr b="0" sz="750">
                  <a:solidFill>
                    <a:srgbClr val="1D4ED8"/>
                  </a:solidFill>
                  <a:latin typeface="JetBrains Mono"/>
                  <a:ea typeface="JetBrains Mono"/>
                  <a:cs typeface="JetBrains Mono"/>
                  <a:sym typeface="JetBrains Mono"/>
                </a:endParaRPr>
              </a:p>
            </p:txBody>
          </p:sp>
          <p:sp>
            <p:nvSpPr>
              <p:cNvPr id="718" name="Google Shape;718;p30"/>
              <p:cNvSpPr txBox="1"/>
              <p:nvPr/>
            </p:nvSpPr>
            <p:spPr>
              <a:xfrm>
                <a:off x="152400" y="457200"/>
                <a:ext cx="18861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Target Form Sketch / Goal</a:t>
                </a:r>
                <a:endParaRPr b="1" sz="1050">
                  <a:solidFill>
                    <a:srgbClr val="111315"/>
                  </a:solidFill>
                  <a:latin typeface="Inter"/>
                  <a:ea typeface="Inter"/>
                  <a:cs typeface="Inter"/>
                  <a:sym typeface="Inter"/>
                </a:endParaRPr>
              </a:p>
            </p:txBody>
          </p:sp>
          <p:grpSp>
            <p:nvGrpSpPr>
              <p:cNvPr id="719" name="Google Shape;719;p30"/>
              <p:cNvGrpSpPr/>
              <p:nvPr/>
            </p:nvGrpSpPr>
            <p:grpSpPr>
              <a:xfrm>
                <a:off x="238125" y="952500"/>
                <a:ext cx="1714500" cy="1047900"/>
                <a:chOff x="0" y="0"/>
                <a:chExt cx="1714500" cy="1047900"/>
              </a:xfrm>
            </p:grpSpPr>
            <p:sp>
              <p:nvSpPr>
                <p:cNvPr id="720" name="Google Shape;720;p30"/>
                <p:cNvSpPr/>
                <p:nvPr/>
              </p:nvSpPr>
              <p:spPr>
                <a:xfrm>
                  <a:off x="0" y="0"/>
                  <a:ext cx="1714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1" name="Google Shape;721;p30"/>
                <p:cNvPicPr preferRelativeResize="0"/>
                <p:nvPr/>
              </p:nvPicPr>
              <p:blipFill rotWithShape="1">
                <a:blip r:embed="rId3">
                  <a:alphaModFix/>
                </a:blip>
                <a:srcRect b="0" l="0" r="0" t="0"/>
                <a:stretch/>
              </p:blipFill>
              <p:spPr>
                <a:xfrm>
                  <a:off x="852488" y="95250"/>
                  <a:ext cx="9600" cy="828600"/>
                </a:xfrm>
                <a:prstGeom prst="rect">
                  <a:avLst/>
                </a:prstGeom>
                <a:noFill/>
                <a:ln>
                  <a:noFill/>
                </a:ln>
              </p:spPr>
            </p:pic>
            <p:sp>
              <p:nvSpPr>
                <p:cNvPr id="722" name="Google Shape;722;p30"/>
                <p:cNvSpPr/>
                <p:nvPr/>
              </p:nvSpPr>
              <p:spPr>
                <a:xfrm>
                  <a:off x="190500" y="190500"/>
                  <a:ext cx="381000" cy="666900"/>
                </a:xfrm>
                <a:custGeom>
                  <a:rect b="b" l="l" r="r" t="t"/>
                  <a:pathLst>
                    <a:path extrusionOk="0" h="120000" w="120000">
                      <a:moveTo>
                        <a:pt x="60000" y="120000"/>
                      </a:moveTo>
                      <a:quadBezTo>
                        <a:pt x="0" y="51429"/>
                        <a:pt x="120000" y="0"/>
                      </a:quadBezTo>
                    </a:path>
                  </a:pathLst>
                </a:custGeom>
                <a:solidFill>
                  <a:srgbClr val="000000">
                    <a:alpha val="0"/>
                  </a:srgbClr>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3" name="Google Shape;723;p30"/>
                <p:cNvSpPr/>
                <p:nvPr/>
              </p:nvSpPr>
              <p:spPr>
                <a:xfrm>
                  <a:off x="1143000" y="190500"/>
                  <a:ext cx="381000" cy="666900"/>
                </a:xfrm>
                <a:custGeom>
                  <a:rect b="b" l="l" r="r" t="t"/>
                  <a:pathLst>
                    <a:path extrusionOk="0" h="120000" w="120000">
                      <a:moveTo>
                        <a:pt x="60000" y="120000"/>
                      </a:moveTo>
                      <a:quadBezTo>
                        <a:pt x="120000" y="51429"/>
                        <a:pt x="0" y="0"/>
                      </a:quadBezTo>
                    </a:path>
                  </a:pathLst>
                </a:custGeom>
                <a:solidFill>
                  <a:srgbClr val="000000">
                    <a:alpha val="0"/>
                  </a:srgbClr>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4" name="Google Shape;724;p30"/>
                <p:cNvPicPr preferRelativeResize="0"/>
                <p:nvPr/>
              </p:nvPicPr>
              <p:blipFill rotWithShape="1">
                <a:blip r:embed="rId4">
                  <a:alphaModFix/>
                </a:blip>
                <a:srcRect b="0" l="0" r="0" t="0"/>
                <a:stretch/>
              </p:blipFill>
              <p:spPr>
                <a:xfrm>
                  <a:off x="376238" y="757238"/>
                  <a:ext cx="962100" cy="200100"/>
                </a:xfrm>
                <a:prstGeom prst="rect">
                  <a:avLst/>
                </a:prstGeom>
                <a:noFill/>
                <a:ln>
                  <a:noFill/>
                </a:ln>
              </p:spPr>
            </p:pic>
            <p:pic>
              <p:nvPicPr>
                <p:cNvPr id="725" name="Google Shape;725;p30"/>
                <p:cNvPicPr preferRelativeResize="0"/>
                <p:nvPr/>
              </p:nvPicPr>
              <p:blipFill rotWithShape="1">
                <a:blip r:embed="rId5">
                  <a:alphaModFix/>
                </a:blip>
                <a:srcRect b="0" l="0" r="0" t="0"/>
                <a:stretch/>
              </p:blipFill>
              <p:spPr>
                <a:xfrm>
                  <a:off x="571500" y="128588"/>
                  <a:ext cx="576300" cy="123900"/>
                </a:xfrm>
                <a:prstGeom prst="rect">
                  <a:avLst/>
                </a:prstGeom>
                <a:noFill/>
                <a:ln>
                  <a:noFill/>
                </a:ln>
              </p:spPr>
            </p:pic>
            <p:sp>
              <p:nvSpPr>
                <p:cNvPr id="726" name="Google Shape;726;p30"/>
                <p:cNvSpPr/>
                <p:nvPr/>
              </p:nvSpPr>
              <p:spPr>
                <a:xfrm>
                  <a:off x="352425" y="82867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7" name="Google Shape;727;p30"/>
                <p:cNvSpPr/>
                <p:nvPr/>
              </p:nvSpPr>
              <p:spPr>
                <a:xfrm>
                  <a:off x="542925" y="16192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8" name="Google Shape;728;p30"/>
                <p:cNvSpPr/>
                <p:nvPr/>
              </p:nvSpPr>
              <p:spPr>
                <a:xfrm>
                  <a:off x="1304925" y="82867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9" name="Google Shape;729;p30"/>
                <p:cNvSpPr/>
                <p:nvPr/>
              </p:nvSpPr>
              <p:spPr>
                <a:xfrm>
                  <a:off x="1114425" y="16192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730" name="Google Shape;730;p30"/>
            <p:cNvGrpSpPr/>
            <p:nvPr/>
          </p:nvGrpSpPr>
          <p:grpSpPr>
            <a:xfrm>
              <a:off x="3238500" y="1428750"/>
              <a:ext cx="1714500" cy="2286000"/>
              <a:chOff x="0" y="0"/>
              <a:chExt cx="1714500" cy="2286000"/>
            </a:xfrm>
          </p:grpSpPr>
          <p:sp>
            <p:nvSpPr>
              <p:cNvPr id="731" name="Google Shape;731;p30"/>
              <p:cNvSpPr/>
              <p:nvPr/>
            </p:nvSpPr>
            <p:spPr>
              <a:xfrm>
                <a:off x="0" y="0"/>
                <a:ext cx="17145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32" name="Google Shape;732;p30"/>
              <p:cNvCxnSpPr/>
              <p:nvPr/>
            </p:nvCxnSpPr>
            <p:spPr>
              <a:xfrm>
                <a:off x="0" y="342900"/>
                <a:ext cx="1714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33" name="Google Shape;733;p30"/>
              <p:cNvSpPr txBox="1"/>
              <p:nvPr/>
            </p:nvSpPr>
            <p:spPr>
              <a:xfrm>
                <a:off x="152400" y="95250"/>
                <a:ext cx="14097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02 / MODEL SELECTION</a:t>
                </a:r>
                <a:endParaRPr b="0" i="0" sz="750" u="none" strike="noStrike">
                  <a:solidFill>
                    <a:srgbClr val="D9381E"/>
                  </a:solidFill>
                  <a:latin typeface="JetBrains Mono"/>
                  <a:ea typeface="JetBrains Mono"/>
                  <a:cs typeface="JetBrains Mono"/>
                  <a:sym typeface="JetBrains Mono"/>
                </a:endParaRPr>
              </a:p>
            </p:txBody>
          </p:sp>
          <p:sp>
            <p:nvSpPr>
              <p:cNvPr id="734" name="Google Shape;734;p30"/>
              <p:cNvSpPr txBox="1"/>
              <p:nvPr/>
            </p:nvSpPr>
            <p:spPr>
              <a:xfrm>
                <a:off x="152400" y="457200"/>
                <a:ext cx="14097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500">
                    <a:solidFill>
                      <a:srgbClr val="111315"/>
                    </a:solidFill>
                    <a:latin typeface="Space Grotesk"/>
                    <a:ea typeface="Space Grotesk"/>
                    <a:cs typeface="Space Grotesk"/>
                    <a:sym typeface="Space Grotesk"/>
                  </a:rPr>
                  <a:t>Rhino MCP</a:t>
                </a:r>
                <a:endParaRPr b="1" sz="1500">
                  <a:solidFill>
                    <a:srgbClr val="111315"/>
                  </a:solidFill>
                  <a:latin typeface="Space Grotesk"/>
                  <a:ea typeface="Space Grotesk"/>
                  <a:cs typeface="Space Grotesk"/>
                  <a:sym typeface="Space Grotesk"/>
                </a:endParaRPr>
              </a:p>
            </p:txBody>
          </p:sp>
          <p:grpSp>
            <p:nvGrpSpPr>
              <p:cNvPr id="735" name="Google Shape;735;p30"/>
              <p:cNvGrpSpPr/>
              <p:nvPr/>
            </p:nvGrpSpPr>
            <p:grpSpPr>
              <a:xfrm>
                <a:off x="190500" y="952500"/>
                <a:ext cx="1333500" cy="1047900"/>
                <a:chOff x="0" y="0"/>
                <a:chExt cx="1333500" cy="1047900"/>
              </a:xfrm>
            </p:grpSpPr>
            <p:sp>
              <p:nvSpPr>
                <p:cNvPr id="736" name="Google Shape;736;p30"/>
                <p:cNvSpPr/>
                <p:nvPr/>
              </p:nvSpPr>
              <p:spPr>
                <a:xfrm>
                  <a:off x="0" y="0"/>
                  <a:ext cx="1333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7" name="Google Shape;737;p30"/>
                <p:cNvSpPr/>
                <p:nvPr/>
              </p:nvSpPr>
              <p:spPr>
                <a:xfrm>
                  <a:off x="333375" y="333375"/>
                  <a:ext cx="666900" cy="381000"/>
                </a:xfrm>
                <a:prstGeom prst="rect">
                  <a:avLst/>
                </a:prstGeom>
                <a:solidFill>
                  <a:srgbClr val="111315"/>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8" name="Google Shape;738;p30"/>
                <p:cNvSpPr txBox="1"/>
                <p:nvPr/>
              </p:nvSpPr>
              <p:spPr>
                <a:xfrm>
                  <a:off x="333375" y="333375"/>
                  <a:ext cx="6669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MCP CORE</a:t>
                  </a:r>
                  <a:endParaRPr b="1" sz="675">
                    <a:solidFill>
                      <a:srgbClr val="FFFFFF"/>
                    </a:solidFill>
                    <a:latin typeface="JetBrains Mono"/>
                    <a:ea typeface="JetBrains Mono"/>
                    <a:cs typeface="JetBrains Mono"/>
                    <a:sym typeface="JetBrains Mono"/>
                  </a:endParaRPr>
                </a:p>
              </p:txBody>
            </p:sp>
            <p:sp>
              <p:nvSpPr>
                <p:cNvPr id="739" name="Google Shape;739;p30"/>
                <p:cNvSpPr/>
                <p:nvPr/>
              </p:nvSpPr>
              <p:spPr>
                <a:xfrm>
                  <a:off x="133350" y="133350"/>
                  <a:ext cx="114300" cy="114300"/>
                </a:xfrm>
                <a:prstGeom prst="ellipse">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0" name="Google Shape;740;p30"/>
                <p:cNvSpPr/>
                <p:nvPr/>
              </p:nvSpPr>
              <p:spPr>
                <a:xfrm>
                  <a:off x="1085850" y="133350"/>
                  <a:ext cx="114300" cy="114300"/>
                </a:xfrm>
                <a:prstGeom prst="ellipse">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1" name="Google Shape;741;p30"/>
                <p:cNvSpPr/>
                <p:nvPr/>
              </p:nvSpPr>
              <p:spPr>
                <a:xfrm>
                  <a:off x="1333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2" name="Google Shape;742;p30"/>
                <p:cNvSpPr/>
                <p:nvPr/>
              </p:nvSpPr>
              <p:spPr>
                <a:xfrm>
                  <a:off x="10858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3" name="Google Shape;743;p30"/>
                <p:cNvCxnSpPr/>
                <p:nvPr/>
              </p:nvCxnSpPr>
              <p:spPr>
                <a:xfrm>
                  <a:off x="238125" y="219075"/>
                  <a:ext cx="95400" cy="142800"/>
                </a:xfrm>
                <a:prstGeom prst="straightConnector1">
                  <a:avLst/>
                </a:prstGeom>
                <a:solidFill>
                  <a:srgbClr val="FFFFFF"/>
                </a:solidFill>
                <a:ln cap="flat" cmpd="sng" w="9525">
                  <a:solidFill>
                    <a:srgbClr val="1D4ED8"/>
                  </a:solidFill>
                  <a:prstDash val="solid"/>
                  <a:round/>
                  <a:headEnd len="sm" w="sm" type="none"/>
                  <a:tailEnd len="sm" w="sm" type="none"/>
                </a:ln>
              </p:spPr>
            </p:cxnSp>
            <p:cxnSp>
              <p:nvCxnSpPr>
                <p:cNvPr id="744" name="Google Shape;744;p30"/>
                <p:cNvCxnSpPr/>
                <p:nvPr/>
              </p:nvCxnSpPr>
              <p:spPr>
                <a:xfrm flipH="1">
                  <a:off x="952575" y="219075"/>
                  <a:ext cx="142800" cy="142800"/>
                </a:xfrm>
                <a:prstGeom prst="straightConnector1">
                  <a:avLst/>
                </a:prstGeom>
                <a:solidFill>
                  <a:srgbClr val="FFFFFF"/>
                </a:solidFill>
                <a:ln cap="flat" cmpd="sng" w="9525">
                  <a:solidFill>
                    <a:srgbClr val="D9381E"/>
                  </a:solidFill>
                  <a:prstDash val="solid"/>
                  <a:round/>
                  <a:headEnd len="sm" w="sm" type="none"/>
                  <a:tailEnd len="sm" w="sm" type="none"/>
                </a:ln>
              </p:spPr>
            </p:cxnSp>
            <p:cxnSp>
              <p:nvCxnSpPr>
                <p:cNvPr id="745" name="Google Shape;745;p30"/>
                <p:cNvCxnSpPr/>
                <p:nvPr/>
              </p:nvCxnSpPr>
              <p:spPr>
                <a:xfrm flipH="1" rot="10800000">
                  <a:off x="238125" y="685875"/>
                  <a:ext cx="95400" cy="14280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746" name="Google Shape;746;p30"/>
                <p:cNvCxnSpPr/>
                <p:nvPr/>
              </p:nvCxnSpPr>
              <p:spPr>
                <a:xfrm rot="10800000">
                  <a:off x="952575" y="685875"/>
                  <a:ext cx="142800" cy="142800"/>
                </a:xfrm>
                <a:prstGeom prst="straightConnector1">
                  <a:avLst/>
                </a:prstGeom>
                <a:solidFill>
                  <a:srgbClr val="FFFFFF"/>
                </a:solidFill>
                <a:ln cap="flat" cmpd="sng" w="9525">
                  <a:solidFill>
                    <a:srgbClr val="111315"/>
                  </a:solidFill>
                  <a:prstDash val="solid"/>
                  <a:round/>
                  <a:headEnd len="sm" w="sm" type="none"/>
                  <a:tailEnd len="sm" w="sm" type="none"/>
                </a:ln>
              </p:spPr>
            </p:cxnSp>
          </p:grpSp>
        </p:grpSp>
        <p:grpSp>
          <p:nvGrpSpPr>
            <p:cNvPr id="747" name="Google Shape;747;p30"/>
            <p:cNvGrpSpPr/>
            <p:nvPr/>
          </p:nvGrpSpPr>
          <p:grpSpPr>
            <a:xfrm>
              <a:off x="5429250" y="1428750"/>
              <a:ext cx="3143400" cy="2286000"/>
              <a:chOff x="0" y="0"/>
              <a:chExt cx="3143400" cy="2286000"/>
            </a:xfrm>
          </p:grpSpPr>
          <p:sp>
            <p:nvSpPr>
              <p:cNvPr id="748" name="Google Shape;748;p30"/>
              <p:cNvSpPr/>
              <p:nvPr/>
            </p:nvSpPr>
            <p:spPr>
              <a:xfrm>
                <a:off x="0" y="0"/>
                <a:ext cx="31434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9" name="Google Shape;749;p30"/>
              <p:cNvCxnSpPr/>
              <p:nvPr/>
            </p:nvCxnSpPr>
            <p:spPr>
              <a:xfrm>
                <a:off x="0" y="342900"/>
                <a:ext cx="3143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50" name="Google Shape;750;p30"/>
              <p:cNvSpPr txBox="1"/>
              <p:nvPr/>
            </p:nvSpPr>
            <p:spPr>
              <a:xfrm>
                <a:off x="152400" y="95250"/>
                <a:ext cx="28386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03 / RECOMMENDED COMMAND SEQUENCE</a:t>
                </a:r>
                <a:endParaRPr b="0" sz="750">
                  <a:solidFill>
                    <a:srgbClr val="1D4ED8"/>
                  </a:solidFill>
                  <a:latin typeface="JetBrains Mono"/>
                  <a:ea typeface="JetBrains Mono"/>
                  <a:cs typeface="JetBrains Mono"/>
                  <a:sym typeface="JetBrains Mono"/>
                </a:endParaRPr>
              </a:p>
            </p:txBody>
          </p:sp>
          <p:sp>
            <p:nvSpPr>
              <p:cNvPr id="751" name="Google Shape;751;p30"/>
              <p:cNvSpPr txBox="1"/>
              <p:nvPr/>
            </p:nvSpPr>
            <p:spPr>
              <a:xfrm>
                <a:off x="152400" y="457200"/>
                <a:ext cx="28386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Recommended Command Sequence:</a:t>
                </a:r>
                <a:endParaRPr b="1" sz="1050">
                  <a:solidFill>
                    <a:srgbClr val="111315"/>
                  </a:solidFill>
                  <a:latin typeface="Inter"/>
                  <a:ea typeface="Inter"/>
                  <a:cs typeface="Inter"/>
                  <a:sym typeface="Inter"/>
                </a:endParaRPr>
              </a:p>
              <a:p>
                <a:pPr indent="0" lvl="0" marL="0" rtl="0" algn="l">
                  <a:spcBef>
                    <a:spcPts val="900"/>
                  </a:spcBef>
                  <a:spcAft>
                    <a:spcPts val="0"/>
                  </a:spcAft>
                  <a:buNone/>
                </a:pPr>
                <a:r>
                  <a:rPr b="1" lang="en-GB" sz="900">
                    <a:solidFill>
                      <a:srgbClr val="D9381E"/>
                    </a:solidFill>
                    <a:latin typeface="JetBrains Mono"/>
                    <a:ea typeface="JetBrains Mono"/>
                    <a:cs typeface="JetBrains Mono"/>
                    <a:sym typeface="JetBrains Mono"/>
                  </a:rPr>
                  <a:t>1.</a:t>
                </a:r>
                <a:r>
                  <a:rPr b="0" lang="en-GB" sz="1050">
                    <a:solidFill>
                      <a:srgbClr val="111315"/>
                    </a:solidFill>
                    <a:latin typeface="Inter"/>
                    <a:ea typeface="Inter"/>
                    <a:cs typeface="Inter"/>
                    <a:sym typeface="Inter"/>
                  </a:rPr>
                  <a:t> Profile Curves</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2.</a:t>
                </a:r>
                <a:r>
                  <a:rPr b="0" lang="en-GB" sz="1050">
                    <a:solidFill>
                      <a:srgbClr val="111315"/>
                    </a:solidFill>
                    <a:latin typeface="Inter"/>
                    <a:ea typeface="Inter"/>
                    <a:cs typeface="Inter"/>
                    <a:sym typeface="Inter"/>
                  </a:rPr>
                  <a:t> Rail Revolve</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3.</a:t>
                </a:r>
                <a:r>
                  <a:rPr b="0" lang="en-GB" sz="1050">
                    <a:solidFill>
                      <a:srgbClr val="111315"/>
                    </a:solidFill>
                    <a:latin typeface="Inter"/>
                    <a:ea typeface="Inter"/>
                    <a:cs typeface="Inter"/>
                    <a:sym typeface="Inter"/>
                  </a:rPr>
                  <a:t> Rebuild</a:t>
                </a:r>
                <a:endParaRPr b="0" sz="1050">
                  <a:solidFill>
                    <a:srgbClr val="111315"/>
                  </a:solidFill>
                  <a:latin typeface="Inter"/>
                  <a:ea typeface="Inter"/>
                  <a:cs typeface="Inter"/>
                  <a:sym typeface="Inter"/>
                </a:endParaRPr>
              </a:p>
              <a:p>
                <a:pPr indent="0" lvl="0" marL="0" rtl="0" algn="l">
                  <a:spcBef>
                    <a:spcPts val="600"/>
                  </a:spcBef>
                  <a:spcAft>
                    <a:spcPts val="600"/>
                  </a:spcAft>
                  <a:buNone/>
                </a:pPr>
                <a:r>
                  <a:rPr b="1" lang="en-GB" sz="900">
                    <a:solidFill>
                      <a:srgbClr val="D9381E"/>
                    </a:solidFill>
                    <a:latin typeface="JetBrains Mono"/>
                    <a:ea typeface="JetBrains Mono"/>
                    <a:cs typeface="JetBrains Mono"/>
                    <a:sym typeface="JetBrains Mono"/>
                  </a:rPr>
                  <a:t>4.</a:t>
                </a:r>
                <a:r>
                  <a:rPr b="0" lang="en-GB" sz="1050">
                    <a:solidFill>
                      <a:srgbClr val="111315"/>
                    </a:solidFill>
                    <a:latin typeface="Inter"/>
                    <a:ea typeface="Inter"/>
                    <a:cs typeface="Inter"/>
                    <a:sym typeface="Inter"/>
                  </a:rPr>
                  <a:t> FlowAlongSrf</a:t>
                </a:r>
                <a:endParaRPr b="0" sz="1050">
                  <a:solidFill>
                    <a:srgbClr val="111315"/>
                  </a:solidFill>
                  <a:latin typeface="Inter"/>
                  <a:ea typeface="Inter"/>
                  <a:cs typeface="Inter"/>
                  <a:sym typeface="Inter"/>
                </a:endParaRPr>
              </a:p>
            </p:txBody>
          </p:sp>
        </p:grpSp>
      </p:grpSp>
      <p:sp>
        <p:nvSpPr>
          <p:cNvPr id="752" name="Google Shape;752;p30"/>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Sequential command retrieval via Model Context Protocol (MCP)</a:t>
            </a:r>
            <a:endParaRPr b="0" i="0" sz="750" u="none" strike="noStrike">
              <a:solidFill>
                <a:srgbClr val="5A626A"/>
              </a:solidFill>
              <a:latin typeface="JetBrains Mono"/>
              <a:ea typeface="JetBrains Mono"/>
              <a:cs typeface="JetBrains Mono"/>
              <a:sym typeface="JetBrains Mono"/>
            </a:endParaRPr>
          </a:p>
        </p:txBody>
      </p:sp>
      <p:grpSp>
        <p:nvGrpSpPr>
          <p:cNvPr id="753" name="Google Shape;753;p30"/>
          <p:cNvGrpSpPr/>
          <p:nvPr/>
        </p:nvGrpSpPr>
        <p:grpSpPr>
          <a:xfrm>
            <a:off x="381000" y="4762500"/>
            <a:ext cx="8382000" cy="285750"/>
            <a:chOff x="381000" y="4762500"/>
            <a:chExt cx="8382000" cy="285750"/>
          </a:xfrm>
        </p:grpSpPr>
        <p:cxnSp>
          <p:nvCxnSpPr>
            <p:cNvPr id="754" name="Google Shape;754;p30"/>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55" name="Google Shape;755;p30"/>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31"/>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System Example 1B: Direct 3D Coordinate Output</a:t>
            </a:r>
            <a:endParaRPr b="1" i="0" sz="2220" u="none" strike="noStrike">
              <a:solidFill>
                <a:srgbClr val="111315"/>
              </a:solidFill>
              <a:latin typeface="Space Grotesk"/>
              <a:ea typeface="Space Grotesk"/>
              <a:cs typeface="Space Grotesk"/>
              <a:sym typeface="Space Grotesk"/>
            </a:endParaRPr>
          </a:p>
        </p:txBody>
      </p:sp>
      <p:sp>
        <p:nvSpPr>
          <p:cNvPr id="761" name="Google Shape;761;p31"/>
          <p:cNvSpPr/>
          <p:nvPr/>
        </p:nvSpPr>
        <p:spPr>
          <a:xfrm>
            <a:off x="381000" y="11430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2" name="Google Shape;762;p31"/>
          <p:cNvSpPr txBox="1"/>
          <p:nvPr/>
        </p:nvSpPr>
        <p:spPr>
          <a:xfrm>
            <a:off x="381000" y="1143000"/>
            <a:ext cx="3429000" cy="342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Prompt: "Build Habitat 67"</a:t>
            </a:r>
            <a:endParaRPr/>
          </a:p>
        </p:txBody>
      </p:sp>
      <p:grpSp>
        <p:nvGrpSpPr>
          <p:cNvPr id="763" name="Google Shape;763;p31"/>
          <p:cNvGrpSpPr/>
          <p:nvPr/>
        </p:nvGrpSpPr>
        <p:grpSpPr>
          <a:xfrm>
            <a:off x="2057400" y="1504950"/>
            <a:ext cx="76200" cy="247800"/>
            <a:chOff x="-38100" y="0"/>
            <a:chExt cx="76200" cy="247800"/>
          </a:xfrm>
        </p:grpSpPr>
        <p:cxnSp>
          <p:nvCxnSpPr>
            <p:cNvPr id="764" name="Google Shape;764;p3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65" name="Google Shape;765;p3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66" name="Google Shape;766;p31"/>
          <p:cNvSpPr/>
          <p:nvPr/>
        </p:nvSpPr>
        <p:spPr>
          <a:xfrm>
            <a:off x="381000" y="17907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7" name="Google Shape;767;p31"/>
          <p:cNvSpPr txBox="1"/>
          <p:nvPr/>
        </p:nvSpPr>
        <p:spPr>
          <a:xfrm>
            <a:off x="381000" y="17907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111315"/>
                </a:solidFill>
                <a:latin typeface="Inter"/>
                <a:ea typeface="Inter"/>
                <a:cs typeface="Inter"/>
                <a:sym typeface="Inter"/>
              </a:rPr>
              <a:t>Model generates 3D coordinate values</a:t>
            </a:r>
            <a:endParaRPr b="1" i="0" sz="1050" u="none" strike="noStrike">
              <a:solidFill>
                <a:srgbClr val="111315"/>
              </a:solidFill>
              <a:latin typeface="Inter"/>
              <a:ea typeface="Inter"/>
              <a:cs typeface="Inter"/>
              <a:sym typeface="Inter"/>
            </a:endParaRPr>
          </a:p>
        </p:txBody>
      </p:sp>
      <p:grpSp>
        <p:nvGrpSpPr>
          <p:cNvPr id="768" name="Google Shape;768;p31"/>
          <p:cNvGrpSpPr/>
          <p:nvPr/>
        </p:nvGrpSpPr>
        <p:grpSpPr>
          <a:xfrm>
            <a:off x="2057400" y="2152650"/>
            <a:ext cx="76200" cy="247800"/>
            <a:chOff x="-38100" y="0"/>
            <a:chExt cx="76200" cy="247800"/>
          </a:xfrm>
        </p:grpSpPr>
        <p:cxnSp>
          <p:nvCxnSpPr>
            <p:cNvPr id="769" name="Google Shape;769;p3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70" name="Google Shape;770;p3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71" name="Google Shape;771;p31"/>
          <p:cNvSpPr/>
          <p:nvPr/>
        </p:nvSpPr>
        <p:spPr>
          <a:xfrm>
            <a:off x="381000" y="2438400"/>
            <a:ext cx="3429000" cy="342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2" name="Google Shape;772;p31"/>
          <p:cNvSpPr txBox="1"/>
          <p:nvPr/>
        </p:nvSpPr>
        <p:spPr>
          <a:xfrm>
            <a:off x="381000" y="24384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D9381E"/>
                </a:solidFill>
                <a:latin typeface="Inter"/>
                <a:ea typeface="Inter"/>
                <a:cs typeface="Inter"/>
                <a:sym typeface="Inter"/>
              </a:rPr>
              <a:t>Irregular 3D Mesh Output</a:t>
            </a:r>
            <a:endParaRPr b="1" i="0" sz="1050" u="none" strike="noStrike">
              <a:solidFill>
                <a:srgbClr val="D9381E"/>
              </a:solidFill>
              <a:latin typeface="Inter"/>
              <a:ea typeface="Inter"/>
              <a:cs typeface="Inter"/>
              <a:sym typeface="Inter"/>
            </a:endParaRPr>
          </a:p>
        </p:txBody>
      </p:sp>
      <p:sp>
        <p:nvSpPr>
          <p:cNvPr id="773" name="Google Shape;773;p31"/>
          <p:cNvSpPr txBox="1"/>
          <p:nvPr/>
        </p:nvSpPr>
        <p:spPr>
          <a:xfrm>
            <a:off x="381000" y="2933700"/>
            <a:ext cx="3429000" cy="1333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b="0" i="0" lang="en-GB" sz="893" u="none" strike="noStrike">
                <a:solidFill>
                  <a:srgbClr val="D9381E"/>
                </a:solidFill>
                <a:latin typeface="Inter"/>
                <a:ea typeface="Inter"/>
                <a:cs typeface="Inter"/>
                <a:sym typeface="Inter"/>
              </a:rPr>
              <a:t>• Generating raw 3D mesh vertex coordinates directly from text models results in irregular geometry.</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0"/>
              </a:spcAft>
              <a:buNone/>
            </a:pPr>
            <a:r>
              <a:rPr b="0" i="0" lang="en-GB" sz="893" u="none" strike="noStrike">
                <a:solidFill>
                  <a:srgbClr val="D9381E"/>
                </a:solidFill>
                <a:latin typeface="Inter"/>
                <a:ea typeface="Inter"/>
                <a:cs typeface="Inter"/>
                <a:sym typeface="Inter"/>
              </a:rPr>
              <a:t>• Language models do not contain internal 3D geometric constraints for architectural construction.</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900"/>
              </a:spcAft>
              <a:buNone/>
            </a:pPr>
            <a:r>
              <a:rPr b="0" i="0" lang="en-GB" sz="893" u="none" strike="noStrike">
                <a:solidFill>
                  <a:srgbClr val="D9381E"/>
                </a:solidFill>
                <a:latin typeface="Inter"/>
                <a:ea typeface="Inter"/>
                <a:cs typeface="Inter"/>
                <a:sym typeface="Inter"/>
              </a:rPr>
              <a:t>• Direct numerical coordinate generation does not guarantee topological consistency.</a:t>
            </a:r>
            <a:endParaRPr b="0" i="0" sz="893" u="none" strike="noStrike">
              <a:solidFill>
                <a:srgbClr val="D9381E"/>
              </a:solidFill>
              <a:latin typeface="Inter"/>
              <a:ea typeface="Inter"/>
              <a:cs typeface="Inter"/>
              <a:sym typeface="Inter"/>
            </a:endParaRPr>
          </a:p>
        </p:txBody>
      </p:sp>
      <p:grpSp>
        <p:nvGrpSpPr>
          <p:cNvPr id="774" name="Google Shape;774;p31"/>
          <p:cNvGrpSpPr/>
          <p:nvPr/>
        </p:nvGrpSpPr>
        <p:grpSpPr>
          <a:xfrm>
            <a:off x="4181475" y="1133475"/>
            <a:ext cx="4591200" cy="2590800"/>
            <a:chOff x="-9525" y="-9525"/>
            <a:chExt cx="4591200" cy="2590800"/>
          </a:xfrm>
        </p:grpSpPr>
        <p:pic>
          <p:nvPicPr>
            <p:cNvPr id="775" name="Google Shape;775;p31"/>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776" name="Google Shape;776;p31"/>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777" name="Google Shape;777;p31"/>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78" name="Google Shape;778;p31"/>
            <p:cNvSpPr/>
            <p:nvPr/>
          </p:nvSpPr>
          <p:spPr>
            <a:xfrm>
              <a:off x="381000" y="1047750"/>
              <a:ext cx="3810000" cy="4764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9" name="Google Shape;779;p31"/>
            <p:cNvSpPr txBox="1"/>
            <p:nvPr/>
          </p:nvSpPr>
          <p:spPr>
            <a:xfrm>
              <a:off x="428625" y="1047750"/>
              <a:ext cx="37149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750" u="none" strike="noStrike">
                  <a:solidFill>
                    <a:srgbClr val="111315"/>
                  </a:solidFill>
                  <a:latin typeface="JetBrains Mono"/>
                  <a:ea typeface="JetBrains Mono"/>
                  <a:cs typeface="JetBrains Mono"/>
                  <a:sym typeface="JetBrains Mono"/>
                </a:rPr>
                <a:t>[Demonstration 1B: Direct Mesh Generation]</a:t>
              </a:r>
              <a:endParaRPr b="0" i="0" sz="750" u="none" strike="noStrike">
                <a:solidFill>
                  <a:srgbClr val="111315"/>
                </a:solidFill>
                <a:latin typeface="JetBrains Mono"/>
                <a:ea typeface="JetBrains Mono"/>
                <a:cs typeface="JetBrains Mono"/>
                <a:sym typeface="JetBrains Mono"/>
              </a:endParaRPr>
            </a:p>
          </p:txBody>
        </p:sp>
      </p:grpSp>
      <p:sp>
        <p:nvSpPr>
          <p:cNvPr id="780" name="Google Shape;780;p3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Safdie (1967); Gaudi (1882).</a:t>
            </a:r>
            <a:endParaRPr b="0" sz="750">
              <a:solidFill>
                <a:srgbClr val="5A626A"/>
              </a:solidFill>
              <a:latin typeface="JetBrains Mono"/>
              <a:ea typeface="JetBrains Mono"/>
              <a:cs typeface="JetBrains Mono"/>
              <a:sym typeface="JetBrains Mono"/>
            </a:endParaRPr>
          </a:p>
        </p:txBody>
      </p:sp>
      <p:grpSp>
        <p:nvGrpSpPr>
          <p:cNvPr id="781" name="Google Shape;781;p31"/>
          <p:cNvGrpSpPr/>
          <p:nvPr/>
        </p:nvGrpSpPr>
        <p:grpSpPr>
          <a:xfrm>
            <a:off x="381000" y="4762500"/>
            <a:ext cx="8382000" cy="285750"/>
            <a:chOff x="381000" y="4762500"/>
            <a:chExt cx="8382000" cy="285750"/>
          </a:xfrm>
        </p:grpSpPr>
        <p:cxnSp>
          <p:nvCxnSpPr>
            <p:cNvPr id="782" name="Google Shape;782;p3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83" name="Google Shape;783;p3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32"/>
          <p:cNvSpPr txBox="1"/>
          <p:nvPr/>
        </p:nvSpPr>
        <p:spPr>
          <a:xfrm>
            <a:off x="381000" y="34290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System Example 2A: Parametric Script Generation via Grasshopper</a:t>
            </a:r>
            <a:endParaRPr b="0" i="0" sz="1950" u="none" strike="noStrike">
              <a:solidFill>
                <a:srgbClr val="111315"/>
              </a:solidFill>
              <a:latin typeface="Space Grotesk"/>
              <a:ea typeface="Space Grotesk"/>
              <a:cs typeface="Space Grotesk"/>
              <a:sym typeface="Space Grotesk"/>
            </a:endParaRPr>
          </a:p>
        </p:txBody>
      </p:sp>
      <p:grpSp>
        <p:nvGrpSpPr>
          <p:cNvPr id="789" name="Google Shape;789;p32"/>
          <p:cNvGrpSpPr/>
          <p:nvPr/>
        </p:nvGrpSpPr>
        <p:grpSpPr>
          <a:xfrm>
            <a:off x="381000" y="1047750"/>
            <a:ext cx="3429000" cy="400200"/>
            <a:chOff x="0" y="0"/>
            <a:chExt cx="3429000" cy="400200"/>
          </a:xfrm>
        </p:grpSpPr>
        <p:sp>
          <p:nvSpPr>
            <p:cNvPr id="790" name="Google Shape;790;p32"/>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91" name="Google Shape;791;p32"/>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[Prompt]</a:t>
              </a:r>
              <a:endParaRPr b="1" sz="825">
                <a:solidFill>
                  <a:srgbClr val="111315"/>
                </a:solidFill>
                <a:latin typeface="JetBrains Mono"/>
                <a:ea typeface="JetBrains Mono"/>
                <a:cs typeface="JetBrains Mono"/>
                <a:sym typeface="JetBrains Mono"/>
              </a:endParaRPr>
            </a:p>
          </p:txBody>
        </p:sp>
      </p:grpSp>
      <p:grpSp>
        <p:nvGrpSpPr>
          <p:cNvPr id="792" name="Google Shape;792;p32"/>
          <p:cNvGrpSpPr/>
          <p:nvPr/>
        </p:nvGrpSpPr>
        <p:grpSpPr>
          <a:xfrm>
            <a:off x="2057400" y="1466850"/>
            <a:ext cx="76200" cy="209700"/>
            <a:chOff x="-38100" y="0"/>
            <a:chExt cx="76200" cy="209700"/>
          </a:xfrm>
        </p:grpSpPr>
        <p:cxnSp>
          <p:nvCxnSpPr>
            <p:cNvPr id="793" name="Google Shape;793;p32"/>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94" name="Google Shape;794;p32"/>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795" name="Google Shape;795;p32"/>
          <p:cNvGrpSpPr/>
          <p:nvPr/>
        </p:nvGrpSpPr>
        <p:grpSpPr>
          <a:xfrm>
            <a:off x="381000" y="1714500"/>
            <a:ext cx="3429000" cy="457200"/>
            <a:chOff x="0" y="0"/>
            <a:chExt cx="3429000" cy="457200"/>
          </a:xfrm>
        </p:grpSpPr>
        <p:sp>
          <p:nvSpPr>
            <p:cNvPr id="796" name="Google Shape;796;p32"/>
            <p:cNvSpPr/>
            <p:nvPr/>
          </p:nvSpPr>
          <p:spPr>
            <a:xfrm>
              <a:off x="0" y="0"/>
              <a:ext cx="3429000" cy="457200"/>
            </a:xfrm>
            <a:prstGeom prst="rect">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97" name="Google Shape;797;p32"/>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975" u="none" strike="noStrike">
                  <a:solidFill>
                    <a:srgbClr val="1D4ED8"/>
                  </a:solidFill>
                  <a:latin typeface="Inter"/>
                  <a:ea typeface="Inter"/>
                  <a:cs typeface="Inter"/>
                  <a:sym typeface="Inter"/>
                </a:rPr>
                <a:t>[Model writes Python or C# Grasshopper component]</a:t>
              </a:r>
              <a:endParaRPr b="1" i="0" sz="975" u="none" strike="noStrike">
                <a:solidFill>
                  <a:srgbClr val="1D4ED8"/>
                </a:solidFill>
                <a:latin typeface="Inter"/>
                <a:ea typeface="Inter"/>
                <a:cs typeface="Inter"/>
                <a:sym typeface="Inter"/>
              </a:endParaRPr>
            </a:p>
          </p:txBody>
        </p:sp>
      </p:grpSp>
      <p:grpSp>
        <p:nvGrpSpPr>
          <p:cNvPr id="798" name="Google Shape;798;p32"/>
          <p:cNvGrpSpPr/>
          <p:nvPr/>
        </p:nvGrpSpPr>
        <p:grpSpPr>
          <a:xfrm>
            <a:off x="2057400" y="2190750"/>
            <a:ext cx="76200" cy="209700"/>
            <a:chOff x="-38100" y="0"/>
            <a:chExt cx="76200" cy="209700"/>
          </a:xfrm>
        </p:grpSpPr>
        <p:cxnSp>
          <p:nvCxnSpPr>
            <p:cNvPr id="799" name="Google Shape;799;p32"/>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00" name="Google Shape;800;p32"/>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01" name="Google Shape;801;p32"/>
          <p:cNvGrpSpPr/>
          <p:nvPr/>
        </p:nvGrpSpPr>
        <p:grpSpPr>
          <a:xfrm>
            <a:off x="381000" y="2438400"/>
            <a:ext cx="3429000" cy="400200"/>
            <a:chOff x="0" y="0"/>
            <a:chExt cx="3429000" cy="400200"/>
          </a:xfrm>
        </p:grpSpPr>
        <p:sp>
          <p:nvSpPr>
            <p:cNvPr id="802" name="Google Shape;802;p32"/>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3" name="Google Shape;803;p32"/>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[Parametric Geometry]</a:t>
              </a:r>
              <a:endParaRPr b="1" sz="825">
                <a:solidFill>
                  <a:srgbClr val="111315"/>
                </a:solidFill>
                <a:latin typeface="JetBrains Mono"/>
                <a:ea typeface="JetBrains Mono"/>
                <a:cs typeface="JetBrains Mono"/>
                <a:sym typeface="JetBrains Mono"/>
              </a:endParaRPr>
            </a:p>
          </p:txBody>
        </p:sp>
      </p:grpSp>
      <p:grpSp>
        <p:nvGrpSpPr>
          <p:cNvPr id="804" name="Google Shape;804;p32"/>
          <p:cNvGrpSpPr/>
          <p:nvPr/>
        </p:nvGrpSpPr>
        <p:grpSpPr>
          <a:xfrm>
            <a:off x="381000" y="3028950"/>
            <a:ext cx="3429000" cy="1285800"/>
            <a:chOff x="0" y="0"/>
            <a:chExt cx="3429000" cy="1285800"/>
          </a:xfrm>
        </p:grpSpPr>
        <p:sp>
          <p:nvSpPr>
            <p:cNvPr id="805" name="Google Shape;805;p32"/>
            <p:cNvSpPr/>
            <p:nvPr/>
          </p:nvSpPr>
          <p:spPr>
            <a:xfrm>
              <a:off x="0" y="0"/>
              <a:ext cx="3429000" cy="12858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6" name="Google Shape;806;p32"/>
            <p:cNvSpPr txBox="1"/>
            <p:nvPr/>
          </p:nvSpPr>
          <p:spPr>
            <a:xfrm>
              <a:off x="152400" y="152400"/>
              <a:ext cx="3124200" cy="9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975" u="none" strike="noStrike">
                  <a:solidFill>
                    <a:srgbClr val="111315"/>
                  </a:solidFill>
                  <a:latin typeface="Inter"/>
                  <a:ea typeface="Inter"/>
                  <a:cs typeface="Inter"/>
                  <a:sym typeface="Inter"/>
                </a:rPr>
                <a:t>The model writes script syntax; the CAD engine executes geometric calculation.</a:t>
              </a:r>
              <a:endParaRPr b="0" i="0" sz="975" u="none" strike="noStrike">
                <a:solidFill>
                  <a:srgbClr val="111315"/>
                </a:solidFill>
                <a:latin typeface="Inter"/>
                <a:ea typeface="Inter"/>
                <a:cs typeface="Inter"/>
                <a:sym typeface="Inter"/>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Script generation produces parametric definitions that execute within the CAD environment according to defined geometric rules.</a:t>
              </a:r>
              <a:endParaRPr b="0" i="0" sz="975" u="none" strike="noStrike">
                <a:solidFill>
                  <a:srgbClr val="111315"/>
                </a:solidFill>
                <a:latin typeface="Inter"/>
                <a:ea typeface="Inter"/>
                <a:cs typeface="Inter"/>
                <a:sym typeface="Inter"/>
              </a:endParaRPr>
            </a:p>
          </p:txBody>
        </p:sp>
      </p:grpSp>
      <p:grpSp>
        <p:nvGrpSpPr>
          <p:cNvPr id="807" name="Google Shape;807;p32"/>
          <p:cNvGrpSpPr/>
          <p:nvPr/>
        </p:nvGrpSpPr>
        <p:grpSpPr>
          <a:xfrm>
            <a:off x="4181475" y="1038225"/>
            <a:ext cx="4591200" cy="2590800"/>
            <a:chOff x="-9525" y="-9525"/>
            <a:chExt cx="4591200" cy="2590800"/>
          </a:xfrm>
        </p:grpSpPr>
        <p:pic>
          <p:nvPicPr>
            <p:cNvPr id="808" name="Google Shape;808;p32"/>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809" name="Google Shape;809;p32"/>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810" name="Google Shape;810;p32"/>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811" name="Google Shape;811;p32"/>
            <p:cNvSpPr/>
            <p:nvPr/>
          </p:nvSpPr>
          <p:spPr>
            <a:xfrm>
              <a:off x="238125" y="1028700"/>
              <a:ext cx="4095900" cy="514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2" name="Google Shape;812;p32"/>
            <p:cNvSpPr txBox="1"/>
            <p:nvPr/>
          </p:nvSpPr>
          <p:spPr>
            <a:xfrm>
              <a:off x="285750" y="1047750"/>
              <a:ext cx="40005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825" u="none" strike="noStrike">
                  <a:solidFill>
                    <a:srgbClr val="111315"/>
                  </a:solidFill>
                  <a:latin typeface="JetBrains Mono"/>
                  <a:ea typeface="JetBrains Mono"/>
                  <a:cs typeface="JetBrains Mono"/>
                  <a:sym typeface="JetBrains Mono"/>
                </a:rPr>
                <a:t>[Demonstration 2A: Grasshopper Script Execution]</a:t>
              </a:r>
              <a:endParaRPr b="1" i="0" sz="825" u="none" strike="noStrike">
                <a:solidFill>
                  <a:srgbClr val="111315"/>
                </a:solidFill>
                <a:latin typeface="JetBrains Mono"/>
                <a:ea typeface="JetBrains Mono"/>
                <a:cs typeface="JetBrains Mono"/>
                <a:sym typeface="JetBrains Mono"/>
              </a:endParaRPr>
            </a:p>
          </p:txBody>
        </p:sp>
      </p:grpSp>
      <p:grpSp>
        <p:nvGrpSpPr>
          <p:cNvPr id="813" name="Google Shape;813;p32"/>
          <p:cNvGrpSpPr/>
          <p:nvPr/>
        </p:nvGrpSpPr>
        <p:grpSpPr>
          <a:xfrm>
            <a:off x="381000" y="4714875"/>
            <a:ext cx="8382000" cy="285750"/>
            <a:chOff x="381000" y="4714875"/>
            <a:chExt cx="8382000" cy="285750"/>
          </a:xfrm>
        </p:grpSpPr>
        <p:cxnSp>
          <p:nvCxnSpPr>
            <p:cNvPr id="814" name="Google Shape;814;p32"/>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15" name="Google Shape;815;p32"/>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9" name="Shape 819"/>
        <p:cNvGrpSpPr/>
        <p:nvPr/>
      </p:nvGrpSpPr>
      <p:grpSpPr>
        <a:xfrm>
          <a:off x="0" y="0"/>
          <a:ext cx="0" cy="0"/>
          <a:chOff x="0" y="0"/>
          <a:chExt cx="0" cy="0"/>
        </a:xfrm>
      </p:grpSpPr>
      <p:grpSp>
        <p:nvGrpSpPr>
          <p:cNvPr id="820" name="Google Shape;820;p33"/>
          <p:cNvGrpSpPr/>
          <p:nvPr/>
        </p:nvGrpSpPr>
        <p:grpSpPr>
          <a:xfrm>
            <a:off x="381000" y="333375"/>
            <a:ext cx="8382000" cy="809625"/>
            <a:chOff x="381000" y="333375"/>
            <a:chExt cx="8382000" cy="809625"/>
          </a:xfrm>
        </p:grpSpPr>
        <p:sp>
          <p:nvSpPr>
            <p:cNvPr id="821" name="Google Shape;821;p33"/>
            <p:cNvSpPr txBox="1"/>
            <p:nvPr/>
          </p:nvSpPr>
          <p:spPr>
            <a:xfrm>
              <a:off x="381000" y="333375"/>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2100">
                  <a:solidFill>
                    <a:srgbClr val="111315"/>
                  </a:solidFill>
                  <a:latin typeface="Space Grotesk"/>
                  <a:ea typeface="Space Grotesk"/>
                  <a:cs typeface="Space Grotesk"/>
                  <a:sym typeface="Space Grotesk"/>
                </a:rPr>
                <a:t>System Example 2B: Airflow in a 2D Slice</a:t>
              </a:r>
              <a:endParaRPr b="0" i="0" sz="2100" u="none" strike="noStrike">
                <a:solidFill>
                  <a:srgbClr val="111315"/>
                </a:solidFill>
                <a:latin typeface="Space Grotesk"/>
                <a:ea typeface="Space Grotesk"/>
                <a:cs typeface="Space Grotesk"/>
                <a:sym typeface="Space Grotesk"/>
              </a:endParaRPr>
            </a:p>
          </p:txBody>
        </p:sp>
        <p:sp>
          <p:nvSpPr>
            <p:cNvPr id="822" name="Google Shape;822;p33"/>
            <p:cNvSpPr txBox="1"/>
            <p:nvPr/>
          </p:nvSpPr>
          <p:spPr>
            <a:xfrm>
              <a:off x="381000" y="7620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125">
                  <a:solidFill>
                    <a:srgbClr val="5A626A"/>
                  </a:solidFill>
                  <a:latin typeface="Space Grotesk SemiBold"/>
                  <a:ea typeface="Space Grotesk SemiBold"/>
                  <a:cs typeface="Space Grotesk SemiBold"/>
                  <a:sym typeface="Space Grotesk SemiBold"/>
                </a:rPr>
                <a:t>A small lattice Boltzmann solver shows flow around building footprints in a horizontal slice.</a:t>
              </a:r>
              <a:endParaRPr b="0" i="0" sz="1125" u="none" strike="noStrike">
                <a:solidFill>
                  <a:srgbClr val="5A626A"/>
                </a:solidFill>
                <a:latin typeface="Space Grotesk SemiBold"/>
                <a:ea typeface="Space Grotesk SemiBold"/>
                <a:cs typeface="Space Grotesk SemiBold"/>
                <a:sym typeface="Space Grotesk SemiBold"/>
              </a:endParaRPr>
            </a:p>
          </p:txBody>
        </p:sp>
      </p:grpSp>
      <p:grpSp>
        <p:nvGrpSpPr>
          <p:cNvPr id="823" name="Google Shape;823;p33"/>
          <p:cNvGrpSpPr/>
          <p:nvPr/>
        </p:nvGrpSpPr>
        <p:grpSpPr>
          <a:xfrm>
            <a:off x="571500" y="1428750"/>
            <a:ext cx="2190900" cy="2667000"/>
            <a:chOff x="0" y="0"/>
            <a:chExt cx="2190900" cy="2667000"/>
          </a:xfrm>
        </p:grpSpPr>
        <p:sp>
          <p:nvSpPr>
            <p:cNvPr id="824" name="Google Shape;824;p33"/>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25" name="Google Shape;825;p33"/>
            <p:cNvCxnSpPr/>
            <p:nvPr/>
          </p:nvCxnSpPr>
          <p:spPr>
            <a:xfrm>
              <a:off x="0" y="0"/>
              <a:ext cx="21909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26" name="Google Shape;826;p33"/>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INPUT PARAMETERS</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Building Slice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5A626A"/>
                  </a:solidFill>
                  <a:latin typeface="Inter"/>
                  <a:ea typeface="Inter"/>
                  <a:cs typeface="Inter"/>
                  <a:sym typeface="Inter"/>
                </a:rPr>
                <a:t>Closed footprints, inlet speed, grid size and viscosity.</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i="1" lang="en-GB" sz="975">
                  <a:solidFill>
                    <a:srgbClr val="111315"/>
                  </a:solidFill>
                  <a:highlight>
                    <a:srgbClr val="F8F9FA"/>
                  </a:highlight>
                  <a:latin typeface="Inter"/>
                  <a:ea typeface="Inter"/>
                  <a:cs typeface="Inter"/>
                  <a:sym typeface="Inter"/>
                </a:rPr>
                <a:t>Compare two layouts with the same flow settings.</a:t>
              </a:r>
              <a:endParaRPr b="1" i="0" sz="750" u="none" strike="noStrike">
                <a:solidFill>
                  <a:srgbClr val="1D4ED8"/>
                </a:solidFill>
                <a:latin typeface="JetBrains Mono"/>
                <a:ea typeface="JetBrains Mono"/>
                <a:cs typeface="JetBrains Mono"/>
                <a:sym typeface="JetBrains Mono"/>
              </a:endParaRPr>
            </a:p>
          </p:txBody>
        </p:sp>
      </p:grpSp>
      <p:grpSp>
        <p:nvGrpSpPr>
          <p:cNvPr id="827" name="Google Shape;827;p33"/>
          <p:cNvGrpSpPr/>
          <p:nvPr/>
        </p:nvGrpSpPr>
        <p:grpSpPr>
          <a:xfrm>
            <a:off x="2857500" y="2714625"/>
            <a:ext cx="457350" cy="95400"/>
            <a:chOff x="2857500" y="2714625"/>
            <a:chExt cx="457350" cy="95400"/>
          </a:xfrm>
        </p:grpSpPr>
        <p:cxnSp>
          <p:nvCxnSpPr>
            <p:cNvPr id="828" name="Google Shape;828;p33"/>
            <p:cNvCxnSpPr/>
            <p:nvPr/>
          </p:nvCxnSpPr>
          <p:spPr>
            <a:xfrm>
              <a:off x="2857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29" name="Google Shape;829;p33"/>
            <p:cNvSpPr/>
            <p:nvPr/>
          </p:nvSpPr>
          <p:spPr>
            <a:xfrm>
              <a:off x="3219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30" name="Google Shape;830;p33"/>
          <p:cNvGrpSpPr/>
          <p:nvPr/>
        </p:nvGrpSpPr>
        <p:grpSpPr>
          <a:xfrm>
            <a:off x="3333750" y="1428750"/>
            <a:ext cx="2476500" cy="2667000"/>
            <a:chOff x="0" y="0"/>
            <a:chExt cx="2476500" cy="2667000"/>
          </a:xfrm>
        </p:grpSpPr>
        <p:sp>
          <p:nvSpPr>
            <p:cNvPr id="831" name="Google Shape;831;p33"/>
            <p:cNvSpPr/>
            <p:nvPr/>
          </p:nvSpPr>
          <p:spPr>
            <a:xfrm>
              <a:off x="0" y="0"/>
              <a:ext cx="24765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32" name="Google Shape;832;p33"/>
            <p:cNvCxnSpPr/>
            <p:nvPr/>
          </p:nvCxnSpPr>
          <p:spPr>
            <a:xfrm>
              <a:off x="0" y="0"/>
              <a:ext cx="2476500" cy="0"/>
            </a:xfrm>
            <a:prstGeom prst="straightConnector1">
              <a:avLst/>
            </a:prstGeom>
            <a:solidFill>
              <a:srgbClr val="FFFFFF"/>
            </a:solidFill>
            <a:ln cap="flat" cmpd="sng" w="38100">
              <a:solidFill>
                <a:srgbClr val="111315"/>
              </a:solidFill>
              <a:prstDash val="solid"/>
              <a:round/>
              <a:headEnd len="sm" w="sm" type="none"/>
              <a:tailEnd len="sm" w="sm" type="none"/>
            </a:ln>
          </p:spPr>
        </p:cxnSp>
        <p:sp>
          <p:nvSpPr>
            <p:cNvPr id="833" name="Google Shape;833;p33"/>
            <p:cNvSpPr txBox="1"/>
            <p:nvPr/>
          </p:nvSpPr>
          <p:spPr>
            <a:xfrm>
              <a:off x="152400" y="152400"/>
              <a:ext cx="21717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111315"/>
                  </a:solidFill>
                  <a:latin typeface="JetBrains Mono"/>
                  <a:ea typeface="JetBrains Mono"/>
                  <a:cs typeface="JetBrains Mono"/>
                  <a:sym typeface="JetBrains Mono"/>
                </a:rPr>
                <a:t>02 // CODE GENERATION</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Adapt Existing Code</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111315"/>
                  </a:solidFill>
                  <a:latin typeface="Inter"/>
                  <a:ea typeface="Inter"/>
                  <a:cs typeface="Inter"/>
                  <a:sym typeface="Inter"/>
                </a:rPr>
                <a:t>• </a:t>
              </a:r>
              <a:r>
                <a:rPr lang="en-GB" sz="975">
                  <a:solidFill>
                    <a:srgbClr val="111315"/>
                  </a:solidFill>
                  <a:latin typeface="Inter"/>
                  <a:ea typeface="Inter"/>
                  <a:cs typeface="Inter"/>
                  <a:sym typeface="Inter"/>
                </a:rPr>
                <a:t>Ports D2Q9 / TRT from GitHub</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75" u="none" strike="noStrike">
                  <a:solidFill>
                    <a:srgbClr val="111315"/>
                  </a:solidFill>
                  <a:latin typeface="Inter"/>
                  <a:ea typeface="Inter"/>
                  <a:cs typeface="Inter"/>
                  <a:sym typeface="Inter"/>
                </a:rPr>
                <a:t>• </a:t>
              </a:r>
              <a:r>
                <a:rPr lang="en-GB" sz="975">
                  <a:solidFill>
                    <a:srgbClr val="111315"/>
                  </a:solidFill>
                  <a:latin typeface="Inter"/>
                  <a:ea typeface="Inter"/>
                  <a:cs typeface="Inter"/>
                  <a:sym typeface="Inter"/>
                </a:rPr>
                <a:t>Runs a small Python solver</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lang="en-GB" sz="825">
                  <a:solidFill>
                    <a:srgbClr val="D9381E"/>
                  </a:solidFill>
                  <a:latin typeface="JetBrains Mono"/>
                  <a:ea typeface="JetBrains Mono"/>
                  <a:cs typeface="JetBrains Mono"/>
                  <a:sym typeface="JetBrains Mono"/>
                </a:rPr>
                <a:t>// LBM time step</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for each step {</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collide_and_stream()</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apply_boundaries()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a:t>
              </a:r>
              <a:endParaRPr b="1" i="0" sz="750" u="none" strike="noStrike">
                <a:solidFill>
                  <a:srgbClr val="111315"/>
                </a:solidFill>
                <a:latin typeface="JetBrains Mono"/>
                <a:ea typeface="JetBrains Mono"/>
                <a:cs typeface="JetBrains Mono"/>
                <a:sym typeface="JetBrains Mono"/>
              </a:endParaRPr>
            </a:p>
          </p:txBody>
        </p:sp>
      </p:grpSp>
      <p:grpSp>
        <p:nvGrpSpPr>
          <p:cNvPr id="834" name="Google Shape;834;p33"/>
          <p:cNvGrpSpPr/>
          <p:nvPr/>
        </p:nvGrpSpPr>
        <p:grpSpPr>
          <a:xfrm>
            <a:off x="5905500" y="2714625"/>
            <a:ext cx="457350" cy="95400"/>
            <a:chOff x="5905500" y="2714625"/>
            <a:chExt cx="457350" cy="95400"/>
          </a:xfrm>
        </p:grpSpPr>
        <p:cxnSp>
          <p:nvCxnSpPr>
            <p:cNvPr id="835" name="Google Shape;835;p33"/>
            <p:cNvCxnSpPr/>
            <p:nvPr/>
          </p:nvCxnSpPr>
          <p:spPr>
            <a:xfrm>
              <a:off x="5905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36" name="Google Shape;836;p33"/>
            <p:cNvSpPr/>
            <p:nvPr/>
          </p:nvSpPr>
          <p:spPr>
            <a:xfrm>
              <a:off x="6267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37" name="Google Shape;837;p33"/>
          <p:cNvGrpSpPr/>
          <p:nvPr/>
        </p:nvGrpSpPr>
        <p:grpSpPr>
          <a:xfrm>
            <a:off x="6381750" y="1428750"/>
            <a:ext cx="2190900" cy="2667000"/>
            <a:chOff x="0" y="0"/>
            <a:chExt cx="2190900" cy="2667000"/>
          </a:xfrm>
        </p:grpSpPr>
        <p:sp>
          <p:nvSpPr>
            <p:cNvPr id="838" name="Google Shape;838;p33"/>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39" name="Google Shape;839;p33"/>
            <p:cNvCxnSpPr/>
            <p:nvPr/>
          </p:nvCxnSpPr>
          <p:spPr>
            <a:xfrm>
              <a:off x="0" y="0"/>
              <a:ext cx="21909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840" name="Google Shape;840;p33"/>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GENERATED TOOL</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2D Flow Field</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5A626A"/>
                  </a:solidFill>
                  <a:latin typeface="Inter"/>
                  <a:ea typeface="Inter"/>
                  <a:cs typeface="Inter"/>
                  <a:sym typeface="Inter"/>
                </a:rPr>
                <a:t>Teaching model. Check stability before comparing layouts.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750" u="none" strike="noStrike">
                  <a:solidFill>
                    <a:srgbClr val="5A626A"/>
                  </a:solidFill>
                  <a:highlight>
                    <a:srgbClr val="F8F9FA"/>
                  </a:highlight>
                  <a:latin typeface="JetBrains Mono"/>
                  <a:ea typeface="JetBrains Mono"/>
                  <a:cs typeface="JetBrains Mono"/>
                  <a:sym typeface="JetBrains Mono"/>
                </a:rPr>
                <a:t>OUTPUT METRICS: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Relative speed</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Velocity vectors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Wake pattern</a:t>
              </a:r>
              <a:endParaRPr b="1" i="0" sz="750" u="none" strike="noStrike">
                <a:solidFill>
                  <a:srgbClr val="D9381E"/>
                </a:solidFill>
                <a:latin typeface="JetBrains Mono"/>
                <a:ea typeface="JetBrains Mono"/>
                <a:cs typeface="JetBrains Mono"/>
                <a:sym typeface="JetBrains Mono"/>
              </a:endParaRPr>
            </a:p>
          </p:txBody>
        </p:sp>
      </p:grpSp>
      <p:grpSp>
        <p:nvGrpSpPr>
          <p:cNvPr id="841" name="Google Shape;841;p33"/>
          <p:cNvGrpSpPr/>
          <p:nvPr/>
        </p:nvGrpSpPr>
        <p:grpSpPr>
          <a:xfrm>
            <a:off x="381000" y="4667250"/>
            <a:ext cx="8382000" cy="304800"/>
            <a:chOff x="381000" y="4667250"/>
            <a:chExt cx="8382000" cy="304800"/>
          </a:xfrm>
        </p:grpSpPr>
        <p:cxnSp>
          <p:nvCxnSpPr>
            <p:cNvPr id="842" name="Google Shape;842;p33"/>
            <p:cNvCxnSpPr/>
            <p:nvPr/>
          </p:nvCxnSpPr>
          <p:spPr>
            <a:xfrm>
              <a:off x="381000" y="46672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43" name="Google Shape;843;p33"/>
            <p:cNvSpPr txBox="1"/>
            <p:nvPr/>
          </p:nvSpPr>
          <p:spPr>
            <a:xfrm>
              <a:off x="381000" y="47815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4"/>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581" u="none" strike="noStrike">
                <a:solidFill>
                  <a:srgbClr val="111315"/>
                </a:solidFill>
                <a:latin typeface="Space Grotesk"/>
                <a:ea typeface="Space Grotesk"/>
                <a:cs typeface="Space Grotesk"/>
                <a:sym typeface="Space Grotesk"/>
              </a:rPr>
              <a:t>System Example 2C: Extracting Regulatory Constraints for Grasshopper Models</a:t>
            </a:r>
            <a:endParaRPr b="0" i="0" sz="1581" u="none" strike="noStrike">
              <a:solidFill>
                <a:srgbClr val="111315"/>
              </a:solidFill>
              <a:latin typeface="Space Grotesk"/>
              <a:ea typeface="Space Grotesk"/>
              <a:cs typeface="Space Grotesk"/>
              <a:sym typeface="Space Grotesk"/>
            </a:endParaRPr>
          </a:p>
        </p:txBody>
      </p:sp>
      <p:grpSp>
        <p:nvGrpSpPr>
          <p:cNvPr id="849" name="Google Shape;849;p34"/>
          <p:cNvGrpSpPr/>
          <p:nvPr/>
        </p:nvGrpSpPr>
        <p:grpSpPr>
          <a:xfrm>
            <a:off x="381000" y="952500"/>
            <a:ext cx="8382000" cy="495300"/>
            <a:chOff x="0" y="0"/>
            <a:chExt cx="8382000" cy="495300"/>
          </a:xfrm>
        </p:grpSpPr>
        <p:sp>
          <p:nvSpPr>
            <p:cNvPr id="850" name="Google Shape;850;p34"/>
            <p:cNvSpPr/>
            <p:nvPr/>
          </p:nvSpPr>
          <p:spPr>
            <a:xfrm>
              <a:off x="0" y="0"/>
              <a:ext cx="8382000" cy="4953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1" name="Google Shape;851;p34"/>
            <p:cNvCxnSpPr/>
            <p:nvPr/>
          </p:nvCxnSpPr>
          <p:spPr>
            <a:xfrm>
              <a:off x="0" y="0"/>
              <a:ext cx="0" cy="49530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52" name="Google Shape;852;p34"/>
            <p:cNvSpPr txBox="1"/>
            <p:nvPr/>
          </p:nvSpPr>
          <p:spPr>
            <a:xfrm>
              <a:off x="190500" y="95250"/>
              <a:ext cx="800100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971" u="none" strike="noStrike">
                  <a:solidFill>
                    <a:srgbClr val="111315"/>
                  </a:solidFill>
                  <a:latin typeface="Inter"/>
                  <a:ea typeface="Inter"/>
                  <a:cs typeface="Inter"/>
                  <a:sym typeface="Inter"/>
                </a:rPr>
                <a:t>Function:</a:t>
              </a:r>
              <a:r>
                <a:rPr b="0" i="0" lang="en-GB" sz="971" u="none" strike="noStrike">
                  <a:solidFill>
                    <a:srgbClr val="111315"/>
                  </a:solidFill>
                  <a:latin typeface="Inter"/>
                  <a:ea typeface="Inter"/>
                  <a:cs typeface="Inter"/>
                  <a:sym typeface="Inter"/>
                </a:rPr>
                <a:t> Models extract quantitative constraints from regulatory texts to define parametric building envelopes.</a:t>
              </a:r>
              <a:endParaRPr b="1" i="0" sz="971" u="none" strike="noStrike">
                <a:solidFill>
                  <a:srgbClr val="111315"/>
                </a:solidFill>
                <a:latin typeface="Inter"/>
                <a:ea typeface="Inter"/>
                <a:cs typeface="Inter"/>
                <a:sym typeface="Inter"/>
              </a:endParaRPr>
            </a:p>
          </p:txBody>
        </p:sp>
      </p:grpSp>
      <p:grpSp>
        <p:nvGrpSpPr>
          <p:cNvPr id="853" name="Google Shape;853;p34"/>
          <p:cNvGrpSpPr/>
          <p:nvPr/>
        </p:nvGrpSpPr>
        <p:grpSpPr>
          <a:xfrm>
            <a:off x="571500" y="1762125"/>
            <a:ext cx="8001000" cy="1743075"/>
            <a:chOff x="571500" y="1762125"/>
            <a:chExt cx="8001000" cy="1743075"/>
          </a:xfrm>
        </p:grpSpPr>
        <p:grpSp>
          <p:nvGrpSpPr>
            <p:cNvPr id="854" name="Google Shape;854;p34"/>
            <p:cNvGrpSpPr/>
            <p:nvPr/>
          </p:nvGrpSpPr>
          <p:grpSpPr>
            <a:xfrm>
              <a:off x="571500" y="1762125"/>
              <a:ext cx="2286000" cy="1428900"/>
              <a:chOff x="0" y="0"/>
              <a:chExt cx="2286000" cy="1428900"/>
            </a:xfrm>
          </p:grpSpPr>
          <p:sp>
            <p:nvSpPr>
              <p:cNvPr id="855" name="Google Shape;855;p34"/>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6" name="Google Shape;856;p34"/>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57" name="Google Shape;857;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[INPUT 01]</a:t>
                </a:r>
                <a:endParaRPr b="0"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050">
                    <a:solidFill>
                      <a:srgbClr val="111315"/>
                    </a:solidFill>
                    <a:latin typeface="Inter"/>
                    <a:ea typeface="Inter"/>
                    <a:cs typeface="Inter"/>
                    <a:sym typeface="Inter"/>
                  </a:rPr>
                  <a:t>Municipal Zoning Text</a:t>
                </a:r>
                <a:endParaRPr b="1" sz="1050">
                  <a:solidFill>
                    <a:srgbClr val="111315"/>
                  </a:solidFill>
                  <a:latin typeface="Inter"/>
                  <a:ea typeface="Inter"/>
                  <a:cs typeface="Inter"/>
                  <a:sym typeface="Inter"/>
                </a:endParaRPr>
              </a:p>
              <a:p>
                <a:pPr indent="0" lvl="0" marL="0" rtl="0" algn="l">
                  <a:spcBef>
                    <a:spcPts val="600"/>
                  </a:spcBef>
                  <a:spcAft>
                    <a:spcPts val="0"/>
                  </a:spcAft>
                  <a:buNone/>
                </a:pPr>
                <a:r>
                  <a:rPr b="0" lang="en-GB" sz="750">
                    <a:solidFill>
                      <a:srgbClr val="5A626A"/>
                    </a:solidFill>
                    <a:latin typeface="JetBrains Mono"/>
                    <a:ea typeface="JetBrains Mono"/>
                    <a:cs typeface="JetBrains Mono"/>
                    <a:sym typeface="JetBrains Mono"/>
                  </a:rPr>
                  <a:t>Raw zoning ordinances, land-use bylaws, and building code documentation.</a:t>
                </a:r>
                <a:endParaRPr b="0" sz="750">
                  <a:solidFill>
                    <a:srgbClr val="5A626A"/>
                  </a:solidFill>
                  <a:latin typeface="JetBrains Mono"/>
                  <a:ea typeface="JetBrains Mono"/>
                  <a:cs typeface="JetBrains Mono"/>
                  <a:sym typeface="JetBrains Mono"/>
                </a:endParaRPr>
              </a:p>
            </p:txBody>
          </p:sp>
        </p:grpSp>
        <p:grpSp>
          <p:nvGrpSpPr>
            <p:cNvPr id="858" name="Google Shape;858;p34"/>
            <p:cNvGrpSpPr/>
            <p:nvPr/>
          </p:nvGrpSpPr>
          <p:grpSpPr>
            <a:xfrm>
              <a:off x="2952750" y="2438400"/>
              <a:ext cx="438150" cy="76200"/>
              <a:chOff x="95250" y="-38100"/>
              <a:chExt cx="438150" cy="76200"/>
            </a:xfrm>
          </p:grpSpPr>
          <p:cxnSp>
            <p:nvCxnSpPr>
              <p:cNvPr id="859" name="Google Shape;859;p34"/>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60" name="Google Shape;860;p34"/>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61" name="Google Shape;861;p34"/>
            <p:cNvGrpSpPr/>
            <p:nvPr/>
          </p:nvGrpSpPr>
          <p:grpSpPr>
            <a:xfrm>
              <a:off x="3429000" y="1762125"/>
              <a:ext cx="2286000" cy="1428900"/>
              <a:chOff x="0" y="0"/>
              <a:chExt cx="2286000" cy="1428900"/>
            </a:xfrm>
          </p:grpSpPr>
          <p:sp>
            <p:nvSpPr>
              <p:cNvPr id="862" name="Google Shape;862;p34"/>
              <p:cNvSpPr/>
              <p:nvPr/>
            </p:nvSpPr>
            <p:spPr>
              <a:xfrm>
                <a:off x="0" y="0"/>
                <a:ext cx="22860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63" name="Google Shape;863;p34"/>
              <p:cNvCxnSpPr/>
              <p:nvPr/>
            </p:nvCxnSpPr>
            <p:spPr>
              <a:xfrm>
                <a:off x="0" y="0"/>
                <a:ext cx="2286000" cy="0"/>
              </a:xfrm>
              <a:prstGeom prst="straightConnector1">
                <a:avLst/>
              </a:prstGeom>
              <a:solidFill>
                <a:srgbClr val="FFFFFF"/>
              </a:solidFill>
              <a:ln cap="flat" cmpd="sng" w="28575">
                <a:solidFill>
                  <a:srgbClr val="D9381E"/>
                </a:solidFill>
                <a:prstDash val="solid"/>
                <a:round/>
                <a:headEnd len="sm" w="sm" type="none"/>
                <a:tailEnd len="sm" w="sm" type="none"/>
              </a:ln>
            </p:spPr>
          </p:cxnSp>
          <p:sp>
            <p:nvSpPr>
              <p:cNvPr id="864" name="Google Shape;864;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[DATA PROCESSING 02]</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Text Parsing</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111315"/>
                    </a:solidFill>
                    <a:latin typeface="Inter"/>
                    <a:ea typeface="Inter"/>
                    <a:cs typeface="Inter"/>
                    <a:sym typeface="Inter"/>
                  </a:rPr>
                  <a:t>The model extracts numeric values for setbacks, stepbacks, and maximum height limits.</a:t>
                </a:r>
                <a:endParaRPr b="0" i="0" sz="750" u="none" strike="noStrike">
                  <a:solidFill>
                    <a:srgbClr val="D9381E"/>
                  </a:solidFill>
                  <a:latin typeface="JetBrains Mono"/>
                  <a:ea typeface="JetBrains Mono"/>
                  <a:cs typeface="JetBrains Mono"/>
                  <a:sym typeface="JetBrains Mono"/>
                </a:endParaRPr>
              </a:p>
            </p:txBody>
          </p:sp>
        </p:grpSp>
        <p:grpSp>
          <p:nvGrpSpPr>
            <p:cNvPr id="865" name="Google Shape;865;p34"/>
            <p:cNvGrpSpPr/>
            <p:nvPr/>
          </p:nvGrpSpPr>
          <p:grpSpPr>
            <a:xfrm>
              <a:off x="5810250" y="2438400"/>
              <a:ext cx="438150" cy="76200"/>
              <a:chOff x="95250" y="-38100"/>
              <a:chExt cx="438150" cy="76200"/>
            </a:xfrm>
          </p:grpSpPr>
          <p:cxnSp>
            <p:nvCxnSpPr>
              <p:cNvPr id="866" name="Google Shape;866;p34"/>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67" name="Google Shape;867;p34"/>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68" name="Google Shape;868;p34"/>
            <p:cNvGrpSpPr/>
            <p:nvPr/>
          </p:nvGrpSpPr>
          <p:grpSpPr>
            <a:xfrm>
              <a:off x="6286500" y="1762125"/>
              <a:ext cx="2286000" cy="1428900"/>
              <a:chOff x="0" y="0"/>
              <a:chExt cx="2286000" cy="1428900"/>
            </a:xfrm>
          </p:grpSpPr>
          <p:sp>
            <p:nvSpPr>
              <p:cNvPr id="869" name="Google Shape;869;p34"/>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70" name="Google Shape;870;p34"/>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71" name="Google Shape;871;p34"/>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[OUTPUT 03]</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Grasshopper 3D Model</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750" u="none" strike="noStrike">
                    <a:solidFill>
                      <a:srgbClr val="5A626A"/>
                    </a:solidFill>
                    <a:latin typeface="JetBrains Mono"/>
                    <a:ea typeface="JetBrains Mono"/>
                    <a:cs typeface="JetBrains Mono"/>
                    <a:sym typeface="JetBrains Mono"/>
                  </a:rPr>
                  <a:t>Constructs the parametric 3D boundary volume from extracted dimensions.</a:t>
                </a:r>
                <a:endParaRPr b="0" i="0" sz="750" u="none" strike="noStrike">
                  <a:solidFill>
                    <a:srgbClr val="1D4ED8"/>
                  </a:solidFill>
                  <a:latin typeface="JetBrains Mono"/>
                  <a:ea typeface="JetBrains Mono"/>
                  <a:cs typeface="JetBrains Mono"/>
                  <a:sym typeface="JetBrains Mono"/>
                </a:endParaRPr>
              </a:p>
            </p:txBody>
          </p:sp>
        </p:grpSp>
        <p:sp>
          <p:nvSpPr>
            <p:cNvPr id="872" name="Google Shape;872;p34"/>
            <p:cNvSpPr txBox="1"/>
            <p:nvPr/>
          </p:nvSpPr>
          <p:spPr>
            <a:xfrm>
              <a:off x="5715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Format: Unstructured PDF / Text</a:t>
              </a:r>
              <a:endParaRPr b="0" sz="750">
                <a:solidFill>
                  <a:srgbClr val="5A626A"/>
                </a:solidFill>
                <a:latin typeface="JetBrains Mono"/>
                <a:ea typeface="JetBrains Mono"/>
                <a:cs typeface="JetBrains Mono"/>
                <a:sym typeface="JetBrains Mono"/>
              </a:endParaRPr>
            </a:p>
          </p:txBody>
        </p:sp>
        <p:sp>
          <p:nvSpPr>
            <p:cNvPr id="873" name="Google Shape;873;p34"/>
            <p:cNvSpPr txBox="1"/>
            <p:nvPr/>
          </p:nvSpPr>
          <p:spPr>
            <a:xfrm>
              <a:off x="34290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D9381E"/>
                  </a:solidFill>
                  <a:latin typeface="JetBrains Mono"/>
                  <a:ea typeface="JetBrains Mono"/>
                  <a:cs typeface="JetBrains Mono"/>
                  <a:sym typeface="JetBrains Mono"/>
                </a:rPr>
                <a:t>Structured Data Extraction</a:t>
              </a:r>
              <a:endParaRPr b="0" sz="750">
                <a:solidFill>
                  <a:srgbClr val="D9381E"/>
                </a:solidFill>
                <a:latin typeface="JetBrains Mono"/>
                <a:ea typeface="JetBrains Mono"/>
                <a:cs typeface="JetBrains Mono"/>
                <a:sym typeface="JetBrains Mono"/>
              </a:endParaRPr>
            </a:p>
          </p:txBody>
        </p:sp>
        <p:sp>
          <p:nvSpPr>
            <p:cNvPr id="874" name="Google Shape;874;p34"/>
            <p:cNvSpPr txBox="1"/>
            <p:nvPr/>
          </p:nvSpPr>
          <p:spPr>
            <a:xfrm>
              <a:off x="6286500" y="3314700"/>
              <a:ext cx="22860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3D Parametric Volume</a:t>
              </a:r>
              <a:endParaRPr b="0" i="0" sz="750" u="none" strike="noStrike">
                <a:solidFill>
                  <a:srgbClr val="5A626A"/>
                </a:solidFill>
                <a:latin typeface="JetBrains Mono"/>
                <a:ea typeface="JetBrains Mono"/>
                <a:cs typeface="JetBrains Mono"/>
                <a:sym typeface="JetBrains Mono"/>
              </a:endParaRPr>
            </a:p>
          </p:txBody>
        </p:sp>
      </p:grpSp>
      <p:sp>
        <p:nvSpPr>
          <p:cNvPr id="875" name="Google Shape;875;p3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Process: Regulatory Document → Parameter Extraction → Parametric Boundary Generation</a:t>
            </a:r>
            <a:endParaRPr b="0" i="0" sz="750" u="none" strike="noStrike">
              <a:solidFill>
                <a:srgbClr val="5A626A"/>
              </a:solidFill>
              <a:latin typeface="JetBrains Mono"/>
              <a:ea typeface="JetBrains Mono"/>
              <a:cs typeface="JetBrains Mono"/>
              <a:sym typeface="JetBrains Mono"/>
            </a:endParaRPr>
          </a:p>
        </p:txBody>
      </p:sp>
      <p:grpSp>
        <p:nvGrpSpPr>
          <p:cNvPr id="876" name="Google Shape;876;p34"/>
          <p:cNvGrpSpPr/>
          <p:nvPr/>
        </p:nvGrpSpPr>
        <p:grpSpPr>
          <a:xfrm>
            <a:off x="381000" y="4762500"/>
            <a:ext cx="8382000" cy="285750"/>
            <a:chOff x="381000" y="4762500"/>
            <a:chExt cx="8382000" cy="285750"/>
          </a:xfrm>
        </p:grpSpPr>
        <p:cxnSp>
          <p:nvCxnSpPr>
            <p:cNvPr id="877" name="Google Shape;877;p34"/>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78" name="Google Shape;878;p34"/>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2" name="Shape 882"/>
        <p:cNvGrpSpPr/>
        <p:nvPr/>
      </p:nvGrpSpPr>
      <p:grpSpPr>
        <a:xfrm>
          <a:off x="0" y="0"/>
          <a:ext cx="0" cy="0"/>
          <a:chOff x="0" y="0"/>
          <a:chExt cx="0" cy="0"/>
        </a:xfrm>
      </p:grpSpPr>
      <p:grpSp>
        <p:nvGrpSpPr>
          <p:cNvPr id="883" name="Google Shape;883;p35"/>
          <p:cNvGrpSpPr/>
          <p:nvPr/>
        </p:nvGrpSpPr>
        <p:grpSpPr>
          <a:xfrm>
            <a:off x="2057400" y="2057325"/>
            <a:ext cx="76200" cy="247800"/>
            <a:chOff x="-38100" y="0"/>
            <a:chExt cx="76200" cy="247800"/>
          </a:xfrm>
        </p:grpSpPr>
        <p:cxnSp>
          <p:nvCxnSpPr>
            <p:cNvPr id="884" name="Google Shape;884;p35"/>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85" name="Google Shape;885;p35"/>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886" name="Google Shape;886;p3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950" u="none" strike="noStrike">
                <a:solidFill>
                  <a:srgbClr val="111315"/>
                </a:solidFill>
                <a:latin typeface="Space Grotesk"/>
                <a:ea typeface="Space Grotesk"/>
                <a:cs typeface="Space Grotesk"/>
                <a:sym typeface="Space Grotesk"/>
              </a:rPr>
              <a:t>System Example 3: Autodesk AEC Foundation Models</a:t>
            </a:r>
            <a:endParaRPr b="1" i="0" sz="1950" u="none" strike="noStrike">
              <a:solidFill>
                <a:srgbClr val="111315"/>
              </a:solidFill>
              <a:latin typeface="Space Grotesk"/>
              <a:ea typeface="Space Grotesk"/>
              <a:cs typeface="Space Grotesk"/>
              <a:sym typeface="Space Grotesk"/>
            </a:endParaRPr>
          </a:p>
        </p:txBody>
      </p:sp>
      <p:grpSp>
        <p:nvGrpSpPr>
          <p:cNvPr id="887" name="Google Shape;887;p35"/>
          <p:cNvGrpSpPr/>
          <p:nvPr/>
        </p:nvGrpSpPr>
        <p:grpSpPr>
          <a:xfrm>
            <a:off x="381000" y="1562100"/>
            <a:ext cx="3429000" cy="457200"/>
            <a:chOff x="0" y="0"/>
            <a:chExt cx="3429000" cy="457200"/>
          </a:xfrm>
        </p:grpSpPr>
        <p:sp>
          <p:nvSpPr>
            <p:cNvPr id="888" name="Google Shape;888;p35"/>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89" name="Google Shape;889;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Structured CAD/BIM Topology &amp; Constraints</a:t>
              </a:r>
              <a:endParaRPr/>
            </a:p>
          </p:txBody>
        </p:sp>
      </p:grpSp>
      <p:grpSp>
        <p:nvGrpSpPr>
          <p:cNvPr id="890" name="Google Shape;890;p35"/>
          <p:cNvGrpSpPr/>
          <p:nvPr/>
        </p:nvGrpSpPr>
        <p:grpSpPr>
          <a:xfrm>
            <a:off x="381000" y="2343150"/>
            <a:ext cx="3429000" cy="457200"/>
            <a:chOff x="0" y="0"/>
            <a:chExt cx="3429000" cy="457200"/>
          </a:xfrm>
        </p:grpSpPr>
        <p:sp>
          <p:nvSpPr>
            <p:cNvPr id="891" name="Google Shape;891;p35"/>
            <p:cNvSpPr/>
            <p:nvPr/>
          </p:nvSpPr>
          <p:spPr>
            <a:xfrm>
              <a:off x="0" y="0"/>
              <a:ext cx="3429000" cy="457200"/>
            </a:xfrm>
            <a:prstGeom prst="rect">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2" name="Google Shape;892;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D4ED8"/>
                  </a:solidFill>
                  <a:latin typeface="Inter"/>
                  <a:ea typeface="Inter"/>
                  <a:cs typeface="Inter"/>
                  <a:sym typeface="Inter"/>
                </a:rPr>
                <a:t>AEC Foundation Model</a:t>
              </a:r>
              <a:endParaRPr/>
            </a:p>
          </p:txBody>
        </p:sp>
      </p:grpSp>
      <p:grpSp>
        <p:nvGrpSpPr>
          <p:cNvPr id="893" name="Google Shape;893;p35"/>
          <p:cNvGrpSpPr/>
          <p:nvPr/>
        </p:nvGrpSpPr>
        <p:grpSpPr>
          <a:xfrm>
            <a:off x="381000" y="3124200"/>
            <a:ext cx="3429000" cy="457200"/>
            <a:chOff x="0" y="0"/>
            <a:chExt cx="3429000" cy="457200"/>
          </a:xfrm>
        </p:grpSpPr>
        <p:sp>
          <p:nvSpPr>
            <p:cNvPr id="894" name="Google Shape;894;p35"/>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5" name="Google Shape;895;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Editable LOD 200 BIM Geometry</a:t>
              </a:r>
              <a:endParaRPr/>
            </a:p>
          </p:txBody>
        </p:sp>
      </p:grpSp>
      <p:grpSp>
        <p:nvGrpSpPr>
          <p:cNvPr id="896" name="Google Shape;896;p35"/>
          <p:cNvGrpSpPr/>
          <p:nvPr/>
        </p:nvGrpSpPr>
        <p:grpSpPr>
          <a:xfrm>
            <a:off x="381000" y="4762500"/>
            <a:ext cx="8382000" cy="285750"/>
            <a:chOff x="381000" y="4762500"/>
            <a:chExt cx="8382000" cy="285750"/>
          </a:xfrm>
        </p:grpSpPr>
        <p:cxnSp>
          <p:nvCxnSpPr>
            <p:cNvPr id="897" name="Google Shape;897;p3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98" name="Google Shape;898;p3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899" name="Google Shape;899;p35"/>
          <p:cNvGrpSpPr/>
          <p:nvPr/>
        </p:nvGrpSpPr>
        <p:grpSpPr>
          <a:xfrm>
            <a:off x="2057400" y="2838375"/>
            <a:ext cx="76200" cy="247800"/>
            <a:chOff x="-38100" y="0"/>
            <a:chExt cx="76200" cy="247800"/>
          </a:xfrm>
        </p:grpSpPr>
        <p:cxnSp>
          <p:nvCxnSpPr>
            <p:cNvPr id="900" name="Google Shape;900;p35"/>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01" name="Google Shape;901;p35"/>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pic>
        <p:nvPicPr>
          <p:cNvPr descr="Join us live from Las Vegas for the Day 1 Keynote at AU 2026: The Design &amp; Make Conference.&#10;&#10;Autodesk President and CEO Andrew Anagnost and CTO Raji Arasu take the main stage to share what’s next for Autodesk customers across design, make, and operate, and how new technology can help teams reduce repetitive tasks, work more efficiently, and turn ideas into outcomes with greater speed and confidence.&#10;&#10;Plus, hear Andrew’s conversation with TIME100 AI leader Clara Shih about how agents are reshaping the way organizations work.&#10;&#10;Watch with us here on Tuesday, September 15, starting at 9:00 a.m. PT.&#10;&#10;Explore more AU content ondemand: https://autode.sk/AU2026Digitalyt1.&#10;&#10;For languages other than english, click here: https://autode.sk/Day1-Keynote." id="902" name="Google Shape;902;p35" title="AU 2026: The Design &amp; Make Conference | Day 1 Keynote Livestream | Autodesk">
            <a:hlinkClick r:id="rId3"/>
          </p:cNvPr>
          <p:cNvPicPr preferRelativeResize="0"/>
          <p:nvPr/>
        </p:nvPicPr>
        <p:blipFill>
          <a:blip r:embed="rId4">
            <a:alphaModFix/>
          </a:blip>
          <a:stretch>
            <a:fillRect/>
          </a:stretch>
        </p:blipFill>
        <p:spPr>
          <a:xfrm>
            <a:off x="4191000" y="1285875"/>
            <a:ext cx="4572000" cy="257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2"/>
                                        </p:tgtEl>
                                        <p:attrNameLst>
                                          <p:attrName>style.visibility</p:attrName>
                                        </p:attrNameLst>
                                      </p:cBhvr>
                                      <p:to>
                                        <p:strVal val="visible"/>
                                      </p:to>
                                    </p:set>
                                    <p:animEffect filter="fade" transition="in">
                                      <p:cBhvr>
                                        <p:cTn dur="1000"/>
                                        <p:tgtEl>
                                          <p:spTgt spid="90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3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400" u="none" strike="noStrike">
                <a:solidFill>
                  <a:srgbClr val="111315"/>
                </a:solidFill>
                <a:latin typeface="Space Grotesk"/>
                <a:ea typeface="Space Grotesk"/>
                <a:cs typeface="Space Grotesk"/>
                <a:sym typeface="Space Grotesk"/>
              </a:rPr>
              <a:t>Computational Optimization: Navier-Stokes Case Study</a:t>
            </a:r>
            <a:endParaRPr b="0" i="0" sz="2400" u="none" strike="noStrike">
              <a:solidFill>
                <a:srgbClr val="111315"/>
              </a:solidFill>
              <a:latin typeface="Space Grotesk"/>
              <a:ea typeface="Space Grotesk"/>
              <a:cs typeface="Space Grotesk"/>
              <a:sym typeface="Space Grotesk"/>
            </a:endParaRPr>
          </a:p>
        </p:txBody>
      </p:sp>
      <p:grpSp>
        <p:nvGrpSpPr>
          <p:cNvPr id="908" name="Google Shape;908;p36"/>
          <p:cNvGrpSpPr/>
          <p:nvPr/>
        </p:nvGrpSpPr>
        <p:grpSpPr>
          <a:xfrm>
            <a:off x="1328738" y="1238250"/>
            <a:ext cx="6486600" cy="2524275"/>
            <a:chOff x="1328738" y="1238250"/>
            <a:chExt cx="6486600" cy="2524275"/>
          </a:xfrm>
        </p:grpSpPr>
        <p:pic>
          <p:nvPicPr>
            <p:cNvPr id="909" name="Google Shape;909;p36"/>
            <p:cNvPicPr preferRelativeResize="0"/>
            <p:nvPr/>
          </p:nvPicPr>
          <p:blipFill rotWithShape="1">
            <a:blip r:embed="rId3">
              <a:alphaModFix/>
            </a:blip>
            <a:srcRect b="0" l="0" r="0" t="0"/>
            <a:stretch/>
          </p:blipFill>
          <p:spPr>
            <a:xfrm>
              <a:off x="1328738" y="2090738"/>
              <a:ext cx="581100" cy="628800"/>
            </a:xfrm>
            <a:prstGeom prst="rect">
              <a:avLst/>
            </a:prstGeom>
            <a:noFill/>
            <a:ln>
              <a:noFill/>
            </a:ln>
          </p:spPr>
        </p:pic>
        <p:pic>
          <p:nvPicPr>
            <p:cNvPr id="910" name="Google Shape;910;p36"/>
            <p:cNvPicPr preferRelativeResize="0"/>
            <p:nvPr/>
          </p:nvPicPr>
          <p:blipFill rotWithShape="1">
            <a:blip r:embed="rId4">
              <a:alphaModFix/>
            </a:blip>
            <a:srcRect b="0" l="0" r="0" t="0"/>
            <a:stretch/>
          </p:blipFill>
          <p:spPr>
            <a:xfrm>
              <a:off x="7234238" y="2090738"/>
              <a:ext cx="581100" cy="628800"/>
            </a:xfrm>
            <a:prstGeom prst="rect">
              <a:avLst/>
            </a:prstGeom>
            <a:noFill/>
            <a:ln>
              <a:noFill/>
            </a:ln>
          </p:spPr>
        </p:pic>
        <p:grpSp>
          <p:nvGrpSpPr>
            <p:cNvPr id="911" name="Google Shape;911;p36"/>
            <p:cNvGrpSpPr/>
            <p:nvPr/>
          </p:nvGrpSpPr>
          <p:grpSpPr>
            <a:xfrm>
              <a:off x="1333500" y="1238250"/>
              <a:ext cx="6477000" cy="857400"/>
              <a:chOff x="0" y="0"/>
              <a:chExt cx="6477000" cy="857400"/>
            </a:xfrm>
          </p:grpSpPr>
          <p:sp>
            <p:nvSpPr>
              <p:cNvPr id="912" name="Google Shape;912;p36"/>
              <p:cNvSpPr/>
              <p:nvPr/>
            </p:nvSpPr>
            <p:spPr>
              <a:xfrm>
                <a:off x="0" y="0"/>
                <a:ext cx="6477000" cy="857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13" name="Google Shape;913;p36"/>
              <p:cNvCxnSpPr/>
              <p:nvPr/>
            </p:nvCxnSpPr>
            <p:spPr>
              <a:xfrm>
                <a:off x="0" y="0"/>
                <a:ext cx="64770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914" name="Google Shape;914;p36"/>
              <p:cNvSpPr txBox="1"/>
              <p:nvPr/>
            </p:nvSpPr>
            <p:spPr>
              <a:xfrm>
                <a:off x="190500" y="142875"/>
                <a:ext cx="6096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PHASE 01 // PROBLEM FORMULATION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Mathematical formulation</a:t>
                </a:r>
                <a:r>
                  <a:rPr b="0" i="0" lang="en-GB" sz="1050" u="none" strike="noStrike">
                    <a:solidFill>
                      <a:srgbClr val="111315"/>
                    </a:solidFill>
                    <a:latin typeface="Inter"/>
                    <a:ea typeface="Inter"/>
                    <a:cs typeface="Inter"/>
                    <a:sym typeface="Inter"/>
                  </a:rPr>
                  <a:t> defined by Cordoba &amp; Martinez-Zoroa (2023) and Buckmaster &amp; Alpoge (2026).</a:t>
                </a:r>
                <a:endParaRPr b="0" i="0" sz="750" u="none" strike="noStrike">
                  <a:solidFill>
                    <a:srgbClr val="D9381E"/>
                  </a:solidFill>
                  <a:latin typeface="JetBrains Mono"/>
                  <a:ea typeface="JetBrains Mono"/>
                  <a:cs typeface="JetBrains Mono"/>
                  <a:sym typeface="JetBrains Mono"/>
                </a:endParaRPr>
              </a:p>
            </p:txBody>
          </p:sp>
        </p:grpSp>
        <p:grpSp>
          <p:nvGrpSpPr>
            <p:cNvPr id="915" name="Google Shape;915;p36"/>
            <p:cNvGrpSpPr/>
            <p:nvPr/>
          </p:nvGrpSpPr>
          <p:grpSpPr>
            <a:xfrm>
              <a:off x="4533900" y="2190750"/>
              <a:ext cx="76200" cy="476250"/>
              <a:chOff x="-38100" y="0"/>
              <a:chExt cx="76200" cy="476250"/>
            </a:xfrm>
          </p:grpSpPr>
          <p:cxnSp>
            <p:nvCxnSpPr>
              <p:cNvPr id="916" name="Google Shape;916;p36"/>
              <p:cNvCxnSpPr/>
              <p:nvPr/>
            </p:nvCxnSpPr>
            <p:spPr>
              <a:xfrm>
                <a:off x="0" y="0"/>
                <a:ext cx="0" cy="4002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17" name="Google Shape;917;p36"/>
              <p:cNvSpPr/>
              <p:nvPr/>
            </p:nvSpPr>
            <p:spPr>
              <a:xfrm>
                <a:off x="-38100" y="400050"/>
                <a:ext cx="76200" cy="762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918" name="Google Shape;918;p36"/>
            <p:cNvGrpSpPr/>
            <p:nvPr/>
          </p:nvGrpSpPr>
          <p:grpSpPr>
            <a:xfrm>
              <a:off x="1905000" y="2714625"/>
              <a:ext cx="5334000" cy="1047900"/>
              <a:chOff x="0" y="0"/>
              <a:chExt cx="5334000" cy="1047900"/>
            </a:xfrm>
          </p:grpSpPr>
          <p:sp>
            <p:nvSpPr>
              <p:cNvPr id="919" name="Google Shape;919;p36"/>
              <p:cNvSpPr/>
              <p:nvPr/>
            </p:nvSpPr>
            <p:spPr>
              <a:xfrm>
                <a:off x="0" y="0"/>
                <a:ext cx="5334000" cy="1047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20" name="Google Shape;920;p36"/>
              <p:cNvCxnSpPr/>
              <p:nvPr/>
            </p:nvCxnSpPr>
            <p:spPr>
              <a:xfrm>
                <a:off x="0" y="0"/>
                <a:ext cx="53340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921" name="Google Shape;921;p36"/>
              <p:cNvSpPr txBox="1"/>
              <p:nvPr/>
            </p:nvSpPr>
            <p:spPr>
              <a:xfrm>
                <a:off x="190500" y="142875"/>
                <a:ext cx="4953000" cy="7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PHASE 02 // AUTOMATED SEARCH</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Algorithmic search:</a:t>
                </a:r>
                <a:r>
                  <a:rPr b="0" i="0" lang="en-GB" sz="1050" u="none" strike="noStrike">
                    <a:solidFill>
                      <a:srgbClr val="111315"/>
                    </a:solidFill>
                    <a:latin typeface="Inter"/>
                    <a:ea typeface="Inter"/>
                    <a:cs typeface="Inter"/>
                    <a:sym typeface="Inter"/>
                  </a:rPr>
                  <a:t> 10,000 automated search processes executed across candidate proof steps within formal verification tools.</a:t>
                </a:r>
                <a:endParaRPr b="0" i="0" sz="750" u="none" strike="noStrike">
                  <a:solidFill>
                    <a:srgbClr val="1D4ED8"/>
                  </a:solidFill>
                  <a:latin typeface="JetBrains Mono"/>
                  <a:ea typeface="JetBrains Mono"/>
                  <a:cs typeface="JetBrains Mono"/>
                  <a:sym typeface="JetBrains Mono"/>
                </a:endParaRPr>
              </a:p>
            </p:txBody>
          </p:sp>
        </p:grpSp>
      </p:grpSp>
      <p:sp>
        <p:nvSpPr>
          <p:cNvPr id="922" name="Google Shape;922;p36"/>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Cordoba &amp; Martinez-Zoroa (2023); Buckmaster &amp; Alpoge (2026); OpenAI (2026).</a:t>
            </a:r>
            <a:endParaRPr b="0" sz="750">
              <a:solidFill>
                <a:srgbClr val="5A626A"/>
              </a:solidFill>
              <a:latin typeface="JetBrains Mono"/>
              <a:ea typeface="JetBrains Mono"/>
              <a:cs typeface="JetBrains Mono"/>
              <a:sym typeface="JetBrains Mono"/>
            </a:endParaRPr>
          </a:p>
        </p:txBody>
      </p:sp>
      <p:grpSp>
        <p:nvGrpSpPr>
          <p:cNvPr id="923" name="Google Shape;923;p36"/>
          <p:cNvGrpSpPr/>
          <p:nvPr/>
        </p:nvGrpSpPr>
        <p:grpSpPr>
          <a:xfrm>
            <a:off x="381000" y="4762500"/>
            <a:ext cx="8382000" cy="285750"/>
            <a:chOff x="381000" y="4762500"/>
            <a:chExt cx="8382000" cy="285750"/>
          </a:xfrm>
        </p:grpSpPr>
        <p:cxnSp>
          <p:nvCxnSpPr>
            <p:cNvPr id="924" name="Google Shape;924;p3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25" name="Google Shape;925;p3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9" name="Shape 929"/>
        <p:cNvGrpSpPr/>
        <p:nvPr/>
      </p:nvGrpSpPr>
      <p:grpSpPr>
        <a:xfrm>
          <a:off x="0" y="0"/>
          <a:ext cx="0" cy="0"/>
          <a:chOff x="0" y="0"/>
          <a:chExt cx="0" cy="0"/>
        </a:xfrm>
      </p:grpSpPr>
      <p:sp>
        <p:nvSpPr>
          <p:cNvPr id="930" name="Google Shape;930;p37"/>
          <p:cNvSpPr txBox="1"/>
          <p:nvPr/>
        </p:nvSpPr>
        <p:spPr>
          <a:xfrm>
            <a:off x="381000" y="342900"/>
            <a:ext cx="83820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950" u="none" strike="noStrike">
                <a:solidFill>
                  <a:srgbClr val="111315"/>
                </a:solidFill>
                <a:latin typeface="Space Grotesk"/>
                <a:ea typeface="Space Grotesk"/>
                <a:cs typeface="Space Grotesk"/>
                <a:sym typeface="Space Grotesk"/>
              </a:rPr>
              <a:t>Cross-Domain Structural Mapping</a:t>
            </a:r>
            <a:endParaRPr b="1" i="0" sz="1950" u="none" strike="noStrike">
              <a:solidFill>
                <a:srgbClr val="111315"/>
              </a:solidFill>
              <a:latin typeface="Space Grotesk"/>
              <a:ea typeface="Space Grotesk"/>
              <a:cs typeface="Space Grotesk"/>
              <a:sym typeface="Space Grotesk"/>
            </a:endParaRPr>
          </a:p>
        </p:txBody>
      </p:sp>
      <p:sp>
        <p:nvSpPr>
          <p:cNvPr id="931" name="Google Shape;931;p37"/>
          <p:cNvSpPr txBox="1"/>
          <p:nvPr/>
        </p:nvSpPr>
        <p:spPr>
          <a:xfrm>
            <a:off x="381000" y="7239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125" u="none" strike="noStrike">
                <a:solidFill>
                  <a:srgbClr val="5A626A"/>
                </a:solidFill>
                <a:latin typeface="Space Grotesk Medium"/>
                <a:ea typeface="Space Grotesk Medium"/>
                <a:cs typeface="Space Grotesk Medium"/>
                <a:sym typeface="Space Grotesk Medium"/>
              </a:rPr>
              <a:t>Large models contain text from multiple disciplines. Mathematical formulations from one field can be transferred to problems in other fields.</a:t>
            </a:r>
            <a:endParaRPr b="0" i="0" sz="1125" u="none" strike="noStrike">
              <a:solidFill>
                <a:srgbClr val="5A626A"/>
              </a:solidFill>
              <a:latin typeface="Space Grotesk Medium"/>
              <a:ea typeface="Space Grotesk Medium"/>
              <a:cs typeface="Space Grotesk Medium"/>
              <a:sym typeface="Space Grotesk Medium"/>
            </a:endParaRPr>
          </a:p>
        </p:txBody>
      </p:sp>
      <p:grpSp>
        <p:nvGrpSpPr>
          <p:cNvPr id="932" name="Google Shape;932;p37"/>
          <p:cNvGrpSpPr/>
          <p:nvPr/>
        </p:nvGrpSpPr>
        <p:grpSpPr>
          <a:xfrm>
            <a:off x="571500" y="1524000"/>
            <a:ext cx="8001000" cy="2476500"/>
            <a:chOff x="571500" y="1524000"/>
            <a:chExt cx="8001000" cy="2476500"/>
          </a:xfrm>
        </p:grpSpPr>
        <p:grpSp>
          <p:nvGrpSpPr>
            <p:cNvPr id="933" name="Google Shape;933;p37"/>
            <p:cNvGrpSpPr/>
            <p:nvPr/>
          </p:nvGrpSpPr>
          <p:grpSpPr>
            <a:xfrm>
              <a:off x="571500" y="1524000"/>
              <a:ext cx="3238500" cy="2476500"/>
              <a:chOff x="571500" y="1524000"/>
              <a:chExt cx="3238500" cy="2476500"/>
            </a:xfrm>
          </p:grpSpPr>
          <p:sp>
            <p:nvSpPr>
              <p:cNvPr id="934" name="Google Shape;934;p37"/>
              <p:cNvSpPr/>
              <p:nvPr/>
            </p:nvSpPr>
            <p:spPr>
              <a:xfrm>
                <a:off x="5715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5" name="Google Shape;935;p37"/>
              <p:cNvSpPr/>
              <p:nvPr/>
            </p:nvSpPr>
            <p:spPr>
              <a:xfrm>
                <a:off x="5715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6" name="Google Shape;936;p37"/>
              <p:cNvSpPr txBox="1"/>
              <p:nvPr/>
            </p:nvSpPr>
            <p:spPr>
              <a:xfrm>
                <a:off x="7143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SOURCE DOMAINS // FIELD A</a:t>
                </a:r>
                <a:endParaRPr b="1" sz="750">
                  <a:solidFill>
                    <a:srgbClr val="1D4ED8"/>
                  </a:solidFill>
                  <a:latin typeface="JetBrains Mono"/>
                  <a:ea typeface="JetBrains Mono"/>
                  <a:cs typeface="JetBrains Mono"/>
                  <a:sym typeface="JetBrains Mono"/>
                </a:endParaRPr>
              </a:p>
            </p:txBody>
          </p:sp>
          <p:sp>
            <p:nvSpPr>
              <p:cNvPr id="937" name="Google Shape;937;p37"/>
              <p:cNvSpPr txBox="1"/>
              <p:nvPr/>
            </p:nvSpPr>
            <p:spPr>
              <a:xfrm>
                <a:off x="762000" y="1981200"/>
                <a:ext cx="2857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Epidemiology</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Kermack &amp; McKendrick, 1927</a:t>
                </a:r>
                <a:endParaRPr b="0" sz="750">
                  <a:solidFill>
                    <a:srgbClr val="5A626A"/>
                  </a:solidFill>
                  <a:latin typeface="JetBrains Mono"/>
                  <a:ea typeface="JetBrains Mono"/>
                  <a:cs typeface="JetBrains Mono"/>
                  <a:sym typeface="JetBrains Mono"/>
                </a:endParaRPr>
              </a:p>
            </p:txBody>
          </p:sp>
          <p:cxnSp>
            <p:nvCxnSpPr>
              <p:cNvPr id="938" name="Google Shape;938;p37"/>
              <p:cNvCxnSpPr/>
              <p:nvPr/>
            </p:nvCxnSpPr>
            <p:spPr>
              <a:xfrm>
                <a:off x="7620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39" name="Google Shape;939;p37"/>
              <p:cNvSpPr txBox="1"/>
              <p:nvPr/>
            </p:nvSpPr>
            <p:spPr>
              <a:xfrm>
                <a:off x="762000" y="2819400"/>
                <a:ext cx="28575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Game Theory / Consensus</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DeGroot, 1974</a:t>
                </a:r>
                <a:endParaRPr b="0" sz="750">
                  <a:solidFill>
                    <a:srgbClr val="5A626A"/>
                  </a:solidFill>
                  <a:latin typeface="JetBrains Mono"/>
                  <a:ea typeface="JetBrains Mono"/>
                  <a:cs typeface="JetBrains Mono"/>
                  <a:sym typeface="JetBrains Mono"/>
                </a:endParaRPr>
              </a:p>
              <a:p>
                <a:pPr indent="0" lvl="0" marL="0" rtl="0" algn="l">
                  <a:spcBef>
                    <a:spcPts val="900"/>
                  </a:spcBef>
                  <a:spcAft>
                    <a:spcPts val="0"/>
                  </a:spcAft>
                  <a:buNone/>
                </a:pPr>
                <a:r>
                  <a:rPr b="0" i="1" lang="en-GB" sz="750">
                    <a:solidFill>
                      <a:srgbClr val="5A626A"/>
                    </a:solidFill>
                    <a:latin typeface="JetBrains Mono"/>
                    <a:ea typeface="JetBrains Mono"/>
                    <a:cs typeface="JetBrains Mono"/>
                    <a:sym typeface="JetBrains Mono"/>
                  </a:rPr>
                  <a:t>Mathematical abstractions for network state transitions &amp; opinion dynamics.</a:t>
                </a:r>
                <a:endParaRPr b="0" i="1" sz="750">
                  <a:solidFill>
                    <a:srgbClr val="5A626A"/>
                  </a:solidFill>
                  <a:latin typeface="JetBrains Mono"/>
                  <a:ea typeface="JetBrains Mono"/>
                  <a:cs typeface="JetBrains Mono"/>
                  <a:sym typeface="JetBrains Mono"/>
                </a:endParaRPr>
              </a:p>
            </p:txBody>
          </p:sp>
        </p:grpSp>
        <p:grpSp>
          <p:nvGrpSpPr>
            <p:cNvPr id="940" name="Google Shape;940;p37"/>
            <p:cNvGrpSpPr/>
            <p:nvPr/>
          </p:nvGrpSpPr>
          <p:grpSpPr>
            <a:xfrm>
              <a:off x="3810000" y="2047875"/>
              <a:ext cx="1524150" cy="1428900"/>
              <a:chOff x="3810000" y="2047875"/>
              <a:chExt cx="1524150" cy="1428900"/>
            </a:xfrm>
          </p:grpSpPr>
          <p:cxnSp>
            <p:nvCxnSpPr>
              <p:cNvPr id="941" name="Google Shape;941;p37"/>
              <p:cNvCxnSpPr/>
              <p:nvPr/>
            </p:nvCxnSpPr>
            <p:spPr>
              <a:xfrm>
                <a:off x="381000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cxnSp>
            <p:nvCxnSpPr>
              <p:cNvPr id="942" name="Google Shape;942;p37"/>
              <p:cNvCxnSpPr/>
              <p:nvPr/>
            </p:nvCxnSpPr>
            <p:spPr>
              <a:xfrm>
                <a:off x="523875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943" name="Google Shape;943;p37"/>
              <p:cNvSpPr/>
              <p:nvPr/>
            </p:nvSpPr>
            <p:spPr>
              <a:xfrm>
                <a:off x="5267325" y="2714625"/>
                <a:ext cx="66600" cy="95400"/>
              </a:xfrm>
              <a:custGeom>
                <a:rect b="b" l="l" r="r" t="t"/>
                <a:pathLst>
                  <a:path extrusionOk="0" h="120000" w="120000">
                    <a:moveTo>
                      <a:pt x="0" y="0"/>
                    </a:moveTo>
                    <a:lnTo>
                      <a:pt x="120000" y="60000"/>
                    </a:lnTo>
                    <a:lnTo>
                      <a:pt x="0" y="12000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4" name="Google Shape;944;p37"/>
              <p:cNvSpPr/>
              <p:nvPr/>
            </p:nvSpPr>
            <p:spPr>
              <a:xfrm>
                <a:off x="3905250" y="2047875"/>
                <a:ext cx="13335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5" name="Google Shape;945;p37"/>
              <p:cNvSpPr/>
              <p:nvPr/>
            </p:nvSpPr>
            <p:spPr>
              <a:xfrm>
                <a:off x="3905250" y="2047875"/>
                <a:ext cx="1333500" cy="2667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6" name="Google Shape;946;p37"/>
              <p:cNvSpPr txBox="1"/>
              <p:nvPr/>
            </p:nvSpPr>
            <p:spPr>
              <a:xfrm>
                <a:off x="3905250" y="2105025"/>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STRUCTURAL MAPPING</a:t>
                </a:r>
                <a:endParaRPr b="1" i="0" sz="750" u="none" strike="noStrike">
                  <a:solidFill>
                    <a:srgbClr val="FFFFFF"/>
                  </a:solidFill>
                  <a:latin typeface="JetBrains Mono"/>
                  <a:ea typeface="JetBrains Mono"/>
                  <a:cs typeface="JetBrains Mono"/>
                  <a:sym typeface="JetBrains Mono"/>
                </a:endParaRPr>
              </a:p>
            </p:txBody>
          </p:sp>
          <p:sp>
            <p:nvSpPr>
              <p:cNvPr id="947" name="Google Shape;947;p37"/>
              <p:cNvSpPr txBox="1"/>
              <p:nvPr/>
            </p:nvSpPr>
            <p:spPr>
              <a:xfrm>
                <a:off x="3981450" y="2409825"/>
                <a:ext cx="11811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1050" u="none" strike="noStrike">
                    <a:solidFill>
                      <a:srgbClr val="D9381E"/>
                    </a:solidFill>
                    <a:latin typeface="Inter"/>
                    <a:ea typeface="Inter"/>
                    <a:cs typeface="Inter"/>
                    <a:sym typeface="Inter"/>
                  </a:rPr>
                  <a:t>(Operator Selection and Input)</a:t>
                </a:r>
                <a:endParaRPr b="1" i="0" sz="1050" u="none" strike="noStrike">
                  <a:solidFill>
                    <a:srgbClr val="D9381E"/>
                  </a:solidFill>
                  <a:latin typeface="Inter"/>
                  <a:ea typeface="Inter"/>
                  <a:cs typeface="Inter"/>
                  <a:sym typeface="Inter"/>
                </a:endParaRPr>
              </a:p>
              <a:p>
                <a:pPr indent="0" lvl="0" marL="0" marR="0" rtl="0" algn="ctr">
                  <a:lnSpc>
                    <a:spcPct val="100000"/>
                  </a:lnSpc>
                  <a:spcBef>
                    <a:spcPts val="450"/>
                  </a:spcBef>
                  <a:spcAft>
                    <a:spcPts val="0"/>
                  </a:spcAft>
                  <a:buNone/>
                </a:pPr>
                <a:r>
                  <a:rPr b="0" i="0" lang="en-GB" sz="675" u="none" strike="noStrike">
                    <a:solidFill>
                      <a:srgbClr val="5A626A"/>
                    </a:solidFill>
                    <a:latin typeface="JetBrains Mono"/>
                    <a:ea typeface="JetBrains Mono"/>
                    <a:cs typeface="JetBrains Mono"/>
                    <a:sym typeface="JetBrains Mono"/>
                  </a:rPr>
                  <a:t>Cross-domain model mapping</a:t>
                </a:r>
                <a:endParaRPr b="1" i="0" sz="1050" u="none" strike="noStrike">
                  <a:solidFill>
                    <a:srgbClr val="D9381E"/>
                  </a:solidFill>
                  <a:latin typeface="Inter"/>
                  <a:ea typeface="Inter"/>
                  <a:cs typeface="Inter"/>
                  <a:sym typeface="Inter"/>
                </a:endParaRPr>
              </a:p>
            </p:txBody>
          </p:sp>
        </p:grpSp>
        <p:grpSp>
          <p:nvGrpSpPr>
            <p:cNvPr id="948" name="Google Shape;948;p37"/>
            <p:cNvGrpSpPr/>
            <p:nvPr/>
          </p:nvGrpSpPr>
          <p:grpSpPr>
            <a:xfrm>
              <a:off x="5334000" y="1524000"/>
              <a:ext cx="3238500" cy="2476500"/>
              <a:chOff x="5334000" y="1524000"/>
              <a:chExt cx="3238500" cy="2476500"/>
            </a:xfrm>
          </p:grpSpPr>
          <p:sp>
            <p:nvSpPr>
              <p:cNvPr id="949" name="Google Shape;949;p37"/>
              <p:cNvSpPr/>
              <p:nvPr/>
            </p:nvSpPr>
            <p:spPr>
              <a:xfrm>
                <a:off x="53340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0" name="Google Shape;950;p37"/>
              <p:cNvSpPr/>
              <p:nvPr/>
            </p:nvSpPr>
            <p:spPr>
              <a:xfrm>
                <a:off x="53340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1" name="Google Shape;951;p37"/>
              <p:cNvSpPr txBox="1"/>
              <p:nvPr/>
            </p:nvSpPr>
            <p:spPr>
              <a:xfrm>
                <a:off x="54768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TARGET DOMAIN // FIELD B</a:t>
                </a:r>
                <a:endParaRPr b="1" sz="750">
                  <a:solidFill>
                    <a:srgbClr val="D9381E"/>
                  </a:solidFill>
                  <a:latin typeface="JetBrains Mono"/>
                  <a:ea typeface="JetBrains Mono"/>
                  <a:cs typeface="JetBrains Mono"/>
                  <a:sym typeface="JetBrains Mono"/>
                </a:endParaRPr>
              </a:p>
            </p:txBody>
          </p:sp>
          <p:sp>
            <p:nvSpPr>
              <p:cNvPr id="952" name="Google Shape;952;p37"/>
              <p:cNvSpPr txBox="1"/>
              <p:nvPr/>
            </p:nvSpPr>
            <p:spPr>
              <a:xfrm>
                <a:off x="5524500" y="1981200"/>
                <a:ext cx="28575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Information Propagation</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0" i="0" lang="en-GB" sz="750" u="none" strike="noStrike">
                    <a:solidFill>
                      <a:srgbClr val="5A626A"/>
                    </a:solidFill>
                    <a:latin typeface="JetBrains Mono"/>
                    <a:ea typeface="JetBrains Mono"/>
                    <a:cs typeface="JetBrains Mono"/>
                    <a:sym typeface="JetBrains Mono"/>
                  </a:rPr>
                  <a:t>Across 1,000,000+ Graph Nodes</a:t>
                </a:r>
                <a:endParaRPr b="1" i="0" sz="1050" u="none" strike="noStrike">
                  <a:solidFill>
                    <a:srgbClr val="111315"/>
                  </a:solidFill>
                  <a:latin typeface="Inter"/>
                  <a:ea typeface="Inter"/>
                  <a:cs typeface="Inter"/>
                  <a:sym typeface="Inter"/>
                </a:endParaRPr>
              </a:p>
            </p:txBody>
          </p:sp>
          <p:cxnSp>
            <p:nvCxnSpPr>
              <p:cNvPr id="953" name="Google Shape;953;p37"/>
              <p:cNvCxnSpPr/>
              <p:nvPr/>
            </p:nvCxnSpPr>
            <p:spPr>
              <a:xfrm>
                <a:off x="55245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54" name="Google Shape;954;p37"/>
              <p:cNvSpPr txBox="1"/>
              <p:nvPr/>
            </p:nvSpPr>
            <p:spPr>
              <a:xfrm>
                <a:off x="5524500" y="2819400"/>
                <a:ext cx="2857500" cy="1047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Documented Implementations</a:t>
                </a:r>
                <a:endParaRPr b="1" i="0" sz="1050" u="none" strike="noStrike">
                  <a:solidFill>
                    <a:srgbClr val="111315"/>
                  </a:solidFill>
                  <a:latin typeface="Inter"/>
                  <a:ea typeface="Inter"/>
                  <a:cs typeface="Inter"/>
                  <a:sym typeface="Inter"/>
                </a:endParaRPr>
              </a:p>
              <a:p>
                <a:pPr indent="0" lvl="0" marL="0" marR="0" rtl="0" algn="l">
                  <a:lnSpc>
                    <a:spcPct val="100000"/>
                  </a:lnSpc>
                  <a:spcBef>
                    <a:spcPts val="450"/>
                  </a:spcBef>
                  <a:spcAft>
                    <a:spcPts val="0"/>
                  </a:spcAft>
                  <a:buNone/>
                </a:pPr>
                <a:r>
                  <a:rPr b="1" i="0" lang="en-GB" sz="825" u="none" strike="noStrike">
                    <a:solidFill>
                      <a:srgbClr val="111315"/>
                    </a:solidFill>
                    <a:latin typeface="JetBrains Mono"/>
                    <a:ea typeface="JetBrains Mono"/>
                    <a:cs typeface="JetBrains Mono"/>
                    <a:sym typeface="JetBrains Mono"/>
                  </a:rPr>
                  <a:t>• Network Propagation Formulations (Haldar 2022)</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1" i="0" lang="en-GB" sz="825" u="none" strike="noStrike">
                    <a:solidFill>
                      <a:srgbClr val="111315"/>
                    </a:solidFill>
                    <a:latin typeface="JetBrains Mono"/>
                    <a:ea typeface="JetBrains Mono"/>
                    <a:cs typeface="JetBrains Mono"/>
                    <a:sym typeface="JetBrains Mono"/>
                  </a:rPr>
                  <a:t>• Graph Network Library (Haldar 2023)</a:t>
                </a:r>
                <a:endParaRPr b="1" i="0" sz="1050" u="none" strike="noStrike">
                  <a:solidFill>
                    <a:srgbClr val="111315"/>
                  </a:solidFill>
                  <a:latin typeface="Inter"/>
                  <a:ea typeface="Inter"/>
                  <a:cs typeface="Inter"/>
                  <a:sym typeface="Inter"/>
                </a:endParaRPr>
              </a:p>
            </p:txBody>
          </p:sp>
        </p:grpSp>
      </p:grpSp>
      <p:sp>
        <p:nvSpPr>
          <p:cNvPr id="955" name="Google Shape;955;p37"/>
          <p:cNvSpPr txBox="1"/>
          <p:nvPr/>
        </p:nvSpPr>
        <p:spPr>
          <a:xfrm>
            <a:off x="571500" y="4305300"/>
            <a:ext cx="8001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STRUCTURE: Application of epidemic and consensus equations to network graph architectures.</a:t>
            </a:r>
            <a:endParaRPr b="0" i="0" sz="750" u="none" strike="noStrike">
              <a:solidFill>
                <a:srgbClr val="5A626A"/>
              </a:solidFill>
              <a:latin typeface="JetBrains Mono"/>
              <a:ea typeface="JetBrains Mono"/>
              <a:cs typeface="JetBrains Mono"/>
              <a:sym typeface="JetBrains Mono"/>
            </a:endParaRPr>
          </a:p>
        </p:txBody>
      </p:sp>
      <p:grpSp>
        <p:nvGrpSpPr>
          <p:cNvPr id="956" name="Google Shape;956;p37"/>
          <p:cNvGrpSpPr/>
          <p:nvPr/>
        </p:nvGrpSpPr>
        <p:grpSpPr>
          <a:xfrm>
            <a:off x="381000" y="4762500"/>
            <a:ext cx="8382000" cy="285750"/>
            <a:chOff x="381000" y="4762500"/>
            <a:chExt cx="8382000" cy="285750"/>
          </a:xfrm>
        </p:grpSpPr>
        <p:cxnSp>
          <p:nvCxnSpPr>
            <p:cNvPr id="957" name="Google Shape;957;p3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58" name="Google Shape;958;p3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000" u="none" strike="noStrike">
                <a:solidFill>
                  <a:srgbClr val="111315"/>
                </a:solidFill>
                <a:latin typeface="Space Grotesk"/>
                <a:ea typeface="Space Grotesk"/>
                <a:cs typeface="Space Grotesk"/>
                <a:sym typeface="Space Grotesk"/>
              </a:rPr>
              <a:t>Model Utility: General-Purpose Optimization and Retrieval</a:t>
            </a:r>
            <a:endParaRPr b="0" i="0" sz="2000" u="none" strike="noStrike">
              <a:solidFill>
                <a:srgbClr val="111315"/>
              </a:solidFill>
              <a:latin typeface="Space Grotesk"/>
              <a:ea typeface="Space Grotesk"/>
              <a:cs typeface="Space Grotesk"/>
              <a:sym typeface="Space Grotesk"/>
            </a:endParaRPr>
          </a:p>
        </p:txBody>
      </p:sp>
      <p:grpSp>
        <p:nvGrpSpPr>
          <p:cNvPr id="964" name="Google Shape;964;p38"/>
          <p:cNvGrpSpPr/>
          <p:nvPr/>
        </p:nvGrpSpPr>
        <p:grpSpPr>
          <a:xfrm>
            <a:off x="381000" y="4762500"/>
            <a:ext cx="8382000" cy="285750"/>
            <a:chOff x="381000" y="4762500"/>
            <a:chExt cx="8382000" cy="285750"/>
          </a:xfrm>
        </p:grpSpPr>
        <p:cxnSp>
          <p:nvCxnSpPr>
            <p:cNvPr id="965" name="Google Shape;965;p3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66" name="Google Shape;966;p3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967" name="Google Shape;967;p38"/>
          <p:cNvSpPr txBox="1"/>
          <p:nvPr/>
        </p:nvSpPr>
        <p:spPr>
          <a:xfrm>
            <a:off x="381000" y="628650"/>
            <a:ext cx="8382000" cy="3240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879" u="none" strike="noStrike">
                <a:solidFill>
                  <a:srgbClr val="5A626A"/>
                </a:solidFill>
                <a:latin typeface="Space Grotesk Medium"/>
                <a:ea typeface="Space Grotesk Medium"/>
                <a:cs typeface="Space Grotesk Medium"/>
                <a:sym typeface="Space Grotesk Medium"/>
              </a:rPr>
              <a:t>Functional profile: Models perform automated iterative candidate generation and validation within defined constraints.</a:t>
            </a:r>
            <a:endParaRPr b="0" i="0" sz="879" u="none" strike="noStrike">
              <a:solidFill>
                <a:srgbClr val="5A626A"/>
              </a:solidFill>
              <a:latin typeface="Space Grotesk Medium"/>
              <a:ea typeface="Space Grotesk Medium"/>
              <a:cs typeface="Space Grotesk Medium"/>
              <a:sym typeface="Space Grotesk Medium"/>
            </a:endParaRPr>
          </a:p>
        </p:txBody>
      </p:sp>
      <p:sp>
        <p:nvSpPr>
          <p:cNvPr id="968" name="Google Shape;968;p38"/>
          <p:cNvSpPr/>
          <p:nvPr/>
        </p:nvSpPr>
        <p:spPr>
          <a:xfrm>
            <a:off x="381000" y="1085850"/>
            <a:ext cx="8382000" cy="2762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69" name="Google Shape;969;p38"/>
          <p:cNvCxnSpPr/>
          <p:nvPr/>
        </p:nvCxnSpPr>
        <p:spPr>
          <a:xfrm>
            <a:off x="381000" y="1085850"/>
            <a:ext cx="8382000" cy="0"/>
          </a:xfrm>
          <a:prstGeom prst="straightConnector1">
            <a:avLst/>
          </a:prstGeom>
          <a:solidFill>
            <a:srgbClr val="FFFFFF"/>
          </a:solidFill>
          <a:ln cap="flat" cmpd="sng" w="38100">
            <a:solidFill>
              <a:srgbClr val="059669"/>
            </a:solidFill>
            <a:prstDash val="solid"/>
            <a:round/>
            <a:headEnd len="sm" w="sm" type="none"/>
            <a:tailEnd len="sm" w="sm" type="none"/>
          </a:ln>
        </p:spPr>
      </p:cxnSp>
      <p:sp>
        <p:nvSpPr>
          <p:cNvPr id="970" name="Google Shape;970;p38"/>
          <p:cNvSpPr txBox="1"/>
          <p:nvPr/>
        </p:nvSpPr>
        <p:spPr>
          <a:xfrm>
            <a:off x="571500" y="1238250"/>
            <a:ext cx="3714900" cy="2457600"/>
          </a:xfrm>
          <a:prstGeom prst="rect">
            <a:avLst/>
          </a:prstGeom>
          <a:solidFill>
            <a:srgbClr val="000000">
              <a:alpha val="0"/>
            </a:srgbClr>
          </a:solidFill>
          <a:ln>
            <a:noFill/>
          </a:ln>
        </p:spPr>
        <p:txBody>
          <a:bodyPr anchorCtr="0" anchor="ctr" bIns="47625" lIns="47625" spcFirstLastPara="1" rIns="47625" wrap="square" tIns="47625">
            <a:noAutofit/>
          </a:bodyPr>
          <a:lstStyle/>
          <a:p>
            <a:pPr indent="0" lvl="0" marL="0" marR="0" rtl="0" algn="l">
              <a:lnSpc>
                <a:spcPct val="100000"/>
              </a:lnSpc>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CASE STUDY 02 // CAD RECONSTRUCTION</a:t>
            </a:r>
            <a:endParaRPr b="0" i="0" sz="80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300" u="none" strike="noStrike">
                <a:solidFill>
                  <a:srgbClr val="111315"/>
                </a:solidFill>
                <a:latin typeface="Inter"/>
                <a:ea typeface="Inter"/>
                <a:cs typeface="Inter"/>
                <a:sym typeface="Inter"/>
              </a:rPr>
              <a:t>CAD Code Reconstruction:</a:t>
            </a:r>
            <a:r>
              <a:rPr b="0" i="0" lang="en-GB" sz="1300" u="none" strike="noStrike">
                <a:solidFill>
                  <a:srgbClr val="111315"/>
                </a:solidFill>
                <a:latin typeface="Inter"/>
                <a:ea typeface="Inter"/>
                <a:cs typeface="Inter"/>
                <a:sym typeface="Inter"/>
              </a:rPr>
              <a:t> CadCraft and PartCraft</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1" i="0" lang="en-GB" sz="950" u="none" strike="noStrike">
                <a:solidFill>
                  <a:srgbClr val="111315"/>
                </a:solidFill>
                <a:latin typeface="Inter"/>
                <a:ea typeface="Inter"/>
                <a:cs typeface="Inter"/>
                <a:sym typeface="Inter"/>
              </a:rPr>
              <a:t>Parametric Code Generation:</a:t>
            </a:r>
            <a:r>
              <a:rPr b="0" i="0" lang="en-GB" sz="950" u="none" strike="noStrike">
                <a:solidFill>
                  <a:srgbClr val="111315"/>
                </a:solidFill>
                <a:latin typeface="Inter"/>
                <a:ea typeface="Inter"/>
                <a:cs typeface="Inter"/>
                <a:sym typeface="Inter"/>
              </a:rPr>
              <a:t> CadCraft and PartCraft generate CAD script commands to reconstruct specified 3D target geometry.</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0" i="0" lang="en-GB" sz="950" u="none" strike="noStrike">
                <a:solidFill>
                  <a:srgbClr val="111315"/>
                </a:solidFill>
                <a:latin typeface="Inter"/>
                <a:ea typeface="Inter"/>
                <a:cs typeface="Inter"/>
                <a:sym typeface="Inter"/>
              </a:rPr>
              <a:t>Closed-Loop Geometry Verification: Model generates script -&gt; CAD kernel executes geometry -&gt; shape discrepancy is calculated -&gt; script updates until geometric tolerance is reached.</a:t>
            </a:r>
            <a:endParaRPr b="0" i="0" sz="800" u="none" strike="noStrike">
              <a:solidFill>
                <a:srgbClr val="059669"/>
              </a:solidFill>
              <a:latin typeface="JetBrains Mono"/>
              <a:ea typeface="JetBrains Mono"/>
              <a:cs typeface="JetBrains Mono"/>
              <a:sym typeface="JetBrains Mono"/>
            </a:endParaRPr>
          </a:p>
        </p:txBody>
      </p:sp>
      <p:pic>
        <p:nvPicPr>
          <p:cNvPr id="971" name="Google Shape;971;p38"/>
          <p:cNvPicPr preferRelativeResize="0"/>
          <p:nvPr/>
        </p:nvPicPr>
        <p:blipFill rotWithShape="1">
          <a:blip r:embed="rId3">
            <a:alphaModFix/>
          </a:blip>
          <a:srcRect b="0" l="1997" r="2006" t="0"/>
          <a:stretch/>
        </p:blipFill>
        <p:spPr>
          <a:xfrm>
            <a:off x="4476750" y="1276350"/>
            <a:ext cx="4095900" cy="2381400"/>
          </a:xfrm>
          <a:prstGeom prst="rect">
            <a:avLst/>
          </a:prstGeom>
          <a:noFill/>
          <a:ln>
            <a:noFill/>
          </a:ln>
        </p:spPr>
      </p:pic>
      <p:sp>
        <p:nvSpPr>
          <p:cNvPr id="972" name="Google Shape;972;p38"/>
          <p:cNvSpPr txBox="1"/>
          <p:nvPr/>
        </p:nvSpPr>
        <p:spPr>
          <a:xfrm>
            <a:off x="381000" y="4038600"/>
            <a:ext cx="8382000" cy="4953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76200" lIns="152400" spcFirstLastPara="1" rIns="152400" wrap="square" tIns="76200">
            <a:noAutofit/>
          </a:bodyPr>
          <a:lstStyle/>
          <a:p>
            <a:pPr indent="0" lvl="0" marL="0" marR="0" rtl="0" algn="ctr">
              <a:spcBef>
                <a:spcPts val="0"/>
              </a:spcBef>
              <a:spcAft>
                <a:spcPts val="0"/>
              </a:spcAft>
              <a:buNone/>
            </a:pPr>
            <a:r>
              <a:rPr b="1" i="0" lang="en-GB" sz="850" u="none" strike="noStrike">
                <a:solidFill>
                  <a:srgbClr val="111315"/>
                </a:solidFill>
                <a:latin typeface="JetBrains Mono"/>
                <a:ea typeface="JetBrains Mono"/>
                <a:cs typeface="JetBrains Mono"/>
                <a:sym typeface="JetBrains Mono"/>
              </a:rPr>
              <a:t>SUMMARY:</a:t>
            </a:r>
            <a:r>
              <a:rPr b="0" i="0" lang="en-GB" sz="850" u="none" strike="noStrike">
                <a:solidFill>
                  <a:srgbClr val="111315"/>
                </a:solidFill>
                <a:latin typeface="JetBrains Mono"/>
                <a:ea typeface="JetBrains Mono"/>
                <a:cs typeface="JetBrains Mono"/>
                <a:sym typeface="JetBrains Mono"/>
              </a:rPr>
              <a:t> Models operate as iterative search systems and structured retrieval engines when paired with deterministic execution environments.</a:t>
            </a:r>
            <a:endParaRPr b="1" i="0" sz="850" u="none" strike="noStrike">
              <a:solidFill>
                <a:srgbClr val="111315"/>
              </a:solidFill>
              <a:latin typeface="JetBrains Mono"/>
              <a:ea typeface="JetBrains Mono"/>
              <a:cs typeface="JetBrains Mono"/>
              <a:sym typeface="JetBrains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39"/>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000" u="none" strike="noStrike">
                <a:solidFill>
                  <a:srgbClr val="111315"/>
                </a:solidFill>
                <a:latin typeface="Space Grotesk"/>
                <a:ea typeface="Space Grotesk"/>
                <a:cs typeface="Space Grotesk"/>
                <a:sym typeface="Space Grotesk"/>
              </a:rPr>
              <a:t>Reference Material and Technical Documentation</a:t>
            </a:r>
            <a:endParaRPr b="1" i="0" sz="2000" u="none" strike="noStrike">
              <a:solidFill>
                <a:srgbClr val="111315"/>
              </a:solidFill>
              <a:latin typeface="Space Grotesk"/>
              <a:ea typeface="Space Grotesk"/>
              <a:cs typeface="Space Grotesk"/>
              <a:sym typeface="Space Grotesk"/>
            </a:endParaRPr>
          </a:p>
        </p:txBody>
      </p:sp>
      <p:grpSp>
        <p:nvGrpSpPr>
          <p:cNvPr id="978" name="Google Shape;978;p39"/>
          <p:cNvGrpSpPr/>
          <p:nvPr/>
        </p:nvGrpSpPr>
        <p:grpSpPr>
          <a:xfrm>
            <a:off x="381000" y="4762500"/>
            <a:ext cx="8382000" cy="285750"/>
            <a:chOff x="381000" y="4762500"/>
            <a:chExt cx="8382000" cy="285750"/>
          </a:xfrm>
        </p:grpSpPr>
        <p:cxnSp>
          <p:nvCxnSpPr>
            <p:cNvPr id="979" name="Google Shape;979;p3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80" name="Google Shape;980;p3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981" name="Google Shape;981;p39"/>
          <p:cNvSpPr txBox="1"/>
          <p:nvPr/>
        </p:nvSpPr>
        <p:spPr>
          <a:xfrm>
            <a:off x="381000" y="628650"/>
            <a:ext cx="8382000" cy="3429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950" u="none" strike="noStrike">
                <a:solidFill>
                  <a:srgbClr val="5A626A"/>
                </a:solidFill>
                <a:latin typeface="Space Grotesk"/>
                <a:ea typeface="Space Grotesk"/>
                <a:cs typeface="Space Grotesk"/>
                <a:sym typeface="Space Grotesk"/>
              </a:rPr>
              <a:t>Technical documentation, mathematics references, and visualizations of neural network functions.</a:t>
            </a:r>
            <a:endParaRPr b="0" i="0" sz="950" u="none" strike="noStrike">
              <a:solidFill>
                <a:srgbClr val="5A626A"/>
              </a:solidFill>
              <a:latin typeface="Space Grotesk"/>
              <a:ea typeface="Space Grotesk"/>
              <a:cs typeface="Space Grotesk"/>
              <a:sym typeface="Space Grotesk"/>
            </a:endParaRPr>
          </a:p>
        </p:txBody>
      </p:sp>
      <p:sp>
        <p:nvSpPr>
          <p:cNvPr id="982" name="Google Shape;982;p39"/>
          <p:cNvSpPr/>
          <p:nvPr/>
        </p:nvSpPr>
        <p:spPr>
          <a:xfrm>
            <a:off x="381000" y="1085850"/>
            <a:ext cx="5143500" cy="3448200"/>
          </a:xfrm>
          <a:prstGeom prst="roundRect">
            <a:avLst>
              <a:gd fmla="val 2209"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9"/>
          <p:cNvSpPr/>
          <p:nvPr/>
        </p:nvSpPr>
        <p:spPr>
          <a:xfrm>
            <a:off x="381000" y="1085850"/>
            <a:ext cx="5143500" cy="38100"/>
          </a:xfrm>
          <a:prstGeom prst="roundRect">
            <a:avLst>
              <a:gd fmla="val 0" name="adj"/>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9"/>
          <p:cNvSpPr txBox="1"/>
          <p:nvPr/>
        </p:nvSpPr>
        <p:spPr>
          <a:xfrm>
            <a:off x="571500" y="1200150"/>
            <a:ext cx="4762500" cy="3238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0" i="0" lang="en-GB" sz="800" u="none" strike="noStrike">
                <a:solidFill>
                  <a:srgbClr val="2563EB"/>
                </a:solidFill>
                <a:latin typeface="JetBrains Mono"/>
                <a:ea typeface="JetBrains Mono"/>
                <a:cs typeface="JetBrains Mono"/>
                <a:sym typeface="JetBrains Mono"/>
              </a:rPr>
              <a:t>VIDEO LECTURES // VISUAL MATHEMATICS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400" u="none" strike="noStrike">
                <a:solidFill>
                  <a:srgbClr val="111315"/>
                </a:solidFill>
                <a:latin typeface="Space Grotesk"/>
                <a:ea typeface="Space Grotesk"/>
                <a:cs typeface="Space Grotesk"/>
                <a:sym typeface="Space Grotesk"/>
              </a:rPr>
              <a:t>3Blue1Brown:</a:t>
            </a:r>
            <a:r>
              <a:rPr b="0" i="0" lang="en-GB" sz="1400" u="none" strike="noStrike">
                <a:solidFill>
                  <a:srgbClr val="111315"/>
                </a:solidFill>
                <a:latin typeface="Space Grotesk"/>
                <a:ea typeface="Space Grotesk"/>
                <a:cs typeface="Space Grotesk"/>
                <a:sym typeface="Space Grotesk"/>
              </a:rPr>
              <a:t> Neural Networks and Deep Learning</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18000"/>
              </a:lnSpc>
              <a:spcBef>
                <a:spcPts val="800"/>
              </a:spcBef>
              <a:spcAft>
                <a:spcPts val="0"/>
              </a:spcAft>
              <a:buNone/>
            </a:pPr>
            <a:r>
              <a:rPr b="0" i="0" lang="en-GB" sz="950" u="none" strike="noStrike">
                <a:solidFill>
                  <a:srgbClr val="4B5563"/>
                </a:solidFill>
                <a:latin typeface="Inter"/>
                <a:ea typeface="Inter"/>
                <a:cs typeface="Inter"/>
                <a:sym typeface="Inter"/>
              </a:rPr>
              <a:t>A video lecture series explaining matrix operations, gradient backpropagation, and geometric transformations in high-dimensional coordinate spaces.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10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Topics:</a:t>
            </a:r>
            <a:r>
              <a:rPr b="0" i="0" lang="en-GB" sz="900" u="none" strike="noStrike">
                <a:solidFill>
                  <a:srgbClr val="111315"/>
                </a:solidFill>
                <a:latin typeface="Inter"/>
                <a:ea typeface="Inter"/>
                <a:cs typeface="Inter"/>
                <a:sym typeface="Inter"/>
              </a:rPr>
              <a:t> Weights, biases, activation functions, gradient descent, and loss surfaces.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6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Application:</a:t>
            </a:r>
            <a:r>
              <a:rPr b="0" i="0" lang="en-GB" sz="900" u="none" strike="noStrike">
                <a:solidFill>
                  <a:srgbClr val="111315"/>
                </a:solidFill>
                <a:latin typeface="Inter"/>
                <a:ea typeface="Inter"/>
                <a:cs typeface="Inter"/>
                <a:sym typeface="Inter"/>
              </a:rPr>
              <a:t> Visual presentation of linear algebra and vector calculus operations.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1000"/>
              </a:spcBef>
              <a:spcAft>
                <a:spcPts val="0"/>
              </a:spcAft>
              <a:buNone/>
            </a:pPr>
            <a:r>
              <a:rPr b="1" i="0" lang="en-GB" sz="850" u="none" strike="noStrike">
                <a:solidFill>
                  <a:srgbClr val="111315"/>
                </a:solidFill>
                <a:latin typeface="JetBrains Mono"/>
                <a:ea typeface="JetBrains Mono"/>
                <a:cs typeface="JetBrains Mono"/>
                <a:sym typeface="JetBrains Mono"/>
              </a:rPr>
              <a:t>Link to Series on YouTube:</a:t>
            </a:r>
            <a:r>
              <a:rPr b="0" i="0" lang="en-GB" sz="850" u="none" strike="noStrike">
                <a:solidFill>
                  <a:srgbClr val="111315"/>
                </a:solidFill>
                <a:latin typeface="JetBrains Mono"/>
                <a:ea typeface="JetBrains Mono"/>
                <a:cs typeface="JetBrains Mono"/>
                <a:sym typeface="JetBrains Mono"/>
              </a:rPr>
              <a:t> 3Blue1Brown Neural Networks Playlist</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300"/>
              </a:spcBef>
              <a:spcAft>
                <a:spcPts val="600"/>
              </a:spcAft>
              <a:buNone/>
            </a:pPr>
            <a:r>
              <a:rPr b="0" i="0" lang="en-GB" sz="750" u="none" strike="noStrike">
                <a:solidFill>
                  <a:srgbClr val="64748B"/>
                </a:solidFill>
                <a:latin typeface="JetBrains Mono"/>
                <a:ea typeface="JetBrains Mono"/>
                <a:cs typeface="JetBrains Mono"/>
                <a:sym typeface="JetBrains Mono"/>
              </a:rPr>
              <a:t>youtube.com/playlist?list=PLZHQObOWTQDM4E-dwvbnQTiyKDO-y9T2t</a:t>
            </a:r>
            <a:endParaRPr b="0" i="0" sz="800" u="none" strike="noStrike">
              <a:solidFill>
                <a:srgbClr val="2563EB"/>
              </a:solidFill>
              <a:latin typeface="JetBrains Mono"/>
              <a:ea typeface="JetBrains Mono"/>
              <a:cs typeface="JetBrains Mono"/>
              <a:sym typeface="JetBrains Mono"/>
            </a:endParaRPr>
          </a:p>
        </p:txBody>
      </p:sp>
      <p:sp>
        <p:nvSpPr>
          <p:cNvPr id="985" name="Google Shape;985;p39"/>
          <p:cNvSpPr/>
          <p:nvPr/>
        </p:nvSpPr>
        <p:spPr>
          <a:xfrm>
            <a:off x="5753100" y="1085850"/>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39"/>
          <p:cNvSpPr/>
          <p:nvPr/>
        </p:nvSpPr>
        <p:spPr>
          <a:xfrm>
            <a:off x="5753100" y="1085850"/>
            <a:ext cx="3009900" cy="38100"/>
          </a:xfrm>
          <a:prstGeom prst="roundRect">
            <a:avLst>
              <a:gd fmla="val 0" name="adj"/>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9"/>
          <p:cNvSpPr txBox="1"/>
          <p:nvPr/>
        </p:nvSpPr>
        <p:spPr>
          <a:xfrm>
            <a:off x="5886450" y="1181100"/>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MODEL ARCHITECTURE // REFERENCE CODE</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Andrej Karpathy: Neural Networks: Zero to Hero</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Code walkthrough showing implementation of basic neural networks and transformer models using Python and PyTorch.</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karpathy.ai / YouTube</a:t>
            </a:r>
            <a:endParaRPr b="1" i="0" sz="750" u="none" strike="noStrike">
              <a:solidFill>
                <a:srgbClr val="059669"/>
              </a:solidFill>
              <a:latin typeface="JetBrains Mono"/>
              <a:ea typeface="JetBrains Mono"/>
              <a:cs typeface="JetBrains Mono"/>
              <a:sym typeface="JetBrains Mono"/>
            </a:endParaRPr>
          </a:p>
        </p:txBody>
      </p:sp>
      <p:sp>
        <p:nvSpPr>
          <p:cNvPr id="988" name="Google Shape;988;p39"/>
          <p:cNvSpPr/>
          <p:nvPr/>
        </p:nvSpPr>
        <p:spPr>
          <a:xfrm>
            <a:off x="5753100" y="2886075"/>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39"/>
          <p:cNvSpPr/>
          <p:nvPr/>
        </p:nvSpPr>
        <p:spPr>
          <a:xfrm>
            <a:off x="5753100" y="2886075"/>
            <a:ext cx="30099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9"/>
          <p:cNvSpPr txBox="1"/>
          <p:nvPr/>
        </p:nvSpPr>
        <p:spPr>
          <a:xfrm>
            <a:off x="5886450" y="2981325"/>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INTERACTIVE TOOLS // WEB VISUALIZATION</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Transformer Explainer and Distill.pub</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Web-based interactive diagrams demonstrating attention weight matrices, token transformations, and dimensional projections.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poloclub.github.io/transformer-explainer</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40"/>
          <p:cNvSpPr txBox="1"/>
          <p:nvPr/>
        </p:nvSpPr>
        <p:spPr>
          <a:xfrm>
            <a:off x="381000" y="2286000"/>
            <a:ext cx="8382000" cy="571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strike="noStrike">
                <a:solidFill>
                  <a:srgbClr val="111315"/>
                </a:solidFill>
                <a:latin typeface="Space Grotesk"/>
                <a:ea typeface="Space Grotesk"/>
                <a:cs typeface="Space Grotesk"/>
                <a:sym typeface="Space Grotesk"/>
              </a:rPr>
              <a:t>Questions and Answers</a:t>
            </a:r>
            <a:endParaRPr b="1" i="0" sz="3000" u="none" strike="noStrike">
              <a:solidFill>
                <a:srgbClr val="111315"/>
              </a:solidFill>
              <a:latin typeface="Space Grotesk"/>
              <a:ea typeface="Space Grotesk"/>
              <a:cs typeface="Space Grotesk"/>
              <a:sym typeface="Space Grotesk"/>
            </a:endParaRPr>
          </a:p>
        </p:txBody>
      </p:sp>
      <p:grpSp>
        <p:nvGrpSpPr>
          <p:cNvPr id="996" name="Google Shape;996;p40"/>
          <p:cNvGrpSpPr/>
          <p:nvPr/>
        </p:nvGrpSpPr>
        <p:grpSpPr>
          <a:xfrm>
            <a:off x="381000" y="4762500"/>
            <a:ext cx="8382000" cy="285750"/>
            <a:chOff x="381000" y="4762500"/>
            <a:chExt cx="8382000" cy="285750"/>
          </a:xfrm>
        </p:grpSpPr>
        <p:cxnSp>
          <p:nvCxnSpPr>
            <p:cNvPr id="997" name="Google Shape;997;p40"/>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8" name="Google Shape;998;p40"/>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p4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00" u="none" strike="noStrike">
                <a:solidFill>
                  <a:srgbClr val="111315"/>
                </a:solidFill>
                <a:latin typeface="Space Grotesk"/>
                <a:ea typeface="Space Grotesk"/>
                <a:cs typeface="Space Grotesk"/>
                <a:sym typeface="Space Grotesk"/>
              </a:rPr>
              <a:t>Technical Appendices</a:t>
            </a:r>
            <a:endParaRPr b="1" i="0" sz="2200" u="none" strike="noStrike">
              <a:solidFill>
                <a:srgbClr val="111315"/>
              </a:solidFill>
              <a:latin typeface="Space Grotesk"/>
              <a:ea typeface="Space Grotesk"/>
              <a:cs typeface="Space Grotesk"/>
              <a:sym typeface="Space Grotesk"/>
            </a:endParaRPr>
          </a:p>
          <a:p>
            <a:pPr indent="0" lvl="0" marL="0" marR="0" rtl="0" algn="l">
              <a:spcBef>
                <a:spcPts val="400"/>
              </a:spcBef>
              <a:spcAft>
                <a:spcPts val="0"/>
              </a:spcAft>
              <a:buNone/>
            </a:pPr>
            <a:r>
              <a:rPr b="0" i="0" lang="en-GB" sz="1050" u="none" strike="noStrike">
                <a:solidFill>
                  <a:srgbClr val="5A626A"/>
                </a:solidFill>
                <a:latin typeface="Space Grotesk"/>
                <a:ea typeface="Space Grotesk"/>
                <a:cs typeface="Space Grotesk"/>
                <a:sym typeface="Space Grotesk"/>
              </a:rPr>
              <a:t>Mathematical definitions, optimization procedures, and training architectures.</a:t>
            </a:r>
            <a:endParaRPr b="1" i="0" sz="2200" u="none" strike="noStrike">
              <a:solidFill>
                <a:srgbClr val="111315"/>
              </a:solidFill>
              <a:latin typeface="Space Grotesk"/>
              <a:ea typeface="Space Grotesk"/>
              <a:cs typeface="Space Grotesk"/>
              <a:sym typeface="Space Grotesk"/>
            </a:endParaRPr>
          </a:p>
        </p:txBody>
      </p:sp>
      <p:grpSp>
        <p:nvGrpSpPr>
          <p:cNvPr id="1004" name="Google Shape;1004;p41"/>
          <p:cNvGrpSpPr/>
          <p:nvPr/>
        </p:nvGrpSpPr>
        <p:grpSpPr>
          <a:xfrm>
            <a:off x="381000" y="4762500"/>
            <a:ext cx="8382000" cy="285750"/>
            <a:chOff x="381000" y="4762500"/>
            <a:chExt cx="8382000" cy="285750"/>
          </a:xfrm>
        </p:grpSpPr>
        <p:cxnSp>
          <p:nvCxnSpPr>
            <p:cNvPr id="1005" name="Google Shape;1005;p4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06" name="Google Shape;1006;p4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1007" name="Google Shape;1007;p41"/>
          <p:cNvSpPr/>
          <p:nvPr/>
        </p:nvSpPr>
        <p:spPr>
          <a:xfrm>
            <a:off x="381000" y="11906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41"/>
          <p:cNvSpPr/>
          <p:nvPr/>
        </p:nvSpPr>
        <p:spPr>
          <a:xfrm>
            <a:off x="381000" y="1190625"/>
            <a:ext cx="38100" cy="9048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41"/>
          <p:cNvSpPr txBox="1"/>
          <p:nvPr/>
        </p:nvSpPr>
        <p:spPr>
          <a:xfrm>
            <a:off x="571500" y="12858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506" u="none" strike="noStrike">
                <a:solidFill>
                  <a:srgbClr val="1D4ED8"/>
                </a:solidFill>
                <a:latin typeface="JetBrains Mono"/>
                <a:ea typeface="JetBrains Mono"/>
                <a:cs typeface="JetBrains Mono"/>
                <a:sym typeface="JetBrains Mono"/>
              </a:rPr>
              <a:t>APPENDIX A // VECTOR EMBEDDINGS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774" u="none" strike="noStrike">
                <a:solidFill>
                  <a:srgbClr val="111315"/>
                </a:solidFill>
                <a:latin typeface="Space Grotesk"/>
                <a:ea typeface="Space Grotesk"/>
                <a:cs typeface="Space Grotesk"/>
                <a:sym typeface="Space Grotesk"/>
              </a:rPr>
              <a:t>Word Vectorization Mathematics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Vector space projection, embedding lookup matrices E in R^(V x d), and vector similarity calculation using cosine distance.</a:t>
            </a:r>
            <a:endParaRPr b="1" i="0" sz="506" u="none" strike="noStrike">
              <a:solidFill>
                <a:srgbClr val="1D4ED8"/>
              </a:solidFill>
              <a:latin typeface="JetBrains Mono"/>
              <a:ea typeface="JetBrains Mono"/>
              <a:cs typeface="JetBrains Mono"/>
              <a:sym typeface="JetBrains Mono"/>
            </a:endParaRPr>
          </a:p>
        </p:txBody>
      </p:sp>
      <p:sp>
        <p:nvSpPr>
          <p:cNvPr id="1010" name="Google Shape;1010;p41"/>
          <p:cNvSpPr txBox="1"/>
          <p:nvPr/>
        </p:nvSpPr>
        <p:spPr>
          <a:xfrm>
            <a:off x="7524750" y="14859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1D4ED8"/>
                </a:solidFill>
                <a:latin typeface="JetBrains Mono"/>
                <a:ea typeface="JetBrains Mono"/>
                <a:cs typeface="JetBrains Mono"/>
                <a:sym typeface="JetBrains Mono"/>
              </a:rPr>
              <a:t>Slide 25 -&gt;</a:t>
            </a:r>
            <a:endParaRPr b="1" sz="786">
              <a:solidFill>
                <a:srgbClr val="1D4ED8"/>
              </a:solidFill>
              <a:latin typeface="JetBrains Mono"/>
              <a:ea typeface="JetBrains Mono"/>
              <a:cs typeface="JetBrains Mono"/>
              <a:sym typeface="JetBrains Mono"/>
            </a:endParaRPr>
          </a:p>
        </p:txBody>
      </p:sp>
      <p:sp>
        <p:nvSpPr>
          <p:cNvPr id="1011" name="Google Shape;1011;p41"/>
          <p:cNvSpPr/>
          <p:nvPr/>
        </p:nvSpPr>
        <p:spPr>
          <a:xfrm>
            <a:off x="381000" y="223837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41"/>
          <p:cNvSpPr/>
          <p:nvPr/>
        </p:nvSpPr>
        <p:spPr>
          <a:xfrm>
            <a:off x="381000" y="2238375"/>
            <a:ext cx="38100" cy="9048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41"/>
          <p:cNvSpPr txBox="1"/>
          <p:nvPr/>
        </p:nvSpPr>
        <p:spPr>
          <a:xfrm>
            <a:off x="571500" y="233362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D9381E"/>
                </a:solidFill>
                <a:latin typeface="JetBrains Mono"/>
                <a:ea typeface="JetBrains Mono"/>
                <a:cs typeface="JetBrains Mono"/>
                <a:sym typeface="JetBrains Mono"/>
              </a:rPr>
              <a:t>APPENDIX B // OPTIMIZATION AND PARAMETER UPDATES</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Loss Functions and Parameter Updates via Backpropagation</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Cross-entropy loss calculation, gradient computation across model weights via the calculus chain rule, and parameter updates using AdamW.</a:t>
            </a:r>
            <a:endParaRPr b="0" i="0" sz="506" u="none" strike="noStrike">
              <a:solidFill>
                <a:srgbClr val="D9381E"/>
              </a:solidFill>
              <a:latin typeface="JetBrains Mono"/>
              <a:ea typeface="JetBrains Mono"/>
              <a:cs typeface="JetBrains Mono"/>
              <a:sym typeface="JetBrains Mono"/>
            </a:endParaRPr>
          </a:p>
        </p:txBody>
      </p:sp>
      <p:sp>
        <p:nvSpPr>
          <p:cNvPr id="1014" name="Google Shape;1014;p41"/>
          <p:cNvSpPr txBox="1"/>
          <p:nvPr/>
        </p:nvSpPr>
        <p:spPr>
          <a:xfrm>
            <a:off x="7524750" y="253365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D9381E"/>
                </a:solidFill>
                <a:latin typeface="JetBrains Mono"/>
                <a:ea typeface="JetBrains Mono"/>
                <a:cs typeface="JetBrains Mono"/>
                <a:sym typeface="JetBrains Mono"/>
              </a:rPr>
              <a:t>Slide 26 -&gt;</a:t>
            </a:r>
            <a:endParaRPr b="1" sz="786">
              <a:solidFill>
                <a:srgbClr val="D9381E"/>
              </a:solidFill>
              <a:latin typeface="JetBrains Mono"/>
              <a:ea typeface="JetBrains Mono"/>
              <a:cs typeface="JetBrains Mono"/>
              <a:sym typeface="JetBrains Mono"/>
            </a:endParaRPr>
          </a:p>
        </p:txBody>
      </p:sp>
      <p:sp>
        <p:nvSpPr>
          <p:cNvPr id="1015" name="Google Shape;1015;p41"/>
          <p:cNvSpPr/>
          <p:nvPr/>
        </p:nvSpPr>
        <p:spPr>
          <a:xfrm>
            <a:off x="381000" y="32861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41"/>
          <p:cNvSpPr/>
          <p:nvPr/>
        </p:nvSpPr>
        <p:spPr>
          <a:xfrm>
            <a:off x="381000" y="3286125"/>
            <a:ext cx="38100" cy="9048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41"/>
          <p:cNvSpPr txBox="1"/>
          <p:nvPr/>
        </p:nvSpPr>
        <p:spPr>
          <a:xfrm>
            <a:off x="571500" y="33813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059669"/>
                </a:solidFill>
                <a:latin typeface="JetBrains Mono"/>
                <a:ea typeface="JetBrains Mono"/>
                <a:cs typeface="JetBrains Mono"/>
                <a:sym typeface="JetBrains Mono"/>
              </a:rPr>
              <a:t>APPENDIX C // POST-TRAINING ENVIRONMENTS</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Reinforcement Learning Environments in Model Training</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Training feedback mechanisms: human evaluations (RLHF), model-based evaluations (RLAIF), and deterministic code verification (RLVR).</a:t>
            </a:r>
            <a:endParaRPr b="0" i="0" sz="506" u="none" strike="noStrike">
              <a:solidFill>
                <a:srgbClr val="059669"/>
              </a:solidFill>
              <a:latin typeface="JetBrains Mono"/>
              <a:ea typeface="JetBrains Mono"/>
              <a:cs typeface="JetBrains Mono"/>
              <a:sym typeface="JetBrains Mono"/>
            </a:endParaRPr>
          </a:p>
        </p:txBody>
      </p:sp>
      <p:sp>
        <p:nvSpPr>
          <p:cNvPr id="1018" name="Google Shape;1018;p41"/>
          <p:cNvSpPr txBox="1"/>
          <p:nvPr/>
        </p:nvSpPr>
        <p:spPr>
          <a:xfrm>
            <a:off x="7524750" y="35814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059669"/>
                </a:solidFill>
                <a:latin typeface="JetBrains Mono"/>
                <a:ea typeface="JetBrains Mono"/>
                <a:cs typeface="JetBrains Mono"/>
                <a:sym typeface="JetBrains Mono"/>
              </a:rPr>
              <a:t>Slide 27 -&gt;</a:t>
            </a:r>
            <a:endParaRPr b="1" sz="786">
              <a:solidFill>
                <a:srgbClr val="059669"/>
              </a:solidFill>
              <a:latin typeface="JetBrains Mono"/>
              <a:ea typeface="JetBrains Mono"/>
              <a:cs typeface="JetBrains Mono"/>
              <a:sym typeface="JetBrains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22" name="Shape 1022"/>
        <p:cNvGrpSpPr/>
        <p:nvPr/>
      </p:nvGrpSpPr>
      <p:grpSpPr>
        <a:xfrm>
          <a:off x="0" y="0"/>
          <a:ext cx="0" cy="0"/>
          <a:chOff x="0" y="0"/>
          <a:chExt cx="0" cy="0"/>
        </a:xfrm>
      </p:grpSpPr>
      <p:cxnSp>
        <p:nvCxnSpPr>
          <p:cNvPr id="1023" name="Google Shape;1023;p42"/>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24" name="Google Shape;1024;p42"/>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25" name="Google Shape;1025;p42"/>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125" u="none" strike="noStrike">
                <a:solidFill>
                  <a:srgbClr val="111315"/>
                </a:solidFill>
                <a:latin typeface="Space Grotesk"/>
                <a:ea typeface="Space Grotesk"/>
                <a:cs typeface="Space Grotesk"/>
                <a:sym typeface="Space Grotesk"/>
              </a:rPr>
              <a:t>Appendix A: Word Vectorization Mathematics</a:t>
            </a:r>
            <a:endParaRPr b="1"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Mathematical projection of discrete symbolic tokens into continuous coordinate spaces.</a:t>
            </a:r>
            <a:endParaRPr b="1" i="0" sz="1125" u="none" strike="noStrike">
              <a:solidFill>
                <a:srgbClr val="111315"/>
              </a:solidFill>
              <a:latin typeface="Space Grotesk"/>
              <a:ea typeface="Space Grotesk"/>
              <a:cs typeface="Space Grotesk"/>
              <a:sym typeface="Space Grotesk"/>
            </a:endParaRPr>
          </a:p>
        </p:txBody>
      </p:sp>
      <p:sp>
        <p:nvSpPr>
          <p:cNvPr id="1026" name="Google Shape;1026;p42"/>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42"/>
          <p:cNvSpPr/>
          <p:nvPr/>
        </p:nvSpPr>
        <p:spPr>
          <a:xfrm>
            <a:off x="381000" y="819150"/>
            <a:ext cx="8382000" cy="285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42"/>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ONE-HOT ENCODING</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Sparse Vector Representation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vocabulary size |V| (e.g. 50,000 words), each token corresponds to an indicator vector:</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x_i = [0, 0, ..., 1, ..., 0]^T ∈ {0, 1}^|V|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Geometric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All distinct one-hot vectors are mutually orthogonal:</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DC2626"/>
                </a:solidFill>
                <a:latin typeface="JetBrains Mono"/>
                <a:ea typeface="JetBrains Mono"/>
                <a:cs typeface="JetBrains Mono"/>
                <a:sym typeface="JetBrains Mono"/>
              </a:rPr>
              <a:t>x_i · x_j = 0  (for all i ≠ j)</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This representation assigns equal geometric distance between all distinct word pairs.</a:t>
            </a:r>
            <a:endParaRPr b="1" i="0" sz="750" u="none" strike="noStrike">
              <a:solidFill>
                <a:srgbClr val="1D4ED8"/>
              </a:solidFill>
              <a:latin typeface="JetBrains Mono"/>
              <a:ea typeface="JetBrains Mono"/>
              <a:cs typeface="JetBrains Mono"/>
              <a:sym typeface="JetBrains Mono"/>
            </a:endParaRPr>
          </a:p>
        </p:txBody>
      </p:sp>
      <p:cxnSp>
        <p:nvCxnSpPr>
          <p:cNvPr id="1029" name="Google Shape;1029;p42"/>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30" name="Google Shape;1030;p42"/>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02 // EMBEDDING MATRIX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Linear Matrix Lookup</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embedding matrix W_e ∈ ℝ^(d × |V|) projects sparse indicator vectors into d-dimensional coordinate space (e.g. d = 768 or 4096):</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e_word = W_e · x_word = W_e[:, index]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Coordinate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Each token corresponds to a coordinate vector of real values: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1D4ED8"/>
                </a:solidFill>
                <a:latin typeface="JetBrains Mono"/>
                <a:ea typeface="JetBrains Mono"/>
                <a:cs typeface="JetBrains Mono"/>
                <a:sym typeface="JetBrains Mono"/>
              </a:rPr>
              <a:t>e_studio = [ +0.42, +0.85, -0.19, ... ]</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Embedding matrix values are adjusted during training via gradient descent.</a:t>
            </a:r>
            <a:endParaRPr b="1" i="0" sz="750" u="none" strike="noStrike">
              <a:solidFill>
                <a:srgbClr val="1D4ED8"/>
              </a:solidFill>
              <a:latin typeface="JetBrains Mono"/>
              <a:ea typeface="JetBrains Mono"/>
              <a:cs typeface="JetBrains Mono"/>
              <a:sym typeface="JetBrains Mono"/>
            </a:endParaRPr>
          </a:p>
        </p:txBody>
      </p:sp>
      <p:cxnSp>
        <p:nvCxnSpPr>
          <p:cNvPr id="1031" name="Google Shape;1031;p42"/>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32" name="Google Shape;1032;p42"/>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03 //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Cosine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orientation similarity is calculated using normalized dot products: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cos(u, v) = (u · v) / (||u|| ||v||)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Vector Operations: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translations correspond to relational shifts: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v_king - v_man + v_woman ≈ v_queen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30" u="none" strike="noStrike">
                <a:solidFill>
                  <a:srgbClr val="4B5563"/>
                </a:solidFill>
                <a:latin typeface="Inter"/>
                <a:ea typeface="Inter"/>
                <a:cs typeface="Inter"/>
                <a:sym typeface="Inter"/>
              </a:rPr>
              <a:t>In domain-specific vocabulary spaces: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780" u="none" strike="noStrike">
                <a:solidFill>
                  <a:srgbClr val="2563EB"/>
                </a:solidFill>
                <a:latin typeface="JetBrains Mono"/>
                <a:ea typeface="JetBrains Mono"/>
                <a:cs typeface="JetBrains Mono"/>
                <a:sym typeface="JetBrains Mono"/>
              </a:rPr>
              <a:t>v_studio - v_residential + v_commercial ≈ v_office</a:t>
            </a:r>
            <a:endParaRPr b="1" i="0" sz="750" u="none" strike="noStrike">
              <a:solidFill>
                <a:srgbClr val="1D4ED8"/>
              </a:solidFill>
              <a:latin typeface="JetBrains Mono"/>
              <a:ea typeface="JetBrains Mono"/>
              <a:cs typeface="JetBrains Mono"/>
              <a:sym typeface="JetBrains Mono"/>
            </a:endParaRPr>
          </a:p>
        </p:txBody>
      </p:sp>
      <p:sp>
        <p:nvSpPr>
          <p:cNvPr id="1033" name="Google Shape;1033;p42"/>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42"/>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1D4ED8"/>
                </a:solidFill>
                <a:latin typeface="JetBrains Mono"/>
                <a:ea typeface="JetBrains Mono"/>
                <a:cs typeface="JetBrains Mono"/>
                <a:sym typeface="JetBrains Mono"/>
              </a:rPr>
              <a:t>MATHEMATICAL SUMMARY:</a:t>
            </a:r>
            <a:r>
              <a:rPr b="0" i="0" lang="en-GB" sz="740" u="none" strike="noStrike">
                <a:solidFill>
                  <a:srgbClr val="1D4ED8"/>
                </a:solidFill>
                <a:latin typeface="JetBrains Mono"/>
                <a:ea typeface="JetBrains Mono"/>
                <a:cs typeface="JetBrains Mono"/>
                <a:sym typeface="JetBrains Mono"/>
              </a:rPr>
              <a:t> Vectorization converts text symbols into numeric vectors. Geometric distance corresponds to statistical correlation, and vector differences correspond to semantic relationships.</a:t>
            </a:r>
            <a:endParaRPr b="1" i="0" sz="740" u="none" strike="noStrike">
              <a:solidFill>
                <a:srgbClr val="1D4ED8"/>
              </a:solidFill>
              <a:latin typeface="JetBrains Mono"/>
              <a:ea typeface="JetBrains Mono"/>
              <a:cs typeface="JetBrains Mono"/>
              <a:sym typeface="JetBrains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38" name="Shape 1038"/>
        <p:cNvGrpSpPr/>
        <p:nvPr/>
      </p:nvGrpSpPr>
      <p:grpSpPr>
        <a:xfrm>
          <a:off x="0" y="0"/>
          <a:ext cx="0" cy="0"/>
          <a:chOff x="0" y="0"/>
          <a:chExt cx="0" cy="0"/>
        </a:xfrm>
      </p:grpSpPr>
      <p:cxnSp>
        <p:nvCxnSpPr>
          <p:cNvPr id="1039" name="Google Shape;1039;p43"/>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40" name="Google Shape;1040;p43"/>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41" name="Google Shape;1041;p43"/>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B: Loss Functions and Parameter Optimization</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Quantifying token prediction error and updating parameter values via gradient descent.</a:t>
            </a:r>
            <a:endParaRPr b="0" i="0" sz="1125" u="none" strike="noStrike">
              <a:solidFill>
                <a:srgbClr val="111315"/>
              </a:solidFill>
              <a:latin typeface="Space Grotesk"/>
              <a:ea typeface="Space Grotesk"/>
              <a:cs typeface="Space Grotesk"/>
              <a:sym typeface="Space Grotesk"/>
            </a:endParaRPr>
          </a:p>
        </p:txBody>
      </p:sp>
      <p:sp>
        <p:nvSpPr>
          <p:cNvPr id="1042" name="Google Shape;1042;p43"/>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43"/>
          <p:cNvSpPr/>
          <p:nvPr/>
        </p:nvSpPr>
        <p:spPr>
          <a:xfrm>
            <a:off x="381000" y="819150"/>
            <a:ext cx="8382000" cy="285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3"/>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01 // LOSS FUNCTION</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Cross-Entropy Loss (L)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model outputs raw logits z. The softmax function calculates predicted probability values: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p_i = exp(z_i) / Σ_j exp(z_j)</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Negative Log-Likelihood:</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target token index y_true, the error value is defined as: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D9381E"/>
                </a:solidFill>
                <a:latin typeface="JetBrains Mono"/>
                <a:ea typeface="JetBrains Mono"/>
                <a:cs typeface="JetBrains Mono"/>
                <a:sym typeface="JetBrains Mono"/>
              </a:rPr>
              <a:t>L = -log( p_target )</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If p_target = 0.99 → L ≈ 0.01 (Low error value)</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 If p_target = 0.01 → L ≈ 4.60 (High error value)</a:t>
            </a:r>
            <a:endParaRPr b="1" i="0" sz="750" u="none" strike="noStrike">
              <a:solidFill>
                <a:srgbClr val="D9381E"/>
              </a:solidFill>
              <a:latin typeface="JetBrains Mono"/>
              <a:ea typeface="JetBrains Mono"/>
              <a:cs typeface="JetBrains Mono"/>
              <a:sym typeface="JetBrains Mono"/>
            </a:endParaRPr>
          </a:p>
        </p:txBody>
      </p:sp>
      <p:cxnSp>
        <p:nvCxnSpPr>
          <p:cNvPr id="1045" name="Google Shape;1045;p43"/>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46" name="Google Shape;1046;p43"/>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02 // CHAIN RULE OF CALCULUS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Calculation (∂L/∂W)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Backpropagation applies the chain rule to calculate the partial derivative of loss with respect to parameter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750" u="none" strike="noStrike">
                <a:solidFill>
                  <a:srgbClr val="1E293B"/>
                </a:solidFill>
                <a:latin typeface="JetBrains Mono"/>
                <a:ea typeface="JetBrains Mono"/>
                <a:cs typeface="JetBrains Mono"/>
                <a:sym typeface="JetBrains Mono"/>
              </a:rPr>
              <a:t>∂L / ∂W_l = (∂L / ∂a_l) · (∂a_l / ∂z_l) · (∂z_l / ∂W_l)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Gradient Flow: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Gradients propagate backward from output logits through attention and feed-forward layers to the input embedding matrix.</a:t>
            </a:r>
            <a:endParaRPr b="1" i="0" sz="750" u="none" strike="noStrike">
              <a:solidFill>
                <a:srgbClr val="D9381E"/>
              </a:solidFill>
              <a:latin typeface="JetBrains Mono"/>
              <a:ea typeface="JetBrains Mono"/>
              <a:cs typeface="JetBrains Mono"/>
              <a:sym typeface="JetBrains Mono"/>
            </a:endParaRPr>
          </a:p>
        </p:txBody>
      </p:sp>
      <p:cxnSp>
        <p:nvCxnSpPr>
          <p:cNvPr id="1047" name="Google Shape;1047;p43"/>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48" name="Google Shape;1048;p43"/>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Descent Optimization (AdamW)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In standard gradient descent, parameters update proportionally to the negative gradient scaled by learning rate η:</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W ← W - η · (∂L /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AdamW applies three adjustments: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1. First moment vector: tracks the exponential moving average of gradients.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2. Second moment vector: divides steps by gradient variance for adaptive per-parameter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3. Weight decay: applies proportional parameter shrinkage to regularize weights.</a:t>
            </a:r>
            <a:endParaRPr b="1" i="0" sz="750" u="none" strike="noStrike">
              <a:solidFill>
                <a:srgbClr val="D9381E"/>
              </a:solidFill>
              <a:latin typeface="JetBrains Mono"/>
              <a:ea typeface="JetBrains Mono"/>
              <a:cs typeface="JetBrains Mono"/>
              <a:sym typeface="JetBrains Mono"/>
            </a:endParaRPr>
          </a:p>
        </p:txBody>
      </p:sp>
      <p:sp>
        <p:nvSpPr>
          <p:cNvPr id="1049" name="Google Shape;1049;p43"/>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43"/>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D9381E"/>
                </a:solidFill>
                <a:latin typeface="JetBrains Mono"/>
                <a:ea typeface="JetBrains Mono"/>
                <a:cs typeface="JetBrains Mono"/>
                <a:sym typeface="JetBrains Mono"/>
              </a:rPr>
              <a:t>OPTIMIZATION SUMMARY:</a:t>
            </a:r>
            <a:r>
              <a:rPr b="0" i="0" lang="en-GB" sz="740" u="none" strike="noStrike">
                <a:solidFill>
                  <a:srgbClr val="D9381E"/>
                </a:solidFill>
                <a:latin typeface="JetBrains Mono"/>
                <a:ea typeface="JetBrains Mono"/>
                <a:cs typeface="JetBrains Mono"/>
                <a:sym typeface="JetBrains Mono"/>
              </a:rPr>
              <a:t> Model training is an iterative numerical procedure: forward execution produces logits, cross-entropy calculates loss, backpropagation computes partial derivatives, and AdamW updates parameters to minimize loss.</a:t>
            </a:r>
            <a:endParaRPr b="1" i="0" sz="74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54" name="Shape 1054"/>
        <p:cNvGrpSpPr/>
        <p:nvPr/>
      </p:nvGrpSpPr>
      <p:grpSpPr>
        <a:xfrm>
          <a:off x="0" y="0"/>
          <a:ext cx="0" cy="0"/>
          <a:chOff x="0" y="0"/>
          <a:chExt cx="0" cy="0"/>
        </a:xfrm>
      </p:grpSpPr>
      <p:cxnSp>
        <p:nvCxnSpPr>
          <p:cNvPr id="1055" name="Google Shape;1055;p44"/>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56" name="Google Shape;1056;p44"/>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57" name="Google Shape;1057;p44"/>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C: Reinforcement Learning Environments in Model Training</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Training feedback methodologies: human feedback (RLHF), model-based feedback (RLAIF), and deterministic execution verification (RLVR).</a:t>
            </a:r>
            <a:endParaRPr b="0" i="0" sz="1125" u="none" strike="noStrike">
              <a:solidFill>
                <a:srgbClr val="111315"/>
              </a:solidFill>
              <a:latin typeface="Space Grotesk"/>
              <a:ea typeface="Space Grotesk"/>
              <a:cs typeface="Space Grotesk"/>
              <a:sym typeface="Space Grotesk"/>
            </a:endParaRPr>
          </a:p>
        </p:txBody>
      </p:sp>
      <p:sp>
        <p:nvSpPr>
          <p:cNvPr id="1058" name="Google Shape;1058;p44"/>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44"/>
          <p:cNvSpPr/>
          <p:nvPr/>
        </p:nvSpPr>
        <p:spPr>
          <a:xfrm>
            <a:off x="381000" y="819150"/>
            <a:ext cx="8382000" cy="285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44"/>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1 // HUMAN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RLHF: Human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Human annotators evaluate and rank model outputs. A reward model r_θ(x, y) is fitted to these rankings to score candidate text.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Optimization: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policy π_θ updates to maximize reward score while limiting divergence from the base model:</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50" u="none" strike="noStrike">
                <a:solidFill>
                  <a:srgbClr val="1E293B"/>
                </a:solidFill>
                <a:latin typeface="JetBrains Mono"/>
                <a:ea typeface="JetBrains Mono"/>
                <a:cs typeface="JetBrains Mono"/>
                <a:sym typeface="JetBrains Mono"/>
              </a:rPr>
              <a:t>max E[ r(x,y) - β·D_KL(π_θ || π_ref) ]</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DC2626"/>
                </a:solidFill>
                <a:latin typeface="Inter"/>
                <a:ea typeface="Inter"/>
                <a:cs typeface="Inter"/>
                <a:sym typeface="Inter"/>
              </a:rPr>
              <a:t>Characteristics: Requires human labor; subject to inter-annotator variance.</a:t>
            </a:r>
            <a:endParaRPr b="1" i="0" sz="750" u="none" strike="noStrike">
              <a:solidFill>
                <a:srgbClr val="059669"/>
              </a:solidFill>
              <a:latin typeface="JetBrains Mono"/>
              <a:ea typeface="JetBrains Mono"/>
              <a:cs typeface="JetBrains Mono"/>
              <a:sym typeface="JetBrains Mono"/>
            </a:endParaRPr>
          </a:p>
        </p:txBody>
      </p:sp>
      <p:cxnSp>
        <p:nvCxnSpPr>
          <p:cNvPr id="1061" name="Google Shape;1061;p44"/>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2" name="Google Shape;1062;p44"/>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2 // MODEL-ASSISTED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RLAIF: Model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auxiliary evaluation model scores and ranks candidate outputs according to specified criteria.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Iterative Refinement: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Models run automated critique loops to identify output inconsistencies without manual ranking data.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Characteristics: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Automated scaling; operates continuously without manual annotation bottlenecks.</a:t>
            </a:r>
            <a:endParaRPr b="1" i="0" sz="750" u="none" strike="noStrike">
              <a:solidFill>
                <a:srgbClr val="059669"/>
              </a:solidFill>
              <a:latin typeface="JetBrains Mono"/>
              <a:ea typeface="JetBrains Mono"/>
              <a:cs typeface="JetBrains Mono"/>
              <a:sym typeface="JetBrains Mono"/>
            </a:endParaRPr>
          </a:p>
        </p:txBody>
      </p:sp>
      <p:cxnSp>
        <p:nvCxnSpPr>
          <p:cNvPr id="1063" name="Google Shape;1063;p44"/>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4" name="Google Shape;1064;p44"/>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3 // VERIFIABLE EXECUTION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RLVR: Deterministic Execution Rewards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Candidate solutions are verified using external compilers and test runners: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1 (Passes compiler and test assertions)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0 (Execution error or incorrect test result)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Verification Environments: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Formal proof checkers (LEAN, Isabelle)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Code execution sandboxes and test suites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Parametric geometry kernels and compilers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Supports search over reasoning traces with deterministic evaluation.</a:t>
            </a:r>
            <a:endParaRPr b="1" i="0" sz="750" u="none" strike="noStrike">
              <a:solidFill>
                <a:srgbClr val="059669"/>
              </a:solidFill>
              <a:latin typeface="JetBrains Mono"/>
              <a:ea typeface="JetBrains Mono"/>
              <a:cs typeface="JetBrains Mono"/>
              <a:sym typeface="JetBrains Mono"/>
            </a:endParaRPr>
          </a:p>
        </p:txBody>
      </p:sp>
      <p:sp>
        <p:nvSpPr>
          <p:cNvPr id="1065" name="Google Shape;1065;p44"/>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44"/>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059669"/>
                </a:solidFill>
                <a:latin typeface="JetBrains Mono"/>
                <a:ea typeface="JetBrains Mono"/>
                <a:cs typeface="JetBrains Mono"/>
                <a:sym typeface="JetBrains Mono"/>
              </a:rPr>
              <a:t>TRAINING SUMMARY:</a:t>
            </a:r>
            <a:r>
              <a:rPr b="0" i="0" lang="en-GB" sz="740" u="none" strike="noStrike">
                <a:solidFill>
                  <a:srgbClr val="059669"/>
                </a:solidFill>
                <a:latin typeface="JetBrains Mono"/>
                <a:ea typeface="JetBrains Mono"/>
                <a:cs typeface="JetBrains Mono"/>
                <a:sym typeface="JetBrains Mono"/>
              </a:rPr>
              <a:t> Training models inside verifiable code and mathematical environments (RLVR) provides deterministic reward signals based on compilation and execution outcomes.</a:t>
            </a:r>
            <a:endParaRPr b="1" i="0" sz="740" u="none" strike="noStrike">
              <a:solidFill>
                <a:srgbClr val="059669"/>
              </a:solidFill>
              <a:latin typeface="JetBrains Mono"/>
              <a:ea typeface="JetBrains Mono"/>
              <a:cs typeface="JetBrains Mono"/>
              <a:sym typeface="JetBrains Mono"/>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