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Inter SemiBold"/>
      <p:regular r:id="rId43"/>
      <p:bold r:id="rId44"/>
      <p:italic r:id="rId45"/>
      <p:boldItalic r:id="rId46"/>
    </p:embeddedFont>
    <p:embeddedFont>
      <p:font typeface="Inter"/>
      <p:bold r:id="rId47"/>
      <p:boldItalic r:id="rId48"/>
    </p:embeddedFont>
    <p:embeddedFont>
      <p:font typeface="JetBrains Mono SemiBold"/>
      <p:regular r:id="rId49"/>
      <p:bold r:id="rId50"/>
      <p:italic r:id="rId51"/>
      <p:boldItalic r:id="rId52"/>
    </p:embeddedFont>
    <p:embeddedFont>
      <p:font typeface="Space Grotesk Medium"/>
      <p:regular r:id="rId53"/>
      <p:bold r:id="rId54"/>
    </p:embeddedFont>
    <p:embeddedFont>
      <p:font typeface="Space Grotesk SemiBold"/>
      <p:regular r:id="rId55"/>
      <p:bold r:id="rId56"/>
    </p:embeddedFont>
    <p:embeddedFont>
      <p:font typeface="Inter Medium"/>
      <p:regular r:id="rId57"/>
      <p:bold r:id="rId58"/>
      <p:italic r:id="rId59"/>
      <p:boldItalic r:id="rId60"/>
    </p:embeddedFont>
    <p:embeddedFont>
      <p:font typeface="JetBrains Mono"/>
      <p:regular r:id="rId61"/>
      <p:bold r:id="rId62"/>
      <p:italic r:id="rId63"/>
      <p:boldItalic r:id="rId64"/>
    </p:embeddedFont>
    <p:embeddedFont>
      <p:font typeface="Space Grotesk"/>
      <p:bold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InterSemiBold-bold.fntdata"/><Relationship Id="rId43" Type="http://schemas.openxmlformats.org/officeDocument/2006/relationships/font" Target="fonts/InterSemiBold-regular.fntdata"/><Relationship Id="rId46" Type="http://schemas.openxmlformats.org/officeDocument/2006/relationships/font" Target="fonts/InterSemiBold-boldItalic.fntdata"/><Relationship Id="rId45" Type="http://schemas.openxmlformats.org/officeDocument/2006/relationships/font" Target="fonts/Inter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ter-boldItalic.fntdata"/><Relationship Id="rId47" Type="http://schemas.openxmlformats.org/officeDocument/2006/relationships/font" Target="fonts/Inter-bold.fntdata"/><Relationship Id="rId49" Type="http://schemas.openxmlformats.org/officeDocument/2006/relationships/font" Target="fonts/JetBrainsMonoSemiBo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JetBrainsMono-bold.fntdata"/><Relationship Id="rId61" Type="http://schemas.openxmlformats.org/officeDocument/2006/relationships/font" Target="fonts/JetBrainsMono-regular.fntdata"/><Relationship Id="rId20" Type="http://schemas.openxmlformats.org/officeDocument/2006/relationships/slide" Target="slides/slide15.xml"/><Relationship Id="rId64" Type="http://schemas.openxmlformats.org/officeDocument/2006/relationships/font" Target="fonts/JetBrainsMono-boldItalic.fntdata"/><Relationship Id="rId63" Type="http://schemas.openxmlformats.org/officeDocument/2006/relationships/font" Target="fonts/JetBrainsMono-italic.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SpaceGrotesk-bold.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InterMedium-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JetBrainsMonoSemiBold-italic.fntdata"/><Relationship Id="rId50" Type="http://schemas.openxmlformats.org/officeDocument/2006/relationships/font" Target="fonts/JetBrainsMonoSemiBold-bold.fntdata"/><Relationship Id="rId53" Type="http://schemas.openxmlformats.org/officeDocument/2006/relationships/font" Target="fonts/SpaceGroteskMedium-regular.fntdata"/><Relationship Id="rId52" Type="http://schemas.openxmlformats.org/officeDocument/2006/relationships/font" Target="fonts/JetBrainsMonoSemiBold-boldItalic.fntdata"/><Relationship Id="rId11" Type="http://schemas.openxmlformats.org/officeDocument/2006/relationships/slide" Target="slides/slide6.xml"/><Relationship Id="rId55" Type="http://schemas.openxmlformats.org/officeDocument/2006/relationships/font" Target="fonts/SpaceGroteskSemiBold-regular.fntdata"/><Relationship Id="rId10" Type="http://schemas.openxmlformats.org/officeDocument/2006/relationships/slide" Target="slides/slide5.xml"/><Relationship Id="rId54" Type="http://schemas.openxmlformats.org/officeDocument/2006/relationships/font" Target="fonts/SpaceGroteskMedium-bold.fntdata"/><Relationship Id="rId13" Type="http://schemas.openxmlformats.org/officeDocument/2006/relationships/slide" Target="slides/slide8.xml"/><Relationship Id="rId57" Type="http://schemas.openxmlformats.org/officeDocument/2006/relationships/font" Target="fonts/InterMedium-regular.fntdata"/><Relationship Id="rId12" Type="http://schemas.openxmlformats.org/officeDocument/2006/relationships/slide" Target="slides/slide7.xml"/><Relationship Id="rId56" Type="http://schemas.openxmlformats.org/officeDocument/2006/relationships/font" Target="fonts/SpaceGroteskSemiBold-bold.fntdata"/><Relationship Id="rId15" Type="http://schemas.openxmlformats.org/officeDocument/2006/relationships/slide" Target="slides/slide10.xml"/><Relationship Id="rId59" Type="http://schemas.openxmlformats.org/officeDocument/2006/relationships/font" Target="fonts/InterMedium-italic.fntdata"/><Relationship Id="rId14" Type="http://schemas.openxmlformats.org/officeDocument/2006/relationships/slide" Target="slides/slide9.xml"/><Relationship Id="rId58" Type="http://schemas.openxmlformats.org/officeDocument/2006/relationships/font" Target="fonts/InterMedium-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6aacc2f56d1a81e2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h6aacc2f56d1a81e2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h6aacc2f56d1a81e2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h6aacc2f56d1a81e2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6aacc2f56d1a81e2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6aacc2f56d1a81e2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h6b68c852582d2e1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h6b68c852582d2e1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6aacc2f56d1a81e2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h6aacc2f56d1a81e2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6b68c852582d2e1c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h6b68c852582d2e1c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h6aacc2f56d1a81e2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h6aacc2f56d1a81e2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h6b68c852582d2e1c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h6b68c852582d2e1c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h6aacc2f56d1a81e2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h6aacc2f56d1a81e2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h6aacc2f56d1a81e2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h6aacc2f56d1a81e2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h6aacc2f56d1a81e2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h6aacc2f56d1a81e2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6aacc2f56d1a81e2_1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h6aacc2f56d1a81e2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h6aacc2f56d1a81e2_1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h6aacc2f56d1a81e2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h3a9a76d072ba5c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h3a9a76d072ba5c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h3a9a76d072ba5c0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h3a9a76d072ba5c0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Setup: https://mcneel.github.io/RhinoAI/docs/getting-started/codex/. Install Rhino-MCP-Platform using PackageManager. Restart Rhino. Run MCPConnect and choose Codex Install. Restart Codex to load the tools, then run MCPStart in Rhino. Make one torus through MCP and check that it is a valid closed solid. Actual OBS recording: 01-rhino-mcp-install.mp4. Saved model: 01-install-check.3dm. Tested with Rhino 8.36, Rhino-MCP-Platform 0.3.0 and Apple Silicon.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h33030d998fe3f54d_2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h33030d998fe3f54d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h6aacc2f56d1a81e2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h6aacc2f56d1a81e2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Demo: 02-command-selection.mp4</a:t>
            </a:r>
            <a:endParaRPr/>
          </a:p>
          <a:p>
            <a:pPr indent="0" lvl="0" marL="0" rtl="0" algn="l">
              <a:spcBef>
                <a:spcPts val="0"/>
              </a:spcBef>
              <a:spcAft>
                <a:spcPts val="0"/>
              </a:spcAft>
              <a:buClr>
                <a:schemeClr val="dk1"/>
              </a:buClr>
              <a:buSzPts val="1100"/>
              <a:buFont typeface="Arial"/>
              <a:buNone/>
            </a:pPr>
            <a:r>
              <a:rPr lang="en-GB"/>
              <a:t>Prompt: Choose Rhino commands to make a closed rounded dome from the radial profile.</a:t>
            </a:r>
            <a:endParaRPr/>
          </a:p>
          <a:p>
            <a:pPr indent="0" lvl="0" marL="0" rtl="0" algn="l">
              <a:spcBef>
                <a:spcPts val="0"/>
              </a:spcBef>
              <a:spcAft>
                <a:spcPts val="0"/>
              </a:spcAft>
              <a:buClr>
                <a:schemeClr val="dk1"/>
              </a:buClr>
              <a:buSzPts val="1100"/>
              <a:buFont typeface="Arial"/>
              <a:buNone/>
            </a:pPr>
            <a:r>
              <a:rPr lang="en-GB"/>
              <a:t>The recording runs Revolve about World Z, FullCircle, Cap and Check. The saved result is one valid closed Brep with two faces. The profile and result are in 02-command-selection.3dm.</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h33030d998fe3f54d_2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h33030d998fe3f54d_2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h6aacc2f56d1a81e2_1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h6aacc2f56d1a81e2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Demo: 03-habitat-prompt.mp4</a:t>
            </a:r>
            <a:endParaRPr/>
          </a:p>
          <a:p>
            <a:pPr indent="0" lvl="0" marL="0" rtl="0" algn="l">
              <a:spcBef>
                <a:spcPts val="0"/>
              </a:spcBef>
              <a:spcAft>
                <a:spcPts val="0"/>
              </a:spcAft>
              <a:buClr>
                <a:schemeClr val="dk1"/>
              </a:buClr>
              <a:buSzPts val="1100"/>
              <a:buFont typeface="Arial"/>
              <a:buNone/>
            </a:pPr>
            <a:r>
              <a:rPr lang="en-GB"/>
              <a:t>Prompt: Build Habitat 67.</a:t>
            </a:r>
            <a:endParaRPr/>
          </a:p>
          <a:p>
            <a:pPr indent="0" lvl="0" marL="0" rtl="0" algn="l">
              <a:spcBef>
                <a:spcPts val="0"/>
              </a:spcBef>
              <a:spcAft>
                <a:spcPts val="0"/>
              </a:spcAft>
              <a:buClr>
                <a:schemeClr val="dk1"/>
              </a:buClr>
              <a:buSzPts val="1100"/>
              <a:buFont typeface="Arial"/>
              <a:buNone/>
            </a:pPr>
            <a:r>
              <a:rPr lang="en-GB"/>
              <a:t>The script builds an approximate stepped massing study from raw mesh coordinates. It contains 126 assumed modules, 1,008 vertices and 756 quad faces. Rhino reports a valid closed mesh. Dimensions and arrangement are assumptions. The result does not reconstruct the original plans or demonstrate architectural fidelity.</a:t>
            </a:r>
            <a:endParaRPr/>
          </a:p>
          <a:p>
            <a:pPr indent="0" lvl="0" marL="0" rtl="0" algn="l">
              <a:spcBef>
                <a:spcPts val="0"/>
              </a:spcBef>
              <a:spcAft>
                <a:spcPts val="0"/>
              </a:spcAft>
              <a:buClr>
                <a:schemeClr val="dk1"/>
              </a:buClr>
              <a:buSzPts val="1100"/>
              <a:buFont typeface="Arial"/>
              <a:buNone/>
            </a:pPr>
            <a:r>
              <a:rPr lang="en-GB"/>
              <a:t>Reference: https://www.safdiearchitects.com/projects/habitat-67</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h33030d998fe3f54d_2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h33030d998fe3f54d_2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h6aacc2f56d1a81e2_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h6aacc2f56d1a81e2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Demo: 04-parametric-tower.mp4</a:t>
            </a:r>
            <a:endParaRPr/>
          </a:p>
          <a:p>
            <a:pPr indent="0" lvl="0" marL="0" rtl="0" algn="l">
              <a:spcBef>
                <a:spcPts val="0"/>
              </a:spcBef>
              <a:spcAft>
                <a:spcPts val="0"/>
              </a:spcAft>
              <a:buNone/>
            </a:pPr>
            <a:r>
              <a:rPr lang="en-GB"/>
              <a:t>Prompt: Create a tower with floor-count and twist controls. Use 12 square slabs, 3.2 m storey height and a central core.</a:t>
            </a:r>
            <a:endParaRPr/>
          </a:p>
          <a:p>
            <a:pPr indent="0" lvl="0" marL="0" rtl="0" algn="l">
              <a:spcBef>
                <a:spcPts val="0"/>
              </a:spcBef>
              <a:spcAft>
                <a:spcPts val="0"/>
              </a:spcAft>
              <a:buNone/>
            </a:pPr>
            <a:r>
              <a:rPr lang="en-GB"/>
              <a:t>The Python component runs inside Grasshopper. The recording changes total twist from 0 to 60 degrees. Both exports contain 12 valid closed slab solids and one valid closed core. Structure and circulation are outside this geometry study.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h33030d998fe3f54d_2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h33030d998fe3f54d_2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h6aacc2f56d1a81e2_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h6aacc2f56d1a81e2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Demo: 05-lbm-to-grasshopper.mp4</a:t>
            </a:r>
            <a:endParaRPr/>
          </a:p>
          <a:p>
            <a:pPr indent="0" lvl="0" marL="0" rtl="0" algn="l">
              <a:spcBef>
                <a:spcPts val="0"/>
              </a:spcBef>
              <a:spcAft>
                <a:spcPts val="0"/>
              </a:spcAft>
              <a:buClr>
                <a:schemeClr val="dk1"/>
              </a:buClr>
              <a:buSzPts val="1100"/>
              <a:buFont typeface="Arial"/>
              <a:buNone/>
            </a:pPr>
            <a:r>
              <a:rPr lang="en-GB"/>
              <a:t>Prompt: Adapt the D2Q9/TRT numerical routines in github.com/jviquerat/lbm into a Grasshopper Python tool. Convert closed building footprints into obstacles. Solve a horizontal 2D slice, then move one footprint and solve again.</a:t>
            </a:r>
            <a:endParaRPr/>
          </a:p>
          <a:p>
            <a:pPr indent="0" lvl="0" marL="0" rtl="0" algn="l">
              <a:spcBef>
                <a:spcPts val="0"/>
              </a:spcBef>
              <a:spcAft>
                <a:spcPts val="0"/>
              </a:spcAft>
              <a:buClr>
                <a:schemeClr val="dk1"/>
              </a:buClr>
              <a:buSzPts val="1100"/>
              <a:buFont typeface="Arial"/>
              <a:buNone/>
            </a:pPr>
            <a:r>
              <a:rPr lang="en-GB"/>
              <a:t>Source: https://github.com/jviquerat/lbm commit 64023fc76db2ddb681b2d4d24306a433e85f9555. MIT licence, Jonathan Viquerat. The port removes Numba decorators and keeps the numerical formulas.</a:t>
            </a:r>
            <a:endParaRPr/>
          </a:p>
          <a:p>
            <a:pPr indent="0" lvl="0" marL="0" rtl="0" algn="l">
              <a:spcBef>
                <a:spcPts val="0"/>
              </a:spcBef>
              <a:spcAft>
                <a:spcPts val="0"/>
              </a:spcAft>
              <a:buClr>
                <a:schemeClr val="dk1"/>
              </a:buClr>
              <a:buSzPts val="1100"/>
              <a:buFont typeface="Arial"/>
              <a:buNone/>
            </a:pPr>
            <a:r>
              <a:rPr lang="en-GB"/>
              <a:t>Grid 160 x 64. 1,800 steps. Inlet peak 0.03 lattice units. Middle block shift 0 to -12 changes peak speed from 0.05592 to 0.04986. Both runs have finite values and positive density.</a:t>
            </a:r>
            <a:endParaRPr/>
          </a:p>
          <a:p>
            <a:pPr indent="0" lvl="0" marL="0" rtl="0" algn="l">
              <a:spcBef>
                <a:spcPts val="0"/>
              </a:spcBef>
              <a:spcAft>
                <a:spcPts val="0"/>
              </a:spcAft>
              <a:buClr>
                <a:schemeClr val="dk1"/>
              </a:buClr>
              <a:buSzPts val="1100"/>
              <a:buFont typeface="Arial"/>
              <a:buNone/>
            </a:pPr>
            <a:r>
              <a:rPr lang="en-GB"/>
              <a:t>This is a 2D laminar channel teaching model in lattice units. Physical accuracy and grid convergence have not been assessed. Vertical flow and atmospheric boundary conditions are omitted.</a:t>
            </a:r>
            <a:endParaRPr/>
          </a:p>
          <a:p>
            <a:pPr indent="0" lvl="0" marL="0" rtl="0" algn="l">
              <a:spcBef>
                <a:spcPts val="0"/>
              </a:spcBef>
              <a:spcAft>
                <a:spcPts val="0"/>
              </a:spcAft>
              <a:buClr>
                <a:schemeClr val="dk1"/>
              </a:buClr>
              <a:buSzPts val="1100"/>
              <a:buFont typeface="Arial"/>
              <a:buNone/>
            </a:pPr>
            <a:r>
              <a:rPr lang="en-GB"/>
              <a:t>Teaching point: students can find relevant source code, inspect its assumptions, adapt its inputs and outputs, then test the tool in their design environment.</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h33030d998fe3f54d_2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h33030d998fe3f54d_2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h6aacc2f56d1a81e2_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h6aacc2f56d1a81e2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Demo: 20-toronto-zoning.mp4</a:t>
            </a:r>
            <a:endParaRPr/>
          </a:p>
          <a:p>
            <a:pPr indent="0" lvl="0" marL="0" rtl="0" algn="l">
              <a:spcBef>
                <a:spcPts val="0"/>
              </a:spcBef>
              <a:spcAft>
                <a:spcPts val="0"/>
              </a:spcAft>
              <a:buNone/>
            </a:pPr>
            <a:r>
              <a:rPr lang="en-GB"/>
              <a:t>Fictional teaching lot: RD(f15)(d0.6), width 15 m, depth 36 m, then 30 m. Detached house without a secondary suite. No real address or mapped overlay has been checked.</a:t>
            </a:r>
            <a:endParaRPr/>
          </a:p>
          <a:p>
            <a:pPr indent="0" lvl="0" marL="0" rtl="0" algn="l">
              <a:spcBef>
                <a:spcPts val="0"/>
              </a:spcBef>
              <a:spcAft>
                <a:spcPts val="0"/>
              </a:spcAft>
              <a:buNone/>
            </a:pPr>
            <a:r>
              <a:rPr lang="en-GB"/>
              <a:t>Source: https://www.toronto.ca/zoning/bylaw_amendments/ZBL_NewProvision_Chapter10_20.htm</a:t>
            </a:r>
            <a:endParaRPr/>
          </a:p>
          <a:p>
            <a:pPr indent="0" lvl="0" marL="0" rtl="0" algn="l">
              <a:spcBef>
                <a:spcPts val="0"/>
              </a:spcBef>
              <a:spcAft>
                <a:spcPts val="0"/>
              </a:spcAft>
              <a:buNone/>
            </a:pPr>
            <a:r>
              <a:rPr lang="en-GB"/>
              <a:t>Selected clauses: 10.20.30.10 minimum lot area 450 m2. 10.20.40.70 front setback 6 m where front-yard averaging does not apply, side 1.5 m, rear greater of 7.5 m or 25% of depth. 10.20.40.20 length 17 m for required frontage up to 18 m. 10.20.40.10 height 10 m without HT and flat-roof main wall 7.5 m. FSI 0.6 follows the assumed zone label. Coverage 35% is an assumption.</a:t>
            </a:r>
            <a:endParaRPr/>
          </a:p>
          <a:p>
            <a:pPr indent="0" lvl="0" marL="0" rtl="0" algn="l">
              <a:spcBef>
                <a:spcPts val="0"/>
              </a:spcBef>
              <a:spcAft>
                <a:spcPts val="0"/>
              </a:spcAft>
              <a:buNone/>
            </a:pPr>
            <a:r>
              <a:rPr lang="en-GB"/>
              <a:t>At 36 m depth, rear setback is 9 m and the two-storey example has 324 m2 floor area. At 30 m depth, rear setback is 7.5 m and floor area is 270 m2.</a:t>
            </a:r>
            <a:endParaRPr/>
          </a:p>
          <a:p>
            <a:pPr indent="0" lvl="0" marL="0" rtl="0" algn="l">
              <a:spcBef>
                <a:spcPts val="0"/>
              </a:spcBef>
              <a:spcAft>
                <a:spcPts val="0"/>
              </a:spcAft>
              <a:buNone/>
            </a:pPr>
            <a:r>
              <a:rPr lang="en-GB"/>
              <a:t>The bounding volume is a simplified representation of selected rules. This example excludes full zoning review, overlays, exceptions and Ontario Building Code compliance. See SOURCES.md for all assumptions.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h33030d998fe3f54d_2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h33030d998fe3f54d_2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h6aacc2f56d1a81e2_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h6aacc2f56d1a81e2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Published example: 21-autodesk-published-demo.mp4</a:t>
            </a:r>
            <a:endParaRPr/>
          </a:p>
          <a:p>
            <a:pPr indent="0" lvl="0" marL="0" rtl="0" algn="l">
              <a:spcBef>
                <a:spcPts val="0"/>
              </a:spcBef>
              <a:spcAft>
                <a:spcPts val="0"/>
              </a:spcAft>
              <a:buNone/>
            </a:pPr>
            <a:r>
              <a:rPr lang="en-GB"/>
              <a:t>This clip is an OBS capture of a short excerpt from Autodesk's published Building Layout Explorer demonstration. It has not been run independently in a local Forma account.</a:t>
            </a:r>
            <a:endParaRPr/>
          </a:p>
          <a:p>
            <a:pPr indent="0" lvl="0" marL="0" rtl="0" algn="l">
              <a:spcBef>
                <a:spcPts val="0"/>
              </a:spcBef>
              <a:spcAft>
                <a:spcPts val="0"/>
              </a:spcAft>
              <a:buNone/>
            </a:pPr>
            <a:r>
              <a:rPr lang="en-GB"/>
              <a:t>Source: Autodesk News, 2 June 2026, https://adsknews.autodesk.com/en/news/building-layout-explorer-in-autodesk-forma/</a:t>
            </a:r>
            <a:endParaRPr/>
          </a:p>
          <a:p>
            <a:pPr indent="0" lvl="0" marL="0" rtl="0" algn="l">
              <a:spcBef>
                <a:spcPts val="0"/>
              </a:spcBef>
              <a:spcAft>
                <a:spcPts val="0"/>
              </a:spcAft>
              <a:buNone/>
            </a:pPr>
            <a:r>
              <a:rPr lang="en-GB"/>
              <a:t>Autodesk describes an experimental feature for commercial Forma Site Design projects stored in the US. Inputs include building massing, type and material. The feature generates floor-plan options. The source supports this narrower description, rather than an LOD 200 BIM claim.</a:t>
            </a:r>
            <a:endParaRPr/>
          </a:p>
          <a:p>
            <a:pPr indent="0" lvl="0" marL="0" rtl="0" algn="l">
              <a:spcBef>
                <a:spcPts val="0"/>
              </a:spcBef>
              <a:spcAft>
                <a:spcPts val="0"/>
              </a:spcAft>
              <a:buNone/>
            </a:pPr>
            <a:r>
              <a:rPr lang="en-GB"/>
              <a:t>The keynote link on this slide is an additional Autodesk reference. Play the local excerpt for the floor-plan example.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h33030d998fe3f54d_2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h33030d998fe3f54d_2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h6aacc2f56d1a81e2_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h6aacc2f56d1a81e2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h6aacc2f56d1a81e2_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h6aacc2f56d1a81e2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h6b68c852582d2e1c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h6b68c852582d2e1c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h6b68c852582d2e1c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h6b68c852582d2e1c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For anyone looking to develop a rigorous visual and mathematical understanding of deep learning, Grant Sanderson's 3Blue1Brown series on neural networks is unparalleled. It provides clear geometric intuition for how high-dimensional vectors, weights, and loss gradients operate before you dive into implementation details or code.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h6aacc2f56d1a81e2_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h6aacc2f56d1a81e2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h6b68c852582d2e1c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h6b68c852582d2e1c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h22b8304c37fa5efb_1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h22b8304c37fa5efb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h22b8304c37fa5efb_1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h22b8304c37fa5efb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h22b8304c37fa5efb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h22b8304c37fa5efb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22b8304c37fa5efb_10_0)">
  <p:cSld name="Generated (h22b8304c37fa5efb_10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aacc2f56d1a81e2_2_0)">
  <p:cSld name="Generated (h6aacc2f56d1a81e2_2_0)">
    <p:spTree>
      <p:nvGrpSpPr>
        <p:cNvPr id="10" name="Shape 10"/>
        <p:cNvGrpSpPr/>
        <p:nvPr/>
      </p:nvGrpSpPr>
      <p:grpSpPr>
        <a:xfrm>
          <a:off x="0" y="0"/>
          <a:ext cx="0" cy="0"/>
          <a:chOff x="0" y="0"/>
          <a:chExt cx="0" cy="0"/>
        </a:xfrm>
      </p:grpSpPr>
      <p:sp>
        <p:nvSpPr>
          <p:cNvPr id="11" name="Google Shape;11;p3"/>
          <p:cNvSpPr/>
          <p:nvPr/>
        </p:nvSpPr>
        <p:spPr>
          <a:xfrm>
            <a:off x="0" y="0"/>
            <a:ext cx="9144000" cy="51435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2" name="Google Shape;12;p3"/>
          <p:cNvPicPr preferRelativeResize="0"/>
          <p:nvPr/>
        </p:nvPicPr>
        <p:blipFill rotWithShape="1">
          <a:blip r:embed="rId2">
            <a:alphaModFix/>
          </a:blip>
          <a:srcRect b="0" l="0" r="0" t="0"/>
          <a:stretch/>
        </p:blipFill>
        <p:spPr>
          <a:xfrm>
            <a:off x="0" y="0"/>
            <a:ext cx="9144000" cy="51435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1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1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1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0"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5.png"/><Relationship Id="rId9" Type="http://schemas.openxmlformats.org/officeDocument/2006/relationships/image" Target="../media/image42.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16.png"/><Relationship Id="rId8" Type="http://schemas.openxmlformats.org/officeDocument/2006/relationships/image" Target="../media/image4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18.png"/><Relationship Id="rId8"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image" Target="../media/image19.png"/><Relationship Id="rId7"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18.png"/><Relationship Id="rId8"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27.png"/><Relationship Id="rId6" Type="http://schemas.openxmlformats.org/officeDocument/2006/relationships/image" Target="../media/image4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drive.google.com/file/d/1aEfWHf7EmD6h96eqbHDVOcjgFRjWDG5R/view" TargetMode="External"/><Relationship Id="rId4" Type="http://schemas.openxmlformats.org/officeDocument/2006/relationships/image" Target="../media/image5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5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drive.google.com/file/d/1_-ab4s-lmkJWcmXThboMEvX0hWmRzaih/view" TargetMode="External"/><Relationship Id="rId4" Type="http://schemas.openxmlformats.org/officeDocument/2006/relationships/image" Target="../media/image4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drive.google.com/file/d/1RQWbFba7dZ_QQY4YsEfxXbDGIM31zids/view" TargetMode="External"/><Relationship Id="rId4" Type="http://schemas.openxmlformats.org/officeDocument/2006/relationships/image" Target="../media/image3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drive.google.com/file/d/1-x5DCYi2zG3xEXzItEw-q0JOOv9kgACs/view" TargetMode="External"/><Relationship Id="rId4" Type="http://schemas.openxmlformats.org/officeDocument/2006/relationships/image" Target="../media/image4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drive.google.com/file/d/1w1r7VjY-mhF9pwvcpQ9kEi0EgE8Sl6U-/view" TargetMode="External"/><Relationship Id="rId4" Type="http://schemas.openxmlformats.org/officeDocument/2006/relationships/image" Target="../media/image4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drive.google.com/file/d/1IVOUMlWX8KO5MDMrCkC21wrkowsy_-rz/view" TargetMode="External"/><Relationship Id="rId4" Type="http://schemas.openxmlformats.org/officeDocument/2006/relationships/image" Target="../media/image4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www.youtube.com/watch?v=dC-DqjnZonk" TargetMode="External"/><Relationship Id="rId4" Type="http://schemas.openxmlformats.org/officeDocument/2006/relationships/image" Target="../media/image4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drive.google.com/file/d/1p5rzNWQZg_cILlfB8iDLXZzdFXTIyjvm/view" TargetMode="External"/><Relationship Id="rId4" Type="http://schemas.openxmlformats.org/officeDocument/2006/relationships/image" Target="../media/image4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8.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57" name="Shape 57"/>
        <p:cNvGrpSpPr/>
        <p:nvPr/>
      </p:nvGrpSpPr>
      <p:grpSpPr>
        <a:xfrm>
          <a:off x="0" y="0"/>
          <a:ext cx="0" cy="0"/>
          <a:chOff x="0" y="0"/>
          <a:chExt cx="0" cy="0"/>
        </a:xfrm>
      </p:grpSpPr>
      <p:sp>
        <p:nvSpPr>
          <p:cNvPr id="58" name="Google Shape;58;p15"/>
          <p:cNvSpPr txBox="1"/>
          <p:nvPr/>
        </p:nvSpPr>
        <p:spPr>
          <a:xfrm>
            <a:off x="381000" y="571500"/>
            <a:ext cx="8382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400">
                <a:solidFill>
                  <a:srgbClr val="111315"/>
                </a:solidFill>
                <a:latin typeface="Space Grotesk"/>
                <a:ea typeface="Space Grotesk"/>
                <a:cs typeface="Space Grotesk"/>
                <a:sym typeface="Space Grotesk"/>
              </a:rPr>
              <a:t>AI in Architecture</a:t>
            </a:r>
            <a:endParaRPr b="1" sz="2400">
              <a:solidFill>
                <a:srgbClr val="111315"/>
              </a:solidFill>
              <a:latin typeface="Space Grotesk"/>
              <a:ea typeface="Space Grotesk"/>
              <a:cs typeface="Space Grotesk"/>
              <a:sym typeface="Space Grotesk"/>
            </a:endParaRPr>
          </a:p>
          <a:p>
            <a:pPr indent="0" lvl="0" marL="0" rtl="0" algn="l">
              <a:spcBef>
                <a:spcPts val="1200"/>
              </a:spcBef>
              <a:spcAft>
                <a:spcPts val="1200"/>
              </a:spcAft>
              <a:buNone/>
            </a:pPr>
            <a:r>
              <a:rPr b="0" lang="en-GB" sz="1500">
                <a:solidFill>
                  <a:srgbClr val="5A626A"/>
                </a:solidFill>
                <a:latin typeface="Space Grotesk SemiBold"/>
                <a:ea typeface="Space Grotesk SemiBold"/>
                <a:cs typeface="Space Grotesk SemiBold"/>
                <a:sym typeface="Space Grotesk SemiBold"/>
              </a:rPr>
              <a:t>Indrajeet Haldar</a:t>
            </a:r>
            <a:endParaRPr b="0" sz="1500">
              <a:solidFill>
                <a:srgbClr val="5A626A"/>
              </a:solidFill>
              <a:latin typeface="Space Grotesk SemiBold"/>
              <a:ea typeface="Space Grotesk SemiBold"/>
              <a:cs typeface="Space Grotesk SemiBold"/>
              <a:sym typeface="Space Grotesk SemiBold"/>
            </a:endParaRPr>
          </a:p>
        </p:txBody>
      </p:sp>
      <p:grpSp>
        <p:nvGrpSpPr>
          <p:cNvPr id="59" name="Google Shape;59;p15"/>
          <p:cNvGrpSpPr/>
          <p:nvPr/>
        </p:nvGrpSpPr>
        <p:grpSpPr>
          <a:xfrm>
            <a:off x="1714500" y="2476500"/>
            <a:ext cx="5524500" cy="571500"/>
            <a:chOff x="0" y="0"/>
            <a:chExt cx="5524500" cy="571500"/>
          </a:xfrm>
        </p:grpSpPr>
        <p:sp>
          <p:nvSpPr>
            <p:cNvPr id="60" name="Google Shape;60;p15"/>
            <p:cNvSpPr/>
            <p:nvPr/>
          </p:nvSpPr>
          <p:spPr>
            <a:xfrm>
              <a:off x="0" y="0"/>
              <a:ext cx="1333500" cy="571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15"/>
            <p:cNvSpPr txBox="1"/>
            <p:nvPr/>
          </p:nvSpPr>
          <p:spPr>
            <a:xfrm>
              <a:off x="0" y="0"/>
              <a:ext cx="1333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50">
                  <a:solidFill>
                    <a:srgbClr val="111315"/>
                  </a:solidFill>
                  <a:latin typeface="Inter"/>
                  <a:ea typeface="Inter"/>
                  <a:cs typeface="Inter"/>
                  <a:sym typeface="Inter"/>
                </a:rPr>
                <a:t>x (Input)</a:t>
              </a:r>
              <a:endParaRPr/>
            </a:p>
          </p:txBody>
        </p:sp>
        <p:grpSp>
          <p:nvGrpSpPr>
            <p:cNvPr id="62" name="Google Shape;62;p15"/>
            <p:cNvGrpSpPr/>
            <p:nvPr/>
          </p:nvGrpSpPr>
          <p:grpSpPr>
            <a:xfrm>
              <a:off x="1524000" y="247650"/>
              <a:ext cx="381000" cy="76200"/>
              <a:chOff x="0" y="-38100"/>
              <a:chExt cx="381000" cy="76200"/>
            </a:xfrm>
          </p:grpSpPr>
          <p:cxnSp>
            <p:nvCxnSpPr>
              <p:cNvPr id="63" name="Google Shape;63;p15"/>
              <p:cNvCxnSpPr/>
              <p:nvPr/>
            </p:nvCxnSpPr>
            <p:spPr>
              <a:xfrm>
                <a:off x="0" y="0"/>
                <a:ext cx="3048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64" name="Google Shape;64;p15"/>
              <p:cNvSpPr/>
              <p:nvPr/>
            </p:nvSpPr>
            <p:spPr>
              <a:xfrm>
                <a:off x="304800" y="-381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5" name="Google Shape;65;p15"/>
            <p:cNvSpPr/>
            <p:nvPr/>
          </p:nvSpPr>
          <p:spPr>
            <a:xfrm>
              <a:off x="2095500" y="0"/>
              <a:ext cx="1333500" cy="571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15"/>
            <p:cNvSpPr txBox="1"/>
            <p:nvPr/>
          </p:nvSpPr>
          <p:spPr>
            <a:xfrm>
              <a:off x="2095500" y="0"/>
              <a:ext cx="1333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50">
                  <a:solidFill>
                    <a:srgbClr val="111315"/>
                  </a:solidFill>
                  <a:latin typeface="Inter"/>
                  <a:ea typeface="Inter"/>
                  <a:cs typeface="Inter"/>
                  <a:sym typeface="Inter"/>
                </a:rPr>
                <a:t>f(x) (Function)</a:t>
              </a:r>
              <a:endParaRPr/>
            </a:p>
          </p:txBody>
        </p:sp>
        <p:grpSp>
          <p:nvGrpSpPr>
            <p:cNvPr id="67" name="Google Shape;67;p15"/>
            <p:cNvGrpSpPr/>
            <p:nvPr/>
          </p:nvGrpSpPr>
          <p:grpSpPr>
            <a:xfrm>
              <a:off x="3619500" y="247650"/>
              <a:ext cx="381000" cy="76200"/>
              <a:chOff x="0" y="-38100"/>
              <a:chExt cx="381000" cy="76200"/>
            </a:xfrm>
          </p:grpSpPr>
          <p:cxnSp>
            <p:nvCxnSpPr>
              <p:cNvPr id="68" name="Google Shape;68;p15"/>
              <p:cNvCxnSpPr/>
              <p:nvPr/>
            </p:nvCxnSpPr>
            <p:spPr>
              <a:xfrm>
                <a:off x="0" y="0"/>
                <a:ext cx="3048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69" name="Google Shape;69;p15"/>
              <p:cNvSpPr/>
              <p:nvPr/>
            </p:nvSpPr>
            <p:spPr>
              <a:xfrm>
                <a:off x="304800" y="-381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0" name="Google Shape;70;p15"/>
            <p:cNvSpPr/>
            <p:nvPr/>
          </p:nvSpPr>
          <p:spPr>
            <a:xfrm>
              <a:off x="4191000" y="0"/>
              <a:ext cx="1333500" cy="571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15"/>
            <p:cNvSpPr txBox="1"/>
            <p:nvPr/>
          </p:nvSpPr>
          <p:spPr>
            <a:xfrm>
              <a:off x="4191000" y="0"/>
              <a:ext cx="1333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50">
                  <a:solidFill>
                    <a:srgbClr val="111315"/>
                  </a:solidFill>
                  <a:latin typeface="Inter"/>
                  <a:ea typeface="Inter"/>
                  <a:cs typeface="Inter"/>
                  <a:sym typeface="Inter"/>
                </a:rPr>
                <a:t>y (Output)</a:t>
              </a:r>
              <a:endParaRPr/>
            </a:p>
          </p:txBody>
        </p:sp>
      </p:grpSp>
      <p:grpSp>
        <p:nvGrpSpPr>
          <p:cNvPr id="72" name="Google Shape;72;p15"/>
          <p:cNvGrpSpPr/>
          <p:nvPr/>
        </p:nvGrpSpPr>
        <p:grpSpPr>
          <a:xfrm>
            <a:off x="381000" y="4762500"/>
            <a:ext cx="8382000" cy="285750"/>
            <a:chOff x="381000" y="4762500"/>
            <a:chExt cx="8382000" cy="285750"/>
          </a:xfrm>
        </p:grpSpPr>
        <p:cxnSp>
          <p:nvCxnSpPr>
            <p:cNvPr id="73" name="Google Shape;73;p15"/>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74" name="Google Shape;74;p15"/>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400">
                <a:solidFill>
                  <a:srgbClr val="111315"/>
                </a:solidFill>
                <a:latin typeface="Space Grotesk"/>
                <a:ea typeface="Space Grotesk"/>
                <a:cs typeface="Space Grotesk"/>
                <a:sym typeface="Space Grotesk"/>
              </a:rPr>
              <a:t>Presentation Outline</a:t>
            </a:r>
            <a:endParaRPr b="1" sz="2400">
              <a:solidFill>
                <a:srgbClr val="111315"/>
              </a:solidFill>
              <a:latin typeface="Space Grotesk"/>
              <a:ea typeface="Space Grotesk"/>
              <a:cs typeface="Space Grotesk"/>
              <a:sym typeface="Space Grotesk"/>
            </a:endParaRPr>
          </a:p>
        </p:txBody>
      </p:sp>
      <p:sp>
        <p:nvSpPr>
          <p:cNvPr id="80" name="Google Shape;80;p16"/>
          <p:cNvSpPr txBox="1"/>
          <p:nvPr/>
        </p:nvSpPr>
        <p:spPr>
          <a:xfrm>
            <a:off x="381000" y="1143000"/>
            <a:ext cx="8001000" cy="3238500"/>
          </a:xfrm>
          <a:prstGeom prst="rect">
            <a:avLst/>
          </a:prstGeom>
          <a:noFill/>
          <a:ln>
            <a:noFill/>
          </a:ln>
        </p:spPr>
        <p:txBody>
          <a:bodyPr anchorCtr="0" anchor="t" bIns="0" lIns="0" spcFirstLastPara="1" rIns="0" wrap="square" tIns="0">
            <a:noAutofit/>
          </a:bodyPr>
          <a:lstStyle/>
          <a:p>
            <a:pPr indent="0" lvl="0" marL="457200" marR="0" rtl="0" algn="l">
              <a:lnSpc>
                <a:spcPct val="100000"/>
              </a:lnSpc>
              <a:spcBef>
                <a:spcPts val="0"/>
              </a:spcBef>
              <a:spcAft>
                <a:spcPts val="0"/>
              </a:spcAft>
              <a:buNone/>
            </a:pPr>
            <a:r>
              <a:rPr b="0" i="0" lang="en-GB" sz="1200" u="none" strike="noStrike">
                <a:solidFill>
                  <a:srgbClr val="D9381E"/>
                </a:solidFill>
                <a:latin typeface="Space Grotesk"/>
                <a:ea typeface="Space Grotesk"/>
                <a:cs typeface="Space Grotesk"/>
                <a:sym typeface="Space Grotesk"/>
              </a:rPr>
              <a:t>1. Overview: Polynomial Functions to Transformers</a:t>
            </a:r>
            <a:endParaRPr b="0" i="0" sz="1200" u="none" strike="noStrike">
              <a:solidFill>
                <a:srgbClr val="D9381E"/>
              </a:solidFill>
              <a:latin typeface="Space Grotesk"/>
              <a:ea typeface="Space Grotesk"/>
              <a:cs typeface="Space Grotesk"/>
              <a:sym typeface="Space Grotesk"/>
            </a:endParaRPr>
          </a:p>
          <a:p>
            <a:pPr indent="0" lvl="0" marL="457200" marR="0" rtl="0" algn="l">
              <a:lnSpc>
                <a:spcPct val="100000"/>
              </a:lnSpc>
              <a:spcBef>
                <a:spcPts val="1500"/>
              </a:spcBef>
              <a:spcAft>
                <a:spcPts val="0"/>
              </a:spcAft>
              <a:buNone/>
            </a:pPr>
            <a:r>
              <a:rPr b="0" i="0" lang="en-GB" sz="1200" u="none" strike="noStrike">
                <a:solidFill>
                  <a:srgbClr val="D9381E"/>
                </a:solidFill>
                <a:latin typeface="Space Grotesk"/>
                <a:ea typeface="Space Grotesk"/>
                <a:cs typeface="Space Grotesk"/>
                <a:sym typeface="Space Grotesk"/>
              </a:rPr>
              <a:t>2. Function of LLMs, Coding Harnesses, and MCPs</a:t>
            </a:r>
            <a:endParaRPr b="0" i="0" sz="1200" u="none" strike="noStrike">
              <a:solidFill>
                <a:srgbClr val="D9381E"/>
              </a:solidFill>
              <a:latin typeface="Space Grotesk"/>
              <a:ea typeface="Space Grotesk"/>
              <a:cs typeface="Space Grotesk"/>
              <a:sym typeface="Space Grotesk"/>
            </a:endParaRPr>
          </a:p>
          <a:p>
            <a:pPr indent="0" lvl="0" marL="457200" marR="0" rtl="0" algn="l">
              <a:lnSpc>
                <a:spcPct val="100000"/>
              </a:lnSpc>
              <a:spcBef>
                <a:spcPts val="1500"/>
              </a:spcBef>
              <a:spcAft>
                <a:spcPts val="0"/>
              </a:spcAft>
              <a:buNone/>
            </a:pPr>
            <a:r>
              <a:rPr b="0" i="0" lang="en-GB" sz="1200" u="none" strike="noStrike">
                <a:solidFill>
                  <a:srgbClr val="D9381E"/>
                </a:solidFill>
                <a:latin typeface="Space Grotesk"/>
                <a:ea typeface="Space Grotesk"/>
                <a:cs typeface="Space Grotesk"/>
                <a:sym typeface="Space Grotesk"/>
              </a:rPr>
              <a:t>3. Examples: Rhino MCP, Grasshopper, and Autodesk</a:t>
            </a:r>
            <a:endParaRPr b="0" i="0" sz="1200" u="none" strike="noStrike">
              <a:solidFill>
                <a:srgbClr val="D9381E"/>
              </a:solidFill>
              <a:latin typeface="Space Grotesk"/>
              <a:ea typeface="Space Grotesk"/>
              <a:cs typeface="Space Grotesk"/>
              <a:sym typeface="Space Grotesk"/>
            </a:endParaRPr>
          </a:p>
          <a:p>
            <a:pPr indent="0" lvl="0" marL="457200" marR="0" rtl="0" algn="l">
              <a:lnSpc>
                <a:spcPct val="100000"/>
              </a:lnSpc>
              <a:spcBef>
                <a:spcPts val="1500"/>
              </a:spcBef>
              <a:spcAft>
                <a:spcPts val="0"/>
              </a:spcAft>
              <a:buNone/>
            </a:pPr>
            <a:r>
              <a:rPr b="0" i="0" lang="en-GB" sz="1200" u="none" strike="noStrike">
                <a:solidFill>
                  <a:srgbClr val="D9381E"/>
                </a:solidFill>
                <a:latin typeface="Space Grotesk"/>
                <a:ea typeface="Space Grotesk"/>
                <a:cs typeface="Space Grotesk"/>
                <a:sym typeface="Space Grotesk"/>
              </a:rPr>
              <a:t>4. System Characteristics: Computational Optimization and Cross-Domain Methods</a:t>
            </a:r>
            <a:endParaRPr b="0" i="0" sz="1200" u="none" strike="noStrike">
              <a:solidFill>
                <a:srgbClr val="D9381E"/>
              </a:solidFill>
              <a:latin typeface="Space Grotesk"/>
              <a:ea typeface="Space Grotesk"/>
              <a:cs typeface="Space Grotesk"/>
              <a:sym typeface="Space Grotesk"/>
            </a:endParaRPr>
          </a:p>
          <a:p>
            <a:pPr indent="0" lvl="0" marL="457200" marR="0" rtl="0" algn="l">
              <a:lnSpc>
                <a:spcPct val="100000"/>
              </a:lnSpc>
              <a:spcBef>
                <a:spcPts val="1500"/>
              </a:spcBef>
              <a:spcAft>
                <a:spcPts val="1500"/>
              </a:spcAft>
              <a:buNone/>
            </a:pPr>
            <a:r>
              <a:rPr b="0" i="0" lang="en-GB" sz="1200" u="none" strike="noStrike">
                <a:solidFill>
                  <a:srgbClr val="D9381E"/>
                </a:solidFill>
                <a:latin typeface="Space Grotesk"/>
                <a:ea typeface="Space Grotesk"/>
                <a:cs typeface="Space Grotesk"/>
                <a:sym typeface="Space Grotesk"/>
              </a:rPr>
              <a:t>5. Questions and Answers (30 minutes)</a:t>
            </a:r>
            <a:endParaRPr b="0" i="0" sz="1200" u="none" strike="noStrike">
              <a:solidFill>
                <a:srgbClr val="D9381E"/>
              </a:solidFill>
              <a:latin typeface="Space Grotesk"/>
              <a:ea typeface="Space Grotesk"/>
              <a:cs typeface="Space Grotesk"/>
              <a:sym typeface="Space Grotesk"/>
            </a:endParaRPr>
          </a:p>
        </p:txBody>
      </p:sp>
      <p:grpSp>
        <p:nvGrpSpPr>
          <p:cNvPr id="81" name="Google Shape;81;p16"/>
          <p:cNvGrpSpPr/>
          <p:nvPr/>
        </p:nvGrpSpPr>
        <p:grpSpPr>
          <a:xfrm>
            <a:off x="381000" y="4762500"/>
            <a:ext cx="8382000" cy="285750"/>
            <a:chOff x="381000" y="4762500"/>
            <a:chExt cx="8382000" cy="285750"/>
          </a:xfrm>
        </p:grpSpPr>
        <p:cxnSp>
          <p:nvCxnSpPr>
            <p:cNvPr id="82" name="Google Shape;82;p16"/>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83" name="Google Shape;83;p16"/>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nvSpPr>
        <p:spPr>
          <a:xfrm>
            <a:off x="381000" y="333375"/>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400">
                <a:solidFill>
                  <a:srgbClr val="111315"/>
                </a:solidFill>
                <a:latin typeface="Space Grotesk"/>
                <a:ea typeface="Space Grotesk"/>
                <a:cs typeface="Space Grotesk"/>
                <a:sym typeface="Space Grotesk"/>
              </a:rPr>
              <a:t>A Basic Polynomial Function: y = mx + c</a:t>
            </a:r>
            <a:endParaRPr b="1" sz="2400">
              <a:solidFill>
                <a:srgbClr val="111315"/>
              </a:solidFill>
              <a:latin typeface="Space Grotesk"/>
              <a:ea typeface="Space Grotesk"/>
              <a:cs typeface="Space Grotesk"/>
              <a:sym typeface="Space Grotesk"/>
            </a:endParaRPr>
          </a:p>
        </p:txBody>
      </p:sp>
      <p:grpSp>
        <p:nvGrpSpPr>
          <p:cNvPr id="89" name="Google Shape;89;p17"/>
          <p:cNvGrpSpPr/>
          <p:nvPr/>
        </p:nvGrpSpPr>
        <p:grpSpPr>
          <a:xfrm>
            <a:off x="571500" y="857250"/>
            <a:ext cx="8001000" cy="342900"/>
            <a:chOff x="0" y="0"/>
            <a:chExt cx="8001000" cy="342900"/>
          </a:xfrm>
        </p:grpSpPr>
        <p:sp>
          <p:nvSpPr>
            <p:cNvPr id="90" name="Google Shape;90;p17"/>
            <p:cNvSpPr/>
            <p:nvPr/>
          </p:nvSpPr>
          <p:spPr>
            <a:xfrm>
              <a:off x="0" y="0"/>
              <a:ext cx="8001000" cy="342900"/>
            </a:xfrm>
            <a:prstGeom prst="rect">
              <a:avLst/>
            </a:prstGeom>
            <a:solidFill>
              <a:srgbClr val="FFFFF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7"/>
            <p:cNvSpPr txBox="1"/>
            <p:nvPr/>
          </p:nvSpPr>
          <p:spPr>
            <a:xfrm>
              <a:off x="142875" y="76200"/>
              <a:ext cx="7715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750">
                  <a:solidFill>
                    <a:srgbClr val="D9381E"/>
                  </a:solidFill>
                  <a:latin typeface="JetBrains Mono"/>
                  <a:ea typeface="JetBrains Mono"/>
                  <a:cs typeface="JetBrains Mono"/>
                  <a:sym typeface="JetBrains Mono"/>
                </a:rPr>
                <a:t>y = 4.5x + 20</a:t>
              </a:r>
              <a:r>
                <a:rPr b="0" lang="en-GB" sz="750">
                  <a:solidFill>
                    <a:srgbClr val="111315"/>
                  </a:solidFill>
                  <a:latin typeface="JetBrains Mono"/>
                  <a:ea typeface="JetBrains Mono"/>
                  <a:cs typeface="JetBrains Mono"/>
                  <a:sym typeface="JetBrains Mono"/>
                </a:rPr>
                <a:t> | x = student count, m = 4.5 sq m/student, c = 20 sq m buffer, y = studio area</a:t>
              </a:r>
              <a:endParaRPr b="0" sz="750">
                <a:solidFill>
                  <a:srgbClr val="111315"/>
                </a:solidFill>
                <a:latin typeface="JetBrains Mono"/>
                <a:ea typeface="JetBrains Mono"/>
                <a:cs typeface="JetBrains Mono"/>
                <a:sym typeface="JetBrains Mono"/>
              </a:endParaRPr>
            </a:p>
          </p:txBody>
        </p:sp>
      </p:grpSp>
      <p:grpSp>
        <p:nvGrpSpPr>
          <p:cNvPr id="92" name="Google Shape;92;p17"/>
          <p:cNvGrpSpPr/>
          <p:nvPr/>
        </p:nvGrpSpPr>
        <p:grpSpPr>
          <a:xfrm>
            <a:off x="571500" y="1333500"/>
            <a:ext cx="2667000" cy="1905000"/>
            <a:chOff x="0" y="0"/>
            <a:chExt cx="2667000" cy="1905000"/>
          </a:xfrm>
        </p:grpSpPr>
        <p:sp>
          <p:nvSpPr>
            <p:cNvPr id="93" name="Google Shape;93;p17"/>
            <p:cNvSpPr/>
            <p:nvPr/>
          </p:nvSpPr>
          <p:spPr>
            <a:xfrm>
              <a:off x="0" y="0"/>
              <a:ext cx="2667000" cy="1905000"/>
            </a:xfrm>
            <a:prstGeom prst="rect">
              <a:avLst/>
            </a:prstGeom>
            <a:solidFill>
              <a:srgbClr val="FFFFF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94" name="Google Shape;94;p17"/>
            <p:cNvCxnSpPr/>
            <p:nvPr/>
          </p:nvCxnSpPr>
          <p:spPr>
            <a:xfrm>
              <a:off x="0" y="381000"/>
              <a:ext cx="2667000" cy="0"/>
            </a:xfrm>
            <a:prstGeom prst="straightConnector1">
              <a:avLst/>
            </a:prstGeom>
            <a:solidFill>
              <a:srgbClr val="FFFFFF"/>
            </a:solidFill>
            <a:ln cap="flat" cmpd="sng" w="9525">
              <a:solidFill>
                <a:srgbClr val="111315"/>
              </a:solidFill>
              <a:prstDash val="solid"/>
              <a:round/>
              <a:headEnd len="sm" w="sm" type="none"/>
              <a:tailEnd len="sm" w="sm" type="none"/>
            </a:ln>
          </p:spPr>
        </p:cxnSp>
        <p:cxnSp>
          <p:nvCxnSpPr>
            <p:cNvPr id="95" name="Google Shape;95;p17"/>
            <p:cNvCxnSpPr/>
            <p:nvPr/>
          </p:nvCxnSpPr>
          <p:spPr>
            <a:xfrm>
              <a:off x="0" y="762000"/>
              <a:ext cx="2667000" cy="0"/>
            </a:xfrm>
            <a:prstGeom prst="straightConnector1">
              <a:avLst/>
            </a:prstGeom>
            <a:solidFill>
              <a:srgbClr val="FFFFFF"/>
            </a:solidFill>
            <a:ln cap="flat" cmpd="sng" w="9525">
              <a:solidFill>
                <a:srgbClr val="E9ECEF"/>
              </a:solidFill>
              <a:prstDash val="solid"/>
              <a:round/>
              <a:headEnd len="sm" w="sm" type="none"/>
              <a:tailEnd len="sm" w="sm" type="none"/>
            </a:ln>
          </p:spPr>
        </p:cxnSp>
        <p:cxnSp>
          <p:nvCxnSpPr>
            <p:cNvPr id="96" name="Google Shape;96;p17"/>
            <p:cNvCxnSpPr/>
            <p:nvPr/>
          </p:nvCxnSpPr>
          <p:spPr>
            <a:xfrm>
              <a:off x="0" y="1143000"/>
              <a:ext cx="2667000" cy="0"/>
            </a:xfrm>
            <a:prstGeom prst="straightConnector1">
              <a:avLst/>
            </a:prstGeom>
            <a:solidFill>
              <a:srgbClr val="FFFFFF"/>
            </a:solidFill>
            <a:ln cap="flat" cmpd="sng" w="9525">
              <a:solidFill>
                <a:srgbClr val="E9ECEF"/>
              </a:solidFill>
              <a:prstDash val="solid"/>
              <a:round/>
              <a:headEnd len="sm" w="sm" type="none"/>
              <a:tailEnd len="sm" w="sm" type="none"/>
            </a:ln>
          </p:spPr>
        </p:cxnSp>
        <p:cxnSp>
          <p:nvCxnSpPr>
            <p:cNvPr id="97" name="Google Shape;97;p17"/>
            <p:cNvCxnSpPr/>
            <p:nvPr/>
          </p:nvCxnSpPr>
          <p:spPr>
            <a:xfrm>
              <a:off x="0" y="1524000"/>
              <a:ext cx="2667000" cy="0"/>
            </a:xfrm>
            <a:prstGeom prst="straightConnector1">
              <a:avLst/>
            </a:prstGeom>
            <a:solidFill>
              <a:srgbClr val="FFFFFF"/>
            </a:solidFill>
            <a:ln cap="flat" cmpd="sng" w="9525">
              <a:solidFill>
                <a:srgbClr val="E9ECEF"/>
              </a:solidFill>
              <a:prstDash val="solid"/>
              <a:round/>
              <a:headEnd len="sm" w="sm" type="none"/>
              <a:tailEnd len="sm" w="sm" type="none"/>
            </a:ln>
          </p:spPr>
        </p:cxnSp>
        <p:cxnSp>
          <p:nvCxnSpPr>
            <p:cNvPr id="98" name="Google Shape;98;p17"/>
            <p:cNvCxnSpPr/>
            <p:nvPr/>
          </p:nvCxnSpPr>
          <p:spPr>
            <a:xfrm>
              <a:off x="1333500" y="0"/>
              <a:ext cx="0" cy="190500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99" name="Google Shape;99;p17"/>
            <p:cNvSpPr txBox="1"/>
            <p:nvPr/>
          </p:nvSpPr>
          <p:spPr>
            <a:xfrm>
              <a:off x="114300" y="95250"/>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750">
                  <a:solidFill>
                    <a:srgbClr val="111315"/>
                  </a:solidFill>
                  <a:latin typeface="JetBrains Mono"/>
                  <a:ea typeface="JetBrains Mono"/>
                  <a:cs typeface="JetBrains Mono"/>
                  <a:sym typeface="JetBrains Mono"/>
                </a:rPr>
                <a:t>Students (x)</a:t>
              </a:r>
              <a:endParaRPr b="1" sz="750">
                <a:solidFill>
                  <a:srgbClr val="111315"/>
                </a:solidFill>
                <a:latin typeface="JetBrains Mono"/>
                <a:ea typeface="JetBrains Mono"/>
                <a:cs typeface="JetBrains Mono"/>
                <a:sym typeface="JetBrains Mono"/>
              </a:endParaRPr>
            </a:p>
          </p:txBody>
        </p:sp>
        <p:sp>
          <p:nvSpPr>
            <p:cNvPr id="100" name="Google Shape;100;p17"/>
            <p:cNvSpPr txBox="1"/>
            <p:nvPr/>
          </p:nvSpPr>
          <p:spPr>
            <a:xfrm>
              <a:off x="1447800" y="95250"/>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750">
                  <a:solidFill>
                    <a:srgbClr val="111315"/>
                  </a:solidFill>
                  <a:latin typeface="JetBrains Mono"/>
                  <a:ea typeface="JetBrains Mono"/>
                  <a:cs typeface="JetBrains Mono"/>
                  <a:sym typeface="JetBrains Mono"/>
                </a:rPr>
                <a:t>Area (sq m) (y)</a:t>
              </a:r>
              <a:endParaRPr b="1" sz="750">
                <a:solidFill>
                  <a:srgbClr val="111315"/>
                </a:solidFill>
                <a:latin typeface="JetBrains Mono"/>
                <a:ea typeface="JetBrains Mono"/>
                <a:cs typeface="JetBrains Mono"/>
                <a:sym typeface="JetBrains Mono"/>
              </a:endParaRPr>
            </a:p>
          </p:txBody>
        </p:sp>
        <p:sp>
          <p:nvSpPr>
            <p:cNvPr id="101" name="Google Shape;101;p17"/>
            <p:cNvSpPr txBox="1"/>
            <p:nvPr/>
          </p:nvSpPr>
          <p:spPr>
            <a:xfrm>
              <a:off x="114300" y="476250"/>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10</a:t>
              </a:r>
              <a:endParaRPr b="0" sz="750">
                <a:solidFill>
                  <a:srgbClr val="5A626A"/>
                </a:solidFill>
                <a:latin typeface="JetBrains Mono"/>
                <a:ea typeface="JetBrains Mono"/>
                <a:cs typeface="JetBrains Mono"/>
                <a:sym typeface="JetBrains Mono"/>
              </a:endParaRPr>
            </a:p>
          </p:txBody>
        </p:sp>
        <p:sp>
          <p:nvSpPr>
            <p:cNvPr id="102" name="Google Shape;102;p17"/>
            <p:cNvSpPr txBox="1"/>
            <p:nvPr/>
          </p:nvSpPr>
          <p:spPr>
            <a:xfrm>
              <a:off x="1447800" y="476250"/>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65</a:t>
              </a:r>
              <a:endParaRPr b="0" sz="750">
                <a:solidFill>
                  <a:srgbClr val="5A626A"/>
                </a:solidFill>
                <a:latin typeface="JetBrains Mono"/>
                <a:ea typeface="JetBrains Mono"/>
                <a:cs typeface="JetBrains Mono"/>
                <a:sym typeface="JetBrains Mono"/>
              </a:endParaRPr>
            </a:p>
          </p:txBody>
        </p:sp>
        <p:sp>
          <p:nvSpPr>
            <p:cNvPr id="103" name="Google Shape;103;p17"/>
            <p:cNvSpPr txBox="1"/>
            <p:nvPr/>
          </p:nvSpPr>
          <p:spPr>
            <a:xfrm>
              <a:off x="114300" y="857250"/>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20</a:t>
              </a:r>
              <a:endParaRPr b="0" sz="750">
                <a:solidFill>
                  <a:srgbClr val="5A626A"/>
                </a:solidFill>
                <a:latin typeface="JetBrains Mono"/>
                <a:ea typeface="JetBrains Mono"/>
                <a:cs typeface="JetBrains Mono"/>
                <a:sym typeface="JetBrains Mono"/>
              </a:endParaRPr>
            </a:p>
          </p:txBody>
        </p:sp>
        <p:sp>
          <p:nvSpPr>
            <p:cNvPr id="104" name="Google Shape;104;p17"/>
            <p:cNvSpPr txBox="1"/>
            <p:nvPr/>
          </p:nvSpPr>
          <p:spPr>
            <a:xfrm>
              <a:off x="1447800" y="857250"/>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110</a:t>
              </a:r>
              <a:endParaRPr b="0" sz="750">
                <a:solidFill>
                  <a:srgbClr val="5A626A"/>
                </a:solidFill>
                <a:latin typeface="JetBrains Mono"/>
                <a:ea typeface="JetBrains Mono"/>
                <a:cs typeface="JetBrains Mono"/>
                <a:sym typeface="JetBrains Mono"/>
              </a:endParaRPr>
            </a:p>
          </p:txBody>
        </p:sp>
        <p:sp>
          <p:nvSpPr>
            <p:cNvPr id="105" name="Google Shape;105;p17"/>
            <p:cNvSpPr txBox="1"/>
            <p:nvPr/>
          </p:nvSpPr>
          <p:spPr>
            <a:xfrm>
              <a:off x="114300" y="1238250"/>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40</a:t>
              </a:r>
              <a:endParaRPr b="0" sz="750">
                <a:solidFill>
                  <a:srgbClr val="5A626A"/>
                </a:solidFill>
                <a:latin typeface="JetBrains Mono"/>
                <a:ea typeface="JetBrains Mono"/>
                <a:cs typeface="JetBrains Mono"/>
                <a:sym typeface="JetBrains Mono"/>
              </a:endParaRPr>
            </a:p>
          </p:txBody>
        </p:sp>
        <p:sp>
          <p:nvSpPr>
            <p:cNvPr id="106" name="Google Shape;106;p17"/>
            <p:cNvSpPr txBox="1"/>
            <p:nvPr/>
          </p:nvSpPr>
          <p:spPr>
            <a:xfrm>
              <a:off x="1447800" y="1238250"/>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200</a:t>
              </a:r>
              <a:endParaRPr b="0" sz="750">
                <a:solidFill>
                  <a:srgbClr val="5A626A"/>
                </a:solidFill>
                <a:latin typeface="JetBrains Mono"/>
                <a:ea typeface="JetBrains Mono"/>
                <a:cs typeface="JetBrains Mono"/>
                <a:sym typeface="JetBrains Mono"/>
              </a:endParaRPr>
            </a:p>
          </p:txBody>
        </p:sp>
        <p:sp>
          <p:nvSpPr>
            <p:cNvPr id="107" name="Google Shape;107;p17"/>
            <p:cNvSpPr txBox="1"/>
            <p:nvPr/>
          </p:nvSpPr>
          <p:spPr>
            <a:xfrm>
              <a:off x="114300" y="1619250"/>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60</a:t>
              </a:r>
              <a:endParaRPr b="0" sz="750">
                <a:solidFill>
                  <a:srgbClr val="5A626A"/>
                </a:solidFill>
                <a:latin typeface="JetBrains Mono"/>
                <a:ea typeface="JetBrains Mono"/>
                <a:cs typeface="JetBrains Mono"/>
                <a:sym typeface="JetBrains Mono"/>
              </a:endParaRPr>
            </a:p>
          </p:txBody>
        </p:sp>
        <p:sp>
          <p:nvSpPr>
            <p:cNvPr id="108" name="Google Shape;108;p17"/>
            <p:cNvSpPr txBox="1"/>
            <p:nvPr/>
          </p:nvSpPr>
          <p:spPr>
            <a:xfrm>
              <a:off x="1447800" y="1619250"/>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290</a:t>
              </a:r>
              <a:endParaRPr b="0" sz="750">
                <a:solidFill>
                  <a:srgbClr val="5A626A"/>
                </a:solidFill>
                <a:latin typeface="JetBrains Mono"/>
                <a:ea typeface="JetBrains Mono"/>
                <a:cs typeface="JetBrains Mono"/>
                <a:sym typeface="JetBrains Mono"/>
              </a:endParaRPr>
            </a:p>
          </p:txBody>
        </p:sp>
      </p:grpSp>
      <p:grpSp>
        <p:nvGrpSpPr>
          <p:cNvPr id="109" name="Google Shape;109;p17"/>
          <p:cNvGrpSpPr/>
          <p:nvPr/>
        </p:nvGrpSpPr>
        <p:grpSpPr>
          <a:xfrm>
            <a:off x="3619500" y="1333500"/>
            <a:ext cx="4953000" cy="2857500"/>
            <a:chOff x="0" y="0"/>
            <a:chExt cx="4953000" cy="2857500"/>
          </a:xfrm>
        </p:grpSpPr>
        <p:sp>
          <p:nvSpPr>
            <p:cNvPr id="110" name="Google Shape;110;p17"/>
            <p:cNvSpPr/>
            <p:nvPr/>
          </p:nvSpPr>
          <p:spPr>
            <a:xfrm>
              <a:off x="0" y="0"/>
              <a:ext cx="4953000" cy="2857500"/>
            </a:xfrm>
            <a:prstGeom prst="rect">
              <a:avLst/>
            </a:prstGeom>
            <a:solidFill>
              <a:srgbClr val="FFFFF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11" name="Google Shape;111;p17"/>
            <p:cNvCxnSpPr/>
            <p:nvPr/>
          </p:nvCxnSpPr>
          <p:spPr>
            <a:xfrm>
              <a:off x="571500" y="190500"/>
              <a:ext cx="0" cy="228600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112" name="Google Shape;112;p17"/>
            <p:cNvSpPr/>
            <p:nvPr/>
          </p:nvSpPr>
          <p:spPr>
            <a:xfrm>
              <a:off x="533400" y="152400"/>
              <a:ext cx="76200" cy="76200"/>
            </a:xfrm>
            <a:custGeom>
              <a:rect b="b" l="l" r="r" t="t"/>
              <a:pathLst>
                <a:path extrusionOk="0" h="120000" w="120000">
                  <a:moveTo>
                    <a:pt x="0" y="120000"/>
                  </a:moveTo>
                  <a:lnTo>
                    <a:pt x="60000" y="0"/>
                  </a:lnTo>
                  <a:lnTo>
                    <a:pt x="12000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13" name="Google Shape;113;p17"/>
            <p:cNvCxnSpPr/>
            <p:nvPr/>
          </p:nvCxnSpPr>
          <p:spPr>
            <a:xfrm>
              <a:off x="571500" y="2476500"/>
              <a:ext cx="40005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114" name="Google Shape;114;p17"/>
            <p:cNvSpPr/>
            <p:nvPr/>
          </p:nvSpPr>
          <p:spPr>
            <a:xfrm>
              <a:off x="4495800" y="24384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7"/>
            <p:cNvSpPr txBox="1"/>
            <p:nvPr/>
          </p:nvSpPr>
          <p:spPr>
            <a:xfrm>
              <a:off x="104925" y="28209"/>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750">
                  <a:solidFill>
                    <a:srgbClr val="1D4ED8"/>
                  </a:solidFill>
                  <a:latin typeface="JetBrains Mono"/>
                  <a:ea typeface="JetBrains Mono"/>
                  <a:cs typeface="JetBrains Mono"/>
                  <a:sym typeface="JetBrains Mono"/>
                </a:rPr>
                <a:t>Area (sq m) (y)</a:t>
              </a:r>
              <a:endParaRPr b="1" sz="750">
                <a:solidFill>
                  <a:srgbClr val="1D4ED8"/>
                </a:solidFill>
                <a:latin typeface="JetBrains Mono"/>
                <a:ea typeface="JetBrains Mono"/>
                <a:cs typeface="JetBrains Mono"/>
                <a:sym typeface="JetBrains Mono"/>
              </a:endParaRPr>
            </a:p>
          </p:txBody>
        </p:sp>
        <p:sp>
          <p:nvSpPr>
            <p:cNvPr id="116" name="Google Shape;116;p17"/>
            <p:cNvSpPr txBox="1"/>
            <p:nvPr/>
          </p:nvSpPr>
          <p:spPr>
            <a:xfrm>
              <a:off x="3524250" y="2571750"/>
              <a:ext cx="10479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GB" sz="750">
                  <a:solidFill>
                    <a:srgbClr val="1D4ED8"/>
                  </a:solidFill>
                  <a:latin typeface="JetBrains Mono"/>
                  <a:ea typeface="JetBrains Mono"/>
                  <a:cs typeface="JetBrains Mono"/>
                  <a:sym typeface="JetBrains Mono"/>
                </a:rPr>
                <a:t>Students (x)</a:t>
              </a:r>
              <a:endParaRPr b="1" sz="750">
                <a:solidFill>
                  <a:srgbClr val="1D4ED8"/>
                </a:solidFill>
                <a:latin typeface="JetBrains Mono"/>
                <a:ea typeface="JetBrains Mono"/>
                <a:cs typeface="JetBrains Mono"/>
                <a:sym typeface="JetBrains Mono"/>
              </a:endParaRPr>
            </a:p>
          </p:txBody>
        </p:sp>
        <p:cxnSp>
          <p:nvCxnSpPr>
            <p:cNvPr id="117" name="Google Shape;117;p17"/>
            <p:cNvCxnSpPr/>
            <p:nvPr/>
          </p:nvCxnSpPr>
          <p:spPr>
            <a:xfrm>
              <a:off x="1104900" y="2447925"/>
              <a:ext cx="0" cy="5730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18" name="Google Shape;118;p17"/>
            <p:cNvSpPr txBox="1"/>
            <p:nvPr/>
          </p:nvSpPr>
          <p:spPr>
            <a:xfrm>
              <a:off x="962025" y="2533650"/>
              <a:ext cx="2859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5A626A"/>
                  </a:solidFill>
                  <a:latin typeface="JetBrains Mono"/>
                  <a:ea typeface="JetBrains Mono"/>
                  <a:cs typeface="JetBrains Mono"/>
                  <a:sym typeface="JetBrains Mono"/>
                </a:rPr>
                <a:t>10</a:t>
              </a:r>
              <a:endParaRPr b="0" sz="750">
                <a:solidFill>
                  <a:srgbClr val="5A626A"/>
                </a:solidFill>
                <a:latin typeface="JetBrains Mono"/>
                <a:ea typeface="JetBrains Mono"/>
                <a:cs typeface="JetBrains Mono"/>
                <a:sym typeface="JetBrains Mono"/>
              </a:endParaRPr>
            </a:p>
          </p:txBody>
        </p:sp>
        <p:cxnSp>
          <p:nvCxnSpPr>
            <p:cNvPr id="119" name="Google Shape;119;p17"/>
            <p:cNvCxnSpPr/>
            <p:nvPr/>
          </p:nvCxnSpPr>
          <p:spPr>
            <a:xfrm>
              <a:off x="1638300" y="2447925"/>
              <a:ext cx="0" cy="5730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20" name="Google Shape;120;p17"/>
            <p:cNvSpPr txBox="1"/>
            <p:nvPr/>
          </p:nvSpPr>
          <p:spPr>
            <a:xfrm>
              <a:off x="1495425" y="2533650"/>
              <a:ext cx="2859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5A626A"/>
                  </a:solidFill>
                  <a:latin typeface="JetBrains Mono"/>
                  <a:ea typeface="JetBrains Mono"/>
                  <a:cs typeface="JetBrains Mono"/>
                  <a:sym typeface="JetBrains Mono"/>
                </a:rPr>
                <a:t>20</a:t>
              </a:r>
              <a:endParaRPr b="0" sz="750">
                <a:solidFill>
                  <a:srgbClr val="5A626A"/>
                </a:solidFill>
                <a:latin typeface="JetBrains Mono"/>
                <a:ea typeface="JetBrains Mono"/>
                <a:cs typeface="JetBrains Mono"/>
                <a:sym typeface="JetBrains Mono"/>
              </a:endParaRPr>
            </a:p>
          </p:txBody>
        </p:sp>
        <p:cxnSp>
          <p:nvCxnSpPr>
            <p:cNvPr id="121" name="Google Shape;121;p17"/>
            <p:cNvCxnSpPr/>
            <p:nvPr/>
          </p:nvCxnSpPr>
          <p:spPr>
            <a:xfrm>
              <a:off x="2705100" y="2447925"/>
              <a:ext cx="0" cy="5730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22" name="Google Shape;122;p17"/>
            <p:cNvSpPr txBox="1"/>
            <p:nvPr/>
          </p:nvSpPr>
          <p:spPr>
            <a:xfrm>
              <a:off x="2562225" y="2533650"/>
              <a:ext cx="2859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5A626A"/>
                  </a:solidFill>
                  <a:latin typeface="JetBrains Mono"/>
                  <a:ea typeface="JetBrains Mono"/>
                  <a:cs typeface="JetBrains Mono"/>
                  <a:sym typeface="JetBrains Mono"/>
                </a:rPr>
                <a:t>40</a:t>
              </a:r>
              <a:endParaRPr b="0" sz="750">
                <a:solidFill>
                  <a:srgbClr val="5A626A"/>
                </a:solidFill>
                <a:latin typeface="JetBrains Mono"/>
                <a:ea typeface="JetBrains Mono"/>
                <a:cs typeface="JetBrains Mono"/>
                <a:sym typeface="JetBrains Mono"/>
              </a:endParaRPr>
            </a:p>
          </p:txBody>
        </p:sp>
        <p:cxnSp>
          <p:nvCxnSpPr>
            <p:cNvPr id="123" name="Google Shape;123;p17"/>
            <p:cNvCxnSpPr/>
            <p:nvPr/>
          </p:nvCxnSpPr>
          <p:spPr>
            <a:xfrm>
              <a:off x="3771900" y="2447925"/>
              <a:ext cx="0" cy="5730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24" name="Google Shape;124;p17"/>
            <p:cNvSpPr txBox="1"/>
            <p:nvPr/>
          </p:nvSpPr>
          <p:spPr>
            <a:xfrm>
              <a:off x="3629025" y="2533650"/>
              <a:ext cx="2859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5A626A"/>
                  </a:solidFill>
                  <a:latin typeface="JetBrains Mono"/>
                  <a:ea typeface="JetBrains Mono"/>
                  <a:cs typeface="JetBrains Mono"/>
                  <a:sym typeface="JetBrains Mono"/>
                </a:rPr>
                <a:t>60</a:t>
              </a:r>
              <a:endParaRPr b="0" sz="750">
                <a:solidFill>
                  <a:srgbClr val="5A626A"/>
                </a:solidFill>
                <a:latin typeface="JetBrains Mono"/>
                <a:ea typeface="JetBrains Mono"/>
                <a:cs typeface="JetBrains Mono"/>
                <a:sym typeface="JetBrains Mono"/>
              </a:endParaRPr>
            </a:p>
          </p:txBody>
        </p:sp>
        <p:cxnSp>
          <p:nvCxnSpPr>
            <p:cNvPr id="125" name="Google Shape;125;p17"/>
            <p:cNvCxnSpPr/>
            <p:nvPr/>
          </p:nvCxnSpPr>
          <p:spPr>
            <a:xfrm>
              <a:off x="542925" y="2009775"/>
              <a:ext cx="573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26" name="Google Shape;126;p17"/>
            <p:cNvSpPr txBox="1"/>
            <p:nvPr/>
          </p:nvSpPr>
          <p:spPr>
            <a:xfrm>
              <a:off x="190500" y="1943100"/>
              <a:ext cx="333300" cy="142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750">
                  <a:solidFill>
                    <a:srgbClr val="5A626A"/>
                  </a:solidFill>
                  <a:latin typeface="JetBrains Mono"/>
                  <a:ea typeface="JetBrains Mono"/>
                  <a:cs typeface="JetBrains Mono"/>
                  <a:sym typeface="JetBrains Mono"/>
                </a:rPr>
                <a:t>65</a:t>
              </a:r>
              <a:endParaRPr b="0" sz="750">
                <a:solidFill>
                  <a:srgbClr val="5A626A"/>
                </a:solidFill>
                <a:latin typeface="JetBrains Mono"/>
                <a:ea typeface="JetBrains Mono"/>
                <a:cs typeface="JetBrains Mono"/>
                <a:sym typeface="JetBrains Mono"/>
              </a:endParaRPr>
            </a:p>
          </p:txBody>
        </p:sp>
        <p:cxnSp>
          <p:nvCxnSpPr>
            <p:cNvPr id="127" name="Google Shape;127;p17"/>
            <p:cNvCxnSpPr/>
            <p:nvPr/>
          </p:nvCxnSpPr>
          <p:spPr>
            <a:xfrm>
              <a:off x="542925" y="1695450"/>
              <a:ext cx="573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28" name="Google Shape;128;p17"/>
            <p:cNvSpPr txBox="1"/>
            <p:nvPr/>
          </p:nvSpPr>
          <p:spPr>
            <a:xfrm>
              <a:off x="190500" y="1628775"/>
              <a:ext cx="333300" cy="142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750">
                  <a:solidFill>
                    <a:srgbClr val="5A626A"/>
                  </a:solidFill>
                  <a:latin typeface="JetBrains Mono"/>
                  <a:ea typeface="JetBrains Mono"/>
                  <a:cs typeface="JetBrains Mono"/>
                  <a:sym typeface="JetBrains Mono"/>
                </a:rPr>
                <a:t>110</a:t>
              </a:r>
              <a:endParaRPr b="0" sz="750">
                <a:solidFill>
                  <a:srgbClr val="5A626A"/>
                </a:solidFill>
                <a:latin typeface="JetBrains Mono"/>
                <a:ea typeface="JetBrains Mono"/>
                <a:cs typeface="JetBrains Mono"/>
                <a:sym typeface="JetBrains Mono"/>
              </a:endParaRPr>
            </a:p>
          </p:txBody>
        </p:sp>
        <p:cxnSp>
          <p:nvCxnSpPr>
            <p:cNvPr id="129" name="Google Shape;129;p17"/>
            <p:cNvCxnSpPr/>
            <p:nvPr/>
          </p:nvCxnSpPr>
          <p:spPr>
            <a:xfrm>
              <a:off x="542925" y="1047750"/>
              <a:ext cx="573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30" name="Google Shape;130;p17"/>
            <p:cNvSpPr txBox="1"/>
            <p:nvPr/>
          </p:nvSpPr>
          <p:spPr>
            <a:xfrm>
              <a:off x="190500" y="981075"/>
              <a:ext cx="333300" cy="142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750">
                  <a:solidFill>
                    <a:srgbClr val="5A626A"/>
                  </a:solidFill>
                  <a:latin typeface="JetBrains Mono"/>
                  <a:ea typeface="JetBrains Mono"/>
                  <a:cs typeface="JetBrains Mono"/>
                  <a:sym typeface="JetBrains Mono"/>
                </a:rPr>
                <a:t>200</a:t>
              </a:r>
              <a:endParaRPr b="0" sz="750">
                <a:solidFill>
                  <a:srgbClr val="5A626A"/>
                </a:solidFill>
                <a:latin typeface="JetBrains Mono"/>
                <a:ea typeface="JetBrains Mono"/>
                <a:cs typeface="JetBrains Mono"/>
                <a:sym typeface="JetBrains Mono"/>
              </a:endParaRPr>
            </a:p>
          </p:txBody>
        </p:sp>
        <p:cxnSp>
          <p:nvCxnSpPr>
            <p:cNvPr id="131" name="Google Shape;131;p17"/>
            <p:cNvCxnSpPr/>
            <p:nvPr/>
          </p:nvCxnSpPr>
          <p:spPr>
            <a:xfrm>
              <a:off x="542925" y="409575"/>
              <a:ext cx="573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32" name="Google Shape;132;p17"/>
            <p:cNvSpPr txBox="1"/>
            <p:nvPr/>
          </p:nvSpPr>
          <p:spPr>
            <a:xfrm>
              <a:off x="190500" y="342900"/>
              <a:ext cx="333300" cy="142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750">
                  <a:solidFill>
                    <a:srgbClr val="5A626A"/>
                  </a:solidFill>
                  <a:latin typeface="JetBrains Mono"/>
                  <a:ea typeface="JetBrains Mono"/>
                  <a:cs typeface="JetBrains Mono"/>
                  <a:sym typeface="JetBrains Mono"/>
                </a:rPr>
                <a:t>290</a:t>
              </a:r>
              <a:endParaRPr b="0" sz="750">
                <a:solidFill>
                  <a:srgbClr val="5A626A"/>
                </a:solidFill>
                <a:latin typeface="JetBrains Mono"/>
                <a:ea typeface="JetBrains Mono"/>
                <a:cs typeface="JetBrains Mono"/>
                <a:sym typeface="JetBrains Mono"/>
              </a:endParaRPr>
            </a:p>
          </p:txBody>
        </p:sp>
        <p:pic>
          <p:nvPicPr>
            <p:cNvPr id="133" name="Google Shape;133;p17"/>
            <p:cNvPicPr preferRelativeResize="0"/>
            <p:nvPr/>
          </p:nvPicPr>
          <p:blipFill rotWithShape="1">
            <a:blip r:embed="rId3">
              <a:alphaModFix/>
            </a:blip>
            <a:srcRect b="0" l="0" r="0" t="0"/>
            <a:stretch/>
          </p:blipFill>
          <p:spPr>
            <a:xfrm>
              <a:off x="1100138" y="2009775"/>
              <a:ext cx="9600" cy="466800"/>
            </a:xfrm>
            <a:prstGeom prst="rect">
              <a:avLst/>
            </a:prstGeom>
            <a:noFill/>
            <a:ln>
              <a:noFill/>
            </a:ln>
          </p:spPr>
        </p:pic>
        <p:pic>
          <p:nvPicPr>
            <p:cNvPr id="134" name="Google Shape;134;p17"/>
            <p:cNvPicPr preferRelativeResize="0"/>
            <p:nvPr/>
          </p:nvPicPr>
          <p:blipFill rotWithShape="1">
            <a:blip r:embed="rId4">
              <a:alphaModFix/>
            </a:blip>
            <a:srcRect b="0" l="0" r="0" t="0"/>
            <a:stretch/>
          </p:blipFill>
          <p:spPr>
            <a:xfrm>
              <a:off x="571500" y="2005013"/>
              <a:ext cx="533400" cy="9600"/>
            </a:xfrm>
            <a:prstGeom prst="rect">
              <a:avLst/>
            </a:prstGeom>
            <a:noFill/>
            <a:ln>
              <a:noFill/>
            </a:ln>
          </p:spPr>
        </p:pic>
        <p:pic>
          <p:nvPicPr>
            <p:cNvPr id="135" name="Google Shape;135;p17"/>
            <p:cNvPicPr preferRelativeResize="0"/>
            <p:nvPr/>
          </p:nvPicPr>
          <p:blipFill rotWithShape="1">
            <a:blip r:embed="rId5">
              <a:alphaModFix/>
            </a:blip>
            <a:srcRect b="0" l="0" r="0" t="0"/>
            <a:stretch/>
          </p:blipFill>
          <p:spPr>
            <a:xfrm>
              <a:off x="1633538" y="1704975"/>
              <a:ext cx="9600" cy="771600"/>
            </a:xfrm>
            <a:prstGeom prst="rect">
              <a:avLst/>
            </a:prstGeom>
            <a:noFill/>
            <a:ln>
              <a:noFill/>
            </a:ln>
          </p:spPr>
        </p:pic>
        <p:pic>
          <p:nvPicPr>
            <p:cNvPr id="136" name="Google Shape;136;p17"/>
            <p:cNvPicPr preferRelativeResize="0"/>
            <p:nvPr/>
          </p:nvPicPr>
          <p:blipFill rotWithShape="1">
            <a:blip r:embed="rId6">
              <a:alphaModFix/>
            </a:blip>
            <a:srcRect b="0" l="0" r="0" t="0"/>
            <a:stretch/>
          </p:blipFill>
          <p:spPr>
            <a:xfrm>
              <a:off x="571500" y="1690688"/>
              <a:ext cx="1057200" cy="9600"/>
            </a:xfrm>
            <a:prstGeom prst="rect">
              <a:avLst/>
            </a:prstGeom>
            <a:noFill/>
            <a:ln>
              <a:noFill/>
            </a:ln>
          </p:spPr>
        </p:pic>
        <p:pic>
          <p:nvPicPr>
            <p:cNvPr id="137" name="Google Shape;137;p17"/>
            <p:cNvPicPr preferRelativeResize="0"/>
            <p:nvPr/>
          </p:nvPicPr>
          <p:blipFill rotWithShape="1">
            <a:blip r:embed="rId7">
              <a:alphaModFix/>
            </a:blip>
            <a:srcRect b="0" l="0" r="0" t="0"/>
            <a:stretch/>
          </p:blipFill>
          <p:spPr>
            <a:xfrm>
              <a:off x="2700338" y="1076325"/>
              <a:ext cx="9600" cy="1400100"/>
            </a:xfrm>
            <a:prstGeom prst="rect">
              <a:avLst/>
            </a:prstGeom>
            <a:noFill/>
            <a:ln>
              <a:noFill/>
            </a:ln>
          </p:spPr>
        </p:pic>
        <p:pic>
          <p:nvPicPr>
            <p:cNvPr id="138" name="Google Shape;138;p17"/>
            <p:cNvPicPr preferRelativeResize="0"/>
            <p:nvPr/>
          </p:nvPicPr>
          <p:blipFill rotWithShape="1">
            <a:blip r:embed="rId8">
              <a:alphaModFix/>
            </a:blip>
            <a:srcRect b="0" l="0" r="0" t="0"/>
            <a:stretch/>
          </p:blipFill>
          <p:spPr>
            <a:xfrm>
              <a:off x="571500" y="1042988"/>
              <a:ext cx="2133600" cy="9600"/>
            </a:xfrm>
            <a:prstGeom prst="rect">
              <a:avLst/>
            </a:prstGeom>
            <a:noFill/>
            <a:ln>
              <a:noFill/>
            </a:ln>
          </p:spPr>
        </p:pic>
        <p:pic>
          <p:nvPicPr>
            <p:cNvPr id="139" name="Google Shape;139;p17"/>
            <p:cNvPicPr preferRelativeResize="0"/>
            <p:nvPr/>
          </p:nvPicPr>
          <p:blipFill rotWithShape="1">
            <a:blip r:embed="rId9">
              <a:alphaModFix/>
            </a:blip>
            <a:srcRect b="0" l="0" r="0" t="0"/>
            <a:stretch/>
          </p:blipFill>
          <p:spPr>
            <a:xfrm>
              <a:off x="3767138" y="409575"/>
              <a:ext cx="9600" cy="2067000"/>
            </a:xfrm>
            <a:prstGeom prst="rect">
              <a:avLst/>
            </a:prstGeom>
            <a:noFill/>
            <a:ln>
              <a:noFill/>
            </a:ln>
          </p:spPr>
        </p:pic>
        <p:pic>
          <p:nvPicPr>
            <p:cNvPr id="140" name="Google Shape;140;p17"/>
            <p:cNvPicPr preferRelativeResize="0"/>
            <p:nvPr/>
          </p:nvPicPr>
          <p:blipFill rotWithShape="1">
            <a:blip r:embed="rId10">
              <a:alphaModFix/>
            </a:blip>
            <a:srcRect b="0" l="0" r="0" t="0"/>
            <a:stretch/>
          </p:blipFill>
          <p:spPr>
            <a:xfrm>
              <a:off x="571500" y="404813"/>
              <a:ext cx="3171900" cy="9600"/>
            </a:xfrm>
            <a:prstGeom prst="rect">
              <a:avLst/>
            </a:prstGeom>
            <a:noFill/>
            <a:ln>
              <a:noFill/>
            </a:ln>
          </p:spPr>
        </p:pic>
        <p:cxnSp>
          <p:nvCxnSpPr>
            <p:cNvPr id="141" name="Google Shape;141;p17"/>
            <p:cNvCxnSpPr/>
            <p:nvPr/>
          </p:nvCxnSpPr>
          <p:spPr>
            <a:xfrm flipH="1" rot="10800000">
              <a:off x="571500" y="190425"/>
              <a:ext cx="3467100" cy="2143200"/>
            </a:xfrm>
            <a:prstGeom prst="straightConnector1">
              <a:avLst/>
            </a:prstGeom>
            <a:solidFill>
              <a:srgbClr val="FFFFFF"/>
            </a:solidFill>
            <a:ln cap="flat" cmpd="sng" w="19050">
              <a:solidFill>
                <a:srgbClr val="1D4ED8"/>
              </a:solidFill>
              <a:prstDash val="solid"/>
              <a:round/>
              <a:headEnd len="sm" w="sm" type="none"/>
              <a:tailEnd len="sm" w="sm" type="none"/>
            </a:ln>
          </p:spPr>
        </p:cxnSp>
        <p:sp>
          <p:nvSpPr>
            <p:cNvPr id="142" name="Google Shape;142;p17"/>
            <p:cNvSpPr/>
            <p:nvPr/>
          </p:nvSpPr>
          <p:spPr>
            <a:xfrm>
              <a:off x="1066800" y="1971675"/>
              <a:ext cx="76200" cy="76200"/>
            </a:xfrm>
            <a:prstGeom prst="ellipse">
              <a:avLst/>
            </a:prstGeom>
            <a:solidFill>
              <a:srgbClr val="D9381E"/>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7"/>
            <p:cNvSpPr/>
            <p:nvPr/>
          </p:nvSpPr>
          <p:spPr>
            <a:xfrm>
              <a:off x="1600200" y="1657350"/>
              <a:ext cx="76200" cy="76200"/>
            </a:xfrm>
            <a:prstGeom prst="ellipse">
              <a:avLst/>
            </a:prstGeom>
            <a:solidFill>
              <a:srgbClr val="D9381E"/>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7"/>
            <p:cNvSpPr/>
            <p:nvPr/>
          </p:nvSpPr>
          <p:spPr>
            <a:xfrm>
              <a:off x="2667000" y="1009650"/>
              <a:ext cx="76200" cy="76200"/>
            </a:xfrm>
            <a:prstGeom prst="ellipse">
              <a:avLst/>
            </a:prstGeom>
            <a:solidFill>
              <a:srgbClr val="D9381E"/>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7"/>
            <p:cNvSpPr/>
            <p:nvPr/>
          </p:nvSpPr>
          <p:spPr>
            <a:xfrm>
              <a:off x="3733800" y="371475"/>
              <a:ext cx="76200" cy="76200"/>
            </a:xfrm>
            <a:prstGeom prst="ellipse">
              <a:avLst/>
            </a:prstGeom>
            <a:solidFill>
              <a:srgbClr val="D9381E"/>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6" name="Google Shape;146;p17"/>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0" i="0" lang="en-GB" sz="750" u="none" strike="noStrike">
                <a:solidFill>
                  <a:srgbClr val="5A626A"/>
                </a:solidFill>
                <a:latin typeface="JetBrains Mono"/>
                <a:ea typeface="JetBrains Mono"/>
                <a:cs typeface="JetBrains Mono"/>
                <a:sym typeface="JetBrains Mono"/>
              </a:rPr>
              <a:t>Ref: Legendre (1805); synthetic illustrative dataset.</a:t>
            </a:r>
            <a:endParaRPr b="0" i="0" sz="750" u="none" strike="noStrike">
              <a:solidFill>
                <a:srgbClr val="5A626A"/>
              </a:solidFill>
              <a:latin typeface="JetBrains Mono"/>
              <a:ea typeface="JetBrains Mono"/>
              <a:cs typeface="JetBrains Mono"/>
              <a:sym typeface="JetBrains Mono"/>
            </a:endParaRPr>
          </a:p>
        </p:txBody>
      </p:sp>
      <p:grpSp>
        <p:nvGrpSpPr>
          <p:cNvPr id="147" name="Google Shape;147;p17"/>
          <p:cNvGrpSpPr/>
          <p:nvPr/>
        </p:nvGrpSpPr>
        <p:grpSpPr>
          <a:xfrm>
            <a:off x="381000" y="4762500"/>
            <a:ext cx="8382000" cy="285750"/>
            <a:chOff x="381000" y="4762500"/>
            <a:chExt cx="8382000" cy="285750"/>
          </a:xfrm>
        </p:grpSpPr>
        <p:cxnSp>
          <p:nvCxnSpPr>
            <p:cNvPr id="148" name="Google Shape;148;p17"/>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49" name="Google Shape;149;p17"/>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txBox="1"/>
          <p:nvPr/>
        </p:nvSpPr>
        <p:spPr>
          <a:xfrm>
            <a:off x="381000" y="333375"/>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400">
                <a:solidFill>
                  <a:srgbClr val="111315"/>
                </a:solidFill>
                <a:latin typeface="Space Grotesk"/>
                <a:ea typeface="Space Grotesk"/>
                <a:cs typeface="Space Grotesk"/>
                <a:sym typeface="Space Grotesk"/>
              </a:rPr>
              <a:t>Two </a:t>
            </a:r>
            <a:r>
              <a:rPr b="1" lang="en-GB" sz="2400">
                <a:solidFill>
                  <a:srgbClr val="111315"/>
                </a:solidFill>
                <a:latin typeface="Space Grotesk"/>
                <a:ea typeface="Space Grotesk"/>
                <a:cs typeface="Space Grotesk"/>
                <a:sym typeface="Space Grotesk"/>
              </a:rPr>
              <a:t>Functions</a:t>
            </a:r>
            <a:endParaRPr b="1" sz="2400">
              <a:solidFill>
                <a:srgbClr val="111315"/>
              </a:solidFill>
              <a:latin typeface="Space Grotesk"/>
              <a:ea typeface="Space Grotesk"/>
              <a:cs typeface="Space Grotesk"/>
              <a:sym typeface="Space Grotesk"/>
            </a:endParaRPr>
          </a:p>
        </p:txBody>
      </p:sp>
      <p:grpSp>
        <p:nvGrpSpPr>
          <p:cNvPr id="155" name="Google Shape;155;p18"/>
          <p:cNvGrpSpPr/>
          <p:nvPr/>
        </p:nvGrpSpPr>
        <p:grpSpPr>
          <a:xfrm>
            <a:off x="381000" y="4762500"/>
            <a:ext cx="8382000" cy="285750"/>
            <a:chOff x="381000" y="4762500"/>
            <a:chExt cx="8382000" cy="285750"/>
          </a:xfrm>
        </p:grpSpPr>
        <p:cxnSp>
          <p:nvCxnSpPr>
            <p:cNvPr id="156" name="Google Shape;156;p18"/>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57" name="Google Shape;157;p18"/>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grpSp>
        <p:nvGrpSpPr>
          <p:cNvPr id="158" name="Google Shape;158;p18"/>
          <p:cNvGrpSpPr/>
          <p:nvPr/>
        </p:nvGrpSpPr>
        <p:grpSpPr>
          <a:xfrm>
            <a:off x="2095500" y="1012500"/>
            <a:ext cx="4953000" cy="3178500"/>
            <a:chOff x="3619500" y="1012500"/>
            <a:chExt cx="4953000" cy="3178500"/>
          </a:xfrm>
        </p:grpSpPr>
        <p:grpSp>
          <p:nvGrpSpPr>
            <p:cNvPr id="159" name="Google Shape;159;p18"/>
            <p:cNvGrpSpPr/>
            <p:nvPr/>
          </p:nvGrpSpPr>
          <p:grpSpPr>
            <a:xfrm>
              <a:off x="3619500" y="1159092"/>
              <a:ext cx="4953000" cy="3031908"/>
              <a:chOff x="0" y="-174408"/>
              <a:chExt cx="4953000" cy="3031908"/>
            </a:xfrm>
          </p:grpSpPr>
          <p:sp>
            <p:nvSpPr>
              <p:cNvPr id="160" name="Google Shape;160;p18"/>
              <p:cNvSpPr/>
              <p:nvPr/>
            </p:nvSpPr>
            <p:spPr>
              <a:xfrm>
                <a:off x="0" y="0"/>
                <a:ext cx="4953000" cy="2857500"/>
              </a:xfrm>
              <a:prstGeom prst="rect">
                <a:avLst/>
              </a:prstGeom>
              <a:solidFill>
                <a:srgbClr val="FFFFF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61" name="Google Shape;161;p18"/>
              <p:cNvCxnSpPr/>
              <p:nvPr/>
            </p:nvCxnSpPr>
            <p:spPr>
              <a:xfrm>
                <a:off x="571500" y="190500"/>
                <a:ext cx="0" cy="228600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162" name="Google Shape;162;p18"/>
              <p:cNvSpPr/>
              <p:nvPr/>
            </p:nvSpPr>
            <p:spPr>
              <a:xfrm>
                <a:off x="533400" y="152400"/>
                <a:ext cx="76200" cy="76200"/>
              </a:xfrm>
              <a:custGeom>
                <a:rect b="b" l="l" r="r" t="t"/>
                <a:pathLst>
                  <a:path extrusionOk="0" h="120000" w="120000">
                    <a:moveTo>
                      <a:pt x="0" y="120000"/>
                    </a:moveTo>
                    <a:lnTo>
                      <a:pt x="60000" y="0"/>
                    </a:lnTo>
                    <a:lnTo>
                      <a:pt x="12000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63" name="Google Shape;163;p18"/>
              <p:cNvCxnSpPr/>
              <p:nvPr/>
            </p:nvCxnSpPr>
            <p:spPr>
              <a:xfrm>
                <a:off x="571500" y="2476500"/>
                <a:ext cx="40005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164" name="Google Shape;164;p18"/>
              <p:cNvSpPr/>
              <p:nvPr/>
            </p:nvSpPr>
            <p:spPr>
              <a:xfrm>
                <a:off x="4495800" y="24384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8"/>
              <p:cNvSpPr txBox="1"/>
              <p:nvPr/>
            </p:nvSpPr>
            <p:spPr>
              <a:xfrm rot="-5400000">
                <a:off x="-412368" y="301842"/>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750">
                    <a:solidFill>
                      <a:srgbClr val="1D4ED8"/>
                    </a:solidFill>
                    <a:latin typeface="JetBrains Mono"/>
                    <a:ea typeface="JetBrains Mono"/>
                    <a:cs typeface="JetBrains Mono"/>
                    <a:sym typeface="JetBrains Mono"/>
                  </a:rPr>
                  <a:t>Area (sq m) (y)</a:t>
                </a:r>
                <a:endParaRPr b="1" sz="750">
                  <a:solidFill>
                    <a:srgbClr val="1D4ED8"/>
                  </a:solidFill>
                  <a:latin typeface="JetBrains Mono"/>
                  <a:ea typeface="JetBrains Mono"/>
                  <a:cs typeface="JetBrains Mono"/>
                  <a:sym typeface="JetBrains Mono"/>
                </a:endParaRPr>
              </a:p>
            </p:txBody>
          </p:sp>
          <p:sp>
            <p:nvSpPr>
              <p:cNvPr id="166" name="Google Shape;166;p18"/>
              <p:cNvSpPr txBox="1"/>
              <p:nvPr/>
            </p:nvSpPr>
            <p:spPr>
              <a:xfrm>
                <a:off x="3524250" y="2571750"/>
                <a:ext cx="10479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GB" sz="750">
                    <a:solidFill>
                      <a:srgbClr val="1D4ED8"/>
                    </a:solidFill>
                    <a:latin typeface="JetBrains Mono"/>
                    <a:ea typeface="JetBrains Mono"/>
                    <a:cs typeface="JetBrains Mono"/>
                    <a:sym typeface="JetBrains Mono"/>
                  </a:rPr>
                  <a:t>Students (x)</a:t>
                </a:r>
                <a:endParaRPr b="1" sz="750">
                  <a:solidFill>
                    <a:srgbClr val="1D4ED8"/>
                  </a:solidFill>
                  <a:latin typeface="JetBrains Mono"/>
                  <a:ea typeface="JetBrains Mono"/>
                  <a:cs typeface="JetBrains Mono"/>
                  <a:sym typeface="JetBrains Mono"/>
                </a:endParaRPr>
              </a:p>
            </p:txBody>
          </p:sp>
          <p:cxnSp>
            <p:nvCxnSpPr>
              <p:cNvPr id="167" name="Google Shape;167;p18"/>
              <p:cNvCxnSpPr/>
              <p:nvPr/>
            </p:nvCxnSpPr>
            <p:spPr>
              <a:xfrm>
                <a:off x="1104900" y="2447925"/>
                <a:ext cx="0" cy="5730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68" name="Google Shape;168;p18"/>
              <p:cNvSpPr txBox="1"/>
              <p:nvPr/>
            </p:nvSpPr>
            <p:spPr>
              <a:xfrm>
                <a:off x="962025" y="2533650"/>
                <a:ext cx="2859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5A626A"/>
                    </a:solidFill>
                    <a:latin typeface="JetBrains Mono"/>
                    <a:ea typeface="JetBrains Mono"/>
                    <a:cs typeface="JetBrains Mono"/>
                    <a:sym typeface="JetBrains Mono"/>
                  </a:rPr>
                  <a:t>10</a:t>
                </a:r>
                <a:endParaRPr b="0" sz="750">
                  <a:solidFill>
                    <a:srgbClr val="5A626A"/>
                  </a:solidFill>
                  <a:latin typeface="JetBrains Mono"/>
                  <a:ea typeface="JetBrains Mono"/>
                  <a:cs typeface="JetBrains Mono"/>
                  <a:sym typeface="JetBrains Mono"/>
                </a:endParaRPr>
              </a:p>
            </p:txBody>
          </p:sp>
          <p:cxnSp>
            <p:nvCxnSpPr>
              <p:cNvPr id="169" name="Google Shape;169;p18"/>
              <p:cNvCxnSpPr/>
              <p:nvPr/>
            </p:nvCxnSpPr>
            <p:spPr>
              <a:xfrm>
                <a:off x="1638300" y="2447925"/>
                <a:ext cx="0" cy="5730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70" name="Google Shape;170;p18"/>
              <p:cNvSpPr txBox="1"/>
              <p:nvPr/>
            </p:nvSpPr>
            <p:spPr>
              <a:xfrm>
                <a:off x="1495425" y="2533650"/>
                <a:ext cx="2859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5A626A"/>
                    </a:solidFill>
                    <a:latin typeface="JetBrains Mono"/>
                    <a:ea typeface="JetBrains Mono"/>
                    <a:cs typeface="JetBrains Mono"/>
                    <a:sym typeface="JetBrains Mono"/>
                  </a:rPr>
                  <a:t>20</a:t>
                </a:r>
                <a:endParaRPr b="0" sz="750">
                  <a:solidFill>
                    <a:srgbClr val="5A626A"/>
                  </a:solidFill>
                  <a:latin typeface="JetBrains Mono"/>
                  <a:ea typeface="JetBrains Mono"/>
                  <a:cs typeface="JetBrains Mono"/>
                  <a:sym typeface="JetBrains Mono"/>
                </a:endParaRPr>
              </a:p>
            </p:txBody>
          </p:sp>
          <p:cxnSp>
            <p:nvCxnSpPr>
              <p:cNvPr id="171" name="Google Shape;171;p18"/>
              <p:cNvCxnSpPr/>
              <p:nvPr/>
            </p:nvCxnSpPr>
            <p:spPr>
              <a:xfrm>
                <a:off x="2705100" y="2447925"/>
                <a:ext cx="0" cy="5730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72" name="Google Shape;172;p18"/>
              <p:cNvSpPr txBox="1"/>
              <p:nvPr/>
            </p:nvSpPr>
            <p:spPr>
              <a:xfrm>
                <a:off x="2562225" y="2533650"/>
                <a:ext cx="2859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5A626A"/>
                    </a:solidFill>
                    <a:latin typeface="JetBrains Mono"/>
                    <a:ea typeface="JetBrains Mono"/>
                    <a:cs typeface="JetBrains Mono"/>
                    <a:sym typeface="JetBrains Mono"/>
                  </a:rPr>
                  <a:t>40</a:t>
                </a:r>
                <a:endParaRPr b="0" sz="750">
                  <a:solidFill>
                    <a:srgbClr val="5A626A"/>
                  </a:solidFill>
                  <a:latin typeface="JetBrains Mono"/>
                  <a:ea typeface="JetBrains Mono"/>
                  <a:cs typeface="JetBrains Mono"/>
                  <a:sym typeface="JetBrains Mono"/>
                </a:endParaRPr>
              </a:p>
            </p:txBody>
          </p:sp>
          <p:cxnSp>
            <p:nvCxnSpPr>
              <p:cNvPr id="173" name="Google Shape;173;p18"/>
              <p:cNvCxnSpPr/>
              <p:nvPr/>
            </p:nvCxnSpPr>
            <p:spPr>
              <a:xfrm>
                <a:off x="3771900" y="2447925"/>
                <a:ext cx="0" cy="5730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74" name="Google Shape;174;p18"/>
              <p:cNvSpPr txBox="1"/>
              <p:nvPr/>
            </p:nvSpPr>
            <p:spPr>
              <a:xfrm>
                <a:off x="3629025" y="2533650"/>
                <a:ext cx="2859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5A626A"/>
                    </a:solidFill>
                    <a:latin typeface="JetBrains Mono"/>
                    <a:ea typeface="JetBrains Mono"/>
                    <a:cs typeface="JetBrains Mono"/>
                    <a:sym typeface="JetBrains Mono"/>
                  </a:rPr>
                  <a:t>60</a:t>
                </a:r>
                <a:endParaRPr b="0" sz="750">
                  <a:solidFill>
                    <a:srgbClr val="5A626A"/>
                  </a:solidFill>
                  <a:latin typeface="JetBrains Mono"/>
                  <a:ea typeface="JetBrains Mono"/>
                  <a:cs typeface="JetBrains Mono"/>
                  <a:sym typeface="JetBrains Mono"/>
                </a:endParaRPr>
              </a:p>
            </p:txBody>
          </p:sp>
          <p:cxnSp>
            <p:nvCxnSpPr>
              <p:cNvPr id="175" name="Google Shape;175;p18"/>
              <p:cNvCxnSpPr/>
              <p:nvPr/>
            </p:nvCxnSpPr>
            <p:spPr>
              <a:xfrm>
                <a:off x="542925" y="2009775"/>
                <a:ext cx="573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76" name="Google Shape;176;p18"/>
              <p:cNvSpPr txBox="1"/>
              <p:nvPr/>
            </p:nvSpPr>
            <p:spPr>
              <a:xfrm>
                <a:off x="190500" y="1943100"/>
                <a:ext cx="333300" cy="142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750">
                    <a:solidFill>
                      <a:srgbClr val="5A626A"/>
                    </a:solidFill>
                    <a:latin typeface="JetBrains Mono"/>
                    <a:ea typeface="JetBrains Mono"/>
                    <a:cs typeface="JetBrains Mono"/>
                    <a:sym typeface="JetBrains Mono"/>
                  </a:rPr>
                  <a:t>65</a:t>
                </a:r>
                <a:endParaRPr b="0" sz="750">
                  <a:solidFill>
                    <a:srgbClr val="5A626A"/>
                  </a:solidFill>
                  <a:latin typeface="JetBrains Mono"/>
                  <a:ea typeface="JetBrains Mono"/>
                  <a:cs typeface="JetBrains Mono"/>
                  <a:sym typeface="JetBrains Mono"/>
                </a:endParaRPr>
              </a:p>
            </p:txBody>
          </p:sp>
          <p:cxnSp>
            <p:nvCxnSpPr>
              <p:cNvPr id="177" name="Google Shape;177;p18"/>
              <p:cNvCxnSpPr/>
              <p:nvPr/>
            </p:nvCxnSpPr>
            <p:spPr>
              <a:xfrm>
                <a:off x="542925" y="1695450"/>
                <a:ext cx="573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78" name="Google Shape;178;p18"/>
              <p:cNvSpPr txBox="1"/>
              <p:nvPr/>
            </p:nvSpPr>
            <p:spPr>
              <a:xfrm>
                <a:off x="190500" y="1628775"/>
                <a:ext cx="333300" cy="142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750">
                    <a:solidFill>
                      <a:srgbClr val="5A626A"/>
                    </a:solidFill>
                    <a:latin typeface="JetBrains Mono"/>
                    <a:ea typeface="JetBrains Mono"/>
                    <a:cs typeface="JetBrains Mono"/>
                    <a:sym typeface="JetBrains Mono"/>
                  </a:rPr>
                  <a:t>110</a:t>
                </a:r>
                <a:endParaRPr b="0" sz="750">
                  <a:solidFill>
                    <a:srgbClr val="5A626A"/>
                  </a:solidFill>
                  <a:latin typeface="JetBrains Mono"/>
                  <a:ea typeface="JetBrains Mono"/>
                  <a:cs typeface="JetBrains Mono"/>
                  <a:sym typeface="JetBrains Mono"/>
                </a:endParaRPr>
              </a:p>
            </p:txBody>
          </p:sp>
          <p:cxnSp>
            <p:nvCxnSpPr>
              <p:cNvPr id="179" name="Google Shape;179;p18"/>
              <p:cNvCxnSpPr/>
              <p:nvPr/>
            </p:nvCxnSpPr>
            <p:spPr>
              <a:xfrm>
                <a:off x="542925" y="1047750"/>
                <a:ext cx="573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80" name="Google Shape;180;p18"/>
              <p:cNvSpPr txBox="1"/>
              <p:nvPr/>
            </p:nvSpPr>
            <p:spPr>
              <a:xfrm>
                <a:off x="190500" y="981075"/>
                <a:ext cx="333300" cy="142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750">
                    <a:solidFill>
                      <a:srgbClr val="5A626A"/>
                    </a:solidFill>
                    <a:latin typeface="JetBrains Mono"/>
                    <a:ea typeface="JetBrains Mono"/>
                    <a:cs typeface="JetBrains Mono"/>
                    <a:sym typeface="JetBrains Mono"/>
                  </a:rPr>
                  <a:t>200</a:t>
                </a:r>
                <a:endParaRPr b="0" sz="750">
                  <a:solidFill>
                    <a:srgbClr val="5A626A"/>
                  </a:solidFill>
                  <a:latin typeface="JetBrains Mono"/>
                  <a:ea typeface="JetBrains Mono"/>
                  <a:cs typeface="JetBrains Mono"/>
                  <a:sym typeface="JetBrains Mono"/>
                </a:endParaRPr>
              </a:p>
            </p:txBody>
          </p:sp>
          <p:cxnSp>
            <p:nvCxnSpPr>
              <p:cNvPr id="181" name="Google Shape;181;p18"/>
              <p:cNvCxnSpPr/>
              <p:nvPr/>
            </p:nvCxnSpPr>
            <p:spPr>
              <a:xfrm>
                <a:off x="542925" y="409575"/>
                <a:ext cx="573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82" name="Google Shape;182;p18"/>
              <p:cNvSpPr txBox="1"/>
              <p:nvPr/>
            </p:nvSpPr>
            <p:spPr>
              <a:xfrm>
                <a:off x="190500" y="342900"/>
                <a:ext cx="333300" cy="142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750">
                    <a:solidFill>
                      <a:srgbClr val="5A626A"/>
                    </a:solidFill>
                    <a:latin typeface="JetBrains Mono"/>
                    <a:ea typeface="JetBrains Mono"/>
                    <a:cs typeface="JetBrains Mono"/>
                    <a:sym typeface="JetBrains Mono"/>
                  </a:rPr>
                  <a:t>290</a:t>
                </a:r>
                <a:endParaRPr b="0" sz="750">
                  <a:solidFill>
                    <a:srgbClr val="5A626A"/>
                  </a:solidFill>
                  <a:latin typeface="JetBrains Mono"/>
                  <a:ea typeface="JetBrains Mono"/>
                  <a:cs typeface="JetBrains Mono"/>
                  <a:sym typeface="JetBrains Mono"/>
                </a:endParaRPr>
              </a:p>
            </p:txBody>
          </p:sp>
          <p:cxnSp>
            <p:nvCxnSpPr>
              <p:cNvPr id="183" name="Google Shape;183;p18"/>
              <p:cNvCxnSpPr/>
              <p:nvPr/>
            </p:nvCxnSpPr>
            <p:spPr>
              <a:xfrm flipH="1" rot="10800000">
                <a:off x="571500" y="190425"/>
                <a:ext cx="3467100" cy="2143200"/>
              </a:xfrm>
              <a:prstGeom prst="straightConnector1">
                <a:avLst/>
              </a:prstGeom>
              <a:solidFill>
                <a:srgbClr val="FFFFFF"/>
              </a:solidFill>
              <a:ln cap="flat" cmpd="sng" w="19050">
                <a:solidFill>
                  <a:srgbClr val="1D4ED8"/>
                </a:solidFill>
                <a:prstDash val="solid"/>
                <a:round/>
                <a:headEnd len="sm" w="sm" type="none"/>
                <a:tailEnd len="sm" w="sm" type="none"/>
              </a:ln>
            </p:spPr>
          </p:cxnSp>
          <p:sp>
            <p:nvSpPr>
              <p:cNvPr id="184" name="Google Shape;184;p18"/>
              <p:cNvSpPr/>
              <p:nvPr/>
            </p:nvSpPr>
            <p:spPr>
              <a:xfrm>
                <a:off x="1066800" y="1971675"/>
                <a:ext cx="76200" cy="76200"/>
              </a:xfrm>
              <a:prstGeom prst="ellipse">
                <a:avLst/>
              </a:prstGeom>
              <a:solidFill>
                <a:schemeClr val="dk1"/>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8"/>
              <p:cNvSpPr/>
              <p:nvPr/>
            </p:nvSpPr>
            <p:spPr>
              <a:xfrm>
                <a:off x="1600200" y="1657350"/>
                <a:ext cx="76200" cy="76200"/>
              </a:xfrm>
              <a:prstGeom prst="ellipse">
                <a:avLst/>
              </a:prstGeom>
              <a:solidFill>
                <a:schemeClr val="dk1"/>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8"/>
              <p:cNvSpPr/>
              <p:nvPr/>
            </p:nvSpPr>
            <p:spPr>
              <a:xfrm>
                <a:off x="2667000" y="981075"/>
                <a:ext cx="76200" cy="76200"/>
              </a:xfrm>
              <a:prstGeom prst="ellipse">
                <a:avLst/>
              </a:prstGeom>
              <a:solidFill>
                <a:schemeClr val="dk1"/>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8"/>
              <p:cNvSpPr/>
              <p:nvPr/>
            </p:nvSpPr>
            <p:spPr>
              <a:xfrm>
                <a:off x="3700550" y="342900"/>
                <a:ext cx="76200" cy="76200"/>
              </a:xfrm>
              <a:prstGeom prst="ellipse">
                <a:avLst/>
              </a:prstGeom>
              <a:solidFill>
                <a:schemeClr val="dk1"/>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cxnSp>
          <p:nvCxnSpPr>
            <p:cNvPr id="188" name="Google Shape;188;p18"/>
            <p:cNvCxnSpPr/>
            <p:nvPr/>
          </p:nvCxnSpPr>
          <p:spPr>
            <a:xfrm flipH="1" rot="10800000">
              <a:off x="5372850" y="1581250"/>
              <a:ext cx="887700" cy="2182500"/>
            </a:xfrm>
            <a:prstGeom prst="straightConnector1">
              <a:avLst/>
            </a:prstGeom>
            <a:solidFill>
              <a:srgbClr val="FFFFFF"/>
            </a:solidFill>
            <a:ln cap="flat" cmpd="sng" w="19050">
              <a:solidFill>
                <a:srgbClr val="D9381E"/>
              </a:solidFill>
              <a:prstDash val="solid"/>
              <a:round/>
              <a:headEnd len="sm" w="sm" type="none"/>
              <a:tailEnd len="sm" w="sm" type="none"/>
            </a:ln>
          </p:spPr>
        </p:cxnSp>
        <p:sp>
          <p:nvSpPr>
            <p:cNvPr id="189" name="Google Shape;189;p18"/>
            <p:cNvSpPr txBox="1"/>
            <p:nvPr/>
          </p:nvSpPr>
          <p:spPr>
            <a:xfrm rot="-5400000">
              <a:off x="3374398" y="1488750"/>
              <a:ext cx="1143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750">
                  <a:solidFill>
                    <a:srgbClr val="1D4ED8"/>
                  </a:solidFill>
                  <a:latin typeface="JetBrains Mono"/>
                  <a:ea typeface="JetBrains Mono"/>
                  <a:cs typeface="JetBrains Mono"/>
                  <a:sym typeface="JetBrains Mono"/>
                </a:rPr>
                <a:t>Airflow </a:t>
              </a:r>
              <a:r>
                <a:rPr b="1" lang="en-GB" sz="750">
                  <a:solidFill>
                    <a:srgbClr val="1D4ED8"/>
                  </a:solidFill>
                  <a:latin typeface="JetBrains Mono"/>
                  <a:ea typeface="JetBrains Mono"/>
                  <a:cs typeface="JetBrains Mono"/>
                  <a:sym typeface="JetBrains Mono"/>
                </a:rPr>
                <a:t>(y)</a:t>
              </a:r>
              <a:endParaRPr b="1" sz="750">
                <a:solidFill>
                  <a:srgbClr val="1D4ED8"/>
                </a:solidFill>
                <a:latin typeface="JetBrains Mono"/>
                <a:ea typeface="JetBrains Mono"/>
                <a:cs typeface="JetBrains Mono"/>
                <a:sym typeface="JetBrains Mono"/>
              </a:endParaRPr>
            </a:p>
          </p:txBody>
        </p:sp>
        <p:sp>
          <p:nvSpPr>
            <p:cNvPr id="190" name="Google Shape;190;p18"/>
            <p:cNvSpPr/>
            <p:nvPr/>
          </p:nvSpPr>
          <p:spPr>
            <a:xfrm>
              <a:off x="5538175" y="3238500"/>
              <a:ext cx="76200" cy="76200"/>
            </a:xfrm>
            <a:prstGeom prst="ellipse">
              <a:avLst/>
            </a:prstGeom>
            <a:solidFill>
              <a:schemeClr val="dk1"/>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8"/>
            <p:cNvSpPr/>
            <p:nvPr/>
          </p:nvSpPr>
          <p:spPr>
            <a:xfrm>
              <a:off x="5988250" y="2120900"/>
              <a:ext cx="76200" cy="76200"/>
            </a:xfrm>
            <a:prstGeom prst="ellipse">
              <a:avLst/>
            </a:prstGeom>
            <a:solidFill>
              <a:schemeClr val="dk1"/>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8"/>
            <p:cNvSpPr/>
            <p:nvPr/>
          </p:nvSpPr>
          <p:spPr>
            <a:xfrm>
              <a:off x="5847950" y="2461825"/>
              <a:ext cx="76200" cy="76200"/>
            </a:xfrm>
            <a:prstGeom prst="ellipse">
              <a:avLst/>
            </a:prstGeom>
            <a:solidFill>
              <a:srgbClr val="000000"/>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8"/>
            <p:cNvSpPr/>
            <p:nvPr/>
          </p:nvSpPr>
          <p:spPr>
            <a:xfrm>
              <a:off x="6486525" y="1875050"/>
              <a:ext cx="76200" cy="76200"/>
            </a:xfrm>
            <a:prstGeom prst="ellipse">
              <a:avLst/>
            </a:prstGeom>
            <a:solidFill>
              <a:schemeClr val="dk1"/>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8"/>
            <p:cNvSpPr txBox="1"/>
            <p:nvPr/>
          </p:nvSpPr>
          <p:spPr>
            <a:xfrm>
              <a:off x="6322075" y="1581237"/>
              <a:ext cx="11430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750" u="none" strike="noStrike">
                  <a:solidFill>
                    <a:srgbClr val="1D4ED8"/>
                  </a:solidFill>
                  <a:latin typeface="JetBrains Mono"/>
                  <a:ea typeface="JetBrains Mono"/>
                  <a:cs typeface="JetBrains Mono"/>
                  <a:sym typeface="JetBrains Mono"/>
                </a:rPr>
                <a:t>Interpolated value</a:t>
              </a:r>
              <a:endParaRPr b="1" i="0" sz="750" u="none" strike="noStrike">
                <a:solidFill>
                  <a:srgbClr val="1D4ED8"/>
                </a:solidFill>
                <a:latin typeface="JetBrains Mono"/>
                <a:ea typeface="JetBrains Mono"/>
                <a:cs typeface="JetBrains Mono"/>
                <a:sym typeface="JetBrains Mono"/>
              </a:endParaRPr>
            </a:p>
          </p:txBody>
        </p:sp>
      </p:grpSp>
      <p:sp>
        <p:nvSpPr>
          <p:cNvPr id="195" name="Google Shape;195;p18"/>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0" i="0" lang="en-GB" sz="750" u="none" strike="noStrike">
                <a:solidFill>
                  <a:srgbClr val="5A626A"/>
                </a:solidFill>
                <a:latin typeface="JetBrains Mono"/>
                <a:ea typeface="JetBrains Mono"/>
                <a:cs typeface="JetBrains Mono"/>
                <a:sym typeface="JetBrains Mono"/>
              </a:rPr>
              <a:t>Note: Simplified mathematical representation shown.</a:t>
            </a:r>
            <a:endParaRPr b="0" i="0" sz="750" u="none" strike="noStrike">
              <a:solidFill>
                <a:srgbClr val="5A626A"/>
              </a:solidFill>
              <a:latin typeface="JetBrains Mono"/>
              <a:ea typeface="JetBrains Mono"/>
              <a:cs typeface="JetBrains Mono"/>
              <a:sym typeface="JetBrains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9"/>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400">
                <a:solidFill>
                  <a:srgbClr val="111315"/>
                </a:solidFill>
                <a:latin typeface="Space Grotesk"/>
                <a:ea typeface="Space Grotesk"/>
                <a:cs typeface="Space Grotesk"/>
                <a:sym typeface="Space Grotesk"/>
              </a:rPr>
              <a:t>Two Dense Neurons</a:t>
            </a:r>
            <a:endParaRPr b="1" sz="2400">
              <a:solidFill>
                <a:srgbClr val="111315"/>
              </a:solidFill>
              <a:latin typeface="Space Grotesk"/>
              <a:ea typeface="Space Grotesk"/>
              <a:cs typeface="Space Grotesk"/>
              <a:sym typeface="Space Grotesk"/>
            </a:endParaRPr>
          </a:p>
        </p:txBody>
      </p:sp>
      <p:grpSp>
        <p:nvGrpSpPr>
          <p:cNvPr id="201" name="Google Shape;201;p19"/>
          <p:cNvGrpSpPr/>
          <p:nvPr/>
        </p:nvGrpSpPr>
        <p:grpSpPr>
          <a:xfrm>
            <a:off x="762000" y="1095375"/>
            <a:ext cx="7239000" cy="2381400"/>
            <a:chOff x="762000" y="1095375"/>
            <a:chExt cx="7239000" cy="2381400"/>
          </a:xfrm>
        </p:grpSpPr>
        <p:grpSp>
          <p:nvGrpSpPr>
            <p:cNvPr id="202" name="Google Shape;202;p19"/>
            <p:cNvGrpSpPr/>
            <p:nvPr/>
          </p:nvGrpSpPr>
          <p:grpSpPr>
            <a:xfrm>
              <a:off x="762000" y="2047875"/>
              <a:ext cx="1047900" cy="476400"/>
              <a:chOff x="0" y="0"/>
              <a:chExt cx="1047900" cy="476400"/>
            </a:xfrm>
          </p:grpSpPr>
          <p:sp>
            <p:nvSpPr>
              <p:cNvPr id="203" name="Google Shape;203;p19"/>
              <p:cNvSpPr/>
              <p:nvPr/>
            </p:nvSpPr>
            <p:spPr>
              <a:xfrm>
                <a:off x="0" y="0"/>
                <a:ext cx="1047900" cy="4764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19"/>
              <p:cNvSpPr txBox="1"/>
              <p:nvPr/>
            </p:nvSpPr>
            <p:spPr>
              <a:xfrm>
                <a:off x="0" y="0"/>
                <a:ext cx="10479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50">
                    <a:solidFill>
                      <a:srgbClr val="111315"/>
                    </a:solidFill>
                    <a:latin typeface="Inter"/>
                    <a:ea typeface="Inter"/>
                    <a:cs typeface="Inter"/>
                    <a:sym typeface="Inter"/>
                  </a:rPr>
                  <a:t>Input x</a:t>
                </a:r>
                <a:endParaRPr b="1" sz="1050">
                  <a:solidFill>
                    <a:srgbClr val="111315"/>
                  </a:solidFill>
                  <a:latin typeface="Inter"/>
                  <a:ea typeface="Inter"/>
                  <a:cs typeface="Inter"/>
                  <a:sym typeface="Inter"/>
                </a:endParaRPr>
              </a:p>
            </p:txBody>
          </p:sp>
        </p:grpSp>
        <p:grpSp>
          <p:nvGrpSpPr>
            <p:cNvPr id="205" name="Google Shape;205;p19"/>
            <p:cNvGrpSpPr/>
            <p:nvPr/>
          </p:nvGrpSpPr>
          <p:grpSpPr>
            <a:xfrm>
              <a:off x="2476500" y="1095375"/>
              <a:ext cx="1047900" cy="1047900"/>
              <a:chOff x="0" y="0"/>
              <a:chExt cx="1047900" cy="1047900"/>
            </a:xfrm>
          </p:grpSpPr>
          <p:sp>
            <p:nvSpPr>
              <p:cNvPr id="206" name="Google Shape;206;p19"/>
              <p:cNvSpPr/>
              <p:nvPr/>
            </p:nvSpPr>
            <p:spPr>
              <a:xfrm>
                <a:off x="0" y="0"/>
                <a:ext cx="1047900" cy="1047900"/>
              </a:xfrm>
              <a:prstGeom prst="ellipse">
                <a:avLst/>
              </a:prstGeom>
              <a:solidFill>
                <a:srgbClr val="FFFFFF"/>
              </a:solidFill>
              <a:ln cap="flat" cmpd="sng" w="19050">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19"/>
              <p:cNvSpPr txBox="1"/>
              <p:nvPr/>
            </p:nvSpPr>
            <p:spPr>
              <a:xfrm>
                <a:off x="47625" y="142875"/>
                <a:ext cx="952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D9381E"/>
                    </a:solidFill>
                    <a:latin typeface="Inter"/>
                    <a:ea typeface="Inter"/>
                    <a:cs typeface="Inter"/>
                    <a:sym typeface="Inter"/>
                  </a:rPr>
                  <a:t>Neuron 1</a:t>
                </a:r>
                <a:endParaRPr b="1" sz="975">
                  <a:solidFill>
                    <a:srgbClr val="D9381E"/>
                  </a:solidFill>
                  <a:latin typeface="Inter"/>
                  <a:ea typeface="Inter"/>
                  <a:cs typeface="Inter"/>
                  <a:sym typeface="Inter"/>
                </a:endParaRPr>
              </a:p>
              <a:p>
                <a:pPr indent="0" lvl="0" marL="0" rtl="0" algn="ctr">
                  <a:spcBef>
                    <a:spcPts val="150"/>
                  </a:spcBef>
                  <a:spcAft>
                    <a:spcPts val="0"/>
                  </a:spcAft>
                  <a:buNone/>
                </a:pPr>
                <a:r>
                  <a:rPr b="0" lang="en-GB" sz="825">
                    <a:solidFill>
                      <a:srgbClr val="D9381E"/>
                    </a:solidFill>
                    <a:latin typeface="JetBrains Mono"/>
                    <a:ea typeface="JetBrains Mono"/>
                    <a:cs typeface="JetBrains Mono"/>
                    <a:sym typeface="JetBrains Mono"/>
                  </a:rPr>
                  <a:t>h1 = m1x + c1</a:t>
                </a:r>
                <a:endParaRPr b="0" sz="825">
                  <a:solidFill>
                    <a:srgbClr val="D9381E"/>
                  </a:solidFill>
                  <a:latin typeface="JetBrains Mono"/>
                  <a:ea typeface="JetBrains Mono"/>
                  <a:cs typeface="JetBrains Mono"/>
                  <a:sym typeface="JetBrains Mono"/>
                </a:endParaRPr>
              </a:p>
            </p:txBody>
          </p:sp>
        </p:grpSp>
        <p:grpSp>
          <p:nvGrpSpPr>
            <p:cNvPr id="208" name="Google Shape;208;p19"/>
            <p:cNvGrpSpPr/>
            <p:nvPr/>
          </p:nvGrpSpPr>
          <p:grpSpPr>
            <a:xfrm>
              <a:off x="2476500" y="2428875"/>
              <a:ext cx="1047900" cy="1047900"/>
              <a:chOff x="0" y="0"/>
              <a:chExt cx="1047900" cy="1047900"/>
            </a:xfrm>
          </p:grpSpPr>
          <p:sp>
            <p:nvSpPr>
              <p:cNvPr id="209" name="Google Shape;209;p19"/>
              <p:cNvSpPr/>
              <p:nvPr/>
            </p:nvSpPr>
            <p:spPr>
              <a:xfrm>
                <a:off x="0" y="0"/>
                <a:ext cx="1047900" cy="1047900"/>
              </a:xfrm>
              <a:prstGeom prst="ellipse">
                <a:avLst/>
              </a:prstGeom>
              <a:solidFill>
                <a:srgbClr val="FFFFFF"/>
              </a:solidFill>
              <a:ln cap="flat" cmpd="sng" w="19050">
                <a:solidFill>
                  <a:srgbClr val="1D4E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9"/>
              <p:cNvSpPr txBox="1"/>
              <p:nvPr/>
            </p:nvSpPr>
            <p:spPr>
              <a:xfrm>
                <a:off x="47625" y="142875"/>
                <a:ext cx="952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D4ED8"/>
                    </a:solidFill>
                    <a:latin typeface="Inter"/>
                    <a:ea typeface="Inter"/>
                    <a:cs typeface="Inter"/>
                    <a:sym typeface="Inter"/>
                  </a:rPr>
                  <a:t>Neuron 2</a:t>
                </a:r>
                <a:endParaRPr b="1" sz="975">
                  <a:solidFill>
                    <a:srgbClr val="1D4ED8"/>
                  </a:solidFill>
                  <a:latin typeface="Inter"/>
                  <a:ea typeface="Inter"/>
                  <a:cs typeface="Inter"/>
                  <a:sym typeface="Inter"/>
                </a:endParaRPr>
              </a:p>
              <a:p>
                <a:pPr indent="0" lvl="0" marL="0" rtl="0" algn="ctr">
                  <a:spcBef>
                    <a:spcPts val="150"/>
                  </a:spcBef>
                  <a:spcAft>
                    <a:spcPts val="0"/>
                  </a:spcAft>
                  <a:buNone/>
                </a:pPr>
                <a:r>
                  <a:rPr b="0" lang="en-GB" sz="825">
                    <a:solidFill>
                      <a:srgbClr val="1D4ED8"/>
                    </a:solidFill>
                    <a:latin typeface="JetBrains Mono"/>
                    <a:ea typeface="JetBrains Mono"/>
                    <a:cs typeface="JetBrains Mono"/>
                    <a:sym typeface="JetBrains Mono"/>
                  </a:rPr>
                  <a:t>h2 = m2x + c2</a:t>
                </a:r>
                <a:endParaRPr b="0" sz="825">
                  <a:solidFill>
                    <a:srgbClr val="1D4ED8"/>
                  </a:solidFill>
                  <a:latin typeface="JetBrains Mono"/>
                  <a:ea typeface="JetBrains Mono"/>
                  <a:cs typeface="JetBrains Mono"/>
                  <a:sym typeface="JetBrains Mono"/>
                </a:endParaRPr>
              </a:p>
            </p:txBody>
          </p:sp>
        </p:grpSp>
        <p:pic>
          <p:nvPicPr>
            <p:cNvPr id="211" name="Google Shape;211;p19"/>
            <p:cNvPicPr preferRelativeResize="0"/>
            <p:nvPr/>
          </p:nvPicPr>
          <p:blipFill rotWithShape="1">
            <a:blip r:embed="rId3">
              <a:alphaModFix/>
            </a:blip>
            <a:srcRect b="0" l="0" r="0" t="0"/>
            <a:stretch/>
          </p:blipFill>
          <p:spPr>
            <a:xfrm>
              <a:off x="1804988" y="1638300"/>
              <a:ext cx="619200" cy="652500"/>
            </a:xfrm>
            <a:prstGeom prst="rect">
              <a:avLst/>
            </a:prstGeom>
            <a:noFill/>
            <a:ln>
              <a:noFill/>
            </a:ln>
          </p:spPr>
        </p:pic>
        <p:pic>
          <p:nvPicPr>
            <p:cNvPr id="212" name="Google Shape;212;p19"/>
            <p:cNvPicPr preferRelativeResize="0"/>
            <p:nvPr/>
          </p:nvPicPr>
          <p:blipFill rotWithShape="1">
            <a:blip r:embed="rId4">
              <a:alphaModFix/>
            </a:blip>
            <a:srcRect b="0" l="0" r="0" t="0"/>
            <a:stretch/>
          </p:blipFill>
          <p:spPr>
            <a:xfrm>
              <a:off x="1804988" y="2281238"/>
              <a:ext cx="619200" cy="652500"/>
            </a:xfrm>
            <a:prstGeom prst="rect">
              <a:avLst/>
            </a:prstGeom>
            <a:noFill/>
            <a:ln>
              <a:noFill/>
            </a:ln>
          </p:spPr>
        </p:pic>
        <p:pic>
          <p:nvPicPr>
            <p:cNvPr id="213" name="Google Shape;213;p19"/>
            <p:cNvPicPr preferRelativeResize="0"/>
            <p:nvPr/>
          </p:nvPicPr>
          <p:blipFill rotWithShape="1">
            <a:blip r:embed="rId5">
              <a:alphaModFix/>
            </a:blip>
            <a:srcRect b="0" l="0" r="0" t="0"/>
            <a:stretch/>
          </p:blipFill>
          <p:spPr>
            <a:xfrm>
              <a:off x="3519488" y="1609725"/>
              <a:ext cx="3295800" cy="466800"/>
            </a:xfrm>
            <a:prstGeom prst="rect">
              <a:avLst/>
            </a:prstGeom>
            <a:noFill/>
            <a:ln>
              <a:noFill/>
            </a:ln>
          </p:spPr>
        </p:pic>
        <p:pic>
          <p:nvPicPr>
            <p:cNvPr id="214" name="Google Shape;214;p19"/>
            <p:cNvPicPr preferRelativeResize="0"/>
            <p:nvPr/>
          </p:nvPicPr>
          <p:blipFill rotWithShape="1">
            <a:blip r:embed="rId6">
              <a:alphaModFix/>
            </a:blip>
            <a:srcRect b="0" l="0" r="0" t="0"/>
            <a:stretch/>
          </p:blipFill>
          <p:spPr>
            <a:xfrm>
              <a:off x="3519488" y="2119313"/>
              <a:ext cx="3295800" cy="843000"/>
            </a:xfrm>
            <a:prstGeom prst="rect">
              <a:avLst/>
            </a:prstGeom>
            <a:noFill/>
            <a:ln>
              <a:noFill/>
            </a:ln>
          </p:spPr>
        </p:pic>
        <p:grpSp>
          <p:nvGrpSpPr>
            <p:cNvPr id="215" name="Google Shape;215;p19"/>
            <p:cNvGrpSpPr/>
            <p:nvPr/>
          </p:nvGrpSpPr>
          <p:grpSpPr>
            <a:xfrm>
              <a:off x="5334000" y="1238250"/>
              <a:ext cx="2667000" cy="2095500"/>
              <a:chOff x="0" y="0"/>
              <a:chExt cx="2667000" cy="2095500"/>
            </a:xfrm>
          </p:grpSpPr>
          <p:sp>
            <p:nvSpPr>
              <p:cNvPr id="216" name="Google Shape;216;p19"/>
              <p:cNvSpPr/>
              <p:nvPr/>
            </p:nvSpPr>
            <p:spPr>
              <a:xfrm>
                <a:off x="0" y="0"/>
                <a:ext cx="2667000" cy="2095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7" name="Google Shape;217;p19"/>
              <p:cNvPicPr preferRelativeResize="0"/>
              <p:nvPr/>
            </p:nvPicPr>
            <p:blipFill rotWithShape="1">
              <a:blip r:embed="rId7">
                <a:alphaModFix/>
              </a:blip>
              <a:srcRect b="0" l="0" r="0" t="0"/>
              <a:stretch/>
            </p:blipFill>
            <p:spPr>
              <a:xfrm>
                <a:off x="0" y="0"/>
                <a:ext cx="2667000" cy="2095500"/>
              </a:xfrm>
              <a:prstGeom prst="rect">
                <a:avLst/>
              </a:prstGeom>
              <a:noFill/>
              <a:ln>
                <a:noFill/>
              </a:ln>
            </p:spPr>
          </p:pic>
          <p:sp>
            <p:nvSpPr>
              <p:cNvPr id="218" name="Google Shape;218;p19"/>
              <p:cNvSpPr txBox="1"/>
              <p:nvPr/>
            </p:nvSpPr>
            <p:spPr>
              <a:xfrm>
                <a:off x="114300" y="95250"/>
                <a:ext cx="23814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975">
                    <a:solidFill>
                      <a:srgbClr val="111315"/>
                    </a:solidFill>
                    <a:latin typeface="Inter"/>
                    <a:ea typeface="Inter"/>
                    <a:cs typeface="Inter"/>
                    <a:sym typeface="Inter"/>
                  </a:rPr>
                  <a:t>2D Latent Space</a:t>
                </a:r>
                <a:endParaRPr b="1" sz="975">
                  <a:solidFill>
                    <a:srgbClr val="111315"/>
                  </a:solidFill>
                  <a:latin typeface="Inter"/>
                  <a:ea typeface="Inter"/>
                  <a:cs typeface="Inter"/>
                  <a:sym typeface="Inter"/>
                </a:endParaRPr>
              </a:p>
            </p:txBody>
          </p:sp>
          <p:cxnSp>
            <p:nvCxnSpPr>
              <p:cNvPr id="219" name="Google Shape;219;p19"/>
              <p:cNvCxnSpPr/>
              <p:nvPr/>
            </p:nvCxnSpPr>
            <p:spPr>
              <a:xfrm>
                <a:off x="381000" y="1714500"/>
                <a:ext cx="2000100" cy="0"/>
              </a:xfrm>
              <a:prstGeom prst="straightConnector1">
                <a:avLst/>
              </a:prstGeom>
              <a:solidFill>
                <a:srgbClr val="FFFFFF"/>
              </a:solidFill>
              <a:ln cap="flat" cmpd="sng" w="11425">
                <a:solidFill>
                  <a:srgbClr val="111315"/>
                </a:solidFill>
                <a:prstDash val="solid"/>
                <a:round/>
                <a:headEnd len="sm" w="sm" type="none"/>
                <a:tailEnd len="sm" w="sm" type="none"/>
              </a:ln>
            </p:spPr>
          </p:cxnSp>
          <p:sp>
            <p:nvSpPr>
              <p:cNvPr id="220" name="Google Shape;220;p19"/>
              <p:cNvSpPr/>
              <p:nvPr/>
            </p:nvSpPr>
            <p:spPr>
              <a:xfrm>
                <a:off x="2362200" y="1685925"/>
                <a:ext cx="57300" cy="573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19"/>
              <p:cNvSpPr txBox="1"/>
              <p:nvPr/>
            </p:nvSpPr>
            <p:spPr>
              <a:xfrm>
                <a:off x="2143125" y="1762125"/>
                <a:ext cx="381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D9381E"/>
                    </a:solidFill>
                    <a:latin typeface="JetBrains Mono"/>
                    <a:ea typeface="JetBrains Mono"/>
                    <a:cs typeface="JetBrains Mono"/>
                    <a:sym typeface="JetBrains Mono"/>
                  </a:rPr>
                  <a:t>h1</a:t>
                </a:r>
                <a:endParaRPr b="1" sz="825">
                  <a:solidFill>
                    <a:srgbClr val="D9381E"/>
                  </a:solidFill>
                  <a:latin typeface="JetBrains Mono"/>
                  <a:ea typeface="JetBrains Mono"/>
                  <a:cs typeface="JetBrains Mono"/>
                  <a:sym typeface="JetBrains Mono"/>
                </a:endParaRPr>
              </a:p>
            </p:txBody>
          </p:sp>
          <p:cxnSp>
            <p:nvCxnSpPr>
              <p:cNvPr id="222" name="Google Shape;222;p19"/>
              <p:cNvCxnSpPr/>
              <p:nvPr/>
            </p:nvCxnSpPr>
            <p:spPr>
              <a:xfrm rot="10800000">
                <a:off x="381000" y="381000"/>
                <a:ext cx="0" cy="1333500"/>
              </a:xfrm>
              <a:prstGeom prst="straightConnector1">
                <a:avLst/>
              </a:prstGeom>
              <a:solidFill>
                <a:srgbClr val="FFFFFF"/>
              </a:solidFill>
              <a:ln cap="flat" cmpd="sng" w="11425">
                <a:solidFill>
                  <a:srgbClr val="111315"/>
                </a:solidFill>
                <a:prstDash val="solid"/>
                <a:round/>
                <a:headEnd len="sm" w="sm" type="none"/>
                <a:tailEnd len="sm" w="sm" type="none"/>
              </a:ln>
            </p:spPr>
          </p:cxnSp>
          <p:sp>
            <p:nvSpPr>
              <p:cNvPr id="223" name="Google Shape;223;p19"/>
              <p:cNvSpPr/>
              <p:nvPr/>
            </p:nvSpPr>
            <p:spPr>
              <a:xfrm>
                <a:off x="352425" y="342900"/>
                <a:ext cx="57300" cy="57300"/>
              </a:xfrm>
              <a:custGeom>
                <a:rect b="b" l="l" r="r" t="t"/>
                <a:pathLst>
                  <a:path extrusionOk="0" h="120000" w="120000">
                    <a:moveTo>
                      <a:pt x="0" y="120000"/>
                    </a:moveTo>
                    <a:lnTo>
                      <a:pt x="60000" y="0"/>
                    </a:lnTo>
                    <a:lnTo>
                      <a:pt x="12000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19"/>
              <p:cNvSpPr txBox="1"/>
              <p:nvPr/>
            </p:nvSpPr>
            <p:spPr>
              <a:xfrm>
                <a:off x="142875" y="333375"/>
                <a:ext cx="2382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1D4ED8"/>
                    </a:solidFill>
                    <a:latin typeface="JetBrains Mono"/>
                    <a:ea typeface="JetBrains Mono"/>
                    <a:cs typeface="JetBrains Mono"/>
                    <a:sym typeface="JetBrains Mono"/>
                  </a:rPr>
                  <a:t>h2</a:t>
                </a:r>
                <a:endParaRPr b="1" sz="825">
                  <a:solidFill>
                    <a:srgbClr val="1D4ED8"/>
                  </a:solidFill>
                  <a:latin typeface="JetBrains Mono"/>
                  <a:ea typeface="JetBrains Mono"/>
                  <a:cs typeface="JetBrains Mono"/>
                  <a:sym typeface="JetBrains Mono"/>
                </a:endParaRPr>
              </a:p>
            </p:txBody>
          </p:sp>
          <p:pic>
            <p:nvPicPr>
              <p:cNvPr id="225" name="Google Shape;225;p19"/>
              <p:cNvPicPr preferRelativeResize="0"/>
              <p:nvPr/>
            </p:nvPicPr>
            <p:blipFill rotWithShape="1">
              <a:blip r:embed="rId8">
                <a:alphaModFix/>
              </a:blip>
              <a:srcRect b="0" l="0" r="0" t="0"/>
              <a:stretch/>
            </p:blipFill>
            <p:spPr>
              <a:xfrm>
                <a:off x="1519238" y="857250"/>
                <a:ext cx="9600" cy="828600"/>
              </a:xfrm>
              <a:prstGeom prst="rect">
                <a:avLst/>
              </a:prstGeom>
              <a:noFill/>
              <a:ln>
                <a:noFill/>
              </a:ln>
            </p:spPr>
          </p:pic>
          <p:pic>
            <p:nvPicPr>
              <p:cNvPr id="226" name="Google Shape;226;p19"/>
              <p:cNvPicPr preferRelativeResize="0"/>
              <p:nvPr/>
            </p:nvPicPr>
            <p:blipFill rotWithShape="1">
              <a:blip r:embed="rId9">
                <a:alphaModFix/>
              </a:blip>
              <a:srcRect b="0" l="0" r="0" t="0"/>
              <a:stretch/>
            </p:blipFill>
            <p:spPr>
              <a:xfrm>
                <a:off x="409575" y="852488"/>
                <a:ext cx="1114500" cy="9600"/>
              </a:xfrm>
              <a:prstGeom prst="rect">
                <a:avLst/>
              </a:prstGeom>
              <a:noFill/>
              <a:ln>
                <a:noFill/>
              </a:ln>
            </p:spPr>
          </p:pic>
          <p:sp>
            <p:nvSpPr>
              <p:cNvPr id="227" name="Google Shape;227;p19"/>
              <p:cNvSpPr/>
              <p:nvPr/>
            </p:nvSpPr>
            <p:spPr>
              <a:xfrm>
                <a:off x="1466850" y="800100"/>
                <a:ext cx="114300" cy="114300"/>
              </a:xfrm>
              <a:prstGeom prst="ellipse">
                <a:avLst/>
              </a:pr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19"/>
              <p:cNvSpPr txBox="1"/>
              <p:nvPr/>
            </p:nvSpPr>
            <p:spPr>
              <a:xfrm>
                <a:off x="1638300" y="685800"/>
                <a:ext cx="952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975">
                    <a:solidFill>
                      <a:srgbClr val="111315"/>
                    </a:solidFill>
                    <a:latin typeface="Inter"/>
                    <a:ea typeface="Inter"/>
                    <a:cs typeface="Inter"/>
                    <a:sym typeface="Inter"/>
                  </a:rPr>
                  <a:t>(h1, h2)</a:t>
                </a:r>
                <a:endParaRPr b="1" sz="975">
                  <a:solidFill>
                    <a:srgbClr val="111315"/>
                  </a:solidFill>
                  <a:latin typeface="Inter"/>
                  <a:ea typeface="Inter"/>
                  <a:cs typeface="Inter"/>
                  <a:sym typeface="Inter"/>
                </a:endParaRPr>
              </a:p>
              <a:p>
                <a:pPr indent="0" lvl="0" marL="0" rtl="0" algn="l">
                  <a:spcBef>
                    <a:spcPts val="0"/>
                  </a:spcBef>
                  <a:spcAft>
                    <a:spcPts val="0"/>
                  </a:spcAft>
                  <a:buNone/>
                </a:pPr>
                <a:r>
                  <a:rPr b="0" lang="en-GB" sz="675">
                    <a:solidFill>
                      <a:srgbClr val="5A626A"/>
                    </a:solidFill>
                    <a:latin typeface="JetBrains Mono"/>
                    <a:ea typeface="JetBrains Mono"/>
                    <a:cs typeface="JetBrains Mono"/>
                    <a:sym typeface="JetBrains Mono"/>
                  </a:rPr>
                  <a:t>Mapped Point</a:t>
                </a:r>
                <a:endParaRPr b="0" sz="675">
                  <a:solidFill>
                    <a:srgbClr val="5A626A"/>
                  </a:solidFill>
                  <a:latin typeface="JetBrains Mono"/>
                  <a:ea typeface="JetBrains Mono"/>
                  <a:cs typeface="JetBrains Mono"/>
                  <a:sym typeface="JetBrains Mono"/>
                </a:endParaRPr>
              </a:p>
            </p:txBody>
          </p:sp>
        </p:grpSp>
      </p:grpSp>
      <p:sp>
        <p:nvSpPr>
          <p:cNvPr id="229" name="Google Shape;229;p19"/>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Ref: Rosenblatt (1958); Rumelhart et al. (1986).</a:t>
            </a:r>
            <a:endParaRPr b="0" sz="750">
              <a:solidFill>
                <a:srgbClr val="5A626A"/>
              </a:solidFill>
              <a:latin typeface="JetBrains Mono"/>
              <a:ea typeface="JetBrains Mono"/>
              <a:cs typeface="JetBrains Mono"/>
              <a:sym typeface="JetBrains Mono"/>
            </a:endParaRPr>
          </a:p>
        </p:txBody>
      </p:sp>
      <p:grpSp>
        <p:nvGrpSpPr>
          <p:cNvPr id="230" name="Google Shape;230;p19"/>
          <p:cNvGrpSpPr/>
          <p:nvPr/>
        </p:nvGrpSpPr>
        <p:grpSpPr>
          <a:xfrm>
            <a:off x="381000" y="4762500"/>
            <a:ext cx="8382000" cy="285750"/>
            <a:chOff x="381000" y="4762500"/>
            <a:chExt cx="8382000" cy="285750"/>
          </a:xfrm>
        </p:grpSpPr>
        <p:cxnSp>
          <p:nvCxnSpPr>
            <p:cNvPr id="231" name="Google Shape;231;p19"/>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232" name="Google Shape;232;p19"/>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
        <p:nvSpPr>
          <p:cNvPr id="233" name="Google Shape;233;p19"/>
          <p:cNvSpPr/>
          <p:nvPr/>
        </p:nvSpPr>
        <p:spPr>
          <a:xfrm>
            <a:off x="3410000" y="3095700"/>
            <a:ext cx="1809600" cy="1285800"/>
          </a:xfrm>
          <a:prstGeom prst="roundRect">
            <a:avLst>
              <a:gd fmla="val 0" name="adj"/>
            </a:avLst>
          </a:prstGeom>
          <a:solidFill>
            <a:srgbClr val="000000">
              <a:alpha val="0"/>
            </a:srgbClr>
          </a:solid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None/>
            </a:pPr>
            <a:r>
              <a:rPr b="1" lang="en-GB" sz="950">
                <a:solidFill>
                  <a:srgbClr val="111315"/>
                </a:solidFill>
                <a:latin typeface="Inter"/>
                <a:ea typeface="Inter"/>
                <a:cs typeface="Inter"/>
                <a:sym typeface="Inter"/>
              </a:rPr>
              <a:t>Numerical Inputs</a:t>
            </a:r>
            <a:endParaRPr b="1" i="0" sz="950" u="none" strike="noStrike">
              <a:solidFill>
                <a:srgbClr val="111315"/>
              </a:solidFill>
              <a:latin typeface="Inter"/>
              <a:ea typeface="Inter"/>
              <a:cs typeface="Inter"/>
              <a:sym typeface="Inter"/>
            </a:endParaRPr>
          </a:p>
          <a:p>
            <a:pPr indent="0" lvl="0" marL="0" marR="0" rtl="0" algn="l">
              <a:lnSpc>
                <a:spcPct val="115000"/>
              </a:lnSpc>
              <a:spcBef>
                <a:spcPts val="400"/>
              </a:spcBef>
              <a:spcAft>
                <a:spcPts val="0"/>
              </a:spcAft>
              <a:buNone/>
            </a:pPr>
            <a:r>
              <a:rPr lang="en-GB" sz="820">
                <a:solidFill>
                  <a:srgbClr val="5A626A"/>
                </a:solidFill>
                <a:latin typeface="Inter"/>
                <a:ea typeface="Inter"/>
                <a:cs typeface="Inter"/>
                <a:sym typeface="Inter"/>
              </a:rPr>
              <a:t>Instead of just singular numbers - you can plug in a stack of numbers (a vector) to get a vector out as well</a:t>
            </a:r>
            <a:endParaRPr b="1" i="0" sz="950" u="none" strike="noStrike">
              <a:solidFill>
                <a:srgbClr val="111315"/>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0"/>
          <p:cNvSpPr txBox="1"/>
          <p:nvPr/>
        </p:nvSpPr>
        <p:spPr>
          <a:xfrm>
            <a:off x="381000" y="333375"/>
            <a:ext cx="8382000" cy="6669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i="0" lang="en-GB" sz="1680" u="none" strike="noStrike">
                <a:solidFill>
                  <a:srgbClr val="111315"/>
                </a:solidFill>
                <a:latin typeface="Space Grotesk"/>
                <a:ea typeface="Space Grotesk"/>
                <a:cs typeface="Space Grotesk"/>
                <a:sym typeface="Space Grotesk"/>
              </a:rPr>
              <a:t>Word Vectorization</a:t>
            </a:r>
            <a:endParaRPr b="1" i="0" sz="1680" u="none" strike="noStrike">
              <a:solidFill>
                <a:srgbClr val="111315"/>
              </a:solidFill>
              <a:latin typeface="Space Grotesk"/>
              <a:ea typeface="Space Grotesk"/>
              <a:cs typeface="Space Grotesk"/>
              <a:sym typeface="Space Grotesk"/>
            </a:endParaRPr>
          </a:p>
          <a:p>
            <a:pPr indent="0" lvl="0" marL="0" marR="0" rtl="0" algn="l">
              <a:spcBef>
                <a:spcPts val="450"/>
              </a:spcBef>
              <a:spcAft>
                <a:spcPts val="0"/>
              </a:spcAft>
              <a:buNone/>
            </a:pPr>
            <a:r>
              <a:rPr b="0" i="0" lang="en-GB" sz="945" u="none" strike="noStrike">
                <a:solidFill>
                  <a:srgbClr val="5A626A"/>
                </a:solidFill>
                <a:latin typeface="Space Grotesk SemiBold"/>
                <a:ea typeface="Space Grotesk SemiBold"/>
                <a:cs typeface="Space Grotesk SemiBold"/>
                <a:sym typeface="Space Grotesk SemiBold"/>
              </a:rPr>
              <a:t>Tokenization divides text into words. Vectorization assigns numerical coordinates to words.</a:t>
            </a:r>
            <a:endParaRPr b="1" i="0" sz="1680" u="none" strike="noStrike">
              <a:solidFill>
                <a:srgbClr val="111315"/>
              </a:solidFill>
              <a:latin typeface="Space Grotesk"/>
              <a:ea typeface="Space Grotesk"/>
              <a:cs typeface="Space Grotesk"/>
              <a:sym typeface="Space Grotesk"/>
            </a:endParaRPr>
          </a:p>
        </p:txBody>
      </p:sp>
      <p:cxnSp>
        <p:nvCxnSpPr>
          <p:cNvPr id="239" name="Google Shape;239;p20"/>
          <p:cNvCxnSpPr/>
          <p:nvPr/>
        </p:nvCxnSpPr>
        <p:spPr>
          <a:xfrm>
            <a:off x="381000" y="4762500"/>
            <a:ext cx="8382000" cy="960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240" name="Google Shape;240;p20"/>
          <p:cNvSpPr/>
          <p:nvPr/>
        </p:nvSpPr>
        <p:spPr>
          <a:xfrm>
            <a:off x="381000" y="4857750"/>
            <a:ext cx="8382000" cy="190500"/>
          </a:xfrm>
          <a:prstGeom prst="roundRect">
            <a:avLst>
              <a:gd fmla="val 0" name="adj"/>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GB" sz="750">
                <a:solidFill>
                  <a:srgbClr val="5A626A"/>
                </a:solidFill>
                <a:latin typeface="JetBrains Mono"/>
                <a:ea typeface="JetBrains Mono"/>
                <a:cs typeface="JetBrains Mono"/>
                <a:sym typeface="JetBrains Mono"/>
              </a:rPr>
              <a:t>AI in Architecture | Indrajeet Haldar</a:t>
            </a:r>
            <a:endParaRPr sz="750">
              <a:solidFill>
                <a:srgbClr val="5A626A"/>
              </a:solidFill>
              <a:latin typeface="JetBrains Mono"/>
              <a:ea typeface="JetBrains Mono"/>
              <a:cs typeface="JetBrains Mono"/>
              <a:sym typeface="JetBrains Mono"/>
            </a:endParaRPr>
          </a:p>
        </p:txBody>
      </p:sp>
      <p:sp>
        <p:nvSpPr>
          <p:cNvPr id="241" name="Google Shape;241;p20"/>
          <p:cNvSpPr/>
          <p:nvPr/>
        </p:nvSpPr>
        <p:spPr>
          <a:xfrm>
            <a:off x="381000" y="4429125"/>
            <a:ext cx="8382000" cy="190500"/>
          </a:xfrm>
          <a:prstGeom prst="roundRect">
            <a:avLst>
              <a:gd fmla="val 0" name="adj"/>
            </a:avLst>
          </a:prstGeom>
          <a:solidFill>
            <a:srgbClr val="000000">
              <a:alpha val="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GB" sz="750" u="none" strike="noStrike">
                <a:solidFill>
                  <a:srgbClr val="5A626A"/>
                </a:solidFill>
                <a:latin typeface="JetBrains Mono"/>
                <a:ea typeface="JetBrains Mono"/>
                <a:cs typeface="JetBrains Mono"/>
                <a:sym typeface="JetBrains Mono"/>
              </a:rPr>
              <a:t>Appendix: Mathematical formulation of vectorization.</a:t>
            </a:r>
            <a:endParaRPr b="0" i="0" sz="750" u="none" strike="noStrike">
              <a:solidFill>
                <a:srgbClr val="5A626A"/>
              </a:solidFill>
              <a:latin typeface="JetBrains Mono"/>
              <a:ea typeface="JetBrains Mono"/>
              <a:cs typeface="JetBrains Mono"/>
              <a:sym typeface="JetBrains Mono"/>
            </a:endParaRPr>
          </a:p>
        </p:txBody>
      </p:sp>
      <p:sp>
        <p:nvSpPr>
          <p:cNvPr id="242" name="Google Shape;242;p20"/>
          <p:cNvSpPr/>
          <p:nvPr/>
        </p:nvSpPr>
        <p:spPr>
          <a:xfrm>
            <a:off x="571500" y="1143000"/>
            <a:ext cx="8001000" cy="31434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0"/>
          <p:cNvSpPr/>
          <p:nvPr/>
        </p:nvSpPr>
        <p:spPr>
          <a:xfrm>
            <a:off x="809625" y="1333500"/>
            <a:ext cx="1809600" cy="428700"/>
          </a:xfrm>
          <a:prstGeom prst="roundRect">
            <a:avLst>
              <a:gd fmla="val 0" name="adj"/>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800">
                <a:solidFill>
                  <a:srgbClr val="5A626A"/>
                </a:solidFill>
                <a:latin typeface="JetBrains Mono"/>
                <a:ea typeface="JetBrains Mono"/>
                <a:cs typeface="JetBrains Mono"/>
                <a:sym typeface="JetBrains Mono"/>
              </a:rPr>
              <a:t>STEP 01</a:t>
            </a:r>
            <a:endParaRPr b="1" sz="800">
              <a:solidFill>
                <a:srgbClr val="5A626A"/>
              </a:solidFill>
              <a:latin typeface="JetBrains Mono"/>
              <a:ea typeface="JetBrains Mono"/>
              <a:cs typeface="JetBrains Mono"/>
              <a:sym typeface="JetBrains Mono"/>
            </a:endParaRPr>
          </a:p>
          <a:p>
            <a:pPr indent="0" lvl="0" marL="0" rtl="0" algn="l">
              <a:spcBef>
                <a:spcPts val="200"/>
              </a:spcBef>
              <a:spcAft>
                <a:spcPts val="0"/>
              </a:spcAft>
              <a:buNone/>
            </a:pPr>
            <a:r>
              <a:rPr b="1" lang="en-GB" sz="1500">
                <a:solidFill>
                  <a:srgbClr val="111315"/>
                </a:solidFill>
                <a:latin typeface="Space Grotesk"/>
                <a:ea typeface="Space Grotesk"/>
                <a:cs typeface="Space Grotesk"/>
                <a:sym typeface="Space Grotesk"/>
              </a:rPr>
              <a:t>Raw Text</a:t>
            </a:r>
            <a:endParaRPr b="1" sz="800">
              <a:solidFill>
                <a:srgbClr val="5A626A"/>
              </a:solidFill>
              <a:latin typeface="JetBrains Mono"/>
              <a:ea typeface="JetBrains Mono"/>
              <a:cs typeface="JetBrains Mono"/>
              <a:sym typeface="JetBrains Mono"/>
            </a:endParaRPr>
          </a:p>
        </p:txBody>
      </p:sp>
      <p:sp>
        <p:nvSpPr>
          <p:cNvPr id="244" name="Google Shape;244;p20"/>
          <p:cNvSpPr/>
          <p:nvPr/>
        </p:nvSpPr>
        <p:spPr>
          <a:xfrm>
            <a:off x="809625" y="1857375"/>
            <a:ext cx="1809600" cy="809700"/>
          </a:xfrm>
          <a:prstGeom prst="roundRect">
            <a:avLst>
              <a:gd fmla="val 0" name="adj"/>
            </a:avLst>
          </a:prstGeom>
          <a:solidFill>
            <a:srgbClr val="F8F9FA"/>
          </a:solidFill>
          <a:ln cap="flat" cmpd="sng" w="9525">
            <a:solidFill>
              <a:srgbClr val="111315"/>
            </a:solidFill>
            <a:prstDash val="solid"/>
            <a:round/>
            <a:headEnd len="sm" w="sm" type="none"/>
            <a:tailEnd len="sm" w="sm" type="none"/>
          </a:ln>
        </p:spPr>
        <p:txBody>
          <a:bodyPr anchorCtr="0" anchor="ctr" bIns="95250" lIns="95250" spcFirstLastPara="1" rIns="95250" wrap="square" tIns="133350">
            <a:noAutofit/>
          </a:bodyPr>
          <a:lstStyle/>
          <a:p>
            <a:pPr indent="0" lvl="0" marL="0" rtl="0" algn="ctr">
              <a:spcBef>
                <a:spcPts val="0"/>
              </a:spcBef>
              <a:spcAft>
                <a:spcPts val="0"/>
              </a:spcAft>
              <a:buNone/>
            </a:pPr>
            <a:r>
              <a:rPr b="1" lang="en-GB" sz="1300">
                <a:solidFill>
                  <a:srgbClr val="111315"/>
                </a:solidFill>
                <a:latin typeface="JetBrains Mono"/>
                <a:ea typeface="JetBrains Mono"/>
                <a:cs typeface="JetBrains Mono"/>
                <a:sym typeface="JetBrains Mono"/>
              </a:rPr>
              <a:t>"Studio Room"</a:t>
            </a:r>
            <a:endParaRPr b="1" sz="1300">
              <a:solidFill>
                <a:srgbClr val="111315"/>
              </a:solidFill>
              <a:latin typeface="JetBrains Mono"/>
              <a:ea typeface="JetBrains Mono"/>
              <a:cs typeface="JetBrains Mono"/>
              <a:sym typeface="JetBrains Mono"/>
            </a:endParaRPr>
          </a:p>
          <a:p>
            <a:pPr indent="0" lvl="0" marL="0" rtl="0" algn="ctr">
              <a:spcBef>
                <a:spcPts val="600"/>
              </a:spcBef>
              <a:spcAft>
                <a:spcPts val="0"/>
              </a:spcAft>
              <a:buNone/>
            </a:pPr>
            <a:r>
              <a:rPr b="1" lang="en-GB" sz="750">
                <a:solidFill>
                  <a:srgbClr val="5A626A"/>
                </a:solidFill>
                <a:latin typeface="JetBrains Mono"/>
                <a:ea typeface="JetBrains Mono"/>
                <a:cs typeface="JetBrains Mono"/>
                <a:sym typeface="JetBrains Mono"/>
              </a:rPr>
              <a:t>Raw Input String</a:t>
            </a:r>
            <a:endParaRPr b="1" sz="1300">
              <a:solidFill>
                <a:srgbClr val="111315"/>
              </a:solidFill>
              <a:latin typeface="JetBrains Mono"/>
              <a:ea typeface="JetBrains Mono"/>
              <a:cs typeface="JetBrains Mono"/>
              <a:sym typeface="JetBrains Mono"/>
            </a:endParaRPr>
          </a:p>
        </p:txBody>
      </p:sp>
      <p:sp>
        <p:nvSpPr>
          <p:cNvPr id="245" name="Google Shape;245;p20"/>
          <p:cNvSpPr/>
          <p:nvPr/>
        </p:nvSpPr>
        <p:spPr>
          <a:xfrm>
            <a:off x="809625" y="2809875"/>
            <a:ext cx="1809600" cy="1285800"/>
          </a:xfrm>
          <a:prstGeom prst="roundRect">
            <a:avLst>
              <a:gd fmla="val 0" name="adj"/>
            </a:avLst>
          </a:prstGeom>
          <a:solidFill>
            <a:srgbClr val="000000">
              <a:alpha val="0"/>
            </a:srgbClr>
          </a:solid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None/>
            </a:pPr>
            <a:r>
              <a:rPr b="1" i="0" lang="en-GB" sz="950" u="none" strike="noStrike">
                <a:solidFill>
                  <a:srgbClr val="111315"/>
                </a:solidFill>
                <a:latin typeface="Inter"/>
                <a:ea typeface="Inter"/>
                <a:cs typeface="Inter"/>
                <a:sym typeface="Inter"/>
              </a:rPr>
              <a:t>Text Input</a:t>
            </a:r>
            <a:endParaRPr b="1" i="0" sz="950" u="none" strike="noStrike">
              <a:solidFill>
                <a:srgbClr val="111315"/>
              </a:solidFill>
              <a:latin typeface="Inter"/>
              <a:ea typeface="Inter"/>
              <a:cs typeface="Inter"/>
              <a:sym typeface="Inter"/>
            </a:endParaRPr>
          </a:p>
          <a:p>
            <a:pPr indent="0" lvl="0" marL="0" marR="0" rtl="0" algn="l">
              <a:lnSpc>
                <a:spcPct val="115000"/>
              </a:lnSpc>
              <a:spcBef>
                <a:spcPts val="400"/>
              </a:spcBef>
              <a:spcAft>
                <a:spcPts val="0"/>
              </a:spcAft>
              <a:buNone/>
            </a:pPr>
            <a:r>
              <a:rPr b="0" i="0" lang="en-GB" sz="820" u="none" strike="noStrike">
                <a:solidFill>
                  <a:srgbClr val="5A626A"/>
                </a:solidFill>
                <a:latin typeface="Inter"/>
                <a:ea typeface="Inter"/>
                <a:cs typeface="Inter"/>
                <a:sym typeface="Inter"/>
              </a:rPr>
              <a:t>Natural language consists of character sequences. Numerical models process coordinate arrays rather than text strings.</a:t>
            </a:r>
            <a:endParaRPr b="1" i="0" sz="950" u="none" strike="noStrike">
              <a:solidFill>
                <a:srgbClr val="111315"/>
              </a:solidFill>
              <a:latin typeface="Inter"/>
              <a:ea typeface="Inter"/>
              <a:cs typeface="Inter"/>
              <a:sym typeface="Inter"/>
            </a:endParaRPr>
          </a:p>
        </p:txBody>
      </p:sp>
      <p:cxnSp>
        <p:nvCxnSpPr>
          <p:cNvPr id="246" name="Google Shape;246;p20"/>
          <p:cNvCxnSpPr/>
          <p:nvPr/>
        </p:nvCxnSpPr>
        <p:spPr>
          <a:xfrm>
            <a:off x="2762250" y="2257425"/>
            <a:ext cx="428700" cy="0"/>
          </a:xfrm>
          <a:prstGeom prst="straightConnector1">
            <a:avLst/>
          </a:prstGeom>
          <a:solidFill>
            <a:srgbClr val="FFFFFF"/>
          </a:solidFill>
          <a:ln cap="flat" cmpd="sng" w="14300">
            <a:solidFill>
              <a:srgbClr val="D9381E"/>
            </a:solidFill>
            <a:prstDash val="solid"/>
            <a:round/>
            <a:headEnd len="sm" w="sm" type="none"/>
            <a:tailEnd len="sm" w="sm" type="triangle"/>
          </a:ln>
        </p:spPr>
      </p:cxnSp>
      <p:sp>
        <p:nvSpPr>
          <p:cNvPr id="247" name="Google Shape;247;p20"/>
          <p:cNvSpPr/>
          <p:nvPr/>
        </p:nvSpPr>
        <p:spPr>
          <a:xfrm>
            <a:off x="2667000" y="2047875"/>
            <a:ext cx="619200" cy="190500"/>
          </a:xfrm>
          <a:prstGeom prst="roundRect">
            <a:avLst>
              <a:gd fmla="val 0" name="adj"/>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D9381E"/>
                </a:solidFill>
                <a:latin typeface="JetBrains Mono"/>
                <a:ea typeface="JetBrains Mono"/>
                <a:cs typeface="JetBrains Mono"/>
                <a:sym typeface="JetBrains Mono"/>
              </a:rPr>
              <a:t>tokenize</a:t>
            </a:r>
            <a:endParaRPr b="1" sz="750">
              <a:solidFill>
                <a:srgbClr val="D9381E"/>
              </a:solidFill>
              <a:latin typeface="JetBrains Mono"/>
              <a:ea typeface="JetBrains Mono"/>
              <a:cs typeface="JetBrains Mono"/>
              <a:sym typeface="JetBrains Mono"/>
            </a:endParaRPr>
          </a:p>
        </p:txBody>
      </p:sp>
      <p:sp>
        <p:nvSpPr>
          <p:cNvPr id="248" name="Google Shape;248;p20"/>
          <p:cNvSpPr/>
          <p:nvPr/>
        </p:nvSpPr>
        <p:spPr>
          <a:xfrm>
            <a:off x="3333750" y="1333500"/>
            <a:ext cx="2047800" cy="428700"/>
          </a:xfrm>
          <a:prstGeom prst="roundRect">
            <a:avLst>
              <a:gd fmla="val 0" name="adj"/>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800">
                <a:solidFill>
                  <a:srgbClr val="D9381E"/>
                </a:solidFill>
                <a:latin typeface="JetBrains Mono"/>
                <a:ea typeface="JetBrains Mono"/>
                <a:cs typeface="JetBrains Mono"/>
                <a:sym typeface="JetBrains Mono"/>
              </a:rPr>
              <a:t>STEP 02 : SEGMENT</a:t>
            </a:r>
            <a:endParaRPr b="1" sz="800">
              <a:solidFill>
                <a:srgbClr val="D9381E"/>
              </a:solidFill>
              <a:latin typeface="JetBrains Mono"/>
              <a:ea typeface="JetBrains Mono"/>
              <a:cs typeface="JetBrains Mono"/>
              <a:sym typeface="JetBrains Mono"/>
            </a:endParaRPr>
          </a:p>
          <a:p>
            <a:pPr indent="0" lvl="0" marL="0" rtl="0" algn="l">
              <a:spcBef>
                <a:spcPts val="200"/>
              </a:spcBef>
              <a:spcAft>
                <a:spcPts val="0"/>
              </a:spcAft>
              <a:buNone/>
            </a:pPr>
            <a:r>
              <a:rPr b="1" lang="en-GB" sz="1500">
                <a:solidFill>
                  <a:srgbClr val="111315"/>
                </a:solidFill>
                <a:latin typeface="Space Grotesk"/>
                <a:ea typeface="Space Grotesk"/>
                <a:cs typeface="Space Grotesk"/>
                <a:sym typeface="Space Grotesk"/>
              </a:rPr>
              <a:t>Tokenization</a:t>
            </a:r>
            <a:endParaRPr b="1" sz="800">
              <a:solidFill>
                <a:srgbClr val="D9381E"/>
              </a:solidFill>
              <a:latin typeface="JetBrains Mono"/>
              <a:ea typeface="JetBrains Mono"/>
              <a:cs typeface="JetBrains Mono"/>
              <a:sym typeface="JetBrains Mono"/>
            </a:endParaRPr>
          </a:p>
        </p:txBody>
      </p:sp>
      <p:sp>
        <p:nvSpPr>
          <p:cNvPr id="249" name="Google Shape;249;p20"/>
          <p:cNvSpPr/>
          <p:nvPr/>
        </p:nvSpPr>
        <p:spPr>
          <a:xfrm>
            <a:off x="3333750" y="1857375"/>
            <a:ext cx="2047800" cy="362100"/>
          </a:xfrm>
          <a:prstGeom prst="roundRect">
            <a:avLst>
              <a:gd fmla="val 15789" name="adj"/>
            </a:avLst>
          </a:prstGeom>
          <a:solidFill>
            <a:srgbClr val="FFF5F5"/>
          </a:solidFill>
          <a:ln cap="flat" cmpd="sng" w="14300">
            <a:solidFill>
              <a:srgbClr val="D9381E"/>
            </a:solidFill>
            <a:prstDash val="solid"/>
            <a:round/>
            <a:headEnd len="sm" w="sm" type="none"/>
            <a:tailEnd len="sm" w="sm" type="none"/>
          </a:ln>
        </p:spPr>
        <p:txBody>
          <a:bodyPr anchorCtr="0" anchor="ctr" bIns="76200" lIns="114300" spcFirstLastPara="1" rIns="95250" wrap="square" tIns="76200">
            <a:noAutofit/>
          </a:bodyPr>
          <a:lstStyle/>
          <a:p>
            <a:pPr indent="0" lvl="0" marL="0" rtl="0" algn="l">
              <a:spcBef>
                <a:spcPts val="0"/>
              </a:spcBef>
              <a:spcAft>
                <a:spcPts val="0"/>
              </a:spcAft>
              <a:buNone/>
            </a:pPr>
            <a:r>
              <a:rPr lang="en-GB" sz="750">
                <a:solidFill>
                  <a:srgbClr val="5A626A"/>
                </a:solidFill>
                <a:latin typeface="JetBrains Mono"/>
                <a:ea typeface="JetBrains Mono"/>
                <a:cs typeface="JetBrains Mono"/>
                <a:sym typeface="JetBrains Mono"/>
              </a:rPr>
              <a:t>Token 1:  </a:t>
            </a:r>
            <a:r>
              <a:rPr b="1" lang="en-GB" sz="1100">
                <a:solidFill>
                  <a:srgbClr val="D9381E"/>
                </a:solidFill>
                <a:latin typeface="JetBrains Mono"/>
                <a:ea typeface="JetBrains Mono"/>
                <a:cs typeface="JetBrains Mono"/>
                <a:sym typeface="JetBrains Mono"/>
              </a:rPr>
              <a:t>"Studio"</a:t>
            </a:r>
            <a:endParaRPr sz="750">
              <a:solidFill>
                <a:srgbClr val="5A626A"/>
              </a:solidFill>
              <a:latin typeface="JetBrains Mono"/>
              <a:ea typeface="JetBrains Mono"/>
              <a:cs typeface="JetBrains Mono"/>
              <a:sym typeface="JetBrains Mono"/>
            </a:endParaRPr>
          </a:p>
        </p:txBody>
      </p:sp>
      <p:sp>
        <p:nvSpPr>
          <p:cNvPr id="250" name="Google Shape;250;p20"/>
          <p:cNvSpPr/>
          <p:nvPr/>
        </p:nvSpPr>
        <p:spPr>
          <a:xfrm>
            <a:off x="3333750" y="2305050"/>
            <a:ext cx="2047800" cy="362100"/>
          </a:xfrm>
          <a:prstGeom prst="roundRect">
            <a:avLst>
              <a:gd fmla="val 15789" name="adj"/>
            </a:avLst>
          </a:prstGeom>
          <a:solidFill>
            <a:srgbClr val="FFF5F5"/>
          </a:solidFill>
          <a:ln cap="flat" cmpd="sng" w="14300">
            <a:solidFill>
              <a:srgbClr val="D9381E"/>
            </a:solidFill>
            <a:prstDash val="solid"/>
            <a:round/>
            <a:headEnd len="sm" w="sm" type="none"/>
            <a:tailEnd len="sm" w="sm" type="none"/>
          </a:ln>
        </p:spPr>
        <p:txBody>
          <a:bodyPr anchorCtr="0" anchor="ctr" bIns="76200" lIns="114300" spcFirstLastPara="1" rIns="95250" wrap="square" tIns="76200">
            <a:noAutofit/>
          </a:bodyPr>
          <a:lstStyle/>
          <a:p>
            <a:pPr indent="0" lvl="0" marL="0" rtl="0" algn="l">
              <a:spcBef>
                <a:spcPts val="0"/>
              </a:spcBef>
              <a:spcAft>
                <a:spcPts val="0"/>
              </a:spcAft>
              <a:buNone/>
            </a:pPr>
            <a:r>
              <a:rPr lang="en-GB" sz="750">
                <a:solidFill>
                  <a:srgbClr val="5A626A"/>
                </a:solidFill>
                <a:latin typeface="JetBrains Mono"/>
                <a:ea typeface="JetBrains Mono"/>
                <a:cs typeface="JetBrains Mono"/>
                <a:sym typeface="JetBrains Mono"/>
              </a:rPr>
              <a:t>Token 2:  </a:t>
            </a:r>
            <a:r>
              <a:rPr b="1" lang="en-GB" sz="1100">
                <a:solidFill>
                  <a:srgbClr val="D9381E"/>
                </a:solidFill>
                <a:latin typeface="JetBrains Mono"/>
                <a:ea typeface="JetBrains Mono"/>
                <a:cs typeface="JetBrains Mono"/>
                <a:sym typeface="JetBrains Mono"/>
              </a:rPr>
              <a:t>"Room"</a:t>
            </a:r>
            <a:endParaRPr sz="750">
              <a:solidFill>
                <a:srgbClr val="5A626A"/>
              </a:solidFill>
              <a:latin typeface="JetBrains Mono"/>
              <a:ea typeface="JetBrains Mono"/>
              <a:cs typeface="JetBrains Mono"/>
              <a:sym typeface="JetBrains Mono"/>
            </a:endParaRPr>
          </a:p>
        </p:txBody>
      </p:sp>
      <p:sp>
        <p:nvSpPr>
          <p:cNvPr id="251" name="Google Shape;251;p20"/>
          <p:cNvSpPr/>
          <p:nvPr/>
        </p:nvSpPr>
        <p:spPr>
          <a:xfrm>
            <a:off x="3333750" y="2809875"/>
            <a:ext cx="2047800" cy="1285800"/>
          </a:xfrm>
          <a:prstGeom prst="roundRect">
            <a:avLst>
              <a:gd fmla="val 0" name="adj"/>
            </a:avLst>
          </a:prstGeom>
          <a:solidFill>
            <a:srgbClr val="000000">
              <a:alpha val="0"/>
            </a:srgbClr>
          </a:solid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None/>
            </a:pPr>
            <a:r>
              <a:rPr b="1" i="0" lang="en-GB" sz="950" u="none" strike="noStrike">
                <a:solidFill>
                  <a:srgbClr val="111315"/>
                </a:solidFill>
                <a:latin typeface="Inter"/>
                <a:ea typeface="Inter"/>
                <a:cs typeface="Inter"/>
                <a:sym typeface="Inter"/>
              </a:rPr>
              <a:t>Word Tokens</a:t>
            </a:r>
            <a:endParaRPr b="1" i="0" sz="950" u="none" strike="noStrike">
              <a:solidFill>
                <a:srgbClr val="111315"/>
              </a:solidFill>
              <a:latin typeface="Inter"/>
              <a:ea typeface="Inter"/>
              <a:cs typeface="Inter"/>
              <a:sym typeface="Inter"/>
            </a:endParaRPr>
          </a:p>
          <a:p>
            <a:pPr indent="0" lvl="0" marL="0" marR="0" rtl="0" algn="l">
              <a:lnSpc>
                <a:spcPct val="115000"/>
              </a:lnSpc>
              <a:spcBef>
                <a:spcPts val="400"/>
              </a:spcBef>
              <a:spcAft>
                <a:spcPts val="0"/>
              </a:spcAft>
              <a:buNone/>
            </a:pPr>
            <a:r>
              <a:rPr b="0" i="0" lang="en-GB" sz="820" u="none" strike="noStrike">
                <a:solidFill>
                  <a:srgbClr val="5A626A"/>
                </a:solidFill>
                <a:latin typeface="Inter"/>
                <a:ea typeface="Inter"/>
                <a:cs typeface="Inter"/>
                <a:sym typeface="Inter"/>
              </a:rPr>
              <a:t>Text is divided into discrete word units. Each word corresponds to an index entry.</a:t>
            </a:r>
            <a:endParaRPr b="1" i="0" sz="950" u="none" strike="noStrike">
              <a:solidFill>
                <a:srgbClr val="111315"/>
              </a:solidFill>
              <a:latin typeface="Inter"/>
              <a:ea typeface="Inter"/>
              <a:cs typeface="Inter"/>
              <a:sym typeface="Inter"/>
            </a:endParaRPr>
          </a:p>
        </p:txBody>
      </p:sp>
      <p:cxnSp>
        <p:nvCxnSpPr>
          <p:cNvPr id="252" name="Google Shape;252;p20"/>
          <p:cNvCxnSpPr/>
          <p:nvPr/>
        </p:nvCxnSpPr>
        <p:spPr>
          <a:xfrm>
            <a:off x="5524500" y="2257425"/>
            <a:ext cx="428700" cy="0"/>
          </a:xfrm>
          <a:prstGeom prst="straightConnector1">
            <a:avLst/>
          </a:prstGeom>
          <a:solidFill>
            <a:srgbClr val="FFFFFF"/>
          </a:solidFill>
          <a:ln cap="flat" cmpd="sng" w="14300">
            <a:solidFill>
              <a:srgbClr val="1D4ED8"/>
            </a:solidFill>
            <a:prstDash val="solid"/>
            <a:round/>
            <a:headEnd len="sm" w="sm" type="none"/>
            <a:tailEnd len="sm" w="sm" type="triangle"/>
          </a:ln>
        </p:spPr>
      </p:cxnSp>
      <p:sp>
        <p:nvSpPr>
          <p:cNvPr id="253" name="Google Shape;253;p20"/>
          <p:cNvSpPr/>
          <p:nvPr/>
        </p:nvSpPr>
        <p:spPr>
          <a:xfrm>
            <a:off x="5429250" y="2047875"/>
            <a:ext cx="619200" cy="190500"/>
          </a:xfrm>
          <a:prstGeom prst="roundRect">
            <a:avLst>
              <a:gd fmla="val 0" name="adj"/>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1D4ED8"/>
                </a:solidFill>
                <a:latin typeface="JetBrains Mono"/>
                <a:ea typeface="JetBrains Mono"/>
                <a:cs typeface="JetBrains Mono"/>
                <a:sym typeface="JetBrains Mono"/>
              </a:rPr>
              <a:t>vectorize</a:t>
            </a:r>
            <a:endParaRPr b="1" sz="750">
              <a:solidFill>
                <a:srgbClr val="1D4ED8"/>
              </a:solidFill>
              <a:latin typeface="JetBrains Mono"/>
              <a:ea typeface="JetBrains Mono"/>
              <a:cs typeface="JetBrains Mono"/>
              <a:sym typeface="JetBrains Mono"/>
            </a:endParaRPr>
          </a:p>
        </p:txBody>
      </p:sp>
      <p:sp>
        <p:nvSpPr>
          <p:cNvPr id="254" name="Google Shape;254;p20"/>
          <p:cNvSpPr/>
          <p:nvPr/>
        </p:nvSpPr>
        <p:spPr>
          <a:xfrm>
            <a:off x="6096000" y="1333500"/>
            <a:ext cx="2286000" cy="428700"/>
          </a:xfrm>
          <a:prstGeom prst="roundRect">
            <a:avLst>
              <a:gd fmla="val 0" name="adj"/>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800">
                <a:solidFill>
                  <a:srgbClr val="1D4ED8"/>
                </a:solidFill>
                <a:latin typeface="JetBrains Mono"/>
                <a:ea typeface="JetBrains Mono"/>
                <a:cs typeface="JetBrains Mono"/>
                <a:sym typeface="JetBrains Mono"/>
              </a:rPr>
              <a:t>STEP 03 : ENCODE</a:t>
            </a:r>
            <a:endParaRPr b="1" sz="800">
              <a:solidFill>
                <a:srgbClr val="1D4ED8"/>
              </a:solidFill>
              <a:latin typeface="JetBrains Mono"/>
              <a:ea typeface="JetBrains Mono"/>
              <a:cs typeface="JetBrains Mono"/>
              <a:sym typeface="JetBrains Mono"/>
            </a:endParaRPr>
          </a:p>
          <a:p>
            <a:pPr indent="0" lvl="0" marL="0" rtl="0" algn="l">
              <a:spcBef>
                <a:spcPts val="200"/>
              </a:spcBef>
              <a:spcAft>
                <a:spcPts val="0"/>
              </a:spcAft>
              <a:buNone/>
            </a:pPr>
            <a:r>
              <a:rPr b="1" lang="en-GB" sz="1500">
                <a:solidFill>
                  <a:srgbClr val="111315"/>
                </a:solidFill>
                <a:latin typeface="Space Grotesk"/>
                <a:ea typeface="Space Grotesk"/>
                <a:cs typeface="Space Grotesk"/>
                <a:sym typeface="Space Grotesk"/>
              </a:rPr>
              <a:t>Vectorization</a:t>
            </a:r>
            <a:endParaRPr b="1" sz="800">
              <a:solidFill>
                <a:srgbClr val="1D4ED8"/>
              </a:solidFill>
              <a:latin typeface="JetBrains Mono"/>
              <a:ea typeface="JetBrains Mono"/>
              <a:cs typeface="JetBrains Mono"/>
              <a:sym typeface="JetBrains Mono"/>
            </a:endParaRPr>
          </a:p>
        </p:txBody>
      </p:sp>
      <p:sp>
        <p:nvSpPr>
          <p:cNvPr id="255" name="Google Shape;255;p20"/>
          <p:cNvSpPr/>
          <p:nvPr/>
        </p:nvSpPr>
        <p:spPr>
          <a:xfrm>
            <a:off x="6096000" y="1857375"/>
            <a:ext cx="2286000" cy="362100"/>
          </a:xfrm>
          <a:prstGeom prst="roundRect">
            <a:avLst>
              <a:gd fmla="val 15789" name="adj"/>
            </a:avLst>
          </a:prstGeom>
          <a:solidFill>
            <a:srgbClr val="EFF6FF"/>
          </a:solidFill>
          <a:ln cap="flat" cmpd="sng" w="14300">
            <a:solidFill>
              <a:srgbClr val="1D4ED8"/>
            </a:solidFill>
            <a:prstDash val="solid"/>
            <a:round/>
            <a:headEnd len="sm" w="sm" type="none"/>
            <a:tailEnd len="sm" w="sm" type="none"/>
          </a:ln>
        </p:spPr>
        <p:txBody>
          <a:bodyPr anchorCtr="0" anchor="ctr" bIns="76200" lIns="114300" spcFirstLastPara="1" rIns="95250" wrap="square" tIns="76200">
            <a:noAutofit/>
          </a:bodyPr>
          <a:lstStyle/>
          <a:p>
            <a:pPr indent="0" lvl="0" marL="0" rtl="0" algn="l">
              <a:spcBef>
                <a:spcPts val="0"/>
              </a:spcBef>
              <a:spcAft>
                <a:spcPts val="0"/>
              </a:spcAft>
              <a:buNone/>
            </a:pPr>
            <a:r>
              <a:rPr lang="en-GB" sz="750">
                <a:solidFill>
                  <a:srgbClr val="5A626A"/>
                </a:solidFill>
                <a:latin typeface="JetBrains Mono"/>
                <a:ea typeface="JetBrains Mono"/>
                <a:cs typeface="JetBrains Mono"/>
                <a:sym typeface="JetBrains Mono"/>
              </a:rPr>
              <a:t>"Studio" → </a:t>
            </a:r>
            <a:r>
              <a:rPr b="1" lang="en-GB" sz="1050">
                <a:solidFill>
                  <a:srgbClr val="1D4ED8"/>
                </a:solidFill>
                <a:latin typeface="JetBrains Mono"/>
                <a:ea typeface="JetBrains Mono"/>
                <a:cs typeface="JetBrains Mono"/>
                <a:sym typeface="JetBrains Mono"/>
              </a:rPr>
              <a:t>[ 0.42, 0.85 ]</a:t>
            </a:r>
            <a:endParaRPr sz="750">
              <a:solidFill>
                <a:srgbClr val="5A626A"/>
              </a:solidFill>
              <a:latin typeface="JetBrains Mono"/>
              <a:ea typeface="JetBrains Mono"/>
              <a:cs typeface="JetBrains Mono"/>
              <a:sym typeface="JetBrains Mono"/>
            </a:endParaRPr>
          </a:p>
        </p:txBody>
      </p:sp>
      <p:sp>
        <p:nvSpPr>
          <p:cNvPr id="256" name="Google Shape;256;p20"/>
          <p:cNvSpPr/>
          <p:nvPr/>
        </p:nvSpPr>
        <p:spPr>
          <a:xfrm>
            <a:off x="6096000" y="2305050"/>
            <a:ext cx="2286000" cy="362100"/>
          </a:xfrm>
          <a:prstGeom prst="roundRect">
            <a:avLst>
              <a:gd fmla="val 15789" name="adj"/>
            </a:avLst>
          </a:prstGeom>
          <a:solidFill>
            <a:srgbClr val="EFF6FF"/>
          </a:solidFill>
          <a:ln cap="flat" cmpd="sng" w="14300">
            <a:solidFill>
              <a:srgbClr val="1D4ED8"/>
            </a:solidFill>
            <a:prstDash val="solid"/>
            <a:round/>
            <a:headEnd len="sm" w="sm" type="none"/>
            <a:tailEnd len="sm" w="sm" type="none"/>
          </a:ln>
        </p:spPr>
        <p:txBody>
          <a:bodyPr anchorCtr="0" anchor="ctr" bIns="76200" lIns="114300" spcFirstLastPara="1" rIns="95250" wrap="square" tIns="76200">
            <a:noAutofit/>
          </a:bodyPr>
          <a:lstStyle/>
          <a:p>
            <a:pPr indent="0" lvl="0" marL="0" rtl="0" algn="l">
              <a:spcBef>
                <a:spcPts val="0"/>
              </a:spcBef>
              <a:spcAft>
                <a:spcPts val="0"/>
              </a:spcAft>
              <a:buNone/>
            </a:pPr>
            <a:r>
              <a:rPr lang="en-GB" sz="750">
                <a:solidFill>
                  <a:srgbClr val="5A626A"/>
                </a:solidFill>
                <a:latin typeface="JetBrains Mono"/>
                <a:ea typeface="JetBrains Mono"/>
                <a:cs typeface="JetBrains Mono"/>
                <a:sym typeface="JetBrains Mono"/>
              </a:rPr>
              <a:t>"Room"   → </a:t>
            </a:r>
            <a:r>
              <a:rPr b="1" lang="en-GB" sz="1050">
                <a:solidFill>
                  <a:srgbClr val="1D4ED8"/>
                </a:solidFill>
                <a:latin typeface="JetBrains Mono"/>
                <a:ea typeface="JetBrains Mono"/>
                <a:cs typeface="JetBrains Mono"/>
                <a:sym typeface="JetBrains Mono"/>
              </a:rPr>
              <a:t>[ 0.78, 0.31 ]</a:t>
            </a:r>
            <a:endParaRPr sz="750">
              <a:solidFill>
                <a:srgbClr val="5A626A"/>
              </a:solidFill>
              <a:latin typeface="JetBrains Mono"/>
              <a:ea typeface="JetBrains Mono"/>
              <a:cs typeface="JetBrains Mono"/>
              <a:sym typeface="JetBrains Mono"/>
            </a:endParaRPr>
          </a:p>
        </p:txBody>
      </p:sp>
      <p:sp>
        <p:nvSpPr>
          <p:cNvPr id="257" name="Google Shape;257;p20"/>
          <p:cNvSpPr/>
          <p:nvPr/>
        </p:nvSpPr>
        <p:spPr>
          <a:xfrm>
            <a:off x="6096000" y="2809875"/>
            <a:ext cx="2286000" cy="1285800"/>
          </a:xfrm>
          <a:prstGeom prst="roundRect">
            <a:avLst>
              <a:gd fmla="val 0" name="adj"/>
            </a:avLst>
          </a:prstGeom>
          <a:solidFill>
            <a:srgbClr val="000000">
              <a:alpha val="0"/>
            </a:srgbClr>
          </a:solid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None/>
            </a:pPr>
            <a:r>
              <a:rPr b="1" i="0" lang="en-GB" sz="950" u="none" strike="noStrike">
                <a:solidFill>
                  <a:srgbClr val="111315"/>
                </a:solidFill>
                <a:latin typeface="Inter"/>
                <a:ea typeface="Inter"/>
                <a:cs typeface="Inter"/>
                <a:sym typeface="Inter"/>
              </a:rPr>
              <a:t>Coordinate Vectors</a:t>
            </a:r>
            <a:endParaRPr b="1" i="0" sz="950" u="none" strike="noStrike">
              <a:solidFill>
                <a:srgbClr val="111315"/>
              </a:solidFill>
              <a:latin typeface="Inter"/>
              <a:ea typeface="Inter"/>
              <a:cs typeface="Inter"/>
              <a:sym typeface="Inter"/>
            </a:endParaRPr>
          </a:p>
          <a:p>
            <a:pPr indent="0" lvl="0" marL="0" marR="0" rtl="0" algn="l">
              <a:lnSpc>
                <a:spcPct val="115000"/>
              </a:lnSpc>
              <a:spcBef>
                <a:spcPts val="400"/>
              </a:spcBef>
              <a:spcAft>
                <a:spcPts val="0"/>
              </a:spcAft>
              <a:buNone/>
            </a:pPr>
            <a:r>
              <a:rPr b="0" i="0" lang="en-GB" sz="820" u="none" strike="noStrike">
                <a:solidFill>
                  <a:srgbClr val="5A626A"/>
                </a:solidFill>
                <a:latin typeface="Inter"/>
                <a:ea typeface="Inter"/>
                <a:cs typeface="Inter"/>
                <a:sym typeface="Inter"/>
              </a:rPr>
              <a:t>Each word token corresponds to coordinates in a continuous vector space. Distance indicates statistical correlation.</a:t>
            </a:r>
            <a:endParaRPr b="1" i="0" sz="950" u="none" strike="noStrike">
              <a:solidFill>
                <a:srgbClr val="111315"/>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1"/>
          <p:cNvSpPr txBox="1"/>
          <p:nvPr/>
        </p:nvSpPr>
        <p:spPr>
          <a:xfrm>
            <a:off x="381000" y="333375"/>
            <a:ext cx="8382000" cy="66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2220" u="none" strike="noStrike">
                <a:solidFill>
                  <a:srgbClr val="111315"/>
                </a:solidFill>
                <a:latin typeface="Space Grotesk"/>
                <a:ea typeface="Space Grotesk"/>
                <a:cs typeface="Space Grotesk"/>
                <a:sym typeface="Space Grotesk"/>
              </a:rPr>
              <a:t>Vector Embeddings and Latent Space</a:t>
            </a:r>
            <a:endParaRPr b="1" i="0" sz="2220" u="none" strike="noStrike">
              <a:solidFill>
                <a:srgbClr val="111315"/>
              </a:solidFill>
              <a:latin typeface="Space Grotesk"/>
              <a:ea typeface="Space Grotesk"/>
              <a:cs typeface="Space Grotesk"/>
              <a:sym typeface="Space Grotesk"/>
            </a:endParaRPr>
          </a:p>
          <a:p>
            <a:pPr indent="0" lvl="0" marL="0" marR="0" rtl="0" algn="l">
              <a:spcBef>
                <a:spcPts val="450"/>
              </a:spcBef>
              <a:spcAft>
                <a:spcPts val="0"/>
              </a:spcAft>
              <a:buNone/>
            </a:pPr>
            <a:r>
              <a:rPr b="0" i="0" lang="en-GB" sz="1249" u="none" strike="noStrike">
                <a:solidFill>
                  <a:srgbClr val="5A626A"/>
                </a:solidFill>
                <a:latin typeface="Space Grotesk SemiBold"/>
                <a:ea typeface="Space Grotesk SemiBold"/>
                <a:cs typeface="Space Grotesk SemiBold"/>
                <a:sym typeface="Space Grotesk SemiBold"/>
              </a:rPr>
              <a:t>Words and spatial room labels map to coordinate values. Proximity corresponds to mathematical correlation.</a:t>
            </a:r>
            <a:endParaRPr b="1" i="0" sz="2220" u="none" strike="noStrike">
              <a:solidFill>
                <a:srgbClr val="111315"/>
              </a:solidFill>
              <a:latin typeface="Space Grotesk"/>
              <a:ea typeface="Space Grotesk"/>
              <a:cs typeface="Space Grotesk"/>
              <a:sym typeface="Space Grotesk"/>
            </a:endParaRPr>
          </a:p>
        </p:txBody>
      </p:sp>
      <p:grpSp>
        <p:nvGrpSpPr>
          <p:cNvPr id="263" name="Google Shape;263;p21"/>
          <p:cNvGrpSpPr/>
          <p:nvPr/>
        </p:nvGrpSpPr>
        <p:grpSpPr>
          <a:xfrm>
            <a:off x="1524000" y="1143000"/>
            <a:ext cx="6096000" cy="2857500"/>
            <a:chOff x="1524000" y="1143000"/>
            <a:chExt cx="6096000" cy="2857500"/>
          </a:xfrm>
        </p:grpSpPr>
        <p:sp>
          <p:nvSpPr>
            <p:cNvPr id="264" name="Google Shape;264;p21"/>
            <p:cNvSpPr/>
            <p:nvPr/>
          </p:nvSpPr>
          <p:spPr>
            <a:xfrm>
              <a:off x="1524000" y="1143000"/>
              <a:ext cx="6096000" cy="2857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65" name="Google Shape;265;p21"/>
            <p:cNvPicPr preferRelativeResize="0"/>
            <p:nvPr/>
          </p:nvPicPr>
          <p:blipFill rotWithShape="1">
            <a:blip r:embed="rId3">
              <a:alphaModFix/>
            </a:blip>
            <a:srcRect b="0" l="0" r="0" t="0"/>
            <a:stretch/>
          </p:blipFill>
          <p:spPr>
            <a:xfrm>
              <a:off x="2662238" y="1143000"/>
              <a:ext cx="9600" cy="2838600"/>
            </a:xfrm>
            <a:prstGeom prst="rect">
              <a:avLst/>
            </a:prstGeom>
            <a:noFill/>
            <a:ln>
              <a:noFill/>
            </a:ln>
          </p:spPr>
        </p:pic>
        <p:pic>
          <p:nvPicPr>
            <p:cNvPr id="266" name="Google Shape;266;p21"/>
            <p:cNvPicPr preferRelativeResize="0"/>
            <p:nvPr/>
          </p:nvPicPr>
          <p:blipFill rotWithShape="1">
            <a:blip r:embed="rId3">
              <a:alphaModFix/>
            </a:blip>
            <a:srcRect b="0" l="0" r="0" t="0"/>
            <a:stretch/>
          </p:blipFill>
          <p:spPr>
            <a:xfrm>
              <a:off x="3805238" y="1143000"/>
              <a:ext cx="9600" cy="2838600"/>
            </a:xfrm>
            <a:prstGeom prst="rect">
              <a:avLst/>
            </a:prstGeom>
            <a:noFill/>
            <a:ln>
              <a:noFill/>
            </a:ln>
          </p:spPr>
        </p:pic>
        <p:pic>
          <p:nvPicPr>
            <p:cNvPr id="267" name="Google Shape;267;p21"/>
            <p:cNvPicPr preferRelativeResize="0"/>
            <p:nvPr/>
          </p:nvPicPr>
          <p:blipFill rotWithShape="1">
            <a:blip r:embed="rId3">
              <a:alphaModFix/>
            </a:blip>
            <a:srcRect b="0" l="0" r="0" t="0"/>
            <a:stretch/>
          </p:blipFill>
          <p:spPr>
            <a:xfrm>
              <a:off x="4948238" y="1143000"/>
              <a:ext cx="9600" cy="2838600"/>
            </a:xfrm>
            <a:prstGeom prst="rect">
              <a:avLst/>
            </a:prstGeom>
            <a:noFill/>
            <a:ln>
              <a:noFill/>
            </a:ln>
          </p:spPr>
        </p:pic>
        <p:pic>
          <p:nvPicPr>
            <p:cNvPr id="268" name="Google Shape;268;p21"/>
            <p:cNvPicPr preferRelativeResize="0"/>
            <p:nvPr/>
          </p:nvPicPr>
          <p:blipFill rotWithShape="1">
            <a:blip r:embed="rId3">
              <a:alphaModFix/>
            </a:blip>
            <a:srcRect b="0" l="0" r="0" t="0"/>
            <a:stretch/>
          </p:blipFill>
          <p:spPr>
            <a:xfrm>
              <a:off x="6091238" y="1143000"/>
              <a:ext cx="9600" cy="2838600"/>
            </a:xfrm>
            <a:prstGeom prst="rect">
              <a:avLst/>
            </a:prstGeom>
            <a:noFill/>
            <a:ln>
              <a:noFill/>
            </a:ln>
          </p:spPr>
        </p:pic>
        <p:pic>
          <p:nvPicPr>
            <p:cNvPr id="269" name="Google Shape;269;p21"/>
            <p:cNvPicPr preferRelativeResize="0"/>
            <p:nvPr/>
          </p:nvPicPr>
          <p:blipFill rotWithShape="1">
            <a:blip r:embed="rId4">
              <a:alphaModFix/>
            </a:blip>
            <a:srcRect b="0" l="0" r="0" t="0"/>
            <a:stretch/>
          </p:blipFill>
          <p:spPr>
            <a:xfrm>
              <a:off x="1524000" y="1709738"/>
              <a:ext cx="6077100" cy="9600"/>
            </a:xfrm>
            <a:prstGeom prst="rect">
              <a:avLst/>
            </a:prstGeom>
            <a:noFill/>
            <a:ln>
              <a:noFill/>
            </a:ln>
          </p:spPr>
        </p:pic>
        <p:pic>
          <p:nvPicPr>
            <p:cNvPr id="270" name="Google Shape;270;p21"/>
            <p:cNvPicPr preferRelativeResize="0"/>
            <p:nvPr/>
          </p:nvPicPr>
          <p:blipFill rotWithShape="1">
            <a:blip r:embed="rId4">
              <a:alphaModFix/>
            </a:blip>
            <a:srcRect b="0" l="0" r="0" t="0"/>
            <a:stretch/>
          </p:blipFill>
          <p:spPr>
            <a:xfrm>
              <a:off x="1524000" y="2281238"/>
              <a:ext cx="6077100" cy="9600"/>
            </a:xfrm>
            <a:prstGeom prst="rect">
              <a:avLst/>
            </a:prstGeom>
            <a:noFill/>
            <a:ln>
              <a:noFill/>
            </a:ln>
          </p:spPr>
        </p:pic>
        <p:pic>
          <p:nvPicPr>
            <p:cNvPr id="271" name="Google Shape;271;p21"/>
            <p:cNvPicPr preferRelativeResize="0"/>
            <p:nvPr/>
          </p:nvPicPr>
          <p:blipFill rotWithShape="1">
            <a:blip r:embed="rId4">
              <a:alphaModFix/>
            </a:blip>
            <a:srcRect b="0" l="0" r="0" t="0"/>
            <a:stretch/>
          </p:blipFill>
          <p:spPr>
            <a:xfrm>
              <a:off x="1524000" y="2852738"/>
              <a:ext cx="6077100" cy="9600"/>
            </a:xfrm>
            <a:prstGeom prst="rect">
              <a:avLst/>
            </a:prstGeom>
            <a:noFill/>
            <a:ln>
              <a:noFill/>
            </a:ln>
          </p:spPr>
        </p:pic>
        <p:pic>
          <p:nvPicPr>
            <p:cNvPr id="272" name="Google Shape;272;p21"/>
            <p:cNvPicPr preferRelativeResize="0"/>
            <p:nvPr/>
          </p:nvPicPr>
          <p:blipFill rotWithShape="1">
            <a:blip r:embed="rId4">
              <a:alphaModFix/>
            </a:blip>
            <a:srcRect b="0" l="0" r="0" t="0"/>
            <a:stretch/>
          </p:blipFill>
          <p:spPr>
            <a:xfrm>
              <a:off x="1524000" y="3424238"/>
              <a:ext cx="6077100" cy="9600"/>
            </a:xfrm>
            <a:prstGeom prst="rect">
              <a:avLst/>
            </a:prstGeom>
            <a:noFill/>
            <a:ln>
              <a:noFill/>
            </a:ln>
          </p:spPr>
        </p:pic>
        <p:cxnSp>
          <p:nvCxnSpPr>
            <p:cNvPr id="273" name="Google Shape;273;p21"/>
            <p:cNvCxnSpPr/>
            <p:nvPr/>
          </p:nvCxnSpPr>
          <p:spPr>
            <a:xfrm rot="10800000">
              <a:off x="2000250" y="1380975"/>
              <a:ext cx="0" cy="238140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274" name="Google Shape;274;p21"/>
            <p:cNvSpPr/>
            <p:nvPr/>
          </p:nvSpPr>
          <p:spPr>
            <a:xfrm>
              <a:off x="1962150" y="1304925"/>
              <a:ext cx="76200" cy="95400"/>
            </a:xfrm>
            <a:custGeom>
              <a:rect b="b" l="l" r="r" t="t"/>
              <a:pathLst>
                <a:path extrusionOk="0" h="120000" w="120000">
                  <a:moveTo>
                    <a:pt x="60000" y="0"/>
                  </a:moveTo>
                  <a:lnTo>
                    <a:pt x="0" y="120000"/>
                  </a:lnTo>
                  <a:lnTo>
                    <a:pt x="12000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75" name="Google Shape;275;p21"/>
            <p:cNvCxnSpPr/>
            <p:nvPr/>
          </p:nvCxnSpPr>
          <p:spPr>
            <a:xfrm>
              <a:off x="1857375" y="3619500"/>
              <a:ext cx="54294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276" name="Google Shape;276;p21"/>
            <p:cNvSpPr/>
            <p:nvPr/>
          </p:nvSpPr>
          <p:spPr>
            <a:xfrm>
              <a:off x="7267575" y="3581400"/>
              <a:ext cx="95400" cy="76200"/>
            </a:xfrm>
            <a:custGeom>
              <a:rect b="b" l="l" r="r" t="t"/>
              <a:pathLst>
                <a:path extrusionOk="0" h="120000" w="120000">
                  <a:moveTo>
                    <a:pt x="120000" y="60000"/>
                  </a:moveTo>
                  <a:lnTo>
                    <a:pt x="0" y="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1"/>
            <p:cNvSpPr txBox="1"/>
            <p:nvPr/>
          </p:nvSpPr>
          <p:spPr>
            <a:xfrm>
              <a:off x="1656825" y="1178380"/>
              <a:ext cx="1333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111315"/>
                  </a:solidFill>
                  <a:latin typeface="JetBrains Mono"/>
                  <a:ea typeface="JetBrains Mono"/>
                  <a:cs typeface="JetBrains Mono"/>
                  <a:sym typeface="JetBrains Mono"/>
                </a:rPr>
                <a:t>Equipment Load ↑</a:t>
              </a:r>
              <a:endParaRPr b="1" sz="825">
                <a:solidFill>
                  <a:srgbClr val="111315"/>
                </a:solidFill>
                <a:latin typeface="JetBrains Mono"/>
                <a:ea typeface="JetBrains Mono"/>
                <a:cs typeface="JetBrains Mono"/>
                <a:sym typeface="JetBrains Mono"/>
              </a:endParaRPr>
            </a:p>
          </p:txBody>
        </p:sp>
        <p:sp>
          <p:nvSpPr>
            <p:cNvPr id="278" name="Google Shape;278;p21"/>
            <p:cNvSpPr txBox="1"/>
            <p:nvPr/>
          </p:nvSpPr>
          <p:spPr>
            <a:xfrm>
              <a:off x="6096000" y="3714750"/>
              <a:ext cx="1428900" cy="238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GB" sz="825">
                  <a:solidFill>
                    <a:srgbClr val="111315"/>
                  </a:solidFill>
                  <a:latin typeface="JetBrains Mono"/>
                  <a:ea typeface="JetBrains Mono"/>
                  <a:cs typeface="JetBrains Mono"/>
                  <a:sym typeface="JetBrains Mono"/>
                </a:rPr>
                <a:t>Acoustic Privacy →</a:t>
              </a:r>
              <a:endParaRPr b="1" sz="825">
                <a:solidFill>
                  <a:srgbClr val="111315"/>
                </a:solidFill>
                <a:latin typeface="JetBrains Mono"/>
                <a:ea typeface="JetBrains Mono"/>
                <a:cs typeface="JetBrains Mono"/>
                <a:sym typeface="JetBrains Mono"/>
              </a:endParaRPr>
            </a:p>
          </p:txBody>
        </p:sp>
        <p:sp>
          <p:nvSpPr>
            <p:cNvPr id="279" name="Google Shape;279;p21"/>
            <p:cNvSpPr/>
            <p:nvPr/>
          </p:nvSpPr>
          <p:spPr>
            <a:xfrm>
              <a:off x="6048375" y="1257300"/>
              <a:ext cx="1428900" cy="247800"/>
            </a:xfrm>
            <a:prstGeom prst="rect">
              <a:avLst/>
            </a:prstGeom>
            <a:solidFill>
              <a:srgbClr val="F8F9FA"/>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1"/>
            <p:cNvSpPr txBox="1"/>
            <p:nvPr/>
          </p:nvSpPr>
          <p:spPr>
            <a:xfrm>
              <a:off x="6048375" y="1257300"/>
              <a:ext cx="14289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111315"/>
                  </a:solidFill>
                  <a:latin typeface="JetBrains Mono"/>
                  <a:ea typeface="JetBrains Mono"/>
                  <a:cs typeface="JetBrains Mono"/>
                  <a:sym typeface="JetBrains Mono"/>
                </a:rPr>
                <a:t>Embedding = (x, y)</a:t>
              </a:r>
              <a:endParaRPr/>
            </a:p>
          </p:txBody>
        </p:sp>
        <p:grpSp>
          <p:nvGrpSpPr>
            <p:cNvPr id="281" name="Google Shape;281;p21"/>
            <p:cNvGrpSpPr/>
            <p:nvPr/>
          </p:nvGrpSpPr>
          <p:grpSpPr>
            <a:xfrm>
              <a:off x="2276475" y="1514475"/>
              <a:ext cx="1748315" cy="971700"/>
              <a:chOff x="2276475" y="1514475"/>
              <a:chExt cx="1748315" cy="971700"/>
            </a:xfrm>
          </p:grpSpPr>
          <p:pic>
            <p:nvPicPr>
              <p:cNvPr id="282" name="Google Shape;282;p21"/>
              <p:cNvPicPr preferRelativeResize="0"/>
              <p:nvPr/>
            </p:nvPicPr>
            <p:blipFill rotWithShape="1">
              <a:blip r:embed="rId5">
                <a:alphaModFix/>
              </a:blip>
              <a:srcRect b="0" l="0" r="0" t="0"/>
              <a:stretch/>
            </p:blipFill>
            <p:spPr>
              <a:xfrm>
                <a:off x="2276475" y="1514475"/>
                <a:ext cx="1543200" cy="971700"/>
              </a:xfrm>
              <a:prstGeom prst="rect">
                <a:avLst/>
              </a:prstGeom>
              <a:noFill/>
              <a:ln>
                <a:noFill/>
              </a:ln>
            </p:spPr>
          </p:pic>
          <p:sp>
            <p:nvSpPr>
              <p:cNvPr id="283" name="Google Shape;283;p21"/>
              <p:cNvSpPr txBox="1"/>
              <p:nvPr/>
            </p:nvSpPr>
            <p:spPr>
              <a:xfrm>
                <a:off x="2500790" y="1636228"/>
                <a:ext cx="1524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25">
                    <a:solidFill>
                      <a:srgbClr val="D9381E"/>
                    </a:solidFill>
                    <a:latin typeface="JetBrains Mono"/>
                    <a:ea typeface="JetBrains Mono"/>
                    <a:cs typeface="JetBrains Mono"/>
                    <a:sym typeface="JetBrains Mono"/>
                  </a:rPr>
                  <a:t>Heavy Fabrication</a:t>
                </a:r>
                <a:endParaRPr/>
              </a:p>
            </p:txBody>
          </p:sp>
          <p:sp>
            <p:nvSpPr>
              <p:cNvPr id="284" name="Google Shape;284;p21"/>
              <p:cNvSpPr/>
              <p:nvPr/>
            </p:nvSpPr>
            <p:spPr>
              <a:xfrm>
                <a:off x="2676525" y="2009775"/>
                <a:ext cx="76200" cy="76200"/>
              </a:xfrm>
              <a:prstGeom prst="ellipse">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21"/>
              <p:cNvSpPr txBox="1"/>
              <p:nvPr/>
            </p:nvSpPr>
            <p:spPr>
              <a:xfrm>
                <a:off x="2333625" y="2114550"/>
                <a:ext cx="76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11315"/>
                    </a:solidFill>
                    <a:latin typeface="Inter"/>
                    <a:ea typeface="Inter"/>
                    <a:cs typeface="Inter"/>
                    <a:sym typeface="Inter"/>
                  </a:rPr>
                  <a:t>Woodshop</a:t>
                </a:r>
                <a:endParaRPr/>
              </a:p>
            </p:txBody>
          </p:sp>
          <p:sp>
            <p:nvSpPr>
              <p:cNvPr id="286" name="Google Shape;286;p21"/>
              <p:cNvSpPr/>
              <p:nvPr/>
            </p:nvSpPr>
            <p:spPr>
              <a:xfrm>
                <a:off x="3343275" y="1866900"/>
                <a:ext cx="76200" cy="76200"/>
              </a:xfrm>
              <a:prstGeom prst="ellipse">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1"/>
              <p:cNvSpPr txBox="1"/>
              <p:nvPr/>
            </p:nvSpPr>
            <p:spPr>
              <a:xfrm>
                <a:off x="3048000" y="1971675"/>
                <a:ext cx="666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11315"/>
                    </a:solidFill>
                    <a:latin typeface="Inter"/>
                    <a:ea typeface="Inter"/>
                    <a:cs typeface="Inter"/>
                    <a:sym typeface="Inter"/>
                  </a:rPr>
                  <a:t>CNC Lab</a:t>
                </a:r>
                <a:endParaRPr/>
              </a:p>
            </p:txBody>
          </p:sp>
        </p:grpSp>
        <p:grpSp>
          <p:nvGrpSpPr>
            <p:cNvPr id="288" name="Google Shape;288;p21"/>
            <p:cNvGrpSpPr/>
            <p:nvPr/>
          </p:nvGrpSpPr>
          <p:grpSpPr>
            <a:xfrm>
              <a:off x="3848100" y="2133600"/>
              <a:ext cx="1756709" cy="876300"/>
              <a:chOff x="3848100" y="2133600"/>
              <a:chExt cx="1756709" cy="876300"/>
            </a:xfrm>
          </p:grpSpPr>
          <p:pic>
            <p:nvPicPr>
              <p:cNvPr id="289" name="Google Shape;289;p21"/>
              <p:cNvPicPr preferRelativeResize="0"/>
              <p:nvPr/>
            </p:nvPicPr>
            <p:blipFill rotWithShape="1">
              <a:blip r:embed="rId6">
                <a:alphaModFix/>
              </a:blip>
              <a:srcRect b="0" l="0" r="0" t="0"/>
              <a:stretch/>
            </p:blipFill>
            <p:spPr>
              <a:xfrm>
                <a:off x="3848100" y="2133600"/>
                <a:ext cx="1447800" cy="876300"/>
              </a:xfrm>
              <a:prstGeom prst="rect">
                <a:avLst/>
              </a:prstGeom>
              <a:noFill/>
              <a:ln>
                <a:noFill/>
              </a:ln>
            </p:spPr>
          </p:pic>
          <p:sp>
            <p:nvSpPr>
              <p:cNvPr id="290" name="Google Shape;290;p21"/>
              <p:cNvSpPr txBox="1"/>
              <p:nvPr/>
            </p:nvSpPr>
            <p:spPr>
              <a:xfrm>
                <a:off x="4080809" y="2256678"/>
                <a:ext cx="1524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25">
                    <a:solidFill>
                      <a:srgbClr val="1D4ED8"/>
                    </a:solidFill>
                    <a:latin typeface="JetBrains Mono"/>
                    <a:ea typeface="JetBrains Mono"/>
                    <a:cs typeface="JetBrains Mono"/>
                    <a:sym typeface="JetBrains Mono"/>
                  </a:rPr>
                  <a:t>Design Workspace</a:t>
                </a:r>
                <a:endParaRPr/>
              </a:p>
            </p:txBody>
          </p:sp>
          <p:sp>
            <p:nvSpPr>
              <p:cNvPr id="291" name="Google Shape;291;p21"/>
              <p:cNvSpPr/>
              <p:nvPr/>
            </p:nvSpPr>
            <p:spPr>
              <a:xfrm>
                <a:off x="4533900" y="2581275"/>
                <a:ext cx="76200" cy="76200"/>
              </a:xfrm>
              <a:prstGeom prst="ellipse">
                <a:avLst/>
              </a:pr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1"/>
              <p:cNvSpPr txBox="1"/>
              <p:nvPr/>
            </p:nvSpPr>
            <p:spPr>
              <a:xfrm>
                <a:off x="3952875" y="2686050"/>
                <a:ext cx="12384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11315"/>
                    </a:solidFill>
                    <a:latin typeface="Inter"/>
                    <a:ea typeface="Inter"/>
                    <a:cs typeface="Inter"/>
                    <a:sym typeface="Inter"/>
                  </a:rPr>
                  <a:t>Drafting Studio</a:t>
                </a:r>
                <a:endParaRPr/>
              </a:p>
            </p:txBody>
          </p:sp>
        </p:grpSp>
        <p:grpSp>
          <p:nvGrpSpPr>
            <p:cNvPr id="293" name="Google Shape;293;p21"/>
            <p:cNvGrpSpPr/>
            <p:nvPr/>
          </p:nvGrpSpPr>
          <p:grpSpPr>
            <a:xfrm>
              <a:off x="5372100" y="2514600"/>
              <a:ext cx="1907988" cy="971700"/>
              <a:chOff x="5372100" y="2514600"/>
              <a:chExt cx="1907988" cy="971700"/>
            </a:xfrm>
          </p:grpSpPr>
          <p:pic>
            <p:nvPicPr>
              <p:cNvPr id="294" name="Google Shape;294;p21"/>
              <p:cNvPicPr preferRelativeResize="0"/>
              <p:nvPr/>
            </p:nvPicPr>
            <p:blipFill rotWithShape="1">
              <a:blip r:embed="rId7">
                <a:alphaModFix/>
              </a:blip>
              <a:srcRect b="0" l="0" r="0" t="0"/>
              <a:stretch/>
            </p:blipFill>
            <p:spPr>
              <a:xfrm>
                <a:off x="5372100" y="2514600"/>
                <a:ext cx="1638300" cy="971700"/>
              </a:xfrm>
              <a:prstGeom prst="rect">
                <a:avLst/>
              </a:prstGeom>
              <a:noFill/>
              <a:ln>
                <a:noFill/>
              </a:ln>
            </p:spPr>
          </p:pic>
          <p:sp>
            <p:nvSpPr>
              <p:cNvPr id="295" name="Google Shape;295;p21"/>
              <p:cNvSpPr txBox="1"/>
              <p:nvPr/>
            </p:nvSpPr>
            <p:spPr>
              <a:xfrm>
                <a:off x="5756088" y="2618815"/>
                <a:ext cx="1524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825">
                    <a:solidFill>
                      <a:srgbClr val="D9381E"/>
                    </a:solidFill>
                    <a:latin typeface="JetBrains Mono"/>
                    <a:ea typeface="JetBrains Mono"/>
                    <a:cs typeface="JetBrains Mono"/>
                    <a:sym typeface="JetBrains Mono"/>
                  </a:rPr>
                  <a:t>Quiet Assembly</a:t>
                </a:r>
                <a:endParaRPr/>
              </a:p>
            </p:txBody>
          </p:sp>
          <p:sp>
            <p:nvSpPr>
              <p:cNvPr id="296" name="Google Shape;296;p21"/>
              <p:cNvSpPr/>
              <p:nvPr/>
            </p:nvSpPr>
            <p:spPr>
              <a:xfrm>
                <a:off x="5819775" y="2962275"/>
                <a:ext cx="76200" cy="76200"/>
              </a:xfrm>
              <a:prstGeom prst="ellipse">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21"/>
              <p:cNvSpPr txBox="1"/>
              <p:nvPr/>
            </p:nvSpPr>
            <p:spPr>
              <a:xfrm>
                <a:off x="5381625" y="3067050"/>
                <a:ext cx="95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11315"/>
                    </a:solidFill>
                    <a:latin typeface="Inter"/>
                    <a:ea typeface="Inter"/>
                    <a:cs typeface="Inter"/>
                    <a:sym typeface="Inter"/>
                  </a:rPr>
                  <a:t>Lecture Hall</a:t>
                </a:r>
                <a:endParaRPr/>
              </a:p>
            </p:txBody>
          </p:sp>
          <p:sp>
            <p:nvSpPr>
              <p:cNvPr id="298" name="Google Shape;298;p21"/>
              <p:cNvSpPr/>
              <p:nvPr/>
            </p:nvSpPr>
            <p:spPr>
              <a:xfrm>
                <a:off x="6486525" y="3105150"/>
                <a:ext cx="76200" cy="76200"/>
              </a:xfrm>
              <a:prstGeom prst="ellipse">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1"/>
              <p:cNvSpPr txBox="1"/>
              <p:nvPr/>
            </p:nvSpPr>
            <p:spPr>
              <a:xfrm>
                <a:off x="6143625" y="3209925"/>
                <a:ext cx="76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111315"/>
                    </a:solidFill>
                    <a:latin typeface="Inter"/>
                    <a:ea typeface="Inter"/>
                    <a:cs typeface="Inter"/>
                    <a:sym typeface="Inter"/>
                  </a:rPr>
                  <a:t>Crit Room</a:t>
                </a:r>
                <a:endParaRPr/>
              </a:p>
            </p:txBody>
          </p:sp>
        </p:grpSp>
      </p:grpSp>
      <p:sp>
        <p:nvSpPr>
          <p:cNvPr id="300" name="Google Shape;300;p21"/>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Ref: Mikolov et al. (2013), Word2Vec.</a:t>
            </a:r>
            <a:endParaRPr b="0" sz="750">
              <a:solidFill>
                <a:srgbClr val="5A626A"/>
              </a:solidFill>
              <a:latin typeface="JetBrains Mono"/>
              <a:ea typeface="JetBrains Mono"/>
              <a:cs typeface="JetBrains Mono"/>
              <a:sym typeface="JetBrains Mono"/>
            </a:endParaRPr>
          </a:p>
        </p:txBody>
      </p:sp>
      <p:grpSp>
        <p:nvGrpSpPr>
          <p:cNvPr id="301" name="Google Shape;301;p21"/>
          <p:cNvGrpSpPr/>
          <p:nvPr/>
        </p:nvGrpSpPr>
        <p:grpSpPr>
          <a:xfrm>
            <a:off x="381000" y="4762500"/>
            <a:ext cx="8382000" cy="285750"/>
            <a:chOff x="381000" y="4762500"/>
            <a:chExt cx="8382000" cy="285750"/>
          </a:xfrm>
        </p:grpSpPr>
        <p:cxnSp>
          <p:nvCxnSpPr>
            <p:cNvPr id="302" name="Google Shape;302;p21"/>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303" name="Google Shape;303;p21"/>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2"/>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2400" u="none" strike="noStrike">
                <a:solidFill>
                  <a:srgbClr val="111315"/>
                </a:solidFill>
                <a:latin typeface="Space Grotesk"/>
                <a:ea typeface="Space Grotesk"/>
                <a:cs typeface="Space Grotesk"/>
                <a:sym typeface="Space Grotesk"/>
              </a:rPr>
              <a:t>Next-Token Prediction Using Vectors</a:t>
            </a:r>
            <a:endParaRPr b="1" i="0" sz="2400" u="none" strike="noStrike">
              <a:solidFill>
                <a:srgbClr val="111315"/>
              </a:solidFill>
              <a:latin typeface="Space Grotesk"/>
              <a:ea typeface="Space Grotesk"/>
              <a:cs typeface="Space Grotesk"/>
              <a:sym typeface="Space Grotesk"/>
            </a:endParaRPr>
          </a:p>
        </p:txBody>
      </p:sp>
      <p:grpSp>
        <p:nvGrpSpPr>
          <p:cNvPr id="309" name="Google Shape;309;p22"/>
          <p:cNvGrpSpPr/>
          <p:nvPr/>
        </p:nvGrpSpPr>
        <p:grpSpPr>
          <a:xfrm>
            <a:off x="762000" y="1095375"/>
            <a:ext cx="7239000" cy="2381400"/>
            <a:chOff x="762000" y="1095375"/>
            <a:chExt cx="7239000" cy="2381400"/>
          </a:xfrm>
        </p:grpSpPr>
        <p:grpSp>
          <p:nvGrpSpPr>
            <p:cNvPr id="310" name="Google Shape;310;p22"/>
            <p:cNvGrpSpPr/>
            <p:nvPr/>
          </p:nvGrpSpPr>
          <p:grpSpPr>
            <a:xfrm>
              <a:off x="762000" y="2047875"/>
              <a:ext cx="1047900" cy="476400"/>
              <a:chOff x="0" y="0"/>
              <a:chExt cx="1047900" cy="476400"/>
            </a:xfrm>
          </p:grpSpPr>
          <p:sp>
            <p:nvSpPr>
              <p:cNvPr id="311" name="Google Shape;311;p22"/>
              <p:cNvSpPr/>
              <p:nvPr/>
            </p:nvSpPr>
            <p:spPr>
              <a:xfrm>
                <a:off x="0" y="0"/>
                <a:ext cx="1047900" cy="4764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2"/>
              <p:cNvSpPr txBox="1"/>
              <p:nvPr/>
            </p:nvSpPr>
            <p:spPr>
              <a:xfrm>
                <a:off x="0" y="0"/>
                <a:ext cx="10479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50">
                    <a:solidFill>
                      <a:srgbClr val="111315"/>
                    </a:solidFill>
                    <a:latin typeface="Inter"/>
                    <a:ea typeface="Inter"/>
                    <a:cs typeface="Inter"/>
                    <a:sym typeface="Inter"/>
                  </a:rPr>
                  <a:t>Input x (now a vector)</a:t>
                </a:r>
                <a:endParaRPr b="1" sz="1050">
                  <a:solidFill>
                    <a:srgbClr val="111315"/>
                  </a:solidFill>
                  <a:latin typeface="Inter"/>
                  <a:ea typeface="Inter"/>
                  <a:cs typeface="Inter"/>
                  <a:sym typeface="Inter"/>
                </a:endParaRPr>
              </a:p>
            </p:txBody>
          </p:sp>
        </p:grpSp>
        <p:grpSp>
          <p:nvGrpSpPr>
            <p:cNvPr id="313" name="Google Shape;313;p22"/>
            <p:cNvGrpSpPr/>
            <p:nvPr/>
          </p:nvGrpSpPr>
          <p:grpSpPr>
            <a:xfrm>
              <a:off x="2476500" y="1095375"/>
              <a:ext cx="1047900" cy="1047900"/>
              <a:chOff x="0" y="0"/>
              <a:chExt cx="1047900" cy="1047900"/>
            </a:xfrm>
          </p:grpSpPr>
          <p:sp>
            <p:nvSpPr>
              <p:cNvPr id="314" name="Google Shape;314;p22"/>
              <p:cNvSpPr/>
              <p:nvPr/>
            </p:nvSpPr>
            <p:spPr>
              <a:xfrm>
                <a:off x="0" y="0"/>
                <a:ext cx="1047900" cy="1047900"/>
              </a:xfrm>
              <a:prstGeom prst="ellipse">
                <a:avLst/>
              </a:prstGeom>
              <a:solidFill>
                <a:srgbClr val="FFFFFF"/>
              </a:solidFill>
              <a:ln cap="flat" cmpd="sng" w="19050">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2"/>
              <p:cNvSpPr txBox="1"/>
              <p:nvPr/>
            </p:nvSpPr>
            <p:spPr>
              <a:xfrm>
                <a:off x="47625" y="142875"/>
                <a:ext cx="952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D9381E"/>
                    </a:solidFill>
                    <a:latin typeface="Inter"/>
                    <a:ea typeface="Inter"/>
                    <a:cs typeface="Inter"/>
                    <a:sym typeface="Inter"/>
                  </a:rPr>
                  <a:t>Neuron 1</a:t>
                </a:r>
                <a:endParaRPr b="1" sz="975">
                  <a:solidFill>
                    <a:srgbClr val="D9381E"/>
                  </a:solidFill>
                  <a:latin typeface="Inter"/>
                  <a:ea typeface="Inter"/>
                  <a:cs typeface="Inter"/>
                  <a:sym typeface="Inter"/>
                </a:endParaRPr>
              </a:p>
              <a:p>
                <a:pPr indent="0" lvl="0" marL="0" rtl="0" algn="ctr">
                  <a:spcBef>
                    <a:spcPts val="150"/>
                  </a:spcBef>
                  <a:spcAft>
                    <a:spcPts val="0"/>
                  </a:spcAft>
                  <a:buNone/>
                </a:pPr>
                <a:r>
                  <a:rPr b="0" lang="en-GB" sz="825">
                    <a:solidFill>
                      <a:srgbClr val="D9381E"/>
                    </a:solidFill>
                    <a:latin typeface="JetBrains Mono"/>
                    <a:ea typeface="JetBrains Mono"/>
                    <a:cs typeface="JetBrains Mono"/>
                    <a:sym typeface="JetBrains Mono"/>
                  </a:rPr>
                  <a:t>h1 = m1x + c1</a:t>
                </a:r>
                <a:endParaRPr b="0" sz="825">
                  <a:solidFill>
                    <a:srgbClr val="D9381E"/>
                  </a:solidFill>
                  <a:latin typeface="JetBrains Mono"/>
                  <a:ea typeface="JetBrains Mono"/>
                  <a:cs typeface="JetBrains Mono"/>
                  <a:sym typeface="JetBrains Mono"/>
                </a:endParaRPr>
              </a:p>
            </p:txBody>
          </p:sp>
        </p:grpSp>
        <p:grpSp>
          <p:nvGrpSpPr>
            <p:cNvPr id="316" name="Google Shape;316;p22"/>
            <p:cNvGrpSpPr/>
            <p:nvPr/>
          </p:nvGrpSpPr>
          <p:grpSpPr>
            <a:xfrm>
              <a:off x="2476500" y="2428875"/>
              <a:ext cx="1047900" cy="1047900"/>
              <a:chOff x="0" y="0"/>
              <a:chExt cx="1047900" cy="1047900"/>
            </a:xfrm>
          </p:grpSpPr>
          <p:sp>
            <p:nvSpPr>
              <p:cNvPr id="317" name="Google Shape;317;p22"/>
              <p:cNvSpPr/>
              <p:nvPr/>
            </p:nvSpPr>
            <p:spPr>
              <a:xfrm>
                <a:off x="0" y="0"/>
                <a:ext cx="1047900" cy="1047900"/>
              </a:xfrm>
              <a:prstGeom prst="ellipse">
                <a:avLst/>
              </a:prstGeom>
              <a:solidFill>
                <a:srgbClr val="FFFFFF"/>
              </a:solidFill>
              <a:ln cap="flat" cmpd="sng" w="19050">
                <a:solidFill>
                  <a:srgbClr val="1D4E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2"/>
              <p:cNvSpPr txBox="1"/>
              <p:nvPr/>
            </p:nvSpPr>
            <p:spPr>
              <a:xfrm>
                <a:off x="47625" y="142875"/>
                <a:ext cx="952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D4ED8"/>
                    </a:solidFill>
                    <a:latin typeface="Inter"/>
                    <a:ea typeface="Inter"/>
                    <a:cs typeface="Inter"/>
                    <a:sym typeface="Inter"/>
                  </a:rPr>
                  <a:t>Neuron 2</a:t>
                </a:r>
                <a:endParaRPr b="1" sz="975">
                  <a:solidFill>
                    <a:srgbClr val="1D4ED8"/>
                  </a:solidFill>
                  <a:latin typeface="Inter"/>
                  <a:ea typeface="Inter"/>
                  <a:cs typeface="Inter"/>
                  <a:sym typeface="Inter"/>
                </a:endParaRPr>
              </a:p>
              <a:p>
                <a:pPr indent="0" lvl="0" marL="0" rtl="0" algn="ctr">
                  <a:spcBef>
                    <a:spcPts val="150"/>
                  </a:spcBef>
                  <a:spcAft>
                    <a:spcPts val="0"/>
                  </a:spcAft>
                  <a:buNone/>
                </a:pPr>
                <a:r>
                  <a:rPr b="0" lang="en-GB" sz="825">
                    <a:solidFill>
                      <a:srgbClr val="1D4ED8"/>
                    </a:solidFill>
                    <a:latin typeface="JetBrains Mono"/>
                    <a:ea typeface="JetBrains Mono"/>
                    <a:cs typeface="JetBrains Mono"/>
                    <a:sym typeface="JetBrains Mono"/>
                  </a:rPr>
                  <a:t>h2 = m2x + c2</a:t>
                </a:r>
                <a:endParaRPr b="0" sz="825">
                  <a:solidFill>
                    <a:srgbClr val="1D4ED8"/>
                  </a:solidFill>
                  <a:latin typeface="JetBrains Mono"/>
                  <a:ea typeface="JetBrains Mono"/>
                  <a:cs typeface="JetBrains Mono"/>
                  <a:sym typeface="JetBrains Mono"/>
                </a:endParaRPr>
              </a:p>
            </p:txBody>
          </p:sp>
        </p:grpSp>
        <p:pic>
          <p:nvPicPr>
            <p:cNvPr id="319" name="Google Shape;319;p22"/>
            <p:cNvPicPr preferRelativeResize="0"/>
            <p:nvPr/>
          </p:nvPicPr>
          <p:blipFill rotWithShape="1">
            <a:blip r:embed="rId3">
              <a:alphaModFix/>
            </a:blip>
            <a:srcRect b="0" l="0" r="0" t="0"/>
            <a:stretch/>
          </p:blipFill>
          <p:spPr>
            <a:xfrm>
              <a:off x="1804988" y="1638300"/>
              <a:ext cx="619200" cy="652500"/>
            </a:xfrm>
            <a:prstGeom prst="rect">
              <a:avLst/>
            </a:prstGeom>
            <a:noFill/>
            <a:ln>
              <a:noFill/>
            </a:ln>
          </p:spPr>
        </p:pic>
        <p:pic>
          <p:nvPicPr>
            <p:cNvPr id="320" name="Google Shape;320;p22"/>
            <p:cNvPicPr preferRelativeResize="0"/>
            <p:nvPr/>
          </p:nvPicPr>
          <p:blipFill rotWithShape="1">
            <a:blip r:embed="rId4">
              <a:alphaModFix/>
            </a:blip>
            <a:srcRect b="0" l="0" r="0" t="0"/>
            <a:stretch/>
          </p:blipFill>
          <p:spPr>
            <a:xfrm>
              <a:off x="1804988" y="2281238"/>
              <a:ext cx="619200" cy="652500"/>
            </a:xfrm>
            <a:prstGeom prst="rect">
              <a:avLst/>
            </a:prstGeom>
            <a:noFill/>
            <a:ln>
              <a:noFill/>
            </a:ln>
          </p:spPr>
        </p:pic>
        <p:pic>
          <p:nvPicPr>
            <p:cNvPr id="321" name="Google Shape;321;p22"/>
            <p:cNvPicPr preferRelativeResize="0"/>
            <p:nvPr/>
          </p:nvPicPr>
          <p:blipFill rotWithShape="1">
            <a:blip r:embed="rId5">
              <a:alphaModFix/>
            </a:blip>
            <a:srcRect b="0" l="0" r="0" t="0"/>
            <a:stretch/>
          </p:blipFill>
          <p:spPr>
            <a:xfrm>
              <a:off x="3519488" y="1609725"/>
              <a:ext cx="3295800" cy="466800"/>
            </a:xfrm>
            <a:prstGeom prst="rect">
              <a:avLst/>
            </a:prstGeom>
            <a:noFill/>
            <a:ln>
              <a:noFill/>
            </a:ln>
          </p:spPr>
        </p:pic>
        <p:pic>
          <p:nvPicPr>
            <p:cNvPr id="322" name="Google Shape;322;p22"/>
            <p:cNvPicPr preferRelativeResize="0"/>
            <p:nvPr/>
          </p:nvPicPr>
          <p:blipFill rotWithShape="1">
            <a:blip r:embed="rId6">
              <a:alphaModFix/>
            </a:blip>
            <a:srcRect b="0" l="0" r="0" t="0"/>
            <a:stretch/>
          </p:blipFill>
          <p:spPr>
            <a:xfrm>
              <a:off x="3519488" y="2119313"/>
              <a:ext cx="3295800" cy="843000"/>
            </a:xfrm>
            <a:prstGeom prst="rect">
              <a:avLst/>
            </a:prstGeom>
            <a:noFill/>
            <a:ln>
              <a:noFill/>
            </a:ln>
          </p:spPr>
        </p:pic>
        <p:grpSp>
          <p:nvGrpSpPr>
            <p:cNvPr id="323" name="Google Shape;323;p22"/>
            <p:cNvGrpSpPr/>
            <p:nvPr/>
          </p:nvGrpSpPr>
          <p:grpSpPr>
            <a:xfrm>
              <a:off x="5334000" y="1238250"/>
              <a:ext cx="2667000" cy="2095500"/>
              <a:chOff x="0" y="0"/>
              <a:chExt cx="2667000" cy="2095500"/>
            </a:xfrm>
          </p:grpSpPr>
          <p:sp>
            <p:nvSpPr>
              <p:cNvPr id="324" name="Google Shape;324;p22"/>
              <p:cNvSpPr/>
              <p:nvPr/>
            </p:nvSpPr>
            <p:spPr>
              <a:xfrm>
                <a:off x="0" y="0"/>
                <a:ext cx="2667000" cy="2095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25" name="Google Shape;325;p22"/>
              <p:cNvPicPr preferRelativeResize="0"/>
              <p:nvPr/>
            </p:nvPicPr>
            <p:blipFill rotWithShape="1">
              <a:blip r:embed="rId7">
                <a:alphaModFix/>
              </a:blip>
              <a:srcRect b="0" l="0" r="0" t="0"/>
              <a:stretch/>
            </p:blipFill>
            <p:spPr>
              <a:xfrm>
                <a:off x="0" y="0"/>
                <a:ext cx="2667000" cy="2095500"/>
              </a:xfrm>
              <a:prstGeom prst="rect">
                <a:avLst/>
              </a:prstGeom>
              <a:noFill/>
              <a:ln>
                <a:noFill/>
              </a:ln>
            </p:spPr>
          </p:pic>
          <p:sp>
            <p:nvSpPr>
              <p:cNvPr id="326" name="Google Shape;326;p22"/>
              <p:cNvSpPr txBox="1"/>
              <p:nvPr/>
            </p:nvSpPr>
            <p:spPr>
              <a:xfrm>
                <a:off x="114300" y="95250"/>
                <a:ext cx="23814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975">
                    <a:solidFill>
                      <a:srgbClr val="111315"/>
                    </a:solidFill>
                    <a:latin typeface="Inter"/>
                    <a:ea typeface="Inter"/>
                    <a:cs typeface="Inter"/>
                    <a:sym typeface="Inter"/>
                  </a:rPr>
                  <a:t>Latent Space</a:t>
                </a:r>
                <a:endParaRPr b="1" sz="975">
                  <a:solidFill>
                    <a:srgbClr val="111315"/>
                  </a:solidFill>
                  <a:latin typeface="Inter"/>
                  <a:ea typeface="Inter"/>
                  <a:cs typeface="Inter"/>
                  <a:sym typeface="Inter"/>
                </a:endParaRPr>
              </a:p>
            </p:txBody>
          </p:sp>
          <p:cxnSp>
            <p:nvCxnSpPr>
              <p:cNvPr id="327" name="Google Shape;327;p22"/>
              <p:cNvCxnSpPr/>
              <p:nvPr/>
            </p:nvCxnSpPr>
            <p:spPr>
              <a:xfrm>
                <a:off x="381000" y="1714500"/>
                <a:ext cx="2000100" cy="0"/>
              </a:xfrm>
              <a:prstGeom prst="straightConnector1">
                <a:avLst/>
              </a:prstGeom>
              <a:solidFill>
                <a:srgbClr val="FFFFFF"/>
              </a:solidFill>
              <a:ln cap="flat" cmpd="sng" w="11425">
                <a:solidFill>
                  <a:srgbClr val="111315"/>
                </a:solidFill>
                <a:prstDash val="solid"/>
                <a:round/>
                <a:headEnd len="sm" w="sm" type="none"/>
                <a:tailEnd len="sm" w="sm" type="none"/>
              </a:ln>
            </p:spPr>
          </p:cxnSp>
          <p:sp>
            <p:nvSpPr>
              <p:cNvPr id="328" name="Google Shape;328;p22"/>
              <p:cNvSpPr/>
              <p:nvPr/>
            </p:nvSpPr>
            <p:spPr>
              <a:xfrm>
                <a:off x="2362200" y="1685925"/>
                <a:ext cx="57300" cy="573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2"/>
              <p:cNvSpPr txBox="1"/>
              <p:nvPr/>
            </p:nvSpPr>
            <p:spPr>
              <a:xfrm>
                <a:off x="2143125" y="1762125"/>
                <a:ext cx="381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D9381E"/>
                    </a:solidFill>
                    <a:latin typeface="JetBrains Mono"/>
                    <a:ea typeface="JetBrains Mono"/>
                    <a:cs typeface="JetBrains Mono"/>
                    <a:sym typeface="JetBrains Mono"/>
                  </a:rPr>
                  <a:t>h1</a:t>
                </a:r>
                <a:endParaRPr b="1" sz="825">
                  <a:solidFill>
                    <a:srgbClr val="D9381E"/>
                  </a:solidFill>
                  <a:latin typeface="JetBrains Mono"/>
                  <a:ea typeface="JetBrains Mono"/>
                  <a:cs typeface="JetBrains Mono"/>
                  <a:sym typeface="JetBrains Mono"/>
                </a:endParaRPr>
              </a:p>
            </p:txBody>
          </p:sp>
          <p:cxnSp>
            <p:nvCxnSpPr>
              <p:cNvPr id="330" name="Google Shape;330;p22"/>
              <p:cNvCxnSpPr/>
              <p:nvPr/>
            </p:nvCxnSpPr>
            <p:spPr>
              <a:xfrm rot="10800000">
                <a:off x="381000" y="381000"/>
                <a:ext cx="0" cy="1333500"/>
              </a:xfrm>
              <a:prstGeom prst="straightConnector1">
                <a:avLst/>
              </a:prstGeom>
              <a:solidFill>
                <a:srgbClr val="FFFFFF"/>
              </a:solidFill>
              <a:ln cap="flat" cmpd="sng" w="11425">
                <a:solidFill>
                  <a:srgbClr val="111315"/>
                </a:solidFill>
                <a:prstDash val="solid"/>
                <a:round/>
                <a:headEnd len="sm" w="sm" type="none"/>
                <a:tailEnd len="sm" w="sm" type="none"/>
              </a:ln>
            </p:spPr>
          </p:cxnSp>
          <p:sp>
            <p:nvSpPr>
              <p:cNvPr id="331" name="Google Shape;331;p22"/>
              <p:cNvSpPr/>
              <p:nvPr/>
            </p:nvSpPr>
            <p:spPr>
              <a:xfrm>
                <a:off x="352425" y="342900"/>
                <a:ext cx="57300" cy="57300"/>
              </a:xfrm>
              <a:custGeom>
                <a:rect b="b" l="l" r="r" t="t"/>
                <a:pathLst>
                  <a:path extrusionOk="0" h="120000" w="120000">
                    <a:moveTo>
                      <a:pt x="0" y="120000"/>
                    </a:moveTo>
                    <a:lnTo>
                      <a:pt x="60000" y="0"/>
                    </a:lnTo>
                    <a:lnTo>
                      <a:pt x="12000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2"/>
              <p:cNvSpPr txBox="1"/>
              <p:nvPr/>
            </p:nvSpPr>
            <p:spPr>
              <a:xfrm>
                <a:off x="142875" y="333375"/>
                <a:ext cx="2382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1D4ED8"/>
                    </a:solidFill>
                    <a:latin typeface="JetBrains Mono"/>
                    <a:ea typeface="JetBrains Mono"/>
                    <a:cs typeface="JetBrains Mono"/>
                    <a:sym typeface="JetBrains Mono"/>
                  </a:rPr>
                  <a:t>h2</a:t>
                </a:r>
                <a:endParaRPr b="1" sz="825">
                  <a:solidFill>
                    <a:srgbClr val="1D4ED8"/>
                  </a:solidFill>
                  <a:latin typeface="JetBrains Mono"/>
                  <a:ea typeface="JetBrains Mono"/>
                  <a:cs typeface="JetBrains Mono"/>
                  <a:sym typeface="JetBrains Mono"/>
                </a:endParaRPr>
              </a:p>
            </p:txBody>
          </p:sp>
          <p:pic>
            <p:nvPicPr>
              <p:cNvPr id="333" name="Google Shape;333;p22"/>
              <p:cNvPicPr preferRelativeResize="0"/>
              <p:nvPr/>
            </p:nvPicPr>
            <p:blipFill rotWithShape="1">
              <a:blip r:embed="rId8">
                <a:alphaModFix/>
              </a:blip>
              <a:srcRect b="0" l="0" r="0" t="0"/>
              <a:stretch/>
            </p:blipFill>
            <p:spPr>
              <a:xfrm>
                <a:off x="1519238" y="857250"/>
                <a:ext cx="9600" cy="828600"/>
              </a:xfrm>
              <a:prstGeom prst="rect">
                <a:avLst/>
              </a:prstGeom>
              <a:noFill/>
              <a:ln>
                <a:noFill/>
              </a:ln>
            </p:spPr>
          </p:pic>
          <p:pic>
            <p:nvPicPr>
              <p:cNvPr id="334" name="Google Shape;334;p22"/>
              <p:cNvPicPr preferRelativeResize="0"/>
              <p:nvPr/>
            </p:nvPicPr>
            <p:blipFill rotWithShape="1">
              <a:blip r:embed="rId9">
                <a:alphaModFix/>
              </a:blip>
              <a:srcRect b="0" l="0" r="0" t="0"/>
              <a:stretch/>
            </p:blipFill>
            <p:spPr>
              <a:xfrm>
                <a:off x="409575" y="852488"/>
                <a:ext cx="1114500" cy="9600"/>
              </a:xfrm>
              <a:prstGeom prst="rect">
                <a:avLst/>
              </a:prstGeom>
              <a:noFill/>
              <a:ln>
                <a:noFill/>
              </a:ln>
            </p:spPr>
          </p:pic>
          <p:sp>
            <p:nvSpPr>
              <p:cNvPr id="335" name="Google Shape;335;p22"/>
              <p:cNvSpPr/>
              <p:nvPr/>
            </p:nvSpPr>
            <p:spPr>
              <a:xfrm>
                <a:off x="1466850" y="800100"/>
                <a:ext cx="114300" cy="114300"/>
              </a:xfrm>
              <a:prstGeom prst="ellipse">
                <a:avLst/>
              </a:pr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2"/>
              <p:cNvSpPr txBox="1"/>
              <p:nvPr/>
            </p:nvSpPr>
            <p:spPr>
              <a:xfrm>
                <a:off x="1638300" y="685800"/>
                <a:ext cx="952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975">
                    <a:solidFill>
                      <a:srgbClr val="111315"/>
                    </a:solidFill>
                    <a:latin typeface="Inter"/>
                    <a:ea typeface="Inter"/>
                    <a:cs typeface="Inter"/>
                    <a:sym typeface="Inter"/>
                  </a:rPr>
                  <a:t>(h1, h2)</a:t>
                </a:r>
                <a:endParaRPr b="1" sz="975">
                  <a:solidFill>
                    <a:srgbClr val="111315"/>
                  </a:solidFill>
                  <a:latin typeface="Inter"/>
                  <a:ea typeface="Inter"/>
                  <a:cs typeface="Inter"/>
                  <a:sym typeface="Inter"/>
                </a:endParaRPr>
              </a:p>
              <a:p>
                <a:pPr indent="0" lvl="0" marL="0" rtl="0" algn="l">
                  <a:spcBef>
                    <a:spcPts val="0"/>
                  </a:spcBef>
                  <a:spcAft>
                    <a:spcPts val="0"/>
                  </a:spcAft>
                  <a:buNone/>
                </a:pPr>
                <a:r>
                  <a:rPr b="0" lang="en-GB" sz="675">
                    <a:solidFill>
                      <a:srgbClr val="5A626A"/>
                    </a:solidFill>
                    <a:latin typeface="JetBrains Mono"/>
                    <a:ea typeface="JetBrains Mono"/>
                    <a:cs typeface="JetBrains Mono"/>
                    <a:sym typeface="JetBrains Mono"/>
                  </a:rPr>
                  <a:t>Mapped </a:t>
                </a:r>
                <a:r>
                  <a:rPr lang="en-GB" sz="675">
                    <a:solidFill>
                      <a:srgbClr val="5A626A"/>
                    </a:solidFill>
                    <a:latin typeface="JetBrains Mono"/>
                    <a:ea typeface="JetBrains Mono"/>
                    <a:cs typeface="JetBrains Mono"/>
                    <a:sym typeface="JetBrains Mono"/>
                  </a:rPr>
                  <a:t>output vector</a:t>
                </a:r>
                <a:endParaRPr b="0" sz="675">
                  <a:solidFill>
                    <a:srgbClr val="5A626A"/>
                  </a:solidFill>
                  <a:latin typeface="JetBrains Mono"/>
                  <a:ea typeface="JetBrains Mono"/>
                  <a:cs typeface="JetBrains Mono"/>
                  <a:sym typeface="JetBrains Mono"/>
                </a:endParaRPr>
              </a:p>
            </p:txBody>
          </p:sp>
        </p:grpSp>
      </p:grpSp>
      <p:sp>
        <p:nvSpPr>
          <p:cNvPr id="337" name="Google Shape;337;p22"/>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Ref: Rosenblatt (1958); Rumelhart et al. (1986).</a:t>
            </a:r>
            <a:endParaRPr b="0" sz="750">
              <a:solidFill>
                <a:srgbClr val="5A626A"/>
              </a:solidFill>
              <a:latin typeface="JetBrains Mono"/>
              <a:ea typeface="JetBrains Mono"/>
              <a:cs typeface="JetBrains Mono"/>
              <a:sym typeface="JetBrains Mono"/>
            </a:endParaRPr>
          </a:p>
        </p:txBody>
      </p:sp>
      <p:grpSp>
        <p:nvGrpSpPr>
          <p:cNvPr id="338" name="Google Shape;338;p22"/>
          <p:cNvGrpSpPr/>
          <p:nvPr/>
        </p:nvGrpSpPr>
        <p:grpSpPr>
          <a:xfrm>
            <a:off x="381000" y="4762500"/>
            <a:ext cx="8382000" cy="285750"/>
            <a:chOff x="381000" y="4762500"/>
            <a:chExt cx="8382000" cy="285750"/>
          </a:xfrm>
        </p:grpSpPr>
        <p:cxnSp>
          <p:nvCxnSpPr>
            <p:cNvPr id="339" name="Google Shape;339;p22"/>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340" name="Google Shape;340;p22"/>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3"/>
          <p:cNvSpPr txBox="1"/>
          <p:nvPr/>
        </p:nvSpPr>
        <p:spPr>
          <a:xfrm>
            <a:off x="381000" y="304800"/>
            <a:ext cx="8382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GB" sz="1785" u="none" strike="noStrike">
                <a:solidFill>
                  <a:srgbClr val="111315"/>
                </a:solidFill>
                <a:latin typeface="Space Grotesk"/>
                <a:ea typeface="Space Grotesk"/>
                <a:cs typeface="Space Grotesk"/>
                <a:sym typeface="Space Grotesk"/>
              </a:rPr>
              <a:t>Sequential Next-Token Prediction (Autoregression and Recurrent Models)</a:t>
            </a:r>
            <a:endParaRPr b="0" i="0" sz="1785" u="none" strike="noStrike">
              <a:solidFill>
                <a:srgbClr val="111315"/>
              </a:solidFill>
              <a:latin typeface="Space Grotesk"/>
              <a:ea typeface="Space Grotesk"/>
              <a:cs typeface="Space Grotesk"/>
              <a:sym typeface="Space Grotesk"/>
            </a:endParaRPr>
          </a:p>
        </p:txBody>
      </p:sp>
      <p:sp>
        <p:nvSpPr>
          <p:cNvPr id="346" name="Google Shape;346;p23"/>
          <p:cNvSpPr txBox="1"/>
          <p:nvPr/>
        </p:nvSpPr>
        <p:spPr>
          <a:xfrm>
            <a:off x="381000" y="685800"/>
            <a:ext cx="8382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GB" sz="1050" u="none" strike="noStrike">
                <a:solidFill>
                  <a:srgbClr val="111315"/>
                </a:solidFill>
                <a:latin typeface="Inter SemiBold"/>
                <a:ea typeface="Inter SemiBold"/>
                <a:cs typeface="Inter SemiBold"/>
                <a:sym typeface="Inter SemiBold"/>
              </a:rPr>
              <a:t>Sequential models store preceding token states in a fixed memory vector.</a:t>
            </a:r>
            <a:endParaRPr b="0" i="0" sz="1050" u="none" strike="noStrike">
              <a:solidFill>
                <a:srgbClr val="111315"/>
              </a:solidFill>
              <a:latin typeface="Inter SemiBold"/>
              <a:ea typeface="Inter SemiBold"/>
              <a:cs typeface="Inter SemiBold"/>
              <a:sym typeface="Inter SemiBold"/>
            </a:endParaRPr>
          </a:p>
        </p:txBody>
      </p:sp>
      <p:grpSp>
        <p:nvGrpSpPr>
          <p:cNvPr id="347" name="Google Shape;347;p23"/>
          <p:cNvGrpSpPr/>
          <p:nvPr/>
        </p:nvGrpSpPr>
        <p:grpSpPr>
          <a:xfrm>
            <a:off x="381000" y="1028700"/>
            <a:ext cx="8382000" cy="3200400"/>
            <a:chOff x="381000" y="1028700"/>
            <a:chExt cx="8382000" cy="3200400"/>
          </a:xfrm>
        </p:grpSpPr>
        <p:grpSp>
          <p:nvGrpSpPr>
            <p:cNvPr id="348" name="Google Shape;348;p23"/>
            <p:cNvGrpSpPr/>
            <p:nvPr/>
          </p:nvGrpSpPr>
          <p:grpSpPr>
            <a:xfrm>
              <a:off x="381000" y="1028700"/>
              <a:ext cx="7810650" cy="762000"/>
              <a:chOff x="0" y="0"/>
              <a:chExt cx="7810650" cy="762000"/>
            </a:xfrm>
          </p:grpSpPr>
          <p:sp>
            <p:nvSpPr>
              <p:cNvPr id="349" name="Google Shape;349;p23"/>
              <p:cNvSpPr/>
              <p:nvPr/>
            </p:nvSpPr>
            <p:spPr>
              <a:xfrm>
                <a:off x="0" y="0"/>
                <a:ext cx="571500" cy="190500"/>
              </a:xfrm>
              <a:prstGeom prst="rect">
                <a:avLst/>
              </a:pr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23"/>
              <p:cNvSpPr txBox="1"/>
              <p:nvPr/>
            </p:nvSpPr>
            <p:spPr>
              <a:xfrm>
                <a:off x="0" y="0"/>
                <a:ext cx="571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675">
                    <a:solidFill>
                      <a:srgbClr val="FFFFFF"/>
                    </a:solidFill>
                    <a:latin typeface="JetBrains Mono"/>
                    <a:ea typeface="JetBrains Mono"/>
                    <a:cs typeface="JetBrains Mono"/>
                    <a:sym typeface="JetBrains Mono"/>
                  </a:rPr>
                  <a:t>PASS 01</a:t>
                </a:r>
                <a:endParaRPr/>
              </a:p>
            </p:txBody>
          </p:sp>
          <p:sp>
            <p:nvSpPr>
              <p:cNvPr id="351" name="Google Shape;351;p23"/>
              <p:cNvSpPr/>
              <p:nvPr/>
            </p:nvSpPr>
            <p:spPr>
              <a:xfrm>
                <a:off x="0" y="190500"/>
                <a:ext cx="2952900" cy="571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23"/>
              <p:cNvSpPr txBox="1"/>
              <p:nvPr/>
            </p:nvSpPr>
            <p:spPr>
              <a:xfrm>
                <a:off x="114300" y="304800"/>
                <a:ext cx="27243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Input Context:</a:t>
                </a:r>
                <a:endParaRPr b="0" sz="825">
                  <a:solidFill>
                    <a:srgbClr val="5A626A"/>
                  </a:solidFill>
                  <a:latin typeface="JetBrains Mono"/>
                  <a:ea typeface="JetBrains Mono"/>
                  <a:cs typeface="JetBrains Mono"/>
                  <a:sym typeface="JetBrains Mono"/>
                </a:endParaRPr>
              </a:p>
              <a:p>
                <a:pPr indent="0" lvl="0" marL="0" rtl="0" algn="l">
                  <a:spcBef>
                    <a:spcPts val="150"/>
                  </a:spcBef>
                  <a:spcAft>
                    <a:spcPts val="0"/>
                  </a:spcAft>
                  <a:buNone/>
                </a:pPr>
                <a:r>
                  <a:rPr b="1" lang="en-GB" sz="1050">
                    <a:solidFill>
                      <a:srgbClr val="111315"/>
                    </a:solidFill>
                    <a:latin typeface="Inter"/>
                    <a:ea typeface="Inter"/>
                    <a:cs typeface="Inter"/>
                    <a:sym typeface="Inter"/>
                  </a:rPr>
                  <a:t>"An apple is </a:t>
                </a:r>
                <a:r>
                  <a:rPr b="1" lang="en-GB" sz="1050">
                    <a:solidFill>
                      <a:srgbClr val="D9381E"/>
                    </a:solidFill>
                    <a:latin typeface="Inter"/>
                    <a:ea typeface="Inter"/>
                    <a:cs typeface="Inter"/>
                    <a:sym typeface="Inter"/>
                  </a:rPr>
                  <a:t>_____</a:t>
                </a:r>
                <a:r>
                  <a:rPr b="1" lang="en-GB" sz="1050">
                    <a:solidFill>
                      <a:srgbClr val="111315"/>
                    </a:solidFill>
                    <a:latin typeface="Inter"/>
                    <a:ea typeface="Inter"/>
                    <a:cs typeface="Inter"/>
                    <a:sym typeface="Inter"/>
                  </a:rPr>
                  <a:t>"</a:t>
                </a:r>
                <a:endParaRPr b="1" sz="1050">
                  <a:solidFill>
                    <a:srgbClr val="111315"/>
                  </a:solidFill>
                  <a:latin typeface="Inter"/>
                  <a:ea typeface="Inter"/>
                  <a:cs typeface="Inter"/>
                  <a:sym typeface="Inter"/>
                </a:endParaRPr>
              </a:p>
            </p:txBody>
          </p:sp>
          <p:grpSp>
            <p:nvGrpSpPr>
              <p:cNvPr id="353" name="Google Shape;353;p23"/>
              <p:cNvGrpSpPr/>
              <p:nvPr/>
            </p:nvGrpSpPr>
            <p:grpSpPr>
              <a:xfrm>
                <a:off x="3067050" y="438150"/>
                <a:ext cx="342900" cy="76200"/>
                <a:chOff x="0" y="-38100"/>
                <a:chExt cx="342900" cy="76200"/>
              </a:xfrm>
            </p:grpSpPr>
            <p:cxnSp>
              <p:nvCxnSpPr>
                <p:cNvPr id="354" name="Google Shape;354;p23"/>
                <p:cNvCxnSpPr/>
                <p:nvPr/>
              </p:nvCxnSpPr>
              <p:spPr>
                <a:xfrm>
                  <a:off x="0" y="0"/>
                  <a:ext cx="2667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355" name="Google Shape;355;p23"/>
                <p:cNvSpPr/>
                <p:nvPr/>
              </p:nvSpPr>
              <p:spPr>
                <a:xfrm>
                  <a:off x="266700" y="-381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56" name="Google Shape;356;p23"/>
              <p:cNvGrpSpPr/>
              <p:nvPr/>
            </p:nvGrpSpPr>
            <p:grpSpPr>
              <a:xfrm>
                <a:off x="3524250" y="0"/>
                <a:ext cx="4286400" cy="762000"/>
                <a:chOff x="0" y="0"/>
                <a:chExt cx="4286400" cy="762000"/>
              </a:xfrm>
            </p:grpSpPr>
            <p:sp>
              <p:nvSpPr>
                <p:cNvPr id="357" name="Google Shape;357;p23"/>
                <p:cNvSpPr/>
                <p:nvPr/>
              </p:nvSpPr>
              <p:spPr>
                <a:xfrm>
                  <a:off x="0" y="0"/>
                  <a:ext cx="4286400" cy="762000"/>
                </a:xfrm>
                <a:prstGeom prst="rect">
                  <a:avLst/>
                </a:prstGeom>
                <a:solidFill>
                  <a:srgbClr val="FFFFF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58" name="Google Shape;358;p23"/>
                <p:cNvCxnSpPr/>
                <p:nvPr/>
              </p:nvCxnSpPr>
              <p:spPr>
                <a:xfrm>
                  <a:off x="0" y="190500"/>
                  <a:ext cx="4286400" cy="0"/>
                </a:xfrm>
                <a:prstGeom prst="straightConnector1">
                  <a:avLst/>
                </a:prstGeom>
                <a:solidFill>
                  <a:srgbClr val="FFFFFF"/>
                </a:solidFill>
                <a:ln cap="flat" cmpd="sng" w="9525">
                  <a:solidFill>
                    <a:srgbClr val="E9ECEF"/>
                  </a:solidFill>
                  <a:prstDash val="solid"/>
                  <a:round/>
                  <a:headEnd len="sm" w="sm" type="none"/>
                  <a:tailEnd len="sm" w="sm" type="none"/>
                </a:ln>
              </p:spPr>
            </p:cxnSp>
            <p:sp>
              <p:nvSpPr>
                <p:cNvPr id="359" name="Google Shape;359;p23"/>
                <p:cNvSpPr txBox="1"/>
                <p:nvPr/>
              </p:nvSpPr>
              <p:spPr>
                <a:xfrm>
                  <a:off x="95250" y="28575"/>
                  <a:ext cx="1905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675">
                      <a:solidFill>
                        <a:srgbClr val="5A626A"/>
                      </a:solidFill>
                      <a:latin typeface="JetBrains Mono"/>
                      <a:ea typeface="JetBrains Mono"/>
                      <a:cs typeface="JetBrains Mono"/>
                      <a:sym typeface="JetBrains Mono"/>
                    </a:rPr>
                    <a:t>NEXT-TOKEN PROBABILITIES</a:t>
                  </a:r>
                  <a:endParaRPr b="1" sz="675">
                    <a:solidFill>
                      <a:srgbClr val="5A626A"/>
                    </a:solidFill>
                    <a:latin typeface="JetBrains Mono"/>
                    <a:ea typeface="JetBrains Mono"/>
                    <a:cs typeface="JetBrains Mono"/>
                    <a:sym typeface="JetBrains Mono"/>
                  </a:endParaRPr>
                </a:p>
              </p:txBody>
            </p:sp>
            <p:sp>
              <p:nvSpPr>
                <p:cNvPr id="360" name="Google Shape;360;p23"/>
                <p:cNvSpPr txBox="1"/>
                <p:nvPr/>
              </p:nvSpPr>
              <p:spPr>
                <a:xfrm>
                  <a:off x="95250" y="228600"/>
                  <a:ext cx="5238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D9381E"/>
                      </a:solidFill>
                      <a:latin typeface="JetBrains Mono"/>
                      <a:ea typeface="JetBrains Mono"/>
                      <a:cs typeface="JetBrains Mono"/>
                      <a:sym typeface="JetBrains Mono"/>
                    </a:rPr>
                    <a:t>red</a:t>
                  </a:r>
                  <a:endParaRPr b="1" sz="825">
                    <a:solidFill>
                      <a:srgbClr val="D9381E"/>
                    </a:solidFill>
                    <a:latin typeface="JetBrains Mono"/>
                    <a:ea typeface="JetBrains Mono"/>
                    <a:cs typeface="JetBrains Mono"/>
                    <a:sym typeface="JetBrains Mono"/>
                  </a:endParaRPr>
                </a:p>
              </p:txBody>
            </p:sp>
            <p:sp>
              <p:nvSpPr>
                <p:cNvPr id="361" name="Google Shape;361;p23"/>
                <p:cNvSpPr/>
                <p:nvPr/>
              </p:nvSpPr>
              <p:spPr>
                <a:xfrm>
                  <a:off x="666750" y="247650"/>
                  <a:ext cx="1714500" cy="114300"/>
                </a:xfrm>
                <a:prstGeom prst="rect">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3"/>
                <p:cNvSpPr txBox="1"/>
                <p:nvPr/>
              </p:nvSpPr>
              <p:spPr>
                <a:xfrm>
                  <a:off x="2457450" y="228600"/>
                  <a:ext cx="381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D9381E"/>
                      </a:solidFill>
                      <a:latin typeface="JetBrains Mono"/>
                      <a:ea typeface="JetBrains Mono"/>
                      <a:cs typeface="JetBrains Mono"/>
                      <a:sym typeface="JetBrains Mono"/>
                    </a:rPr>
                    <a:t>45%</a:t>
                  </a:r>
                  <a:endParaRPr b="1" sz="825">
                    <a:solidFill>
                      <a:srgbClr val="D9381E"/>
                    </a:solidFill>
                    <a:latin typeface="JetBrains Mono"/>
                    <a:ea typeface="JetBrains Mono"/>
                    <a:cs typeface="JetBrains Mono"/>
                    <a:sym typeface="JetBrains Mono"/>
                  </a:endParaRPr>
                </a:p>
              </p:txBody>
            </p:sp>
            <p:sp>
              <p:nvSpPr>
                <p:cNvPr id="363" name="Google Shape;363;p23"/>
                <p:cNvSpPr/>
                <p:nvPr/>
              </p:nvSpPr>
              <p:spPr>
                <a:xfrm>
                  <a:off x="2857500" y="238125"/>
                  <a:ext cx="619200" cy="133500"/>
                </a:xfrm>
                <a:prstGeom prst="rect">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23"/>
                <p:cNvSpPr txBox="1"/>
                <p:nvPr/>
              </p:nvSpPr>
              <p:spPr>
                <a:xfrm>
                  <a:off x="2857500" y="238125"/>
                  <a:ext cx="619200" cy="1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600">
                      <a:solidFill>
                        <a:srgbClr val="FFFFFF"/>
                      </a:solidFill>
                      <a:latin typeface="JetBrains Mono"/>
                      <a:ea typeface="JetBrains Mono"/>
                      <a:cs typeface="JetBrains Mono"/>
                      <a:sym typeface="JetBrains Mono"/>
                    </a:rPr>
                    <a:t>SELECTED</a:t>
                  </a:r>
                  <a:endParaRPr/>
                </a:p>
              </p:txBody>
            </p:sp>
            <p:sp>
              <p:nvSpPr>
                <p:cNvPr id="365" name="Google Shape;365;p23"/>
                <p:cNvSpPr txBox="1"/>
                <p:nvPr/>
              </p:nvSpPr>
              <p:spPr>
                <a:xfrm>
                  <a:off x="95250" y="400050"/>
                  <a:ext cx="5238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round</a:t>
                  </a:r>
                  <a:endParaRPr b="0" sz="825">
                    <a:solidFill>
                      <a:srgbClr val="5A626A"/>
                    </a:solidFill>
                    <a:latin typeface="JetBrains Mono"/>
                    <a:ea typeface="JetBrains Mono"/>
                    <a:cs typeface="JetBrains Mono"/>
                    <a:sym typeface="JetBrains Mono"/>
                  </a:endParaRPr>
                </a:p>
              </p:txBody>
            </p:sp>
            <p:sp>
              <p:nvSpPr>
                <p:cNvPr id="366" name="Google Shape;366;p23"/>
                <p:cNvSpPr/>
                <p:nvPr/>
              </p:nvSpPr>
              <p:spPr>
                <a:xfrm>
                  <a:off x="666750" y="419100"/>
                  <a:ext cx="1333500" cy="114300"/>
                </a:xfrm>
                <a:prstGeom prst="rect">
                  <a:avLst/>
                </a:prstGeom>
                <a:solidFill>
                  <a:srgbClr val="E9ECEF"/>
                </a:solidFill>
                <a:ln cap="flat" cmpd="sng" w="4775">
                  <a:solidFill>
                    <a:srgbClr val="5A62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23"/>
                <p:cNvSpPr txBox="1"/>
                <p:nvPr/>
              </p:nvSpPr>
              <p:spPr>
                <a:xfrm>
                  <a:off x="2076450" y="400050"/>
                  <a:ext cx="381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35%</a:t>
                  </a:r>
                  <a:endParaRPr b="0" sz="825">
                    <a:solidFill>
                      <a:srgbClr val="5A626A"/>
                    </a:solidFill>
                    <a:latin typeface="JetBrains Mono"/>
                    <a:ea typeface="JetBrains Mono"/>
                    <a:cs typeface="JetBrains Mono"/>
                    <a:sym typeface="JetBrains Mono"/>
                  </a:endParaRPr>
                </a:p>
              </p:txBody>
            </p:sp>
            <p:sp>
              <p:nvSpPr>
                <p:cNvPr id="368" name="Google Shape;368;p23"/>
                <p:cNvSpPr txBox="1"/>
                <p:nvPr/>
              </p:nvSpPr>
              <p:spPr>
                <a:xfrm>
                  <a:off x="95250" y="571500"/>
                  <a:ext cx="5238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sweet</a:t>
                  </a:r>
                  <a:endParaRPr b="0" sz="825">
                    <a:solidFill>
                      <a:srgbClr val="5A626A"/>
                    </a:solidFill>
                    <a:latin typeface="JetBrains Mono"/>
                    <a:ea typeface="JetBrains Mono"/>
                    <a:cs typeface="JetBrains Mono"/>
                    <a:sym typeface="JetBrains Mono"/>
                  </a:endParaRPr>
                </a:p>
              </p:txBody>
            </p:sp>
            <p:sp>
              <p:nvSpPr>
                <p:cNvPr id="369" name="Google Shape;369;p23"/>
                <p:cNvSpPr/>
                <p:nvPr/>
              </p:nvSpPr>
              <p:spPr>
                <a:xfrm>
                  <a:off x="666750" y="590550"/>
                  <a:ext cx="762000" cy="114300"/>
                </a:xfrm>
                <a:prstGeom prst="rect">
                  <a:avLst/>
                </a:prstGeom>
                <a:solidFill>
                  <a:srgbClr val="E9ECEF"/>
                </a:solidFill>
                <a:ln cap="flat" cmpd="sng" w="4775">
                  <a:solidFill>
                    <a:srgbClr val="5A62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3"/>
                <p:cNvSpPr txBox="1"/>
                <p:nvPr/>
              </p:nvSpPr>
              <p:spPr>
                <a:xfrm>
                  <a:off x="1504950" y="571500"/>
                  <a:ext cx="381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20%</a:t>
                  </a:r>
                  <a:endParaRPr b="0" sz="825">
                    <a:solidFill>
                      <a:srgbClr val="5A626A"/>
                    </a:solidFill>
                    <a:latin typeface="JetBrains Mono"/>
                    <a:ea typeface="JetBrains Mono"/>
                    <a:cs typeface="JetBrains Mono"/>
                    <a:sym typeface="JetBrains Mono"/>
                  </a:endParaRPr>
                </a:p>
              </p:txBody>
            </p:sp>
          </p:grpSp>
        </p:grpSp>
        <p:grpSp>
          <p:nvGrpSpPr>
            <p:cNvPr id="371" name="Google Shape;371;p23"/>
            <p:cNvGrpSpPr/>
            <p:nvPr/>
          </p:nvGrpSpPr>
          <p:grpSpPr>
            <a:xfrm>
              <a:off x="381000" y="2019300"/>
              <a:ext cx="7810650" cy="762000"/>
              <a:chOff x="0" y="0"/>
              <a:chExt cx="7810650" cy="762000"/>
            </a:xfrm>
          </p:grpSpPr>
          <p:sp>
            <p:nvSpPr>
              <p:cNvPr id="372" name="Google Shape;372;p23"/>
              <p:cNvSpPr/>
              <p:nvPr/>
            </p:nvSpPr>
            <p:spPr>
              <a:xfrm>
                <a:off x="0" y="0"/>
                <a:ext cx="571500" cy="190500"/>
              </a:xfrm>
              <a:prstGeom prst="rect">
                <a:avLst/>
              </a:pr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3"/>
              <p:cNvSpPr txBox="1"/>
              <p:nvPr/>
            </p:nvSpPr>
            <p:spPr>
              <a:xfrm>
                <a:off x="0" y="0"/>
                <a:ext cx="571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675">
                    <a:solidFill>
                      <a:srgbClr val="FFFFFF"/>
                    </a:solidFill>
                    <a:latin typeface="JetBrains Mono"/>
                    <a:ea typeface="JetBrains Mono"/>
                    <a:cs typeface="JetBrains Mono"/>
                    <a:sym typeface="JetBrains Mono"/>
                  </a:rPr>
                  <a:t>PASS 02</a:t>
                </a:r>
                <a:endParaRPr/>
              </a:p>
            </p:txBody>
          </p:sp>
          <p:sp>
            <p:nvSpPr>
              <p:cNvPr id="374" name="Google Shape;374;p23"/>
              <p:cNvSpPr/>
              <p:nvPr/>
            </p:nvSpPr>
            <p:spPr>
              <a:xfrm>
                <a:off x="0" y="190500"/>
                <a:ext cx="2952900" cy="571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3"/>
              <p:cNvSpPr txBox="1"/>
              <p:nvPr/>
            </p:nvSpPr>
            <p:spPr>
              <a:xfrm>
                <a:off x="114300" y="304800"/>
                <a:ext cx="27243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Input Context (fed 'red' back):</a:t>
                </a:r>
                <a:endParaRPr b="0" sz="825">
                  <a:solidFill>
                    <a:srgbClr val="5A626A"/>
                  </a:solidFill>
                  <a:latin typeface="JetBrains Mono"/>
                  <a:ea typeface="JetBrains Mono"/>
                  <a:cs typeface="JetBrains Mono"/>
                  <a:sym typeface="JetBrains Mono"/>
                </a:endParaRPr>
              </a:p>
              <a:p>
                <a:pPr indent="0" lvl="0" marL="0" rtl="0" algn="l">
                  <a:spcBef>
                    <a:spcPts val="150"/>
                  </a:spcBef>
                  <a:spcAft>
                    <a:spcPts val="0"/>
                  </a:spcAft>
                  <a:buNone/>
                </a:pPr>
                <a:r>
                  <a:rPr b="1" lang="en-GB" sz="1050">
                    <a:solidFill>
                      <a:srgbClr val="111315"/>
                    </a:solidFill>
                    <a:latin typeface="Inter"/>
                    <a:ea typeface="Inter"/>
                    <a:cs typeface="Inter"/>
                    <a:sym typeface="Inter"/>
                  </a:rPr>
                  <a:t>"An apple is red </a:t>
                </a:r>
                <a:r>
                  <a:rPr b="1" lang="en-GB" sz="1050">
                    <a:solidFill>
                      <a:srgbClr val="D9381E"/>
                    </a:solidFill>
                    <a:latin typeface="Inter"/>
                    <a:ea typeface="Inter"/>
                    <a:cs typeface="Inter"/>
                    <a:sym typeface="Inter"/>
                  </a:rPr>
                  <a:t>_____</a:t>
                </a:r>
                <a:r>
                  <a:rPr b="1" lang="en-GB" sz="1050">
                    <a:solidFill>
                      <a:srgbClr val="111315"/>
                    </a:solidFill>
                    <a:latin typeface="Inter"/>
                    <a:ea typeface="Inter"/>
                    <a:cs typeface="Inter"/>
                    <a:sym typeface="Inter"/>
                  </a:rPr>
                  <a:t>"</a:t>
                </a:r>
                <a:endParaRPr b="1" sz="1050">
                  <a:solidFill>
                    <a:srgbClr val="111315"/>
                  </a:solidFill>
                  <a:latin typeface="Inter"/>
                  <a:ea typeface="Inter"/>
                  <a:cs typeface="Inter"/>
                  <a:sym typeface="Inter"/>
                </a:endParaRPr>
              </a:p>
            </p:txBody>
          </p:sp>
          <p:grpSp>
            <p:nvGrpSpPr>
              <p:cNvPr id="376" name="Google Shape;376;p23"/>
              <p:cNvGrpSpPr/>
              <p:nvPr/>
            </p:nvGrpSpPr>
            <p:grpSpPr>
              <a:xfrm>
                <a:off x="3067050" y="438150"/>
                <a:ext cx="342900" cy="76200"/>
                <a:chOff x="0" y="-38100"/>
                <a:chExt cx="342900" cy="76200"/>
              </a:xfrm>
            </p:grpSpPr>
            <p:cxnSp>
              <p:nvCxnSpPr>
                <p:cNvPr id="377" name="Google Shape;377;p23"/>
                <p:cNvCxnSpPr/>
                <p:nvPr/>
              </p:nvCxnSpPr>
              <p:spPr>
                <a:xfrm>
                  <a:off x="0" y="0"/>
                  <a:ext cx="2667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378" name="Google Shape;378;p23"/>
                <p:cNvSpPr/>
                <p:nvPr/>
              </p:nvSpPr>
              <p:spPr>
                <a:xfrm>
                  <a:off x="266700" y="-381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79" name="Google Shape;379;p23"/>
              <p:cNvGrpSpPr/>
              <p:nvPr/>
            </p:nvGrpSpPr>
            <p:grpSpPr>
              <a:xfrm>
                <a:off x="3524250" y="0"/>
                <a:ext cx="4286400" cy="762000"/>
                <a:chOff x="0" y="0"/>
                <a:chExt cx="4286400" cy="762000"/>
              </a:xfrm>
            </p:grpSpPr>
            <p:sp>
              <p:nvSpPr>
                <p:cNvPr id="380" name="Google Shape;380;p23"/>
                <p:cNvSpPr/>
                <p:nvPr/>
              </p:nvSpPr>
              <p:spPr>
                <a:xfrm>
                  <a:off x="0" y="0"/>
                  <a:ext cx="4286400" cy="762000"/>
                </a:xfrm>
                <a:prstGeom prst="rect">
                  <a:avLst/>
                </a:prstGeom>
                <a:solidFill>
                  <a:srgbClr val="FFFFF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81" name="Google Shape;381;p23"/>
                <p:cNvCxnSpPr/>
                <p:nvPr/>
              </p:nvCxnSpPr>
              <p:spPr>
                <a:xfrm>
                  <a:off x="0" y="190500"/>
                  <a:ext cx="4286400" cy="0"/>
                </a:xfrm>
                <a:prstGeom prst="straightConnector1">
                  <a:avLst/>
                </a:prstGeom>
                <a:solidFill>
                  <a:srgbClr val="FFFFFF"/>
                </a:solidFill>
                <a:ln cap="flat" cmpd="sng" w="9525">
                  <a:solidFill>
                    <a:srgbClr val="E9ECEF"/>
                  </a:solidFill>
                  <a:prstDash val="solid"/>
                  <a:round/>
                  <a:headEnd len="sm" w="sm" type="none"/>
                  <a:tailEnd len="sm" w="sm" type="none"/>
                </a:ln>
              </p:spPr>
            </p:cxnSp>
            <p:sp>
              <p:nvSpPr>
                <p:cNvPr id="382" name="Google Shape;382;p23"/>
                <p:cNvSpPr txBox="1"/>
                <p:nvPr/>
              </p:nvSpPr>
              <p:spPr>
                <a:xfrm>
                  <a:off x="95250" y="28575"/>
                  <a:ext cx="1905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675">
                      <a:solidFill>
                        <a:srgbClr val="5A626A"/>
                      </a:solidFill>
                      <a:latin typeface="JetBrains Mono"/>
                      <a:ea typeface="JetBrains Mono"/>
                      <a:cs typeface="JetBrains Mono"/>
                      <a:sym typeface="JetBrains Mono"/>
                    </a:rPr>
                    <a:t>NEXT-TOKEN PROBABILITIES</a:t>
                  </a:r>
                  <a:endParaRPr b="1" sz="675">
                    <a:solidFill>
                      <a:srgbClr val="5A626A"/>
                    </a:solidFill>
                    <a:latin typeface="JetBrains Mono"/>
                    <a:ea typeface="JetBrains Mono"/>
                    <a:cs typeface="JetBrains Mono"/>
                    <a:sym typeface="JetBrains Mono"/>
                  </a:endParaRPr>
                </a:p>
              </p:txBody>
            </p:sp>
            <p:sp>
              <p:nvSpPr>
                <p:cNvPr id="383" name="Google Shape;383;p23"/>
                <p:cNvSpPr txBox="1"/>
                <p:nvPr/>
              </p:nvSpPr>
              <p:spPr>
                <a:xfrm>
                  <a:off x="95250" y="228600"/>
                  <a:ext cx="5238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D9381E"/>
                      </a:solidFill>
                      <a:latin typeface="JetBrains Mono"/>
                      <a:ea typeface="JetBrains Mono"/>
                      <a:cs typeface="JetBrains Mono"/>
                      <a:sym typeface="JetBrains Mono"/>
                    </a:rPr>
                    <a:t>and</a:t>
                  </a:r>
                  <a:endParaRPr b="1" sz="825">
                    <a:solidFill>
                      <a:srgbClr val="D9381E"/>
                    </a:solidFill>
                    <a:latin typeface="JetBrains Mono"/>
                    <a:ea typeface="JetBrains Mono"/>
                    <a:cs typeface="JetBrains Mono"/>
                    <a:sym typeface="JetBrains Mono"/>
                  </a:endParaRPr>
                </a:p>
              </p:txBody>
            </p:sp>
            <p:sp>
              <p:nvSpPr>
                <p:cNvPr id="384" name="Google Shape;384;p23"/>
                <p:cNvSpPr/>
                <p:nvPr/>
              </p:nvSpPr>
              <p:spPr>
                <a:xfrm>
                  <a:off x="666750" y="247650"/>
                  <a:ext cx="2095500" cy="114300"/>
                </a:xfrm>
                <a:prstGeom prst="rect">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23"/>
                <p:cNvSpPr txBox="1"/>
                <p:nvPr/>
              </p:nvSpPr>
              <p:spPr>
                <a:xfrm>
                  <a:off x="2838450" y="228600"/>
                  <a:ext cx="381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D9381E"/>
                      </a:solidFill>
                      <a:latin typeface="JetBrains Mono"/>
                      <a:ea typeface="JetBrains Mono"/>
                      <a:cs typeface="JetBrains Mono"/>
                      <a:sym typeface="JetBrains Mono"/>
                    </a:rPr>
                    <a:t>55%</a:t>
                  </a:r>
                  <a:endParaRPr b="1" sz="825">
                    <a:solidFill>
                      <a:srgbClr val="D9381E"/>
                    </a:solidFill>
                    <a:latin typeface="JetBrains Mono"/>
                    <a:ea typeface="JetBrains Mono"/>
                    <a:cs typeface="JetBrains Mono"/>
                    <a:sym typeface="JetBrains Mono"/>
                  </a:endParaRPr>
                </a:p>
              </p:txBody>
            </p:sp>
            <p:sp>
              <p:nvSpPr>
                <p:cNvPr id="386" name="Google Shape;386;p23"/>
                <p:cNvSpPr/>
                <p:nvPr/>
              </p:nvSpPr>
              <p:spPr>
                <a:xfrm>
                  <a:off x="3238500" y="238125"/>
                  <a:ext cx="619200" cy="133500"/>
                </a:xfrm>
                <a:prstGeom prst="rect">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23"/>
                <p:cNvSpPr txBox="1"/>
                <p:nvPr/>
              </p:nvSpPr>
              <p:spPr>
                <a:xfrm>
                  <a:off x="3238500" y="238125"/>
                  <a:ext cx="619200" cy="1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600">
                      <a:solidFill>
                        <a:srgbClr val="FFFFFF"/>
                      </a:solidFill>
                      <a:latin typeface="JetBrains Mono"/>
                      <a:ea typeface="JetBrains Mono"/>
                      <a:cs typeface="JetBrains Mono"/>
                      <a:sym typeface="JetBrains Mono"/>
                    </a:rPr>
                    <a:t>SELECTED</a:t>
                  </a:r>
                  <a:endParaRPr/>
                </a:p>
              </p:txBody>
            </p:sp>
            <p:sp>
              <p:nvSpPr>
                <p:cNvPr id="388" name="Google Shape;388;p23"/>
                <p:cNvSpPr txBox="1"/>
                <p:nvPr/>
              </p:nvSpPr>
              <p:spPr>
                <a:xfrm>
                  <a:off x="95250" y="400050"/>
                  <a:ext cx="5238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with</a:t>
                  </a:r>
                  <a:endParaRPr b="0" sz="825">
                    <a:solidFill>
                      <a:srgbClr val="5A626A"/>
                    </a:solidFill>
                    <a:latin typeface="JetBrains Mono"/>
                    <a:ea typeface="JetBrains Mono"/>
                    <a:cs typeface="JetBrains Mono"/>
                    <a:sym typeface="JetBrains Mono"/>
                  </a:endParaRPr>
                </a:p>
              </p:txBody>
            </p:sp>
            <p:sp>
              <p:nvSpPr>
                <p:cNvPr id="389" name="Google Shape;389;p23"/>
                <p:cNvSpPr/>
                <p:nvPr/>
              </p:nvSpPr>
              <p:spPr>
                <a:xfrm>
                  <a:off x="666750" y="419100"/>
                  <a:ext cx="1143000" cy="114300"/>
                </a:xfrm>
                <a:prstGeom prst="rect">
                  <a:avLst/>
                </a:prstGeom>
                <a:solidFill>
                  <a:srgbClr val="E9ECEF"/>
                </a:solidFill>
                <a:ln cap="flat" cmpd="sng" w="4775">
                  <a:solidFill>
                    <a:srgbClr val="5A62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3"/>
                <p:cNvSpPr txBox="1"/>
                <p:nvPr/>
              </p:nvSpPr>
              <p:spPr>
                <a:xfrm>
                  <a:off x="1885950" y="400050"/>
                  <a:ext cx="381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30%</a:t>
                  </a:r>
                  <a:endParaRPr b="0" sz="825">
                    <a:solidFill>
                      <a:srgbClr val="5A626A"/>
                    </a:solidFill>
                    <a:latin typeface="JetBrains Mono"/>
                    <a:ea typeface="JetBrains Mono"/>
                    <a:cs typeface="JetBrains Mono"/>
                    <a:sym typeface="JetBrains Mono"/>
                  </a:endParaRPr>
                </a:p>
              </p:txBody>
            </p:sp>
            <p:sp>
              <p:nvSpPr>
                <p:cNvPr id="391" name="Google Shape;391;p23"/>
                <p:cNvSpPr txBox="1"/>
                <p:nvPr/>
              </p:nvSpPr>
              <p:spPr>
                <a:xfrm>
                  <a:off x="95250" y="571500"/>
                  <a:ext cx="5238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a:t>
                  </a:r>
                  <a:endParaRPr b="0" sz="825">
                    <a:solidFill>
                      <a:srgbClr val="5A626A"/>
                    </a:solidFill>
                    <a:latin typeface="JetBrains Mono"/>
                    <a:ea typeface="JetBrains Mono"/>
                    <a:cs typeface="JetBrains Mono"/>
                    <a:sym typeface="JetBrains Mono"/>
                  </a:endParaRPr>
                </a:p>
              </p:txBody>
            </p:sp>
            <p:sp>
              <p:nvSpPr>
                <p:cNvPr id="392" name="Google Shape;392;p23"/>
                <p:cNvSpPr/>
                <p:nvPr/>
              </p:nvSpPr>
              <p:spPr>
                <a:xfrm>
                  <a:off x="666750" y="590550"/>
                  <a:ext cx="571500" cy="114300"/>
                </a:xfrm>
                <a:prstGeom prst="rect">
                  <a:avLst/>
                </a:prstGeom>
                <a:solidFill>
                  <a:srgbClr val="E9ECEF"/>
                </a:solidFill>
                <a:ln cap="flat" cmpd="sng" w="4775">
                  <a:solidFill>
                    <a:srgbClr val="5A62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23"/>
                <p:cNvSpPr txBox="1"/>
                <p:nvPr/>
              </p:nvSpPr>
              <p:spPr>
                <a:xfrm>
                  <a:off x="1314450" y="571500"/>
                  <a:ext cx="381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15%</a:t>
                  </a:r>
                  <a:endParaRPr b="0" sz="825">
                    <a:solidFill>
                      <a:srgbClr val="5A626A"/>
                    </a:solidFill>
                    <a:latin typeface="JetBrains Mono"/>
                    <a:ea typeface="JetBrains Mono"/>
                    <a:cs typeface="JetBrains Mono"/>
                    <a:sym typeface="JetBrains Mono"/>
                  </a:endParaRPr>
                </a:p>
              </p:txBody>
            </p:sp>
          </p:grpSp>
        </p:grpSp>
        <p:grpSp>
          <p:nvGrpSpPr>
            <p:cNvPr id="394" name="Google Shape;394;p23"/>
            <p:cNvGrpSpPr/>
            <p:nvPr/>
          </p:nvGrpSpPr>
          <p:grpSpPr>
            <a:xfrm>
              <a:off x="381000" y="3009900"/>
              <a:ext cx="7810650" cy="762000"/>
              <a:chOff x="0" y="0"/>
              <a:chExt cx="7810650" cy="762000"/>
            </a:xfrm>
          </p:grpSpPr>
          <p:sp>
            <p:nvSpPr>
              <p:cNvPr id="395" name="Google Shape;395;p23"/>
              <p:cNvSpPr/>
              <p:nvPr/>
            </p:nvSpPr>
            <p:spPr>
              <a:xfrm>
                <a:off x="0" y="0"/>
                <a:ext cx="571500" cy="190500"/>
              </a:xfrm>
              <a:prstGeom prst="rect">
                <a:avLst/>
              </a:pr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3"/>
              <p:cNvSpPr txBox="1"/>
              <p:nvPr/>
            </p:nvSpPr>
            <p:spPr>
              <a:xfrm>
                <a:off x="0" y="0"/>
                <a:ext cx="571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675">
                    <a:solidFill>
                      <a:srgbClr val="FFFFFF"/>
                    </a:solidFill>
                    <a:latin typeface="JetBrains Mono"/>
                    <a:ea typeface="JetBrains Mono"/>
                    <a:cs typeface="JetBrains Mono"/>
                    <a:sym typeface="JetBrains Mono"/>
                  </a:rPr>
                  <a:t>PASS 03</a:t>
                </a:r>
                <a:endParaRPr/>
              </a:p>
            </p:txBody>
          </p:sp>
          <p:sp>
            <p:nvSpPr>
              <p:cNvPr id="397" name="Google Shape;397;p23"/>
              <p:cNvSpPr/>
              <p:nvPr/>
            </p:nvSpPr>
            <p:spPr>
              <a:xfrm>
                <a:off x="0" y="190500"/>
                <a:ext cx="2952900" cy="571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23"/>
              <p:cNvSpPr txBox="1"/>
              <p:nvPr/>
            </p:nvSpPr>
            <p:spPr>
              <a:xfrm>
                <a:off x="114300" y="304800"/>
                <a:ext cx="27243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Input Context (fed 'and' back):</a:t>
                </a:r>
                <a:endParaRPr b="0" sz="825">
                  <a:solidFill>
                    <a:srgbClr val="5A626A"/>
                  </a:solidFill>
                  <a:latin typeface="JetBrains Mono"/>
                  <a:ea typeface="JetBrains Mono"/>
                  <a:cs typeface="JetBrains Mono"/>
                  <a:sym typeface="JetBrains Mono"/>
                </a:endParaRPr>
              </a:p>
              <a:p>
                <a:pPr indent="0" lvl="0" marL="0" rtl="0" algn="l">
                  <a:spcBef>
                    <a:spcPts val="150"/>
                  </a:spcBef>
                  <a:spcAft>
                    <a:spcPts val="0"/>
                  </a:spcAft>
                  <a:buNone/>
                </a:pPr>
                <a:r>
                  <a:rPr b="1" lang="en-GB" sz="1050">
                    <a:solidFill>
                      <a:srgbClr val="111315"/>
                    </a:solidFill>
                    <a:latin typeface="Inter"/>
                    <a:ea typeface="Inter"/>
                    <a:cs typeface="Inter"/>
                    <a:sym typeface="Inter"/>
                  </a:rPr>
                  <a:t>"An apple is red and </a:t>
                </a:r>
                <a:r>
                  <a:rPr b="1" lang="en-GB" sz="1050">
                    <a:solidFill>
                      <a:srgbClr val="D9381E"/>
                    </a:solidFill>
                    <a:latin typeface="Inter"/>
                    <a:ea typeface="Inter"/>
                    <a:cs typeface="Inter"/>
                    <a:sym typeface="Inter"/>
                  </a:rPr>
                  <a:t>_____</a:t>
                </a:r>
                <a:r>
                  <a:rPr b="1" lang="en-GB" sz="1050">
                    <a:solidFill>
                      <a:srgbClr val="111315"/>
                    </a:solidFill>
                    <a:latin typeface="Inter"/>
                    <a:ea typeface="Inter"/>
                    <a:cs typeface="Inter"/>
                    <a:sym typeface="Inter"/>
                  </a:rPr>
                  <a:t>"</a:t>
                </a:r>
                <a:endParaRPr b="1" sz="1050">
                  <a:solidFill>
                    <a:srgbClr val="111315"/>
                  </a:solidFill>
                  <a:latin typeface="Inter"/>
                  <a:ea typeface="Inter"/>
                  <a:cs typeface="Inter"/>
                  <a:sym typeface="Inter"/>
                </a:endParaRPr>
              </a:p>
            </p:txBody>
          </p:sp>
          <p:grpSp>
            <p:nvGrpSpPr>
              <p:cNvPr id="399" name="Google Shape;399;p23"/>
              <p:cNvGrpSpPr/>
              <p:nvPr/>
            </p:nvGrpSpPr>
            <p:grpSpPr>
              <a:xfrm>
                <a:off x="3067050" y="438150"/>
                <a:ext cx="342900" cy="76200"/>
                <a:chOff x="0" y="-38100"/>
                <a:chExt cx="342900" cy="76200"/>
              </a:xfrm>
            </p:grpSpPr>
            <p:cxnSp>
              <p:nvCxnSpPr>
                <p:cNvPr id="400" name="Google Shape;400;p23"/>
                <p:cNvCxnSpPr/>
                <p:nvPr/>
              </p:nvCxnSpPr>
              <p:spPr>
                <a:xfrm>
                  <a:off x="0" y="0"/>
                  <a:ext cx="2667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401" name="Google Shape;401;p23"/>
                <p:cNvSpPr/>
                <p:nvPr/>
              </p:nvSpPr>
              <p:spPr>
                <a:xfrm>
                  <a:off x="266700" y="-381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402" name="Google Shape;402;p23"/>
              <p:cNvGrpSpPr/>
              <p:nvPr/>
            </p:nvGrpSpPr>
            <p:grpSpPr>
              <a:xfrm>
                <a:off x="3524250" y="0"/>
                <a:ext cx="4286400" cy="762000"/>
                <a:chOff x="0" y="0"/>
                <a:chExt cx="4286400" cy="762000"/>
              </a:xfrm>
            </p:grpSpPr>
            <p:sp>
              <p:nvSpPr>
                <p:cNvPr id="403" name="Google Shape;403;p23"/>
                <p:cNvSpPr/>
                <p:nvPr/>
              </p:nvSpPr>
              <p:spPr>
                <a:xfrm>
                  <a:off x="0" y="0"/>
                  <a:ext cx="4286400" cy="762000"/>
                </a:xfrm>
                <a:prstGeom prst="rect">
                  <a:avLst/>
                </a:prstGeom>
                <a:solidFill>
                  <a:srgbClr val="FFFFF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404" name="Google Shape;404;p23"/>
                <p:cNvCxnSpPr/>
                <p:nvPr/>
              </p:nvCxnSpPr>
              <p:spPr>
                <a:xfrm>
                  <a:off x="0" y="190500"/>
                  <a:ext cx="4286400" cy="0"/>
                </a:xfrm>
                <a:prstGeom prst="straightConnector1">
                  <a:avLst/>
                </a:prstGeom>
                <a:solidFill>
                  <a:srgbClr val="FFFFFF"/>
                </a:solidFill>
                <a:ln cap="flat" cmpd="sng" w="9525">
                  <a:solidFill>
                    <a:srgbClr val="E9ECEF"/>
                  </a:solidFill>
                  <a:prstDash val="solid"/>
                  <a:round/>
                  <a:headEnd len="sm" w="sm" type="none"/>
                  <a:tailEnd len="sm" w="sm" type="none"/>
                </a:ln>
              </p:spPr>
            </p:cxnSp>
            <p:sp>
              <p:nvSpPr>
                <p:cNvPr id="405" name="Google Shape;405;p23"/>
                <p:cNvSpPr txBox="1"/>
                <p:nvPr/>
              </p:nvSpPr>
              <p:spPr>
                <a:xfrm>
                  <a:off x="95250" y="28575"/>
                  <a:ext cx="1905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675">
                      <a:solidFill>
                        <a:srgbClr val="5A626A"/>
                      </a:solidFill>
                      <a:latin typeface="JetBrains Mono"/>
                      <a:ea typeface="JetBrains Mono"/>
                      <a:cs typeface="JetBrains Mono"/>
                      <a:sym typeface="JetBrains Mono"/>
                    </a:rPr>
                    <a:t>NEXT-TOKEN PROBABILITIES</a:t>
                  </a:r>
                  <a:endParaRPr b="1" sz="675">
                    <a:solidFill>
                      <a:srgbClr val="5A626A"/>
                    </a:solidFill>
                    <a:latin typeface="JetBrains Mono"/>
                    <a:ea typeface="JetBrains Mono"/>
                    <a:cs typeface="JetBrains Mono"/>
                    <a:sym typeface="JetBrains Mono"/>
                  </a:endParaRPr>
                </a:p>
              </p:txBody>
            </p:sp>
            <p:sp>
              <p:nvSpPr>
                <p:cNvPr id="406" name="Google Shape;406;p23"/>
                <p:cNvSpPr txBox="1"/>
                <p:nvPr/>
              </p:nvSpPr>
              <p:spPr>
                <a:xfrm>
                  <a:off x="95250" y="228600"/>
                  <a:ext cx="5238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D9381E"/>
                      </a:solidFill>
                      <a:latin typeface="JetBrains Mono"/>
                      <a:ea typeface="JetBrains Mono"/>
                      <a:cs typeface="JetBrains Mono"/>
                      <a:sym typeface="JetBrains Mono"/>
                    </a:rPr>
                    <a:t>round</a:t>
                  </a:r>
                  <a:endParaRPr b="1" sz="825">
                    <a:solidFill>
                      <a:srgbClr val="D9381E"/>
                    </a:solidFill>
                    <a:latin typeface="JetBrains Mono"/>
                    <a:ea typeface="JetBrains Mono"/>
                    <a:cs typeface="JetBrains Mono"/>
                    <a:sym typeface="JetBrains Mono"/>
                  </a:endParaRPr>
                </a:p>
              </p:txBody>
            </p:sp>
            <p:sp>
              <p:nvSpPr>
                <p:cNvPr id="407" name="Google Shape;407;p23"/>
                <p:cNvSpPr/>
                <p:nvPr/>
              </p:nvSpPr>
              <p:spPr>
                <a:xfrm>
                  <a:off x="666750" y="247650"/>
                  <a:ext cx="2381400" cy="114300"/>
                </a:xfrm>
                <a:prstGeom prst="rect">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23"/>
                <p:cNvSpPr txBox="1"/>
                <p:nvPr/>
              </p:nvSpPr>
              <p:spPr>
                <a:xfrm>
                  <a:off x="3124200" y="228600"/>
                  <a:ext cx="381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D9381E"/>
                      </a:solidFill>
                      <a:latin typeface="JetBrains Mono"/>
                      <a:ea typeface="JetBrains Mono"/>
                      <a:cs typeface="JetBrains Mono"/>
                      <a:sym typeface="JetBrains Mono"/>
                    </a:rPr>
                    <a:t>65%</a:t>
                  </a:r>
                  <a:endParaRPr b="1" sz="825">
                    <a:solidFill>
                      <a:srgbClr val="D9381E"/>
                    </a:solidFill>
                    <a:latin typeface="JetBrains Mono"/>
                    <a:ea typeface="JetBrains Mono"/>
                    <a:cs typeface="JetBrains Mono"/>
                    <a:sym typeface="JetBrains Mono"/>
                  </a:endParaRPr>
                </a:p>
              </p:txBody>
            </p:sp>
            <p:sp>
              <p:nvSpPr>
                <p:cNvPr id="409" name="Google Shape;409;p23"/>
                <p:cNvSpPr/>
                <p:nvPr/>
              </p:nvSpPr>
              <p:spPr>
                <a:xfrm>
                  <a:off x="3524250" y="238125"/>
                  <a:ext cx="619200" cy="133500"/>
                </a:xfrm>
                <a:prstGeom prst="rect">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23"/>
                <p:cNvSpPr txBox="1"/>
                <p:nvPr/>
              </p:nvSpPr>
              <p:spPr>
                <a:xfrm>
                  <a:off x="3524250" y="238125"/>
                  <a:ext cx="619200" cy="1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600">
                      <a:solidFill>
                        <a:srgbClr val="FFFFFF"/>
                      </a:solidFill>
                      <a:latin typeface="JetBrains Mono"/>
                      <a:ea typeface="JetBrains Mono"/>
                      <a:cs typeface="JetBrains Mono"/>
                      <a:sym typeface="JetBrains Mono"/>
                    </a:rPr>
                    <a:t>SELECTED</a:t>
                  </a:r>
                  <a:endParaRPr/>
                </a:p>
              </p:txBody>
            </p:sp>
            <p:sp>
              <p:nvSpPr>
                <p:cNvPr id="411" name="Google Shape;411;p23"/>
                <p:cNvSpPr txBox="1"/>
                <p:nvPr/>
              </p:nvSpPr>
              <p:spPr>
                <a:xfrm>
                  <a:off x="95250" y="400050"/>
                  <a:ext cx="5238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juicy</a:t>
                  </a:r>
                  <a:endParaRPr b="0" sz="825">
                    <a:solidFill>
                      <a:srgbClr val="5A626A"/>
                    </a:solidFill>
                    <a:latin typeface="JetBrains Mono"/>
                    <a:ea typeface="JetBrains Mono"/>
                    <a:cs typeface="JetBrains Mono"/>
                    <a:sym typeface="JetBrains Mono"/>
                  </a:endParaRPr>
                </a:p>
              </p:txBody>
            </p:sp>
            <p:sp>
              <p:nvSpPr>
                <p:cNvPr id="412" name="Google Shape;412;p23"/>
                <p:cNvSpPr/>
                <p:nvPr/>
              </p:nvSpPr>
              <p:spPr>
                <a:xfrm>
                  <a:off x="666750" y="419100"/>
                  <a:ext cx="952500" cy="114300"/>
                </a:xfrm>
                <a:prstGeom prst="rect">
                  <a:avLst/>
                </a:prstGeom>
                <a:solidFill>
                  <a:srgbClr val="E9ECEF"/>
                </a:solidFill>
                <a:ln cap="flat" cmpd="sng" w="4775">
                  <a:solidFill>
                    <a:srgbClr val="5A62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23"/>
                <p:cNvSpPr txBox="1"/>
                <p:nvPr/>
              </p:nvSpPr>
              <p:spPr>
                <a:xfrm>
                  <a:off x="1695450" y="400050"/>
                  <a:ext cx="381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25%</a:t>
                  </a:r>
                  <a:endParaRPr b="0" sz="825">
                    <a:solidFill>
                      <a:srgbClr val="5A626A"/>
                    </a:solidFill>
                    <a:latin typeface="JetBrains Mono"/>
                    <a:ea typeface="JetBrains Mono"/>
                    <a:cs typeface="JetBrains Mono"/>
                    <a:sym typeface="JetBrains Mono"/>
                  </a:endParaRPr>
                </a:p>
              </p:txBody>
            </p:sp>
            <p:sp>
              <p:nvSpPr>
                <p:cNvPr id="414" name="Google Shape;414;p23"/>
                <p:cNvSpPr txBox="1"/>
                <p:nvPr/>
              </p:nvSpPr>
              <p:spPr>
                <a:xfrm>
                  <a:off x="95250" y="571500"/>
                  <a:ext cx="5238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crisp</a:t>
                  </a:r>
                  <a:endParaRPr b="0" sz="825">
                    <a:solidFill>
                      <a:srgbClr val="5A626A"/>
                    </a:solidFill>
                    <a:latin typeface="JetBrains Mono"/>
                    <a:ea typeface="JetBrains Mono"/>
                    <a:cs typeface="JetBrains Mono"/>
                    <a:sym typeface="JetBrains Mono"/>
                  </a:endParaRPr>
                </a:p>
              </p:txBody>
            </p:sp>
            <p:sp>
              <p:nvSpPr>
                <p:cNvPr id="415" name="Google Shape;415;p23"/>
                <p:cNvSpPr/>
                <p:nvPr/>
              </p:nvSpPr>
              <p:spPr>
                <a:xfrm>
                  <a:off x="666750" y="590550"/>
                  <a:ext cx="381000" cy="114300"/>
                </a:xfrm>
                <a:prstGeom prst="rect">
                  <a:avLst/>
                </a:prstGeom>
                <a:solidFill>
                  <a:srgbClr val="E9ECEF"/>
                </a:solidFill>
                <a:ln cap="flat" cmpd="sng" w="4775">
                  <a:solidFill>
                    <a:srgbClr val="5A626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23"/>
                <p:cNvSpPr txBox="1"/>
                <p:nvPr/>
              </p:nvSpPr>
              <p:spPr>
                <a:xfrm>
                  <a:off x="1123950" y="571500"/>
                  <a:ext cx="3810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10%</a:t>
                  </a:r>
                  <a:endParaRPr b="0" sz="825">
                    <a:solidFill>
                      <a:srgbClr val="5A626A"/>
                    </a:solidFill>
                    <a:latin typeface="JetBrains Mono"/>
                    <a:ea typeface="JetBrains Mono"/>
                    <a:cs typeface="JetBrains Mono"/>
                    <a:sym typeface="JetBrains Mono"/>
                  </a:endParaRPr>
                </a:p>
              </p:txBody>
            </p:sp>
          </p:grpSp>
        </p:grpSp>
        <p:grpSp>
          <p:nvGrpSpPr>
            <p:cNvPr id="417" name="Google Shape;417;p23"/>
            <p:cNvGrpSpPr/>
            <p:nvPr/>
          </p:nvGrpSpPr>
          <p:grpSpPr>
            <a:xfrm>
              <a:off x="381000" y="3924300"/>
              <a:ext cx="8382000" cy="304800"/>
              <a:chOff x="0" y="0"/>
              <a:chExt cx="8382000" cy="304800"/>
            </a:xfrm>
          </p:grpSpPr>
          <p:sp>
            <p:nvSpPr>
              <p:cNvPr id="418" name="Google Shape;418;p23"/>
              <p:cNvSpPr/>
              <p:nvPr/>
            </p:nvSpPr>
            <p:spPr>
              <a:xfrm>
                <a:off x="0" y="0"/>
                <a:ext cx="8382000" cy="304800"/>
              </a:xfrm>
              <a:prstGeom prst="rect">
                <a:avLst/>
              </a:prstGeom>
              <a:solidFill>
                <a:srgbClr val="E9ECE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23"/>
              <p:cNvSpPr txBox="1"/>
              <p:nvPr/>
            </p:nvSpPr>
            <p:spPr>
              <a:xfrm>
                <a:off x="152400" y="57150"/>
                <a:ext cx="80772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825" u="none" strike="noStrike">
                    <a:solidFill>
                      <a:srgbClr val="D9381E"/>
                    </a:solidFill>
                    <a:latin typeface="JetBrains Mono"/>
                    <a:ea typeface="JetBrains Mono"/>
                    <a:cs typeface="JetBrains Mono"/>
                    <a:sym typeface="JetBrains Mono"/>
                  </a:rPr>
                  <a:t>AUTOREGRESSIVE LOOP:</a:t>
                </a:r>
                <a:r>
                  <a:rPr b="0" i="0" lang="en-GB" sz="825" u="none" strike="noStrike">
                    <a:solidFill>
                      <a:srgbClr val="D9381E"/>
                    </a:solidFill>
                    <a:latin typeface="JetBrains Mono"/>
                    <a:ea typeface="JetBrains Mono"/>
                    <a:cs typeface="JetBrains Mono"/>
                    <a:sym typeface="JetBrains Mono"/>
                  </a:rPr>
                  <a:t> Output tokens are iteratively appended to input sequences to generate subsequent tokens sequentially.</a:t>
                </a:r>
                <a:endParaRPr b="1" i="0" sz="825" u="none" strike="noStrike">
                  <a:solidFill>
                    <a:srgbClr val="D9381E"/>
                  </a:solidFill>
                  <a:latin typeface="JetBrains Mono"/>
                  <a:ea typeface="JetBrains Mono"/>
                  <a:cs typeface="JetBrains Mono"/>
                  <a:sym typeface="JetBrains Mono"/>
                </a:endParaRPr>
              </a:p>
            </p:txBody>
          </p:sp>
        </p:grpSp>
      </p:grpSp>
      <p:sp>
        <p:nvSpPr>
          <p:cNvPr id="420" name="Google Shape;420;p23"/>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Ref: Hochreiter &amp; Schmidhuber (1997).</a:t>
            </a:r>
            <a:endParaRPr b="0" sz="825">
              <a:solidFill>
                <a:srgbClr val="5A626A"/>
              </a:solidFill>
              <a:latin typeface="JetBrains Mono"/>
              <a:ea typeface="JetBrains Mono"/>
              <a:cs typeface="JetBrains Mono"/>
              <a:sym typeface="JetBrains Mono"/>
            </a:endParaRPr>
          </a:p>
        </p:txBody>
      </p:sp>
      <p:grpSp>
        <p:nvGrpSpPr>
          <p:cNvPr id="421" name="Google Shape;421;p23"/>
          <p:cNvGrpSpPr/>
          <p:nvPr/>
        </p:nvGrpSpPr>
        <p:grpSpPr>
          <a:xfrm>
            <a:off x="381000" y="4762500"/>
            <a:ext cx="8382000" cy="285750"/>
            <a:chOff x="381000" y="4762500"/>
            <a:chExt cx="8382000" cy="285750"/>
          </a:xfrm>
        </p:grpSpPr>
        <p:cxnSp>
          <p:nvCxnSpPr>
            <p:cNvPr id="422" name="Google Shape;422;p23"/>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423" name="Google Shape;423;p23"/>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AI in Architecture | Indrajeet Haldar</a:t>
              </a:r>
              <a:endParaRPr b="0" sz="825">
                <a:solidFill>
                  <a:srgbClr val="5A626A"/>
                </a:solidFill>
                <a:latin typeface="JetBrains Mono"/>
                <a:ea typeface="JetBrains Mono"/>
                <a:cs typeface="JetBrains Mono"/>
                <a:sym typeface="JetBrains Mon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4"/>
          <p:cNvSpPr txBox="1"/>
          <p:nvPr/>
        </p:nvSpPr>
        <p:spPr>
          <a:xfrm>
            <a:off x="381000" y="285750"/>
            <a:ext cx="8382000" cy="4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GB" sz="1950" u="none" strike="noStrike">
                <a:solidFill>
                  <a:srgbClr val="111315"/>
                </a:solidFill>
                <a:latin typeface="Space Grotesk"/>
                <a:ea typeface="Space Grotesk"/>
                <a:cs typeface="Space Grotesk"/>
                <a:sym typeface="Space Grotesk"/>
              </a:rPr>
              <a:t>Transformers: Conditional Probabilities Based on Context</a:t>
            </a:r>
            <a:endParaRPr b="0" i="0" sz="1950" u="none" strike="noStrike">
              <a:solidFill>
                <a:srgbClr val="111315"/>
              </a:solidFill>
              <a:latin typeface="Space Grotesk"/>
              <a:ea typeface="Space Grotesk"/>
              <a:cs typeface="Space Grotesk"/>
              <a:sym typeface="Space Grotesk"/>
            </a:endParaRPr>
          </a:p>
        </p:txBody>
      </p:sp>
      <p:grpSp>
        <p:nvGrpSpPr>
          <p:cNvPr id="429" name="Google Shape;429;p24"/>
          <p:cNvGrpSpPr/>
          <p:nvPr/>
        </p:nvGrpSpPr>
        <p:grpSpPr>
          <a:xfrm>
            <a:off x="381000" y="762000"/>
            <a:ext cx="8382000" cy="1619100"/>
            <a:chOff x="0" y="0"/>
            <a:chExt cx="8382000" cy="1619100"/>
          </a:xfrm>
        </p:grpSpPr>
        <p:sp>
          <p:nvSpPr>
            <p:cNvPr id="430" name="Google Shape;430;p24"/>
            <p:cNvSpPr/>
            <p:nvPr/>
          </p:nvSpPr>
          <p:spPr>
            <a:xfrm>
              <a:off x="0" y="0"/>
              <a:ext cx="8382000" cy="1619100"/>
            </a:xfrm>
            <a:prstGeom prst="roundRect">
              <a:avLst>
                <a:gd fmla="val 1176" name="adj"/>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24"/>
            <p:cNvSpPr/>
            <p:nvPr/>
          </p:nvSpPr>
          <p:spPr>
            <a:xfrm>
              <a:off x="0" y="0"/>
              <a:ext cx="2095500" cy="228600"/>
            </a:xfrm>
            <a:prstGeom prst="rect">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2" name="Google Shape;432;p24"/>
            <p:cNvSpPr txBox="1"/>
            <p:nvPr/>
          </p:nvSpPr>
          <p:spPr>
            <a:xfrm>
              <a:off x="95250" y="28575"/>
              <a:ext cx="190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111315"/>
                  </a:solidFill>
                  <a:latin typeface="JetBrains Mono"/>
                  <a:ea typeface="JetBrains Mono"/>
                  <a:cs typeface="JetBrains Mono"/>
                  <a:sym typeface="JetBrains Mono"/>
                </a:rPr>
                <a:t>CONTEXT A: FRUIT MARKET</a:t>
              </a:r>
              <a:endParaRPr b="1" sz="825">
                <a:solidFill>
                  <a:srgbClr val="111315"/>
                </a:solidFill>
                <a:latin typeface="JetBrains Mono"/>
                <a:ea typeface="JetBrains Mono"/>
                <a:cs typeface="JetBrains Mono"/>
                <a:sym typeface="JetBrains Mono"/>
              </a:endParaRPr>
            </a:p>
          </p:txBody>
        </p:sp>
        <p:cxnSp>
          <p:nvCxnSpPr>
            <p:cNvPr id="433" name="Google Shape;433;p24"/>
            <p:cNvCxnSpPr/>
            <p:nvPr/>
          </p:nvCxnSpPr>
          <p:spPr>
            <a:xfrm>
              <a:off x="4572000" y="142875"/>
              <a:ext cx="0" cy="1333500"/>
            </a:xfrm>
            <a:prstGeom prst="straightConnector1">
              <a:avLst/>
            </a:prstGeom>
            <a:solidFill>
              <a:srgbClr val="FFFFFF"/>
            </a:solidFill>
            <a:ln cap="flat" cmpd="sng" w="14300">
              <a:solidFill>
                <a:srgbClr val="E9ECEF"/>
              </a:solidFill>
              <a:prstDash val="solid"/>
              <a:round/>
              <a:headEnd len="sm" w="sm" type="none"/>
              <a:tailEnd len="sm" w="sm" type="none"/>
            </a:ln>
          </p:spPr>
        </p:cxnSp>
        <p:pic>
          <p:nvPicPr>
            <p:cNvPr id="434" name="Google Shape;434;p24"/>
            <p:cNvPicPr preferRelativeResize="0"/>
            <p:nvPr/>
          </p:nvPicPr>
          <p:blipFill rotWithShape="1">
            <a:blip r:embed="rId3">
              <a:alphaModFix/>
            </a:blip>
            <a:srcRect b="0" l="0" r="0" t="0"/>
            <a:stretch/>
          </p:blipFill>
          <p:spPr>
            <a:xfrm>
              <a:off x="823913" y="528638"/>
              <a:ext cx="3419400" cy="238200"/>
            </a:xfrm>
            <a:prstGeom prst="rect">
              <a:avLst/>
            </a:prstGeom>
            <a:noFill/>
            <a:ln>
              <a:noFill/>
            </a:ln>
          </p:spPr>
        </p:pic>
        <p:pic>
          <p:nvPicPr>
            <p:cNvPr id="435" name="Google Shape;435;p24"/>
            <p:cNvPicPr preferRelativeResize="0"/>
            <p:nvPr/>
          </p:nvPicPr>
          <p:blipFill rotWithShape="1">
            <a:blip r:embed="rId4">
              <a:alphaModFix/>
            </a:blip>
            <a:srcRect b="0" l="0" r="0" t="0"/>
            <a:stretch/>
          </p:blipFill>
          <p:spPr>
            <a:xfrm>
              <a:off x="1543050" y="590550"/>
              <a:ext cx="2700300" cy="171600"/>
            </a:xfrm>
            <a:prstGeom prst="rect">
              <a:avLst/>
            </a:prstGeom>
            <a:noFill/>
            <a:ln>
              <a:noFill/>
            </a:ln>
          </p:spPr>
        </p:pic>
        <p:sp>
          <p:nvSpPr>
            <p:cNvPr id="436" name="Google Shape;436;p24"/>
            <p:cNvSpPr txBox="1"/>
            <p:nvPr/>
          </p:nvSpPr>
          <p:spPr>
            <a:xfrm>
              <a:off x="2095500" y="266700"/>
              <a:ext cx="11430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GB" sz="750">
                  <a:solidFill>
                    <a:srgbClr val="1D4ED8"/>
                  </a:solidFill>
                  <a:latin typeface="JetBrains Mono"/>
                  <a:ea typeface="JetBrains Mono"/>
                  <a:cs typeface="JetBrains Mono"/>
                  <a:sym typeface="JetBrains Mono"/>
                </a:rPr>
                <a:t>Attention Weight</a:t>
              </a:r>
              <a:endParaRPr b="1" sz="750">
                <a:solidFill>
                  <a:srgbClr val="1D4ED8"/>
                </a:solidFill>
                <a:latin typeface="JetBrains Mono"/>
                <a:ea typeface="JetBrains Mono"/>
                <a:cs typeface="JetBrains Mono"/>
                <a:sym typeface="JetBrains Mono"/>
              </a:endParaRPr>
            </a:p>
          </p:txBody>
        </p:sp>
        <p:sp>
          <p:nvSpPr>
            <p:cNvPr id="437" name="Google Shape;437;p24"/>
            <p:cNvSpPr/>
            <p:nvPr/>
          </p:nvSpPr>
          <p:spPr>
            <a:xfrm>
              <a:off x="142875" y="781050"/>
              <a:ext cx="3333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24"/>
            <p:cNvSpPr txBox="1"/>
            <p:nvPr/>
          </p:nvSpPr>
          <p:spPr>
            <a:xfrm>
              <a:off x="142875" y="819150"/>
              <a:ext cx="3333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The</a:t>
              </a:r>
              <a:endParaRPr/>
            </a:p>
          </p:txBody>
        </p:sp>
        <p:sp>
          <p:nvSpPr>
            <p:cNvPr id="439" name="Google Shape;439;p24"/>
            <p:cNvSpPr/>
            <p:nvPr/>
          </p:nvSpPr>
          <p:spPr>
            <a:xfrm>
              <a:off x="523875" y="781050"/>
              <a:ext cx="666900" cy="266700"/>
            </a:xfrm>
            <a:prstGeom prst="rect">
              <a:avLst/>
            </a:prstGeom>
            <a:solidFill>
              <a:srgbClr val="EFF6FF"/>
            </a:solidFill>
            <a:ln cap="flat" cmpd="sng" w="14300">
              <a:solidFill>
                <a:srgbClr val="1D4E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24"/>
            <p:cNvSpPr txBox="1"/>
            <p:nvPr/>
          </p:nvSpPr>
          <p:spPr>
            <a:xfrm>
              <a:off x="523875" y="819150"/>
              <a:ext cx="666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D4ED8"/>
                  </a:solidFill>
                  <a:latin typeface="Inter"/>
                  <a:ea typeface="Inter"/>
                  <a:cs typeface="Inter"/>
                  <a:sym typeface="Inter"/>
                </a:rPr>
                <a:t>fruit</a:t>
              </a:r>
              <a:endParaRPr/>
            </a:p>
          </p:txBody>
        </p:sp>
        <p:sp>
          <p:nvSpPr>
            <p:cNvPr id="441" name="Google Shape;441;p24"/>
            <p:cNvSpPr/>
            <p:nvPr/>
          </p:nvSpPr>
          <p:spPr>
            <a:xfrm>
              <a:off x="1238250" y="781050"/>
              <a:ext cx="762000" cy="266700"/>
            </a:xfrm>
            <a:prstGeom prst="rect">
              <a:avLst/>
            </a:prstGeom>
            <a:solidFill>
              <a:srgbClr val="EFF6FF"/>
            </a:solidFill>
            <a:ln cap="flat" cmpd="sng" w="14300">
              <a:solidFill>
                <a:srgbClr val="1D4E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24"/>
            <p:cNvSpPr txBox="1"/>
            <p:nvPr/>
          </p:nvSpPr>
          <p:spPr>
            <a:xfrm>
              <a:off x="1238250" y="819150"/>
              <a:ext cx="762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D4ED8"/>
                  </a:solidFill>
                  <a:latin typeface="Inter"/>
                  <a:ea typeface="Inter"/>
                  <a:cs typeface="Inter"/>
                  <a:sym typeface="Inter"/>
                </a:rPr>
                <a:t>market</a:t>
              </a:r>
              <a:endParaRPr/>
            </a:p>
          </p:txBody>
        </p:sp>
        <p:sp>
          <p:nvSpPr>
            <p:cNvPr id="443" name="Google Shape;443;p24"/>
            <p:cNvSpPr/>
            <p:nvPr/>
          </p:nvSpPr>
          <p:spPr>
            <a:xfrm>
              <a:off x="2047875" y="781050"/>
              <a:ext cx="2667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24"/>
            <p:cNvSpPr txBox="1"/>
            <p:nvPr/>
          </p:nvSpPr>
          <p:spPr>
            <a:xfrm>
              <a:off x="2047875" y="819150"/>
              <a:ext cx="266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is</a:t>
              </a:r>
              <a:endParaRPr/>
            </a:p>
          </p:txBody>
        </p:sp>
        <p:sp>
          <p:nvSpPr>
            <p:cNvPr id="445" name="Google Shape;445;p24"/>
            <p:cNvSpPr/>
            <p:nvPr/>
          </p:nvSpPr>
          <p:spPr>
            <a:xfrm>
              <a:off x="2362200" y="781050"/>
              <a:ext cx="4764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24"/>
            <p:cNvSpPr txBox="1"/>
            <p:nvPr/>
          </p:nvSpPr>
          <p:spPr>
            <a:xfrm>
              <a:off x="2362200" y="819150"/>
              <a:ext cx="476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busy.</a:t>
              </a:r>
              <a:endParaRPr/>
            </a:p>
          </p:txBody>
        </p:sp>
        <p:sp>
          <p:nvSpPr>
            <p:cNvPr id="447" name="Google Shape;447;p24"/>
            <p:cNvSpPr/>
            <p:nvPr/>
          </p:nvSpPr>
          <p:spPr>
            <a:xfrm>
              <a:off x="2886075" y="781050"/>
              <a:ext cx="3048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8" name="Google Shape;448;p24"/>
            <p:cNvSpPr txBox="1"/>
            <p:nvPr/>
          </p:nvSpPr>
          <p:spPr>
            <a:xfrm>
              <a:off x="2886075" y="819150"/>
              <a:ext cx="3048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An</a:t>
              </a:r>
              <a:endParaRPr/>
            </a:p>
          </p:txBody>
        </p:sp>
        <p:sp>
          <p:nvSpPr>
            <p:cNvPr id="449" name="Google Shape;449;p24"/>
            <p:cNvSpPr/>
            <p:nvPr/>
          </p:nvSpPr>
          <p:spPr>
            <a:xfrm>
              <a:off x="3238500" y="781050"/>
              <a:ext cx="4764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24"/>
            <p:cNvSpPr txBox="1"/>
            <p:nvPr/>
          </p:nvSpPr>
          <p:spPr>
            <a:xfrm>
              <a:off x="3238500" y="819150"/>
              <a:ext cx="476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apple</a:t>
              </a:r>
              <a:endParaRPr/>
            </a:p>
          </p:txBody>
        </p:sp>
        <p:sp>
          <p:nvSpPr>
            <p:cNvPr id="451" name="Google Shape;451;p24"/>
            <p:cNvSpPr/>
            <p:nvPr/>
          </p:nvSpPr>
          <p:spPr>
            <a:xfrm>
              <a:off x="3762375" y="781050"/>
              <a:ext cx="2667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p24"/>
            <p:cNvSpPr txBox="1"/>
            <p:nvPr/>
          </p:nvSpPr>
          <p:spPr>
            <a:xfrm>
              <a:off x="3762375" y="819150"/>
              <a:ext cx="266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is</a:t>
              </a:r>
              <a:endParaRPr/>
            </a:p>
          </p:txBody>
        </p:sp>
        <p:sp>
          <p:nvSpPr>
            <p:cNvPr id="453" name="Google Shape;453;p24"/>
            <p:cNvSpPr/>
            <p:nvPr/>
          </p:nvSpPr>
          <p:spPr>
            <a:xfrm>
              <a:off x="4076700" y="781050"/>
              <a:ext cx="400200" cy="266700"/>
            </a:xfrm>
            <a:prstGeom prst="rect">
              <a:avLst/>
            </a:prstGeom>
            <a:solidFill>
              <a:srgbClr val="1D4ED8"/>
            </a:solidFill>
            <a:ln cap="flat" cmpd="sng" w="14300">
              <a:solidFill>
                <a:srgbClr val="1D4E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24"/>
            <p:cNvSpPr txBox="1"/>
            <p:nvPr/>
          </p:nvSpPr>
          <p:spPr>
            <a:xfrm>
              <a:off x="4076700" y="819150"/>
              <a:ext cx="4002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FFFFFF"/>
                  </a:solidFill>
                  <a:latin typeface="Inter"/>
                  <a:ea typeface="Inter"/>
                  <a:cs typeface="Inter"/>
                  <a:sym typeface="Inter"/>
                </a:rPr>
                <a:t>_____</a:t>
              </a:r>
              <a:endParaRPr/>
            </a:p>
          </p:txBody>
        </p:sp>
        <p:sp>
          <p:nvSpPr>
            <p:cNvPr id="455" name="Google Shape;455;p24"/>
            <p:cNvSpPr txBox="1"/>
            <p:nvPr/>
          </p:nvSpPr>
          <p:spPr>
            <a:xfrm>
              <a:off x="142875" y="1190625"/>
              <a:ext cx="43338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Prompt: "The fruit market is busy. An apple is _____"</a:t>
              </a:r>
              <a:endParaRPr b="0" sz="825">
                <a:solidFill>
                  <a:srgbClr val="5A626A"/>
                </a:solidFill>
                <a:latin typeface="JetBrains Mono"/>
                <a:ea typeface="JetBrains Mono"/>
                <a:cs typeface="JetBrains Mono"/>
                <a:sym typeface="JetBrains Mono"/>
              </a:endParaRPr>
            </a:p>
          </p:txBody>
        </p:sp>
        <p:sp>
          <p:nvSpPr>
            <p:cNvPr id="456" name="Google Shape;456;p24"/>
            <p:cNvSpPr txBox="1"/>
            <p:nvPr/>
          </p:nvSpPr>
          <p:spPr>
            <a:xfrm>
              <a:off x="4762500" y="114300"/>
              <a:ext cx="34290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111315"/>
                  </a:solidFill>
                  <a:latin typeface="JetBrains Mono"/>
                  <a:ea typeface="JetBrains Mono"/>
                  <a:cs typeface="JetBrains Mono"/>
                  <a:sym typeface="JetBrains Mono"/>
                </a:rPr>
                <a:t>NEXT-WORD PROBABILITIES P(w | Context)</a:t>
              </a:r>
              <a:endParaRPr b="1" sz="825">
                <a:solidFill>
                  <a:srgbClr val="111315"/>
                </a:solidFill>
                <a:latin typeface="JetBrains Mono"/>
                <a:ea typeface="JetBrains Mono"/>
                <a:cs typeface="JetBrains Mono"/>
                <a:sym typeface="JetBrains Mono"/>
              </a:endParaRPr>
            </a:p>
          </p:txBody>
        </p:sp>
        <p:sp>
          <p:nvSpPr>
            <p:cNvPr id="457" name="Google Shape;457;p24"/>
            <p:cNvSpPr txBox="1"/>
            <p:nvPr/>
          </p:nvSpPr>
          <p:spPr>
            <a:xfrm>
              <a:off x="4762500" y="400050"/>
              <a:ext cx="666900" cy="190500"/>
            </a:xfrm>
            <a:prstGeom prst="rect">
              <a:avLst/>
            </a:prstGeom>
            <a:noFill/>
            <a:ln>
              <a:noFill/>
            </a:ln>
          </p:spPr>
          <p:txBody>
            <a:bodyPr anchorCtr="0" anchor="b" bIns="0" lIns="0" spcFirstLastPara="1" rIns="76200" wrap="square" tIns="0">
              <a:noAutofit/>
            </a:bodyPr>
            <a:lstStyle/>
            <a:p>
              <a:pPr indent="0" lvl="0" marL="0" rtl="0" algn="l">
                <a:spcBef>
                  <a:spcPts val="0"/>
                </a:spcBef>
                <a:spcAft>
                  <a:spcPts val="0"/>
                </a:spcAft>
                <a:buNone/>
              </a:pPr>
              <a:r>
                <a:rPr b="1" lang="en-GB" sz="975">
                  <a:solidFill>
                    <a:srgbClr val="111315"/>
                  </a:solidFill>
                  <a:latin typeface="Inter"/>
                  <a:ea typeface="Inter"/>
                  <a:cs typeface="Inter"/>
                  <a:sym typeface="Inter"/>
                </a:rPr>
                <a:t>red</a:t>
              </a:r>
              <a:endParaRPr/>
            </a:p>
          </p:txBody>
        </p:sp>
        <p:sp>
          <p:nvSpPr>
            <p:cNvPr id="458" name="Google Shape;458;p24"/>
            <p:cNvSpPr/>
            <p:nvPr/>
          </p:nvSpPr>
          <p:spPr>
            <a:xfrm>
              <a:off x="5476875" y="400050"/>
              <a:ext cx="1714500" cy="190500"/>
            </a:xfrm>
            <a:prstGeom prst="roundRect">
              <a:avLst>
                <a:gd fmla="val 10000" name="adj"/>
              </a:avLst>
            </a:pr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9" name="Google Shape;459;p24"/>
            <p:cNvSpPr txBox="1"/>
            <p:nvPr/>
          </p:nvSpPr>
          <p:spPr>
            <a:xfrm>
              <a:off x="7267575" y="400050"/>
              <a:ext cx="57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1D4ED8"/>
                  </a:solidFill>
                  <a:latin typeface="JetBrains Mono"/>
                  <a:ea typeface="JetBrains Mono"/>
                  <a:cs typeface="JetBrains Mono"/>
                  <a:sym typeface="JetBrains Mono"/>
                </a:rPr>
                <a:t>50%</a:t>
              </a:r>
              <a:endParaRPr b="1" sz="825">
                <a:solidFill>
                  <a:srgbClr val="1D4ED8"/>
                </a:solidFill>
                <a:latin typeface="JetBrains Mono"/>
                <a:ea typeface="JetBrains Mono"/>
                <a:cs typeface="JetBrains Mono"/>
                <a:sym typeface="JetBrains Mono"/>
              </a:endParaRPr>
            </a:p>
          </p:txBody>
        </p:sp>
        <p:sp>
          <p:nvSpPr>
            <p:cNvPr id="460" name="Google Shape;460;p24"/>
            <p:cNvSpPr txBox="1"/>
            <p:nvPr/>
          </p:nvSpPr>
          <p:spPr>
            <a:xfrm>
              <a:off x="4762500" y="704850"/>
              <a:ext cx="666900" cy="190500"/>
            </a:xfrm>
            <a:prstGeom prst="rect">
              <a:avLst/>
            </a:prstGeom>
            <a:noFill/>
            <a:ln>
              <a:noFill/>
            </a:ln>
          </p:spPr>
          <p:txBody>
            <a:bodyPr anchorCtr="0" anchor="b" bIns="0" lIns="0" spcFirstLastPara="1" rIns="76200" wrap="square" tIns="0">
              <a:noAutofit/>
            </a:bodyPr>
            <a:lstStyle/>
            <a:p>
              <a:pPr indent="0" lvl="0" marL="0" rtl="0" algn="l">
                <a:spcBef>
                  <a:spcPts val="0"/>
                </a:spcBef>
                <a:spcAft>
                  <a:spcPts val="0"/>
                </a:spcAft>
                <a:buNone/>
              </a:pPr>
              <a:r>
                <a:rPr b="0" lang="en-GB" sz="975">
                  <a:solidFill>
                    <a:srgbClr val="111315"/>
                  </a:solidFill>
                  <a:latin typeface="Inter"/>
                  <a:ea typeface="Inter"/>
                  <a:cs typeface="Inter"/>
                  <a:sym typeface="Inter"/>
                </a:rPr>
                <a:t>round</a:t>
              </a:r>
              <a:endParaRPr/>
            </a:p>
          </p:txBody>
        </p:sp>
        <p:sp>
          <p:nvSpPr>
            <p:cNvPr id="461" name="Google Shape;461;p24"/>
            <p:cNvSpPr/>
            <p:nvPr/>
          </p:nvSpPr>
          <p:spPr>
            <a:xfrm>
              <a:off x="5476875" y="704850"/>
              <a:ext cx="1200300" cy="190500"/>
            </a:xfrm>
            <a:prstGeom prst="roundRect">
              <a:avLst>
                <a:gd fmla="val 10000" name="adj"/>
              </a:avLst>
            </a:prstGeom>
            <a:solidFill>
              <a:srgbClr val="1D4ED8">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24"/>
            <p:cNvSpPr txBox="1"/>
            <p:nvPr/>
          </p:nvSpPr>
          <p:spPr>
            <a:xfrm>
              <a:off x="6753225" y="704850"/>
              <a:ext cx="57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35%</a:t>
              </a:r>
              <a:endParaRPr b="0" sz="825">
                <a:solidFill>
                  <a:srgbClr val="5A626A"/>
                </a:solidFill>
                <a:latin typeface="JetBrains Mono"/>
                <a:ea typeface="JetBrains Mono"/>
                <a:cs typeface="JetBrains Mono"/>
                <a:sym typeface="JetBrains Mono"/>
              </a:endParaRPr>
            </a:p>
          </p:txBody>
        </p:sp>
        <p:sp>
          <p:nvSpPr>
            <p:cNvPr id="463" name="Google Shape;463;p24"/>
            <p:cNvSpPr txBox="1"/>
            <p:nvPr/>
          </p:nvSpPr>
          <p:spPr>
            <a:xfrm>
              <a:off x="4762500" y="1009650"/>
              <a:ext cx="666900" cy="190500"/>
            </a:xfrm>
            <a:prstGeom prst="rect">
              <a:avLst/>
            </a:prstGeom>
            <a:noFill/>
            <a:ln>
              <a:noFill/>
            </a:ln>
          </p:spPr>
          <p:txBody>
            <a:bodyPr anchorCtr="0" anchor="b" bIns="0" lIns="0" spcFirstLastPara="1" rIns="76200" wrap="square" tIns="0">
              <a:noAutofit/>
            </a:bodyPr>
            <a:lstStyle/>
            <a:p>
              <a:pPr indent="0" lvl="0" marL="0" rtl="0" algn="l">
                <a:spcBef>
                  <a:spcPts val="0"/>
                </a:spcBef>
                <a:spcAft>
                  <a:spcPts val="0"/>
                </a:spcAft>
                <a:buNone/>
              </a:pPr>
              <a:r>
                <a:rPr b="0" lang="en-GB" sz="975">
                  <a:solidFill>
                    <a:srgbClr val="111315"/>
                  </a:solidFill>
                  <a:latin typeface="Inter"/>
                  <a:ea typeface="Inter"/>
                  <a:cs typeface="Inter"/>
                  <a:sym typeface="Inter"/>
                </a:rPr>
                <a:t>fresh</a:t>
              </a:r>
              <a:endParaRPr/>
            </a:p>
          </p:txBody>
        </p:sp>
        <p:sp>
          <p:nvSpPr>
            <p:cNvPr id="464" name="Google Shape;464;p24"/>
            <p:cNvSpPr/>
            <p:nvPr/>
          </p:nvSpPr>
          <p:spPr>
            <a:xfrm>
              <a:off x="5476875" y="1009650"/>
              <a:ext cx="514500" cy="190500"/>
            </a:xfrm>
            <a:prstGeom prst="roundRect">
              <a:avLst>
                <a:gd fmla="val 10000" name="adj"/>
              </a:avLst>
            </a:prstGeom>
            <a:solidFill>
              <a:srgbClr val="1D4ED8">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24"/>
            <p:cNvSpPr txBox="1"/>
            <p:nvPr/>
          </p:nvSpPr>
          <p:spPr>
            <a:xfrm>
              <a:off x="6067425" y="1009650"/>
              <a:ext cx="57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15%</a:t>
              </a:r>
              <a:endParaRPr b="0" sz="825">
                <a:solidFill>
                  <a:srgbClr val="5A626A"/>
                </a:solidFill>
                <a:latin typeface="JetBrains Mono"/>
                <a:ea typeface="JetBrains Mono"/>
                <a:cs typeface="JetBrains Mono"/>
                <a:sym typeface="JetBrains Mono"/>
              </a:endParaRPr>
            </a:p>
          </p:txBody>
        </p:sp>
      </p:grpSp>
      <p:grpSp>
        <p:nvGrpSpPr>
          <p:cNvPr id="466" name="Google Shape;466;p24"/>
          <p:cNvGrpSpPr/>
          <p:nvPr/>
        </p:nvGrpSpPr>
        <p:grpSpPr>
          <a:xfrm>
            <a:off x="381000" y="2524125"/>
            <a:ext cx="8382000" cy="1619100"/>
            <a:chOff x="0" y="0"/>
            <a:chExt cx="8382000" cy="1619100"/>
          </a:xfrm>
        </p:grpSpPr>
        <p:sp>
          <p:nvSpPr>
            <p:cNvPr id="467" name="Google Shape;467;p24"/>
            <p:cNvSpPr/>
            <p:nvPr/>
          </p:nvSpPr>
          <p:spPr>
            <a:xfrm>
              <a:off x="0" y="0"/>
              <a:ext cx="8382000" cy="1619100"/>
            </a:xfrm>
            <a:prstGeom prst="roundRect">
              <a:avLst>
                <a:gd fmla="val 1176" name="adj"/>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24"/>
            <p:cNvSpPr/>
            <p:nvPr/>
          </p:nvSpPr>
          <p:spPr>
            <a:xfrm>
              <a:off x="0" y="0"/>
              <a:ext cx="2095500" cy="228600"/>
            </a:xfrm>
            <a:prstGeom prst="rect">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9" name="Google Shape;469;p24"/>
            <p:cNvSpPr txBox="1"/>
            <p:nvPr/>
          </p:nvSpPr>
          <p:spPr>
            <a:xfrm>
              <a:off x="95250" y="28575"/>
              <a:ext cx="190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111315"/>
                  </a:solidFill>
                  <a:latin typeface="JetBrains Mono"/>
                  <a:ea typeface="JetBrains Mono"/>
                  <a:cs typeface="JetBrains Mono"/>
                  <a:sym typeface="JetBrains Mono"/>
                </a:rPr>
                <a:t>CONTEXT B: LAPTOP STORE</a:t>
              </a:r>
              <a:endParaRPr b="1" sz="825">
                <a:solidFill>
                  <a:srgbClr val="111315"/>
                </a:solidFill>
                <a:latin typeface="JetBrains Mono"/>
                <a:ea typeface="JetBrains Mono"/>
                <a:cs typeface="JetBrains Mono"/>
                <a:sym typeface="JetBrains Mono"/>
              </a:endParaRPr>
            </a:p>
          </p:txBody>
        </p:sp>
        <p:cxnSp>
          <p:nvCxnSpPr>
            <p:cNvPr id="470" name="Google Shape;470;p24"/>
            <p:cNvCxnSpPr/>
            <p:nvPr/>
          </p:nvCxnSpPr>
          <p:spPr>
            <a:xfrm>
              <a:off x="4572000" y="142875"/>
              <a:ext cx="0" cy="1333500"/>
            </a:xfrm>
            <a:prstGeom prst="straightConnector1">
              <a:avLst/>
            </a:prstGeom>
            <a:solidFill>
              <a:srgbClr val="FFFFFF"/>
            </a:solidFill>
            <a:ln cap="flat" cmpd="sng" w="14300">
              <a:solidFill>
                <a:srgbClr val="E9ECEF"/>
              </a:solidFill>
              <a:prstDash val="solid"/>
              <a:round/>
              <a:headEnd len="sm" w="sm" type="none"/>
              <a:tailEnd len="sm" w="sm" type="none"/>
            </a:ln>
          </p:spPr>
        </p:cxnSp>
        <p:pic>
          <p:nvPicPr>
            <p:cNvPr id="471" name="Google Shape;471;p24"/>
            <p:cNvPicPr preferRelativeResize="0"/>
            <p:nvPr/>
          </p:nvPicPr>
          <p:blipFill rotWithShape="1">
            <a:blip r:embed="rId5">
              <a:alphaModFix/>
            </a:blip>
            <a:srcRect b="0" l="0" r="0" t="0"/>
            <a:stretch/>
          </p:blipFill>
          <p:spPr>
            <a:xfrm>
              <a:off x="871538" y="528638"/>
              <a:ext cx="3372000" cy="238200"/>
            </a:xfrm>
            <a:prstGeom prst="rect">
              <a:avLst/>
            </a:prstGeom>
            <a:noFill/>
            <a:ln>
              <a:noFill/>
            </a:ln>
          </p:spPr>
        </p:pic>
        <p:pic>
          <p:nvPicPr>
            <p:cNvPr id="472" name="Google Shape;472;p24"/>
            <p:cNvPicPr preferRelativeResize="0"/>
            <p:nvPr/>
          </p:nvPicPr>
          <p:blipFill rotWithShape="1">
            <a:blip r:embed="rId6">
              <a:alphaModFix/>
            </a:blip>
            <a:srcRect b="0" l="0" r="0" t="0"/>
            <a:stretch/>
          </p:blipFill>
          <p:spPr>
            <a:xfrm>
              <a:off x="1638300" y="590550"/>
              <a:ext cx="2605200" cy="171600"/>
            </a:xfrm>
            <a:prstGeom prst="rect">
              <a:avLst/>
            </a:prstGeom>
            <a:noFill/>
            <a:ln>
              <a:noFill/>
            </a:ln>
          </p:spPr>
        </p:pic>
        <p:sp>
          <p:nvSpPr>
            <p:cNvPr id="473" name="Google Shape;473;p24"/>
            <p:cNvSpPr txBox="1"/>
            <p:nvPr/>
          </p:nvSpPr>
          <p:spPr>
            <a:xfrm>
              <a:off x="2095500" y="266700"/>
              <a:ext cx="11430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GB" sz="750">
                  <a:solidFill>
                    <a:srgbClr val="D9381E"/>
                  </a:solidFill>
                  <a:latin typeface="JetBrains Mono"/>
                  <a:ea typeface="JetBrains Mono"/>
                  <a:cs typeface="JetBrains Mono"/>
                  <a:sym typeface="JetBrains Mono"/>
                </a:rPr>
                <a:t>Attention Weight</a:t>
              </a:r>
              <a:endParaRPr b="1" sz="750">
                <a:solidFill>
                  <a:srgbClr val="D9381E"/>
                </a:solidFill>
                <a:latin typeface="JetBrains Mono"/>
                <a:ea typeface="JetBrains Mono"/>
                <a:cs typeface="JetBrains Mono"/>
                <a:sym typeface="JetBrains Mono"/>
              </a:endParaRPr>
            </a:p>
          </p:txBody>
        </p:sp>
        <p:sp>
          <p:nvSpPr>
            <p:cNvPr id="474" name="Google Shape;474;p24"/>
            <p:cNvSpPr/>
            <p:nvPr/>
          </p:nvSpPr>
          <p:spPr>
            <a:xfrm>
              <a:off x="142875" y="781050"/>
              <a:ext cx="3333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5" name="Google Shape;475;p24"/>
            <p:cNvSpPr txBox="1"/>
            <p:nvPr/>
          </p:nvSpPr>
          <p:spPr>
            <a:xfrm>
              <a:off x="142875" y="819150"/>
              <a:ext cx="3333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The</a:t>
              </a:r>
              <a:endParaRPr/>
            </a:p>
          </p:txBody>
        </p:sp>
        <p:sp>
          <p:nvSpPr>
            <p:cNvPr id="476" name="Google Shape;476;p24"/>
            <p:cNvSpPr/>
            <p:nvPr/>
          </p:nvSpPr>
          <p:spPr>
            <a:xfrm>
              <a:off x="523875" y="781050"/>
              <a:ext cx="762000" cy="266700"/>
            </a:xfrm>
            <a:prstGeom prst="rect">
              <a:avLst/>
            </a:prstGeom>
            <a:solidFill>
              <a:srgbClr val="FEF2F2"/>
            </a:solidFill>
            <a:ln cap="flat" cmpd="sng" w="14300">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24"/>
            <p:cNvSpPr txBox="1"/>
            <p:nvPr/>
          </p:nvSpPr>
          <p:spPr>
            <a:xfrm>
              <a:off x="523875" y="819150"/>
              <a:ext cx="762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D9381E"/>
                  </a:solidFill>
                  <a:latin typeface="Inter"/>
                  <a:ea typeface="Inter"/>
                  <a:cs typeface="Inter"/>
                  <a:sym typeface="Inter"/>
                </a:rPr>
                <a:t>laptop</a:t>
              </a:r>
              <a:endParaRPr/>
            </a:p>
          </p:txBody>
        </p:sp>
        <p:sp>
          <p:nvSpPr>
            <p:cNvPr id="478" name="Google Shape;478;p24"/>
            <p:cNvSpPr/>
            <p:nvPr/>
          </p:nvSpPr>
          <p:spPr>
            <a:xfrm>
              <a:off x="1333500" y="781050"/>
              <a:ext cx="666900" cy="266700"/>
            </a:xfrm>
            <a:prstGeom prst="rect">
              <a:avLst/>
            </a:prstGeom>
            <a:solidFill>
              <a:srgbClr val="FEF2F2"/>
            </a:solidFill>
            <a:ln cap="flat" cmpd="sng" w="14300">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p24"/>
            <p:cNvSpPr txBox="1"/>
            <p:nvPr/>
          </p:nvSpPr>
          <p:spPr>
            <a:xfrm>
              <a:off x="1333500" y="819150"/>
              <a:ext cx="666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D9381E"/>
                  </a:solidFill>
                  <a:latin typeface="Inter"/>
                  <a:ea typeface="Inter"/>
                  <a:cs typeface="Inter"/>
                  <a:sym typeface="Inter"/>
                </a:rPr>
                <a:t>store</a:t>
              </a:r>
              <a:endParaRPr/>
            </a:p>
          </p:txBody>
        </p:sp>
        <p:sp>
          <p:nvSpPr>
            <p:cNvPr id="480" name="Google Shape;480;p24"/>
            <p:cNvSpPr/>
            <p:nvPr/>
          </p:nvSpPr>
          <p:spPr>
            <a:xfrm>
              <a:off x="2047875" y="781050"/>
              <a:ext cx="2667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1" name="Google Shape;481;p24"/>
            <p:cNvSpPr txBox="1"/>
            <p:nvPr/>
          </p:nvSpPr>
          <p:spPr>
            <a:xfrm>
              <a:off x="2047875" y="819150"/>
              <a:ext cx="266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is</a:t>
              </a:r>
              <a:endParaRPr/>
            </a:p>
          </p:txBody>
        </p:sp>
        <p:sp>
          <p:nvSpPr>
            <p:cNvPr id="482" name="Google Shape;482;p24"/>
            <p:cNvSpPr/>
            <p:nvPr/>
          </p:nvSpPr>
          <p:spPr>
            <a:xfrm>
              <a:off x="2362200" y="781050"/>
              <a:ext cx="4764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24"/>
            <p:cNvSpPr txBox="1"/>
            <p:nvPr/>
          </p:nvSpPr>
          <p:spPr>
            <a:xfrm>
              <a:off x="2362200" y="819150"/>
              <a:ext cx="476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busy.</a:t>
              </a:r>
              <a:endParaRPr/>
            </a:p>
          </p:txBody>
        </p:sp>
        <p:sp>
          <p:nvSpPr>
            <p:cNvPr id="484" name="Google Shape;484;p24"/>
            <p:cNvSpPr/>
            <p:nvPr/>
          </p:nvSpPr>
          <p:spPr>
            <a:xfrm>
              <a:off x="2886075" y="781050"/>
              <a:ext cx="3048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24"/>
            <p:cNvSpPr txBox="1"/>
            <p:nvPr/>
          </p:nvSpPr>
          <p:spPr>
            <a:xfrm>
              <a:off x="2886075" y="819150"/>
              <a:ext cx="3048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An</a:t>
              </a:r>
              <a:endParaRPr/>
            </a:p>
          </p:txBody>
        </p:sp>
        <p:sp>
          <p:nvSpPr>
            <p:cNvPr id="486" name="Google Shape;486;p24"/>
            <p:cNvSpPr/>
            <p:nvPr/>
          </p:nvSpPr>
          <p:spPr>
            <a:xfrm>
              <a:off x="3238500" y="781050"/>
              <a:ext cx="4764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24"/>
            <p:cNvSpPr txBox="1"/>
            <p:nvPr/>
          </p:nvSpPr>
          <p:spPr>
            <a:xfrm>
              <a:off x="3238500" y="819150"/>
              <a:ext cx="476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Apple</a:t>
              </a:r>
              <a:endParaRPr/>
            </a:p>
          </p:txBody>
        </p:sp>
        <p:sp>
          <p:nvSpPr>
            <p:cNvPr id="488" name="Google Shape;488;p24"/>
            <p:cNvSpPr/>
            <p:nvPr/>
          </p:nvSpPr>
          <p:spPr>
            <a:xfrm>
              <a:off x="3762375" y="781050"/>
              <a:ext cx="266700" cy="2667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24"/>
            <p:cNvSpPr txBox="1"/>
            <p:nvPr/>
          </p:nvSpPr>
          <p:spPr>
            <a:xfrm>
              <a:off x="3762375" y="819150"/>
              <a:ext cx="266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75">
                  <a:solidFill>
                    <a:srgbClr val="111315"/>
                  </a:solidFill>
                  <a:latin typeface="Inter"/>
                  <a:ea typeface="Inter"/>
                  <a:cs typeface="Inter"/>
                  <a:sym typeface="Inter"/>
                </a:rPr>
                <a:t>is</a:t>
              </a:r>
              <a:endParaRPr/>
            </a:p>
          </p:txBody>
        </p:sp>
        <p:sp>
          <p:nvSpPr>
            <p:cNvPr id="490" name="Google Shape;490;p24"/>
            <p:cNvSpPr/>
            <p:nvPr/>
          </p:nvSpPr>
          <p:spPr>
            <a:xfrm>
              <a:off x="4076700" y="781050"/>
              <a:ext cx="400200" cy="266700"/>
            </a:xfrm>
            <a:prstGeom prst="rect">
              <a:avLst/>
            </a:prstGeom>
            <a:solidFill>
              <a:srgbClr val="D9381E"/>
            </a:solidFill>
            <a:ln cap="flat" cmpd="sng" w="14300">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24"/>
            <p:cNvSpPr txBox="1"/>
            <p:nvPr/>
          </p:nvSpPr>
          <p:spPr>
            <a:xfrm>
              <a:off x="4076700" y="819150"/>
              <a:ext cx="4002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FFFFFF"/>
                  </a:solidFill>
                  <a:latin typeface="Inter"/>
                  <a:ea typeface="Inter"/>
                  <a:cs typeface="Inter"/>
                  <a:sym typeface="Inter"/>
                </a:rPr>
                <a:t>_____</a:t>
              </a:r>
              <a:endParaRPr/>
            </a:p>
          </p:txBody>
        </p:sp>
        <p:sp>
          <p:nvSpPr>
            <p:cNvPr id="492" name="Google Shape;492;p24"/>
            <p:cNvSpPr txBox="1"/>
            <p:nvPr/>
          </p:nvSpPr>
          <p:spPr>
            <a:xfrm>
              <a:off x="142875" y="1190625"/>
              <a:ext cx="43338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Prompt: "The laptop store is busy. An Apple is _____"</a:t>
              </a:r>
              <a:endParaRPr b="0" sz="825">
                <a:solidFill>
                  <a:srgbClr val="5A626A"/>
                </a:solidFill>
                <a:latin typeface="JetBrains Mono"/>
                <a:ea typeface="JetBrains Mono"/>
                <a:cs typeface="JetBrains Mono"/>
                <a:sym typeface="JetBrains Mono"/>
              </a:endParaRPr>
            </a:p>
          </p:txBody>
        </p:sp>
        <p:sp>
          <p:nvSpPr>
            <p:cNvPr id="493" name="Google Shape;493;p24"/>
            <p:cNvSpPr txBox="1"/>
            <p:nvPr/>
          </p:nvSpPr>
          <p:spPr>
            <a:xfrm>
              <a:off x="4762500" y="114300"/>
              <a:ext cx="34290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111315"/>
                  </a:solidFill>
                  <a:latin typeface="JetBrains Mono"/>
                  <a:ea typeface="JetBrains Mono"/>
                  <a:cs typeface="JetBrains Mono"/>
                  <a:sym typeface="JetBrains Mono"/>
                </a:rPr>
                <a:t>NEXT-WORD PROBABILITIES P(w | Context)</a:t>
              </a:r>
              <a:endParaRPr b="1" sz="825">
                <a:solidFill>
                  <a:srgbClr val="111315"/>
                </a:solidFill>
                <a:latin typeface="JetBrains Mono"/>
                <a:ea typeface="JetBrains Mono"/>
                <a:cs typeface="JetBrains Mono"/>
                <a:sym typeface="JetBrains Mono"/>
              </a:endParaRPr>
            </a:p>
          </p:txBody>
        </p:sp>
        <p:sp>
          <p:nvSpPr>
            <p:cNvPr id="494" name="Google Shape;494;p24"/>
            <p:cNvSpPr txBox="1"/>
            <p:nvPr/>
          </p:nvSpPr>
          <p:spPr>
            <a:xfrm>
              <a:off x="4619625" y="400050"/>
              <a:ext cx="809700" cy="190500"/>
            </a:xfrm>
            <a:prstGeom prst="rect">
              <a:avLst/>
            </a:prstGeom>
            <a:noFill/>
            <a:ln>
              <a:noFill/>
            </a:ln>
          </p:spPr>
          <p:txBody>
            <a:bodyPr anchorCtr="0" anchor="b" bIns="0" lIns="0" spcFirstLastPara="1" rIns="76200" wrap="square" tIns="0">
              <a:noAutofit/>
            </a:bodyPr>
            <a:lstStyle/>
            <a:p>
              <a:pPr indent="0" lvl="0" marL="0" rtl="0" algn="l">
                <a:spcBef>
                  <a:spcPts val="0"/>
                </a:spcBef>
                <a:spcAft>
                  <a:spcPts val="0"/>
                </a:spcAft>
                <a:buNone/>
              </a:pPr>
              <a:r>
                <a:rPr b="1" lang="en-GB" sz="975">
                  <a:solidFill>
                    <a:srgbClr val="111315"/>
                  </a:solidFill>
                  <a:latin typeface="Inter"/>
                  <a:ea typeface="Inter"/>
                  <a:cs typeface="Inter"/>
                  <a:sym typeface="Inter"/>
                </a:rPr>
                <a:t>expensive</a:t>
              </a:r>
              <a:endParaRPr/>
            </a:p>
          </p:txBody>
        </p:sp>
        <p:sp>
          <p:nvSpPr>
            <p:cNvPr id="495" name="Google Shape;495;p24"/>
            <p:cNvSpPr/>
            <p:nvPr/>
          </p:nvSpPr>
          <p:spPr>
            <a:xfrm>
              <a:off x="5476875" y="400050"/>
              <a:ext cx="1886100" cy="190500"/>
            </a:xfrm>
            <a:prstGeom prst="roundRect">
              <a:avLst>
                <a:gd fmla="val 10000" name="adj"/>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24"/>
            <p:cNvSpPr txBox="1"/>
            <p:nvPr/>
          </p:nvSpPr>
          <p:spPr>
            <a:xfrm>
              <a:off x="7439025" y="400050"/>
              <a:ext cx="57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825">
                  <a:solidFill>
                    <a:srgbClr val="D9381E"/>
                  </a:solidFill>
                  <a:latin typeface="JetBrains Mono"/>
                  <a:ea typeface="JetBrains Mono"/>
                  <a:cs typeface="JetBrains Mono"/>
                  <a:sym typeface="JetBrains Mono"/>
                </a:rPr>
                <a:t>55%</a:t>
              </a:r>
              <a:endParaRPr b="1" sz="825">
                <a:solidFill>
                  <a:srgbClr val="D9381E"/>
                </a:solidFill>
                <a:latin typeface="JetBrains Mono"/>
                <a:ea typeface="JetBrains Mono"/>
                <a:cs typeface="JetBrains Mono"/>
                <a:sym typeface="JetBrains Mono"/>
              </a:endParaRPr>
            </a:p>
          </p:txBody>
        </p:sp>
        <p:sp>
          <p:nvSpPr>
            <p:cNvPr id="497" name="Google Shape;497;p24"/>
            <p:cNvSpPr txBox="1"/>
            <p:nvPr/>
          </p:nvSpPr>
          <p:spPr>
            <a:xfrm>
              <a:off x="4619625" y="704850"/>
              <a:ext cx="809700" cy="190500"/>
            </a:xfrm>
            <a:prstGeom prst="rect">
              <a:avLst/>
            </a:prstGeom>
            <a:noFill/>
            <a:ln>
              <a:noFill/>
            </a:ln>
          </p:spPr>
          <p:txBody>
            <a:bodyPr anchorCtr="0" anchor="b" bIns="0" lIns="0" spcFirstLastPara="1" rIns="76200" wrap="square" tIns="0">
              <a:noAutofit/>
            </a:bodyPr>
            <a:lstStyle/>
            <a:p>
              <a:pPr indent="0" lvl="0" marL="0" rtl="0" algn="l">
                <a:spcBef>
                  <a:spcPts val="0"/>
                </a:spcBef>
                <a:spcAft>
                  <a:spcPts val="0"/>
                </a:spcAft>
                <a:buNone/>
              </a:pPr>
              <a:r>
                <a:rPr b="0" lang="en-GB" sz="975">
                  <a:solidFill>
                    <a:srgbClr val="111315"/>
                  </a:solidFill>
                  <a:latin typeface="Inter"/>
                  <a:ea typeface="Inter"/>
                  <a:cs typeface="Inter"/>
                  <a:sym typeface="Inter"/>
                </a:rPr>
                <a:t>aluminum</a:t>
              </a:r>
              <a:endParaRPr/>
            </a:p>
          </p:txBody>
        </p:sp>
        <p:sp>
          <p:nvSpPr>
            <p:cNvPr id="498" name="Google Shape;498;p24"/>
            <p:cNvSpPr/>
            <p:nvPr/>
          </p:nvSpPr>
          <p:spPr>
            <a:xfrm>
              <a:off x="5476875" y="704850"/>
              <a:ext cx="1028700" cy="190500"/>
            </a:xfrm>
            <a:prstGeom prst="roundRect">
              <a:avLst>
                <a:gd fmla="val 10000" name="adj"/>
              </a:avLst>
            </a:prstGeom>
            <a:solidFill>
              <a:srgbClr val="D9381E">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24"/>
            <p:cNvSpPr txBox="1"/>
            <p:nvPr/>
          </p:nvSpPr>
          <p:spPr>
            <a:xfrm>
              <a:off x="6581775" y="704850"/>
              <a:ext cx="57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30%</a:t>
              </a:r>
              <a:endParaRPr b="0" sz="825">
                <a:solidFill>
                  <a:srgbClr val="5A626A"/>
                </a:solidFill>
                <a:latin typeface="JetBrains Mono"/>
                <a:ea typeface="JetBrains Mono"/>
                <a:cs typeface="JetBrains Mono"/>
                <a:sym typeface="JetBrains Mono"/>
              </a:endParaRPr>
            </a:p>
          </p:txBody>
        </p:sp>
        <p:sp>
          <p:nvSpPr>
            <p:cNvPr id="500" name="Google Shape;500;p24"/>
            <p:cNvSpPr txBox="1"/>
            <p:nvPr/>
          </p:nvSpPr>
          <p:spPr>
            <a:xfrm>
              <a:off x="4619625" y="1009650"/>
              <a:ext cx="809700" cy="190500"/>
            </a:xfrm>
            <a:prstGeom prst="rect">
              <a:avLst/>
            </a:prstGeom>
            <a:noFill/>
            <a:ln>
              <a:noFill/>
            </a:ln>
          </p:spPr>
          <p:txBody>
            <a:bodyPr anchorCtr="0" anchor="b" bIns="0" lIns="0" spcFirstLastPara="1" rIns="76200" wrap="square" tIns="0">
              <a:noAutofit/>
            </a:bodyPr>
            <a:lstStyle/>
            <a:p>
              <a:pPr indent="0" lvl="0" marL="0" rtl="0" algn="l">
                <a:spcBef>
                  <a:spcPts val="0"/>
                </a:spcBef>
                <a:spcAft>
                  <a:spcPts val="0"/>
                </a:spcAft>
                <a:buNone/>
              </a:pPr>
              <a:r>
                <a:rPr b="0" lang="en-GB" sz="975">
                  <a:solidFill>
                    <a:srgbClr val="111315"/>
                  </a:solidFill>
                  <a:latin typeface="Inter"/>
                  <a:ea typeface="Inter"/>
                  <a:cs typeface="Inter"/>
                  <a:sym typeface="Inter"/>
                </a:rPr>
                <a:t>fast</a:t>
              </a:r>
              <a:endParaRPr/>
            </a:p>
          </p:txBody>
        </p:sp>
        <p:sp>
          <p:nvSpPr>
            <p:cNvPr id="501" name="Google Shape;501;p24"/>
            <p:cNvSpPr/>
            <p:nvPr/>
          </p:nvSpPr>
          <p:spPr>
            <a:xfrm>
              <a:off x="5476875" y="1009650"/>
              <a:ext cx="514500" cy="190500"/>
            </a:xfrm>
            <a:prstGeom prst="roundRect">
              <a:avLst>
                <a:gd fmla="val 10000" name="adj"/>
              </a:avLst>
            </a:prstGeom>
            <a:solidFill>
              <a:srgbClr val="D9381E">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2" name="Google Shape;502;p24"/>
            <p:cNvSpPr txBox="1"/>
            <p:nvPr/>
          </p:nvSpPr>
          <p:spPr>
            <a:xfrm>
              <a:off x="6067425" y="1009650"/>
              <a:ext cx="57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15%</a:t>
              </a:r>
              <a:endParaRPr b="0" sz="825">
                <a:solidFill>
                  <a:srgbClr val="5A626A"/>
                </a:solidFill>
                <a:latin typeface="JetBrains Mono"/>
                <a:ea typeface="JetBrains Mono"/>
                <a:cs typeface="JetBrains Mono"/>
                <a:sym typeface="JetBrains Mono"/>
              </a:endParaRPr>
            </a:p>
          </p:txBody>
        </p:sp>
      </p:grpSp>
      <p:sp>
        <p:nvSpPr>
          <p:cNvPr id="503" name="Google Shape;503;p24"/>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Ref: Vaswani et al. (2017), Attention Is All You Need.</a:t>
            </a:r>
            <a:endParaRPr b="0" sz="825">
              <a:solidFill>
                <a:srgbClr val="5A626A"/>
              </a:solidFill>
              <a:latin typeface="JetBrains Mono"/>
              <a:ea typeface="JetBrains Mono"/>
              <a:cs typeface="JetBrains Mono"/>
              <a:sym typeface="JetBrains Mono"/>
            </a:endParaRPr>
          </a:p>
        </p:txBody>
      </p:sp>
      <p:grpSp>
        <p:nvGrpSpPr>
          <p:cNvPr id="504" name="Google Shape;504;p24"/>
          <p:cNvGrpSpPr/>
          <p:nvPr/>
        </p:nvGrpSpPr>
        <p:grpSpPr>
          <a:xfrm>
            <a:off x="381000" y="4714875"/>
            <a:ext cx="8382000" cy="285750"/>
            <a:chOff x="381000" y="4714875"/>
            <a:chExt cx="8382000" cy="285750"/>
          </a:xfrm>
        </p:grpSpPr>
        <p:cxnSp>
          <p:nvCxnSpPr>
            <p:cNvPr id="505" name="Google Shape;505;p24"/>
            <p:cNvCxnSpPr/>
            <p:nvPr/>
          </p:nvCxnSpPr>
          <p:spPr>
            <a:xfrm>
              <a:off x="381000" y="4714875"/>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506" name="Google Shape;506;p24"/>
            <p:cNvSpPr txBox="1"/>
            <p:nvPr/>
          </p:nvSpPr>
          <p:spPr>
            <a:xfrm>
              <a:off x="381000" y="4810125"/>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25">
                  <a:solidFill>
                    <a:srgbClr val="5A626A"/>
                  </a:solidFill>
                  <a:latin typeface="JetBrains Mono"/>
                  <a:ea typeface="JetBrains Mono"/>
                  <a:cs typeface="JetBrains Mono"/>
                  <a:sym typeface="JetBrains Mono"/>
                </a:rPr>
                <a:t>AI in Architecture | Indrajeet Haldar</a:t>
              </a:r>
              <a:endParaRPr b="0" sz="825">
                <a:solidFill>
                  <a:srgbClr val="5A626A"/>
                </a:solidFill>
                <a:latin typeface="JetBrains Mono"/>
                <a:ea typeface="JetBrains Mono"/>
                <a:cs typeface="JetBrains Mono"/>
                <a:sym typeface="JetBrains Mon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510" name="Shape 510"/>
        <p:cNvGrpSpPr/>
        <p:nvPr/>
      </p:nvGrpSpPr>
      <p:grpSpPr>
        <a:xfrm>
          <a:off x="0" y="0"/>
          <a:ext cx="0" cy="0"/>
          <a:chOff x="0" y="0"/>
          <a:chExt cx="0" cy="0"/>
        </a:xfrm>
      </p:grpSpPr>
      <p:sp>
        <p:nvSpPr>
          <p:cNvPr id="511" name="Google Shape;511;p25"/>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100">
                <a:solidFill>
                  <a:srgbClr val="111315"/>
                </a:solidFill>
                <a:latin typeface="Space Grotesk"/>
                <a:ea typeface="Space Grotesk"/>
                <a:cs typeface="Space Grotesk"/>
                <a:sym typeface="Space Grotesk"/>
              </a:rPr>
              <a:t>Images, 3D Models, and Other Media</a:t>
            </a:r>
            <a:endParaRPr b="1" sz="2100">
              <a:solidFill>
                <a:srgbClr val="111315"/>
              </a:solidFill>
              <a:latin typeface="Space Grotesk"/>
              <a:ea typeface="Space Grotesk"/>
              <a:cs typeface="Space Grotesk"/>
              <a:sym typeface="Space Grotesk"/>
            </a:endParaRPr>
          </a:p>
        </p:txBody>
      </p:sp>
      <p:grpSp>
        <p:nvGrpSpPr>
          <p:cNvPr id="512" name="Google Shape;512;p25"/>
          <p:cNvGrpSpPr/>
          <p:nvPr/>
        </p:nvGrpSpPr>
        <p:grpSpPr>
          <a:xfrm>
            <a:off x="762000" y="1238250"/>
            <a:ext cx="7620000" cy="2667000"/>
            <a:chOff x="762000" y="1238250"/>
            <a:chExt cx="7620000" cy="2667000"/>
          </a:xfrm>
        </p:grpSpPr>
        <p:grpSp>
          <p:nvGrpSpPr>
            <p:cNvPr id="513" name="Google Shape;513;p25"/>
            <p:cNvGrpSpPr/>
            <p:nvPr/>
          </p:nvGrpSpPr>
          <p:grpSpPr>
            <a:xfrm>
              <a:off x="762000" y="1238250"/>
              <a:ext cx="1905000" cy="2667000"/>
              <a:chOff x="0" y="0"/>
              <a:chExt cx="1905000" cy="2667000"/>
            </a:xfrm>
          </p:grpSpPr>
          <p:sp>
            <p:nvSpPr>
              <p:cNvPr id="514" name="Google Shape;514;p25"/>
              <p:cNvSpPr/>
              <p:nvPr/>
            </p:nvSpPr>
            <p:spPr>
              <a:xfrm>
                <a:off x="0" y="0"/>
                <a:ext cx="1905000" cy="26670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25"/>
              <p:cNvSpPr/>
              <p:nvPr/>
            </p:nvSpPr>
            <p:spPr>
              <a:xfrm>
                <a:off x="0" y="0"/>
                <a:ext cx="1905000" cy="285900"/>
              </a:xfrm>
              <a:prstGeom prst="rect">
                <a:avLst/>
              </a:prstGeom>
              <a:solidFill>
                <a:srgbClr val="E9ECE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25"/>
              <p:cNvSpPr txBox="1"/>
              <p:nvPr/>
            </p:nvSpPr>
            <p:spPr>
              <a:xfrm>
                <a:off x="0" y="0"/>
                <a:ext cx="1905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111315"/>
                    </a:solidFill>
                    <a:latin typeface="JetBrains Mono"/>
                    <a:ea typeface="JetBrains Mono"/>
                    <a:cs typeface="JetBrains Mono"/>
                    <a:sym typeface="JetBrains Mono"/>
                  </a:rPr>
                  <a:t>INPUT DOMAINS (TOKENS)</a:t>
                </a:r>
                <a:endParaRPr b="1" sz="750">
                  <a:solidFill>
                    <a:srgbClr val="111315"/>
                  </a:solidFill>
                  <a:latin typeface="JetBrains Mono"/>
                  <a:ea typeface="JetBrains Mono"/>
                  <a:cs typeface="JetBrains Mono"/>
                  <a:sym typeface="JetBrains Mono"/>
                </a:endParaRPr>
              </a:p>
            </p:txBody>
          </p:sp>
          <p:grpSp>
            <p:nvGrpSpPr>
              <p:cNvPr id="517" name="Google Shape;517;p25"/>
              <p:cNvGrpSpPr/>
              <p:nvPr/>
            </p:nvGrpSpPr>
            <p:grpSpPr>
              <a:xfrm>
                <a:off x="142875" y="428625"/>
                <a:ext cx="1619100" cy="438300"/>
                <a:chOff x="0" y="0"/>
                <a:chExt cx="1619100" cy="438300"/>
              </a:xfrm>
            </p:grpSpPr>
            <p:sp>
              <p:nvSpPr>
                <p:cNvPr id="518" name="Google Shape;518;p25"/>
                <p:cNvSpPr/>
                <p:nvPr/>
              </p:nvSpPr>
              <p:spPr>
                <a:xfrm>
                  <a:off x="0" y="0"/>
                  <a:ext cx="1619100" cy="438300"/>
                </a:xfrm>
                <a:prstGeom prst="rect">
                  <a:avLst/>
                </a:prstGeom>
                <a:solidFill>
                  <a:srgbClr val="F8F9FA"/>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9" name="Google Shape;519;p25"/>
                <p:cNvSpPr txBox="1"/>
                <p:nvPr/>
              </p:nvSpPr>
              <p:spPr>
                <a:xfrm>
                  <a:off x="0" y="0"/>
                  <a:ext cx="16191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11315"/>
                      </a:solidFill>
                      <a:latin typeface="Inter"/>
                      <a:ea typeface="Inter"/>
                      <a:cs typeface="Inter"/>
                      <a:sym typeface="Inter"/>
                    </a:rPr>
                    <a:t>Image Patches</a:t>
                  </a:r>
                  <a:endParaRPr b="1" sz="975">
                    <a:solidFill>
                      <a:srgbClr val="111315"/>
                    </a:solidFill>
                    <a:latin typeface="Inter"/>
                    <a:ea typeface="Inter"/>
                    <a:cs typeface="Inter"/>
                    <a:sym typeface="Inter"/>
                  </a:endParaRPr>
                </a:p>
              </p:txBody>
            </p:sp>
          </p:grpSp>
          <p:grpSp>
            <p:nvGrpSpPr>
              <p:cNvPr id="520" name="Google Shape;520;p25"/>
              <p:cNvGrpSpPr/>
              <p:nvPr/>
            </p:nvGrpSpPr>
            <p:grpSpPr>
              <a:xfrm>
                <a:off x="142875" y="962025"/>
                <a:ext cx="1619100" cy="438300"/>
                <a:chOff x="0" y="0"/>
                <a:chExt cx="1619100" cy="438300"/>
              </a:xfrm>
            </p:grpSpPr>
            <p:sp>
              <p:nvSpPr>
                <p:cNvPr id="521" name="Google Shape;521;p25"/>
                <p:cNvSpPr/>
                <p:nvPr/>
              </p:nvSpPr>
              <p:spPr>
                <a:xfrm>
                  <a:off x="0" y="0"/>
                  <a:ext cx="1619100" cy="438300"/>
                </a:xfrm>
                <a:prstGeom prst="rect">
                  <a:avLst/>
                </a:prstGeom>
                <a:solidFill>
                  <a:srgbClr val="F8F9FA"/>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2" name="Google Shape;522;p25"/>
                <p:cNvSpPr txBox="1"/>
                <p:nvPr/>
              </p:nvSpPr>
              <p:spPr>
                <a:xfrm>
                  <a:off x="0" y="0"/>
                  <a:ext cx="16191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11315"/>
                      </a:solidFill>
                      <a:latin typeface="Inter"/>
                      <a:ea typeface="Inter"/>
                      <a:cs typeface="Inter"/>
                      <a:sym typeface="Inter"/>
                    </a:rPr>
                    <a:t>3D Meshes</a:t>
                  </a:r>
                  <a:endParaRPr b="1" sz="975">
                    <a:solidFill>
                      <a:srgbClr val="111315"/>
                    </a:solidFill>
                    <a:latin typeface="Inter"/>
                    <a:ea typeface="Inter"/>
                    <a:cs typeface="Inter"/>
                    <a:sym typeface="Inter"/>
                  </a:endParaRPr>
                </a:p>
              </p:txBody>
            </p:sp>
          </p:grpSp>
          <p:grpSp>
            <p:nvGrpSpPr>
              <p:cNvPr id="523" name="Google Shape;523;p25"/>
              <p:cNvGrpSpPr/>
              <p:nvPr/>
            </p:nvGrpSpPr>
            <p:grpSpPr>
              <a:xfrm>
                <a:off x="142875" y="1495425"/>
                <a:ext cx="1619100" cy="438300"/>
                <a:chOff x="0" y="0"/>
                <a:chExt cx="1619100" cy="438300"/>
              </a:xfrm>
            </p:grpSpPr>
            <p:sp>
              <p:nvSpPr>
                <p:cNvPr id="524" name="Google Shape;524;p25"/>
                <p:cNvSpPr/>
                <p:nvPr/>
              </p:nvSpPr>
              <p:spPr>
                <a:xfrm>
                  <a:off x="0" y="0"/>
                  <a:ext cx="1619100" cy="438300"/>
                </a:xfrm>
                <a:prstGeom prst="rect">
                  <a:avLst/>
                </a:prstGeom>
                <a:solidFill>
                  <a:srgbClr val="F8F9FA"/>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5" name="Google Shape;525;p25"/>
                <p:cNvSpPr txBox="1"/>
                <p:nvPr/>
              </p:nvSpPr>
              <p:spPr>
                <a:xfrm>
                  <a:off x="0" y="0"/>
                  <a:ext cx="16191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11315"/>
                      </a:solidFill>
                      <a:latin typeface="Inter"/>
                      <a:ea typeface="Inter"/>
                      <a:cs typeface="Inter"/>
                      <a:sym typeface="Inter"/>
                    </a:rPr>
                    <a:t>Audio</a:t>
                  </a:r>
                  <a:endParaRPr b="1" sz="975">
                    <a:solidFill>
                      <a:srgbClr val="111315"/>
                    </a:solidFill>
                    <a:latin typeface="Inter"/>
                    <a:ea typeface="Inter"/>
                    <a:cs typeface="Inter"/>
                    <a:sym typeface="Inter"/>
                  </a:endParaRPr>
                </a:p>
              </p:txBody>
            </p:sp>
          </p:grpSp>
          <p:grpSp>
            <p:nvGrpSpPr>
              <p:cNvPr id="526" name="Google Shape;526;p25"/>
              <p:cNvGrpSpPr/>
              <p:nvPr/>
            </p:nvGrpSpPr>
            <p:grpSpPr>
              <a:xfrm>
                <a:off x="142875" y="2028825"/>
                <a:ext cx="1619100" cy="438300"/>
                <a:chOff x="0" y="0"/>
                <a:chExt cx="1619100" cy="438300"/>
              </a:xfrm>
            </p:grpSpPr>
            <p:sp>
              <p:nvSpPr>
                <p:cNvPr id="527" name="Google Shape;527;p25"/>
                <p:cNvSpPr/>
                <p:nvPr/>
              </p:nvSpPr>
              <p:spPr>
                <a:xfrm>
                  <a:off x="0" y="0"/>
                  <a:ext cx="1619100" cy="438300"/>
                </a:xfrm>
                <a:prstGeom prst="rect">
                  <a:avLst/>
                </a:prstGeom>
                <a:solidFill>
                  <a:srgbClr val="F8F9FA"/>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8" name="Google Shape;528;p25"/>
                <p:cNvSpPr txBox="1"/>
                <p:nvPr/>
              </p:nvSpPr>
              <p:spPr>
                <a:xfrm>
                  <a:off x="0" y="0"/>
                  <a:ext cx="16191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11315"/>
                      </a:solidFill>
                      <a:latin typeface="Inter"/>
                      <a:ea typeface="Inter"/>
                      <a:cs typeface="Inter"/>
                      <a:sym typeface="Inter"/>
                    </a:rPr>
                    <a:t>Text</a:t>
                  </a:r>
                  <a:endParaRPr b="1" sz="975">
                    <a:solidFill>
                      <a:srgbClr val="111315"/>
                    </a:solidFill>
                    <a:latin typeface="Inter"/>
                    <a:ea typeface="Inter"/>
                    <a:cs typeface="Inter"/>
                    <a:sym typeface="Inter"/>
                  </a:endParaRPr>
                </a:p>
              </p:txBody>
            </p:sp>
          </p:grpSp>
        </p:grpSp>
        <p:grpSp>
          <p:nvGrpSpPr>
            <p:cNvPr id="529" name="Google Shape;529;p25"/>
            <p:cNvGrpSpPr/>
            <p:nvPr/>
          </p:nvGrpSpPr>
          <p:grpSpPr>
            <a:xfrm>
              <a:off x="2667000" y="2355438"/>
              <a:ext cx="694477" cy="264087"/>
              <a:chOff x="0" y="-216312"/>
              <a:chExt cx="694477" cy="264087"/>
            </a:xfrm>
          </p:grpSpPr>
          <p:cxnSp>
            <p:nvCxnSpPr>
              <p:cNvPr id="530" name="Google Shape;530;p25"/>
              <p:cNvCxnSpPr/>
              <p:nvPr/>
            </p:nvCxnSpPr>
            <p:spPr>
              <a:xfrm>
                <a:off x="0" y="0"/>
                <a:ext cx="495300" cy="0"/>
              </a:xfrm>
              <a:prstGeom prst="straightConnector1">
                <a:avLst/>
              </a:prstGeom>
              <a:solidFill>
                <a:srgbClr val="FFFFFF"/>
              </a:solidFill>
              <a:ln cap="flat" cmpd="sng" w="19050">
                <a:solidFill>
                  <a:srgbClr val="1D4ED8"/>
                </a:solidFill>
                <a:prstDash val="solid"/>
                <a:round/>
                <a:headEnd len="sm" w="sm" type="none"/>
                <a:tailEnd len="sm" w="sm" type="none"/>
              </a:ln>
            </p:spPr>
          </p:cxnSp>
          <p:sp>
            <p:nvSpPr>
              <p:cNvPr id="531" name="Google Shape;531;p25"/>
              <p:cNvSpPr/>
              <p:nvPr/>
            </p:nvSpPr>
            <p:spPr>
              <a:xfrm>
                <a:off x="495300" y="-47625"/>
                <a:ext cx="76200" cy="95400"/>
              </a:xfrm>
              <a:custGeom>
                <a:rect b="b" l="l" r="r" t="t"/>
                <a:pathLst>
                  <a:path extrusionOk="0" h="120000" w="120000">
                    <a:moveTo>
                      <a:pt x="0" y="0"/>
                    </a:moveTo>
                    <a:lnTo>
                      <a:pt x="120000" y="60000"/>
                    </a:lnTo>
                    <a:lnTo>
                      <a:pt x="0" y="120000"/>
                    </a:lnTo>
                    <a:close/>
                  </a:path>
                </a:pathLst>
              </a:cu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2" name="Google Shape;532;p25"/>
              <p:cNvSpPr txBox="1"/>
              <p:nvPr/>
            </p:nvSpPr>
            <p:spPr>
              <a:xfrm>
                <a:off x="122977" y="-216312"/>
                <a:ext cx="571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750">
                    <a:solidFill>
                      <a:srgbClr val="1D4ED8"/>
                    </a:solidFill>
                    <a:latin typeface="JetBrains Mono"/>
                    <a:ea typeface="JetBrains Mono"/>
                    <a:cs typeface="JetBrains Mono"/>
                    <a:sym typeface="JetBrains Mono"/>
                  </a:rPr>
                  <a:t>Embed</a:t>
                </a:r>
                <a:endParaRPr/>
              </a:p>
            </p:txBody>
          </p:sp>
        </p:grpSp>
        <p:grpSp>
          <p:nvGrpSpPr>
            <p:cNvPr id="533" name="Google Shape;533;p25"/>
            <p:cNvGrpSpPr/>
            <p:nvPr/>
          </p:nvGrpSpPr>
          <p:grpSpPr>
            <a:xfrm>
              <a:off x="3238500" y="1428750"/>
              <a:ext cx="2667000" cy="2286000"/>
              <a:chOff x="0" y="0"/>
              <a:chExt cx="2667000" cy="2286000"/>
            </a:xfrm>
          </p:grpSpPr>
          <p:sp>
            <p:nvSpPr>
              <p:cNvPr id="534" name="Google Shape;534;p25"/>
              <p:cNvSpPr/>
              <p:nvPr/>
            </p:nvSpPr>
            <p:spPr>
              <a:xfrm>
                <a:off x="0" y="0"/>
                <a:ext cx="2667000" cy="2286000"/>
              </a:xfrm>
              <a:prstGeom prst="rect">
                <a:avLst/>
              </a:prstGeom>
              <a:solidFill>
                <a:srgbClr val="FFFFFF"/>
              </a:solidFill>
              <a:ln cap="flat" cmpd="sng" w="1905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35" name="Google Shape;535;p25"/>
              <p:cNvPicPr preferRelativeResize="0"/>
              <p:nvPr/>
            </p:nvPicPr>
            <p:blipFill rotWithShape="1">
              <a:blip r:embed="rId3">
                <a:alphaModFix/>
              </a:blip>
              <a:srcRect b="0" l="0" r="0" t="0"/>
              <a:stretch/>
            </p:blipFill>
            <p:spPr>
              <a:xfrm>
                <a:off x="71438" y="71438"/>
                <a:ext cx="2524200" cy="2143200"/>
              </a:xfrm>
              <a:prstGeom prst="rect">
                <a:avLst/>
              </a:prstGeom>
              <a:noFill/>
              <a:ln>
                <a:noFill/>
              </a:ln>
            </p:spPr>
          </p:pic>
          <p:sp>
            <p:nvSpPr>
              <p:cNvPr id="536" name="Google Shape;536;p25"/>
              <p:cNvSpPr txBox="1"/>
              <p:nvPr/>
            </p:nvSpPr>
            <p:spPr>
              <a:xfrm>
                <a:off x="190500" y="285750"/>
                <a:ext cx="2286000" cy="1714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GB" sz="750" u="none" strike="noStrike">
                    <a:solidFill>
                      <a:srgbClr val="D9381E"/>
                    </a:solidFill>
                    <a:latin typeface="JetBrains Mono"/>
                    <a:ea typeface="JetBrains Mono"/>
                    <a:cs typeface="JetBrains Mono"/>
                    <a:sym typeface="JetBrains Mono"/>
                  </a:rPr>
                  <a:t>PROCESSING ARCHITECTURE</a:t>
                </a:r>
                <a:endParaRPr b="0" i="0" sz="750" u="none" strike="noStrike">
                  <a:solidFill>
                    <a:srgbClr val="D9381E"/>
                  </a:solidFill>
                  <a:latin typeface="JetBrains Mono"/>
                  <a:ea typeface="JetBrains Mono"/>
                  <a:cs typeface="JetBrains Mono"/>
                  <a:sym typeface="JetBrains Mono"/>
                </a:endParaRPr>
              </a:p>
              <a:p>
                <a:pPr indent="0" lvl="0" marL="0" marR="0" rtl="0" algn="ctr">
                  <a:lnSpc>
                    <a:spcPct val="100000"/>
                  </a:lnSpc>
                  <a:spcBef>
                    <a:spcPts val="600"/>
                  </a:spcBef>
                  <a:spcAft>
                    <a:spcPts val="0"/>
                  </a:spcAft>
                  <a:buNone/>
                </a:pPr>
                <a:r>
                  <a:rPr b="1" i="0" lang="en-GB" sz="1350" u="none" strike="noStrike">
                    <a:solidFill>
                      <a:srgbClr val="111315"/>
                    </a:solidFill>
                    <a:latin typeface="Space Grotesk"/>
                    <a:ea typeface="Space Grotesk"/>
                    <a:cs typeface="Space Grotesk"/>
                    <a:sym typeface="Space Grotesk"/>
                  </a:rPr>
                  <a:t>Latent Space and Transformer Blocks</a:t>
                </a:r>
                <a:endParaRPr b="0" i="0" sz="750" u="none" strike="noStrike">
                  <a:solidFill>
                    <a:srgbClr val="D9381E"/>
                  </a:solidFill>
                  <a:latin typeface="JetBrains Mono"/>
                  <a:ea typeface="JetBrains Mono"/>
                  <a:cs typeface="JetBrains Mono"/>
                  <a:sym typeface="JetBrains Mono"/>
                </a:endParaRPr>
              </a:p>
              <a:p>
                <a:pPr indent="0" lvl="0" marL="0" marR="0" rtl="0" algn="ctr">
                  <a:lnSpc>
                    <a:spcPct val="100000"/>
                  </a:lnSpc>
                  <a:spcBef>
                    <a:spcPts val="900"/>
                  </a:spcBef>
                  <a:spcAft>
                    <a:spcPts val="0"/>
                  </a:spcAft>
                  <a:buNone/>
                </a:pPr>
                <a:r>
                  <a:rPr b="0" i="0" lang="en-GB" sz="750" u="none" strike="noStrike">
                    <a:solidFill>
                      <a:srgbClr val="5A626A"/>
                    </a:solidFill>
                    <a:latin typeface="JetBrains Mono"/>
                    <a:ea typeface="JetBrains Mono"/>
                    <a:cs typeface="JetBrains Mono"/>
                    <a:sym typeface="JetBrains Mono"/>
                  </a:rPr>
                  <a:t>Uniform Token Processing Pipeline</a:t>
                </a:r>
                <a:endParaRPr b="0" i="0" sz="750" u="none" strike="noStrike">
                  <a:solidFill>
                    <a:srgbClr val="D9381E"/>
                  </a:solidFill>
                  <a:latin typeface="JetBrains Mono"/>
                  <a:ea typeface="JetBrains Mono"/>
                  <a:cs typeface="JetBrains Mono"/>
                  <a:sym typeface="JetBrains Mono"/>
                </a:endParaRPr>
              </a:p>
            </p:txBody>
          </p:sp>
        </p:grpSp>
        <p:grpSp>
          <p:nvGrpSpPr>
            <p:cNvPr id="537" name="Google Shape;537;p25"/>
            <p:cNvGrpSpPr/>
            <p:nvPr/>
          </p:nvGrpSpPr>
          <p:grpSpPr>
            <a:xfrm>
              <a:off x="5905500" y="2344895"/>
              <a:ext cx="673294" cy="274630"/>
              <a:chOff x="0" y="-226855"/>
              <a:chExt cx="673294" cy="274630"/>
            </a:xfrm>
          </p:grpSpPr>
          <p:cxnSp>
            <p:nvCxnSpPr>
              <p:cNvPr id="538" name="Google Shape;538;p25"/>
              <p:cNvCxnSpPr/>
              <p:nvPr/>
            </p:nvCxnSpPr>
            <p:spPr>
              <a:xfrm>
                <a:off x="0" y="0"/>
                <a:ext cx="495300" cy="0"/>
              </a:xfrm>
              <a:prstGeom prst="straightConnector1">
                <a:avLst/>
              </a:prstGeom>
              <a:solidFill>
                <a:srgbClr val="FFFFFF"/>
              </a:solidFill>
              <a:ln cap="flat" cmpd="sng" w="19050">
                <a:solidFill>
                  <a:srgbClr val="1D4ED8"/>
                </a:solidFill>
                <a:prstDash val="solid"/>
                <a:round/>
                <a:headEnd len="sm" w="sm" type="none"/>
                <a:tailEnd len="sm" w="sm" type="none"/>
              </a:ln>
            </p:spPr>
          </p:cxnSp>
          <p:sp>
            <p:nvSpPr>
              <p:cNvPr id="539" name="Google Shape;539;p25"/>
              <p:cNvSpPr/>
              <p:nvPr/>
            </p:nvSpPr>
            <p:spPr>
              <a:xfrm>
                <a:off x="495300" y="-47625"/>
                <a:ext cx="76200" cy="95400"/>
              </a:xfrm>
              <a:custGeom>
                <a:rect b="b" l="l" r="r" t="t"/>
                <a:pathLst>
                  <a:path extrusionOk="0" h="120000" w="120000">
                    <a:moveTo>
                      <a:pt x="0" y="0"/>
                    </a:moveTo>
                    <a:lnTo>
                      <a:pt x="120000" y="60000"/>
                    </a:lnTo>
                    <a:lnTo>
                      <a:pt x="0" y="120000"/>
                    </a:lnTo>
                    <a:close/>
                  </a:path>
                </a:pathLst>
              </a:cu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0" name="Google Shape;540;p25"/>
              <p:cNvSpPr txBox="1"/>
              <p:nvPr/>
            </p:nvSpPr>
            <p:spPr>
              <a:xfrm>
                <a:off x="101794" y="-226855"/>
                <a:ext cx="571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750">
                    <a:solidFill>
                      <a:srgbClr val="1D4ED8"/>
                    </a:solidFill>
                    <a:latin typeface="JetBrains Mono"/>
                    <a:ea typeface="JetBrains Mono"/>
                    <a:cs typeface="JetBrains Mono"/>
                    <a:sym typeface="JetBrains Mono"/>
                  </a:rPr>
                  <a:t>Decode</a:t>
                </a:r>
                <a:endParaRPr/>
              </a:p>
            </p:txBody>
          </p:sp>
        </p:grpSp>
        <p:grpSp>
          <p:nvGrpSpPr>
            <p:cNvPr id="541" name="Google Shape;541;p25"/>
            <p:cNvGrpSpPr/>
            <p:nvPr/>
          </p:nvGrpSpPr>
          <p:grpSpPr>
            <a:xfrm>
              <a:off x="6477000" y="1238250"/>
              <a:ext cx="1905000" cy="2667000"/>
              <a:chOff x="0" y="0"/>
              <a:chExt cx="1905000" cy="2667000"/>
            </a:xfrm>
          </p:grpSpPr>
          <p:sp>
            <p:nvSpPr>
              <p:cNvPr id="542" name="Google Shape;542;p25"/>
              <p:cNvSpPr/>
              <p:nvPr/>
            </p:nvSpPr>
            <p:spPr>
              <a:xfrm>
                <a:off x="0" y="0"/>
                <a:ext cx="1905000" cy="26670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3" name="Google Shape;543;p25"/>
              <p:cNvSpPr/>
              <p:nvPr/>
            </p:nvSpPr>
            <p:spPr>
              <a:xfrm>
                <a:off x="0" y="0"/>
                <a:ext cx="1905000" cy="285900"/>
              </a:xfrm>
              <a:prstGeom prst="rect">
                <a:avLst/>
              </a:prstGeom>
              <a:solidFill>
                <a:srgbClr val="E9ECE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25"/>
              <p:cNvSpPr txBox="1"/>
              <p:nvPr/>
            </p:nvSpPr>
            <p:spPr>
              <a:xfrm>
                <a:off x="0" y="0"/>
                <a:ext cx="1905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111315"/>
                    </a:solidFill>
                    <a:latin typeface="JetBrains Mono"/>
                    <a:ea typeface="JetBrains Mono"/>
                    <a:cs typeface="JetBrains Mono"/>
                    <a:sym typeface="JetBrains Mono"/>
                  </a:rPr>
                  <a:t>GENERATED OUTPUTS</a:t>
                </a:r>
                <a:endParaRPr b="1" sz="750">
                  <a:solidFill>
                    <a:srgbClr val="111315"/>
                  </a:solidFill>
                  <a:latin typeface="JetBrains Mono"/>
                  <a:ea typeface="JetBrains Mono"/>
                  <a:cs typeface="JetBrains Mono"/>
                  <a:sym typeface="JetBrains Mono"/>
                </a:endParaRPr>
              </a:p>
            </p:txBody>
          </p:sp>
          <p:grpSp>
            <p:nvGrpSpPr>
              <p:cNvPr id="545" name="Google Shape;545;p25"/>
              <p:cNvGrpSpPr/>
              <p:nvPr/>
            </p:nvGrpSpPr>
            <p:grpSpPr>
              <a:xfrm>
                <a:off x="142875" y="495300"/>
                <a:ext cx="1619100" cy="552600"/>
                <a:chOff x="0" y="0"/>
                <a:chExt cx="1619100" cy="552600"/>
              </a:xfrm>
            </p:grpSpPr>
            <p:sp>
              <p:nvSpPr>
                <p:cNvPr id="546" name="Google Shape;546;p25"/>
                <p:cNvSpPr/>
                <p:nvPr/>
              </p:nvSpPr>
              <p:spPr>
                <a:xfrm>
                  <a:off x="0" y="0"/>
                  <a:ext cx="1619100" cy="552600"/>
                </a:xfrm>
                <a:prstGeom prst="rect">
                  <a:avLst/>
                </a:prstGeom>
                <a:solidFill>
                  <a:srgbClr val="F8F9FA"/>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7" name="Google Shape;547;p25"/>
                <p:cNvSpPr txBox="1"/>
                <p:nvPr/>
              </p:nvSpPr>
              <p:spPr>
                <a:xfrm>
                  <a:off x="0" y="0"/>
                  <a:ext cx="1619100" cy="552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11315"/>
                      </a:solidFill>
                      <a:latin typeface="Inter"/>
                      <a:ea typeface="Inter"/>
                      <a:cs typeface="Inter"/>
                      <a:sym typeface="Inter"/>
                    </a:rPr>
                    <a:t>Generated Images</a:t>
                  </a:r>
                  <a:endParaRPr b="1" sz="975">
                    <a:solidFill>
                      <a:srgbClr val="111315"/>
                    </a:solidFill>
                    <a:latin typeface="Inter"/>
                    <a:ea typeface="Inter"/>
                    <a:cs typeface="Inter"/>
                    <a:sym typeface="Inter"/>
                  </a:endParaRPr>
                </a:p>
              </p:txBody>
            </p:sp>
          </p:grpSp>
          <p:grpSp>
            <p:nvGrpSpPr>
              <p:cNvPr id="548" name="Google Shape;548;p25"/>
              <p:cNvGrpSpPr/>
              <p:nvPr/>
            </p:nvGrpSpPr>
            <p:grpSpPr>
              <a:xfrm>
                <a:off x="142875" y="1200150"/>
                <a:ext cx="1619100" cy="552600"/>
                <a:chOff x="0" y="0"/>
                <a:chExt cx="1619100" cy="552600"/>
              </a:xfrm>
            </p:grpSpPr>
            <p:sp>
              <p:nvSpPr>
                <p:cNvPr id="549" name="Google Shape;549;p25"/>
                <p:cNvSpPr/>
                <p:nvPr/>
              </p:nvSpPr>
              <p:spPr>
                <a:xfrm>
                  <a:off x="0" y="0"/>
                  <a:ext cx="1619100" cy="552600"/>
                </a:xfrm>
                <a:prstGeom prst="rect">
                  <a:avLst/>
                </a:prstGeom>
                <a:solidFill>
                  <a:srgbClr val="F8F9FA"/>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0" name="Google Shape;550;p25"/>
                <p:cNvSpPr txBox="1"/>
                <p:nvPr/>
              </p:nvSpPr>
              <p:spPr>
                <a:xfrm>
                  <a:off x="0" y="0"/>
                  <a:ext cx="1619100" cy="552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11315"/>
                      </a:solidFill>
                      <a:latin typeface="Inter"/>
                      <a:ea typeface="Inter"/>
                      <a:cs typeface="Inter"/>
                      <a:sym typeface="Inter"/>
                    </a:rPr>
                    <a:t>3D Geometry</a:t>
                  </a:r>
                  <a:endParaRPr b="1" sz="975">
                    <a:solidFill>
                      <a:srgbClr val="111315"/>
                    </a:solidFill>
                    <a:latin typeface="Inter"/>
                    <a:ea typeface="Inter"/>
                    <a:cs typeface="Inter"/>
                    <a:sym typeface="Inter"/>
                  </a:endParaRPr>
                </a:p>
              </p:txBody>
            </p:sp>
          </p:grpSp>
          <p:grpSp>
            <p:nvGrpSpPr>
              <p:cNvPr id="551" name="Google Shape;551;p25"/>
              <p:cNvGrpSpPr/>
              <p:nvPr/>
            </p:nvGrpSpPr>
            <p:grpSpPr>
              <a:xfrm>
                <a:off x="142875" y="1905000"/>
                <a:ext cx="1619100" cy="552600"/>
                <a:chOff x="0" y="0"/>
                <a:chExt cx="1619100" cy="552600"/>
              </a:xfrm>
            </p:grpSpPr>
            <p:sp>
              <p:nvSpPr>
                <p:cNvPr id="552" name="Google Shape;552;p25"/>
                <p:cNvSpPr/>
                <p:nvPr/>
              </p:nvSpPr>
              <p:spPr>
                <a:xfrm>
                  <a:off x="0" y="0"/>
                  <a:ext cx="1619100" cy="552600"/>
                </a:xfrm>
                <a:prstGeom prst="rect">
                  <a:avLst/>
                </a:prstGeom>
                <a:solidFill>
                  <a:srgbClr val="F8F9FA"/>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25"/>
                <p:cNvSpPr txBox="1"/>
                <p:nvPr/>
              </p:nvSpPr>
              <p:spPr>
                <a:xfrm>
                  <a:off x="0" y="0"/>
                  <a:ext cx="1619100" cy="552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11315"/>
                      </a:solidFill>
                      <a:latin typeface="Inter"/>
                      <a:ea typeface="Inter"/>
                      <a:cs typeface="Inter"/>
                      <a:sym typeface="Inter"/>
                    </a:rPr>
                    <a:t>CAD Commands</a:t>
                  </a:r>
                  <a:endParaRPr b="1" sz="975">
                    <a:solidFill>
                      <a:srgbClr val="111315"/>
                    </a:solidFill>
                    <a:latin typeface="Inter"/>
                    <a:ea typeface="Inter"/>
                    <a:cs typeface="Inter"/>
                    <a:sym typeface="Inter"/>
                  </a:endParaRPr>
                </a:p>
              </p:txBody>
            </p:sp>
          </p:grpSp>
        </p:grpSp>
      </p:grpSp>
      <p:sp>
        <p:nvSpPr>
          <p:cNvPr id="554" name="Google Shape;554;p25"/>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Ref: Dosovitskiy et al. (2020), Vision Transformer.</a:t>
            </a:r>
            <a:endParaRPr b="0" sz="750">
              <a:solidFill>
                <a:srgbClr val="5A626A"/>
              </a:solidFill>
              <a:latin typeface="JetBrains Mono"/>
              <a:ea typeface="JetBrains Mono"/>
              <a:cs typeface="JetBrains Mono"/>
              <a:sym typeface="JetBrains Mono"/>
            </a:endParaRPr>
          </a:p>
        </p:txBody>
      </p:sp>
      <p:grpSp>
        <p:nvGrpSpPr>
          <p:cNvPr id="555" name="Google Shape;555;p25"/>
          <p:cNvGrpSpPr/>
          <p:nvPr/>
        </p:nvGrpSpPr>
        <p:grpSpPr>
          <a:xfrm>
            <a:off x="381000" y="4762500"/>
            <a:ext cx="8382000" cy="285750"/>
            <a:chOff x="381000" y="4762500"/>
            <a:chExt cx="8382000" cy="285750"/>
          </a:xfrm>
        </p:grpSpPr>
        <p:cxnSp>
          <p:nvCxnSpPr>
            <p:cNvPr id="556" name="Google Shape;556;p25"/>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557" name="Google Shape;557;p25"/>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26"/>
          <p:cNvSpPr txBox="1"/>
          <p:nvPr/>
        </p:nvSpPr>
        <p:spPr>
          <a:xfrm>
            <a:off x="381000" y="381000"/>
            <a:ext cx="8382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2400" u="none" strike="noStrike">
                <a:solidFill>
                  <a:srgbClr val="111315"/>
                </a:solidFill>
                <a:latin typeface="Space Grotesk"/>
                <a:ea typeface="Space Grotesk"/>
                <a:cs typeface="Space Grotesk"/>
                <a:sym typeface="Space Grotesk"/>
              </a:rPr>
              <a:t>System Prompts and Model Interaction Structure</a:t>
            </a:r>
            <a:endParaRPr b="1" i="0" sz="2400" u="none" strike="noStrike">
              <a:solidFill>
                <a:srgbClr val="111315"/>
              </a:solidFill>
              <a:latin typeface="Space Grotesk"/>
              <a:ea typeface="Space Grotesk"/>
              <a:cs typeface="Space Grotesk"/>
              <a:sym typeface="Space Grotesk"/>
            </a:endParaRPr>
          </a:p>
        </p:txBody>
      </p:sp>
      <p:grpSp>
        <p:nvGrpSpPr>
          <p:cNvPr id="563" name="Google Shape;563;p26"/>
          <p:cNvGrpSpPr/>
          <p:nvPr/>
        </p:nvGrpSpPr>
        <p:grpSpPr>
          <a:xfrm>
            <a:off x="571500" y="1333500"/>
            <a:ext cx="8001000" cy="3143400"/>
            <a:chOff x="571500" y="1333500"/>
            <a:chExt cx="8001000" cy="3143400"/>
          </a:xfrm>
        </p:grpSpPr>
        <p:grpSp>
          <p:nvGrpSpPr>
            <p:cNvPr id="564" name="Google Shape;564;p26"/>
            <p:cNvGrpSpPr/>
            <p:nvPr/>
          </p:nvGrpSpPr>
          <p:grpSpPr>
            <a:xfrm>
              <a:off x="571500" y="1333500"/>
              <a:ext cx="3810000" cy="3143400"/>
              <a:chOff x="0" y="0"/>
              <a:chExt cx="3810000" cy="3143400"/>
            </a:xfrm>
          </p:grpSpPr>
          <p:sp>
            <p:nvSpPr>
              <p:cNvPr id="565" name="Google Shape;565;p26"/>
              <p:cNvSpPr/>
              <p:nvPr/>
            </p:nvSpPr>
            <p:spPr>
              <a:xfrm>
                <a:off x="0" y="0"/>
                <a:ext cx="3810000" cy="31434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6" name="Google Shape;566;p26"/>
              <p:cNvSpPr/>
              <p:nvPr/>
            </p:nvSpPr>
            <p:spPr>
              <a:xfrm>
                <a:off x="190500" y="190500"/>
                <a:ext cx="1524000" cy="228600"/>
              </a:xfrm>
              <a:prstGeom prst="rect">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7" name="Google Shape;567;p26"/>
              <p:cNvSpPr txBox="1"/>
              <p:nvPr/>
            </p:nvSpPr>
            <p:spPr>
              <a:xfrm>
                <a:off x="190500" y="190500"/>
                <a:ext cx="15240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750" u="none" strike="noStrike">
                    <a:solidFill>
                      <a:srgbClr val="D9381E"/>
                    </a:solidFill>
                    <a:latin typeface="JetBrains Mono"/>
                    <a:ea typeface="JetBrains Mono"/>
                    <a:cs typeface="JetBrains Mono"/>
                    <a:sym typeface="JetBrains Mono"/>
                  </a:rPr>
                  <a:t>USER INTERFACE VIEW</a:t>
                </a:r>
                <a:endParaRPr b="1" i="0" sz="750" u="none" strike="noStrike">
                  <a:solidFill>
                    <a:srgbClr val="D9381E"/>
                  </a:solidFill>
                  <a:latin typeface="JetBrains Mono"/>
                  <a:ea typeface="JetBrains Mono"/>
                  <a:cs typeface="JetBrains Mono"/>
                  <a:sym typeface="JetBrains Mono"/>
                </a:endParaRPr>
              </a:p>
            </p:txBody>
          </p:sp>
          <p:sp>
            <p:nvSpPr>
              <p:cNvPr id="568" name="Google Shape;568;p26"/>
              <p:cNvSpPr txBox="1"/>
              <p:nvPr/>
            </p:nvSpPr>
            <p:spPr>
              <a:xfrm>
                <a:off x="190500" y="571500"/>
                <a:ext cx="3429000" cy="66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GB" sz="1350" u="none" strike="noStrike">
                    <a:solidFill>
                      <a:srgbClr val="111315"/>
                    </a:solidFill>
                    <a:latin typeface="Space Grotesk SemiBold"/>
                    <a:ea typeface="Space Grotesk SemiBold"/>
                    <a:cs typeface="Space Grotesk SemiBold"/>
                    <a:sym typeface="Space Grotesk SemiBold"/>
                  </a:rPr>
                  <a:t>Interactive chat interface.</a:t>
                </a:r>
                <a:endParaRPr b="0" i="0" sz="1350" u="none" strike="noStrike">
                  <a:solidFill>
                    <a:srgbClr val="111315"/>
                  </a:solidFill>
                  <a:latin typeface="Space Grotesk SemiBold"/>
                  <a:ea typeface="Space Grotesk SemiBold"/>
                  <a:cs typeface="Space Grotesk SemiBold"/>
                  <a:sym typeface="Space Grotesk SemiBold"/>
                </a:endParaRPr>
              </a:p>
            </p:txBody>
          </p:sp>
          <p:grpSp>
            <p:nvGrpSpPr>
              <p:cNvPr id="569" name="Google Shape;569;p26"/>
              <p:cNvGrpSpPr/>
              <p:nvPr/>
            </p:nvGrpSpPr>
            <p:grpSpPr>
              <a:xfrm>
                <a:off x="190500" y="1381125"/>
                <a:ext cx="3429000" cy="1381200"/>
                <a:chOff x="0" y="0"/>
                <a:chExt cx="3429000" cy="1381200"/>
              </a:xfrm>
            </p:grpSpPr>
            <p:sp>
              <p:nvSpPr>
                <p:cNvPr id="570" name="Google Shape;570;p26"/>
                <p:cNvSpPr/>
                <p:nvPr/>
              </p:nvSpPr>
              <p:spPr>
                <a:xfrm>
                  <a:off x="0" y="0"/>
                  <a:ext cx="3429000" cy="13812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1" name="Google Shape;571;p26"/>
                <p:cNvSpPr/>
                <p:nvPr/>
              </p:nvSpPr>
              <p:spPr>
                <a:xfrm>
                  <a:off x="238125" y="400050"/>
                  <a:ext cx="952500" cy="571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26"/>
                <p:cNvSpPr txBox="1"/>
                <p:nvPr/>
              </p:nvSpPr>
              <p:spPr>
                <a:xfrm>
                  <a:off x="238125" y="400050"/>
                  <a:ext cx="952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50">
                      <a:solidFill>
                        <a:srgbClr val="111315"/>
                      </a:solidFill>
                      <a:latin typeface="Inter"/>
                      <a:ea typeface="Inter"/>
                      <a:cs typeface="Inter"/>
                      <a:sym typeface="Inter"/>
                    </a:rPr>
                    <a:t>User</a:t>
                  </a:r>
                  <a:endParaRPr b="1" sz="1050">
                    <a:solidFill>
                      <a:srgbClr val="111315"/>
                    </a:solidFill>
                    <a:latin typeface="Inter"/>
                    <a:ea typeface="Inter"/>
                    <a:cs typeface="Inter"/>
                    <a:sym typeface="Inter"/>
                  </a:endParaRPr>
                </a:p>
              </p:txBody>
            </p:sp>
            <p:sp>
              <p:nvSpPr>
                <p:cNvPr id="573" name="Google Shape;573;p26"/>
                <p:cNvSpPr/>
                <p:nvPr/>
              </p:nvSpPr>
              <p:spPr>
                <a:xfrm>
                  <a:off x="2238375" y="400050"/>
                  <a:ext cx="952500" cy="571500"/>
                </a:xfrm>
                <a:prstGeom prst="rect">
                  <a:avLst/>
                </a:prstGeom>
                <a:solidFill>
                  <a:srgbClr val="FFFFFF"/>
                </a:solidFill>
                <a:ln cap="flat" cmpd="sng" w="14300">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4" name="Google Shape;574;p26"/>
                <p:cNvSpPr txBox="1"/>
                <p:nvPr/>
              </p:nvSpPr>
              <p:spPr>
                <a:xfrm>
                  <a:off x="2238375" y="400050"/>
                  <a:ext cx="9525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1050" u="none" strike="noStrike">
                      <a:solidFill>
                        <a:srgbClr val="D9381E"/>
                      </a:solidFill>
                      <a:latin typeface="Inter"/>
                      <a:ea typeface="Inter"/>
                      <a:cs typeface="Inter"/>
                      <a:sym typeface="Inter"/>
                    </a:rPr>
                    <a:t>Model Output</a:t>
                  </a:r>
                  <a:endParaRPr b="1" i="0" sz="1050" u="none" strike="noStrike">
                    <a:solidFill>
                      <a:srgbClr val="D9381E"/>
                    </a:solidFill>
                    <a:latin typeface="Inter"/>
                    <a:ea typeface="Inter"/>
                    <a:cs typeface="Inter"/>
                    <a:sym typeface="Inter"/>
                  </a:endParaRPr>
                </a:p>
              </p:txBody>
            </p:sp>
            <p:pic>
              <p:nvPicPr>
                <p:cNvPr id="575" name="Google Shape;575;p26"/>
                <p:cNvPicPr preferRelativeResize="0"/>
                <p:nvPr/>
              </p:nvPicPr>
              <p:blipFill rotWithShape="1">
                <a:blip r:embed="rId3">
                  <a:alphaModFix/>
                </a:blip>
                <a:srcRect b="0" l="0" r="0" t="0"/>
                <a:stretch/>
              </p:blipFill>
              <p:spPr>
                <a:xfrm>
                  <a:off x="1233488" y="476250"/>
                  <a:ext cx="933600" cy="123900"/>
                </a:xfrm>
                <a:prstGeom prst="rect">
                  <a:avLst/>
                </a:prstGeom>
                <a:noFill/>
                <a:ln>
                  <a:noFill/>
                </a:ln>
              </p:spPr>
            </p:pic>
            <p:sp>
              <p:nvSpPr>
                <p:cNvPr id="576" name="Google Shape;576;p26"/>
                <p:cNvSpPr/>
                <p:nvPr/>
              </p:nvSpPr>
              <p:spPr>
                <a:xfrm>
                  <a:off x="2171700" y="542925"/>
                  <a:ext cx="66600" cy="85800"/>
                </a:xfrm>
                <a:custGeom>
                  <a:rect b="b" l="l" r="r" t="t"/>
                  <a:pathLst>
                    <a:path extrusionOk="0" h="120000" w="120000">
                      <a:moveTo>
                        <a:pt x="0" y="120000"/>
                      </a:moveTo>
                      <a:lnTo>
                        <a:pt x="120000" y="66667"/>
                      </a:lnTo>
                      <a:lnTo>
                        <a:pt x="0" y="0"/>
                      </a:lnTo>
                      <a:close/>
                    </a:path>
                  </a:pathLst>
                </a:cu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77" name="Google Shape;577;p26"/>
                <p:cNvPicPr preferRelativeResize="0"/>
                <p:nvPr/>
              </p:nvPicPr>
              <p:blipFill rotWithShape="1">
                <a:blip r:embed="rId4">
                  <a:alphaModFix/>
                </a:blip>
                <a:srcRect b="0" l="0" r="0" t="0"/>
                <a:stretch/>
              </p:blipFill>
              <p:spPr>
                <a:xfrm>
                  <a:off x="1262063" y="771525"/>
                  <a:ext cx="933600" cy="123900"/>
                </a:xfrm>
                <a:prstGeom prst="rect">
                  <a:avLst/>
                </a:prstGeom>
                <a:noFill/>
                <a:ln>
                  <a:noFill/>
                </a:ln>
              </p:spPr>
            </p:pic>
            <p:sp>
              <p:nvSpPr>
                <p:cNvPr id="578" name="Google Shape;578;p26"/>
                <p:cNvSpPr/>
                <p:nvPr/>
              </p:nvSpPr>
              <p:spPr>
                <a:xfrm>
                  <a:off x="1190625" y="742950"/>
                  <a:ext cx="66600" cy="85800"/>
                </a:xfrm>
                <a:custGeom>
                  <a:rect b="b" l="l" r="r" t="t"/>
                  <a:pathLst>
                    <a:path extrusionOk="0" h="120000" w="120000">
                      <a:moveTo>
                        <a:pt x="120000" y="0"/>
                      </a:moveTo>
                      <a:lnTo>
                        <a:pt x="0" y="53333"/>
                      </a:lnTo>
                      <a:lnTo>
                        <a:pt x="12000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9" name="Google Shape;579;p26"/>
                <p:cNvSpPr txBox="1"/>
                <p:nvPr/>
              </p:nvSpPr>
              <p:spPr>
                <a:xfrm>
                  <a:off x="1047750" y="1123950"/>
                  <a:ext cx="13335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GB" sz="675" u="none" strike="noStrike">
                      <a:solidFill>
                        <a:srgbClr val="5A626A"/>
                      </a:solidFill>
                      <a:latin typeface="JetBrains Mono"/>
                      <a:ea typeface="JetBrains Mono"/>
                      <a:cs typeface="JetBrains Mono"/>
                      <a:sym typeface="JetBrains Mono"/>
                    </a:rPr>
                    <a:t>Text Interface Display</a:t>
                  </a:r>
                  <a:endParaRPr b="0" i="0" sz="675" u="none" strike="noStrike">
                    <a:solidFill>
                      <a:srgbClr val="5A626A"/>
                    </a:solidFill>
                    <a:latin typeface="JetBrains Mono"/>
                    <a:ea typeface="JetBrains Mono"/>
                    <a:cs typeface="JetBrains Mono"/>
                    <a:sym typeface="JetBrains Mono"/>
                  </a:endParaRPr>
                </a:p>
              </p:txBody>
            </p:sp>
          </p:grpSp>
        </p:grpSp>
        <p:grpSp>
          <p:nvGrpSpPr>
            <p:cNvPr id="580" name="Google Shape;580;p26"/>
            <p:cNvGrpSpPr/>
            <p:nvPr/>
          </p:nvGrpSpPr>
          <p:grpSpPr>
            <a:xfrm>
              <a:off x="4762500" y="1333500"/>
              <a:ext cx="3810000" cy="3143400"/>
              <a:chOff x="0" y="0"/>
              <a:chExt cx="3810000" cy="3143400"/>
            </a:xfrm>
          </p:grpSpPr>
          <p:sp>
            <p:nvSpPr>
              <p:cNvPr id="581" name="Google Shape;581;p26"/>
              <p:cNvSpPr/>
              <p:nvPr/>
            </p:nvSpPr>
            <p:spPr>
              <a:xfrm>
                <a:off x="0" y="0"/>
                <a:ext cx="3810000" cy="3143400"/>
              </a:xfrm>
              <a:prstGeom prst="rect">
                <a:avLst/>
              </a:prstGeom>
              <a:solidFill>
                <a:srgbClr val="111315"/>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2" name="Google Shape;582;p26"/>
              <p:cNvSpPr/>
              <p:nvPr/>
            </p:nvSpPr>
            <p:spPr>
              <a:xfrm>
                <a:off x="190500" y="190500"/>
                <a:ext cx="2190900" cy="228600"/>
              </a:xfrm>
              <a:prstGeom prst="rect">
                <a:avLst/>
              </a:pr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26"/>
              <p:cNvSpPr txBox="1"/>
              <p:nvPr/>
            </p:nvSpPr>
            <p:spPr>
              <a:xfrm>
                <a:off x="190500" y="190500"/>
                <a:ext cx="21909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750" u="none" strike="noStrike">
                    <a:solidFill>
                      <a:srgbClr val="FFFFFF"/>
                    </a:solidFill>
                    <a:latin typeface="JetBrains Mono"/>
                    <a:ea typeface="JetBrains Mono"/>
                    <a:cs typeface="JetBrains Mono"/>
                    <a:sym typeface="JetBrains Mono"/>
                  </a:rPr>
                  <a:t>INPUT DATA TO MODEL</a:t>
                </a:r>
                <a:endParaRPr b="1" i="0" sz="750" u="none" strike="noStrike">
                  <a:solidFill>
                    <a:srgbClr val="FFFFFF"/>
                  </a:solidFill>
                  <a:latin typeface="JetBrains Mono"/>
                  <a:ea typeface="JetBrains Mono"/>
                  <a:cs typeface="JetBrains Mono"/>
                  <a:sym typeface="JetBrains Mono"/>
                </a:endParaRPr>
              </a:p>
            </p:txBody>
          </p:sp>
          <p:grpSp>
            <p:nvGrpSpPr>
              <p:cNvPr id="584" name="Google Shape;584;p26"/>
              <p:cNvGrpSpPr/>
              <p:nvPr/>
            </p:nvGrpSpPr>
            <p:grpSpPr>
              <a:xfrm>
                <a:off x="190500" y="552450"/>
                <a:ext cx="3429000" cy="2286000"/>
                <a:chOff x="0" y="0"/>
                <a:chExt cx="3429000" cy="2286000"/>
              </a:xfrm>
            </p:grpSpPr>
            <p:sp>
              <p:nvSpPr>
                <p:cNvPr id="585" name="Google Shape;585;p26"/>
                <p:cNvSpPr/>
                <p:nvPr/>
              </p:nvSpPr>
              <p:spPr>
                <a:xfrm>
                  <a:off x="0" y="0"/>
                  <a:ext cx="3429000" cy="438300"/>
                </a:xfrm>
                <a:prstGeom prst="rect">
                  <a:avLst/>
                </a:prstGeom>
                <a:solidFill>
                  <a:srgbClr val="1C2026"/>
                </a:solidFill>
                <a:ln cap="flat" cmpd="sng" w="9525">
                  <a:solidFill>
                    <a:srgbClr val="333A4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586" name="Google Shape;586;p26"/>
                <p:cNvCxnSpPr/>
                <p:nvPr/>
              </p:nvCxnSpPr>
              <p:spPr>
                <a:xfrm>
                  <a:off x="0" y="0"/>
                  <a:ext cx="0" cy="438300"/>
                </a:xfrm>
                <a:prstGeom prst="straightConnector1">
                  <a:avLst/>
                </a:prstGeom>
                <a:solidFill>
                  <a:srgbClr val="FFFFFF"/>
                </a:solidFill>
                <a:ln cap="flat" cmpd="sng" w="28575">
                  <a:solidFill>
                    <a:srgbClr val="1D4ED8"/>
                  </a:solidFill>
                  <a:prstDash val="solid"/>
                  <a:round/>
                  <a:headEnd len="sm" w="sm" type="none"/>
                  <a:tailEnd len="sm" w="sm" type="none"/>
                </a:ln>
              </p:spPr>
            </p:cxnSp>
            <p:sp>
              <p:nvSpPr>
                <p:cNvPr id="587" name="Google Shape;587;p26"/>
                <p:cNvSpPr txBox="1"/>
                <p:nvPr/>
              </p:nvSpPr>
              <p:spPr>
                <a:xfrm>
                  <a:off x="133350" y="0"/>
                  <a:ext cx="3200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788">
                      <a:solidFill>
                        <a:srgbClr val="F8F9FA"/>
                      </a:solidFill>
                      <a:latin typeface="JetBrains Mono"/>
                      <a:ea typeface="JetBrains Mono"/>
                      <a:cs typeface="JetBrains Mono"/>
                      <a:sym typeface="JetBrains Mono"/>
                    </a:rPr>
                    <a:t>[Hidden System Prompt]</a:t>
                  </a:r>
                  <a:endParaRPr b="0" sz="788">
                    <a:solidFill>
                      <a:srgbClr val="F8F9FA"/>
                    </a:solidFill>
                    <a:latin typeface="JetBrains Mono"/>
                    <a:ea typeface="JetBrains Mono"/>
                    <a:cs typeface="JetBrains Mono"/>
                    <a:sym typeface="JetBrains Mono"/>
                  </a:endParaRPr>
                </a:p>
              </p:txBody>
            </p:sp>
            <p:sp>
              <p:nvSpPr>
                <p:cNvPr id="588" name="Google Shape;588;p26"/>
                <p:cNvSpPr/>
                <p:nvPr/>
              </p:nvSpPr>
              <p:spPr>
                <a:xfrm>
                  <a:off x="0" y="514350"/>
                  <a:ext cx="3429000" cy="438300"/>
                </a:xfrm>
                <a:prstGeom prst="rect">
                  <a:avLst/>
                </a:prstGeom>
                <a:solidFill>
                  <a:srgbClr val="1C2026"/>
                </a:solidFill>
                <a:ln cap="flat" cmpd="sng" w="9525">
                  <a:solidFill>
                    <a:srgbClr val="333A4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589" name="Google Shape;589;p26"/>
                <p:cNvCxnSpPr/>
                <p:nvPr/>
              </p:nvCxnSpPr>
              <p:spPr>
                <a:xfrm>
                  <a:off x="0" y="514350"/>
                  <a:ext cx="0" cy="438300"/>
                </a:xfrm>
                <a:prstGeom prst="straightConnector1">
                  <a:avLst/>
                </a:prstGeom>
                <a:solidFill>
                  <a:srgbClr val="FFFFFF"/>
                </a:solidFill>
                <a:ln cap="flat" cmpd="sng" w="28575">
                  <a:solidFill>
                    <a:srgbClr val="1D4ED8"/>
                  </a:solidFill>
                  <a:prstDash val="solid"/>
                  <a:round/>
                  <a:headEnd len="sm" w="sm" type="none"/>
                  <a:tailEnd len="sm" w="sm" type="none"/>
                </a:ln>
              </p:spPr>
            </p:cxnSp>
            <p:sp>
              <p:nvSpPr>
                <p:cNvPr id="590" name="Google Shape;590;p26"/>
                <p:cNvSpPr txBox="1"/>
                <p:nvPr/>
              </p:nvSpPr>
              <p:spPr>
                <a:xfrm>
                  <a:off x="133350" y="514350"/>
                  <a:ext cx="3200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788">
                      <a:solidFill>
                        <a:srgbClr val="F8F9FA"/>
                      </a:solidFill>
                      <a:latin typeface="JetBrains Mono"/>
                      <a:ea typeface="JetBrains Mono"/>
                      <a:cs typeface="JetBrains Mono"/>
                      <a:sym typeface="JetBrains Mono"/>
                    </a:rPr>
                    <a:t>+ [Relevant Files &amp; CAD State Selected by Harness]</a:t>
                  </a:r>
                  <a:endParaRPr b="0" sz="788">
                    <a:solidFill>
                      <a:srgbClr val="F8F9FA"/>
                    </a:solidFill>
                    <a:latin typeface="JetBrains Mono"/>
                    <a:ea typeface="JetBrains Mono"/>
                    <a:cs typeface="JetBrains Mono"/>
                    <a:sym typeface="JetBrains Mono"/>
                  </a:endParaRPr>
                </a:p>
              </p:txBody>
            </p:sp>
            <p:sp>
              <p:nvSpPr>
                <p:cNvPr id="591" name="Google Shape;591;p26"/>
                <p:cNvSpPr/>
                <p:nvPr/>
              </p:nvSpPr>
              <p:spPr>
                <a:xfrm>
                  <a:off x="0" y="1028700"/>
                  <a:ext cx="3429000" cy="438300"/>
                </a:xfrm>
                <a:prstGeom prst="rect">
                  <a:avLst/>
                </a:prstGeom>
                <a:solidFill>
                  <a:srgbClr val="1C2026"/>
                </a:solidFill>
                <a:ln cap="flat" cmpd="sng" w="9525">
                  <a:solidFill>
                    <a:srgbClr val="333A4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592" name="Google Shape;592;p26"/>
                <p:cNvCxnSpPr/>
                <p:nvPr/>
              </p:nvCxnSpPr>
              <p:spPr>
                <a:xfrm>
                  <a:off x="0" y="1028700"/>
                  <a:ext cx="0" cy="438300"/>
                </a:xfrm>
                <a:prstGeom prst="straightConnector1">
                  <a:avLst/>
                </a:prstGeom>
                <a:solidFill>
                  <a:srgbClr val="FFFFFF"/>
                </a:solidFill>
                <a:ln cap="flat" cmpd="sng" w="28575">
                  <a:solidFill>
                    <a:srgbClr val="1D4ED8"/>
                  </a:solidFill>
                  <a:prstDash val="solid"/>
                  <a:round/>
                  <a:headEnd len="sm" w="sm" type="none"/>
                  <a:tailEnd len="sm" w="sm" type="none"/>
                </a:ln>
              </p:spPr>
            </p:cxnSp>
            <p:sp>
              <p:nvSpPr>
                <p:cNvPr id="593" name="Google Shape;593;p26"/>
                <p:cNvSpPr txBox="1"/>
                <p:nvPr/>
              </p:nvSpPr>
              <p:spPr>
                <a:xfrm>
                  <a:off x="133350" y="1028700"/>
                  <a:ext cx="32004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788">
                      <a:solidFill>
                        <a:srgbClr val="F8F9FA"/>
                      </a:solidFill>
                      <a:latin typeface="JetBrains Mono"/>
                      <a:ea typeface="JetBrains Mono"/>
                      <a:cs typeface="JetBrains Mono"/>
                      <a:sym typeface="JetBrains Mono"/>
                    </a:rPr>
                    <a:t>+ [User Prompt]</a:t>
                  </a:r>
                  <a:endParaRPr b="0" sz="788">
                    <a:solidFill>
                      <a:srgbClr val="F8F9FA"/>
                    </a:solidFill>
                    <a:latin typeface="JetBrains Mono"/>
                    <a:ea typeface="JetBrains Mono"/>
                    <a:cs typeface="JetBrains Mono"/>
                    <a:sym typeface="JetBrains Mono"/>
                  </a:endParaRPr>
                </a:p>
              </p:txBody>
            </p:sp>
            <p:cxnSp>
              <p:nvCxnSpPr>
                <p:cNvPr id="594" name="Google Shape;594;p26"/>
                <p:cNvCxnSpPr/>
                <p:nvPr/>
              </p:nvCxnSpPr>
              <p:spPr>
                <a:xfrm>
                  <a:off x="1714500" y="1504950"/>
                  <a:ext cx="0" cy="190500"/>
                </a:xfrm>
                <a:prstGeom prst="straightConnector1">
                  <a:avLst/>
                </a:prstGeom>
                <a:solidFill>
                  <a:srgbClr val="FFFFFF"/>
                </a:solidFill>
                <a:ln cap="flat" cmpd="sng" w="14300">
                  <a:solidFill>
                    <a:srgbClr val="D9381E"/>
                  </a:solidFill>
                  <a:prstDash val="solid"/>
                  <a:round/>
                  <a:headEnd len="sm" w="sm" type="none"/>
                  <a:tailEnd len="sm" w="sm" type="none"/>
                </a:ln>
              </p:spPr>
            </p:cxnSp>
            <p:sp>
              <p:nvSpPr>
                <p:cNvPr id="595" name="Google Shape;595;p26"/>
                <p:cNvSpPr/>
                <p:nvPr/>
              </p:nvSpPr>
              <p:spPr>
                <a:xfrm>
                  <a:off x="1676400" y="1695450"/>
                  <a:ext cx="76200" cy="57300"/>
                </a:xfrm>
                <a:custGeom>
                  <a:rect b="b" l="l" r="r" t="t"/>
                  <a:pathLst>
                    <a:path extrusionOk="0" h="120000" w="120000">
                      <a:moveTo>
                        <a:pt x="0" y="0"/>
                      </a:moveTo>
                      <a:lnTo>
                        <a:pt x="60000" y="120000"/>
                      </a:lnTo>
                      <a:lnTo>
                        <a:pt x="120000" y="0"/>
                      </a:lnTo>
                      <a:close/>
                    </a:path>
                  </a:pathLst>
                </a:cu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6" name="Google Shape;596;p26"/>
                <p:cNvSpPr/>
                <p:nvPr/>
              </p:nvSpPr>
              <p:spPr>
                <a:xfrm>
                  <a:off x="0" y="1790700"/>
                  <a:ext cx="3429000" cy="495300"/>
                </a:xfrm>
                <a:prstGeom prst="rect">
                  <a:avLst/>
                </a:prstGeom>
                <a:solidFill>
                  <a:srgbClr val="D9381E"/>
                </a:solidFill>
                <a:ln cap="flat" cmpd="sng" w="9525">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7" name="Google Shape;597;p26"/>
                <p:cNvSpPr txBox="1"/>
                <p:nvPr/>
              </p:nvSpPr>
              <p:spPr>
                <a:xfrm>
                  <a:off x="133350" y="1790700"/>
                  <a:ext cx="320040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GB" sz="863" u="none" strike="noStrike">
                      <a:solidFill>
                        <a:srgbClr val="FFFFFF"/>
                      </a:solidFill>
                      <a:latin typeface="JetBrains Mono"/>
                      <a:ea typeface="JetBrains Mono"/>
                      <a:cs typeface="JetBrains Mono"/>
                      <a:sym typeface="JetBrains Mono"/>
                    </a:rPr>
                    <a:t>→ [Token Probability Calculation]</a:t>
                  </a:r>
                  <a:endParaRPr b="1" i="0" sz="863" u="none" strike="noStrike">
                    <a:solidFill>
                      <a:srgbClr val="FFFFFF"/>
                    </a:solidFill>
                    <a:latin typeface="JetBrains Mono"/>
                    <a:ea typeface="JetBrains Mono"/>
                    <a:cs typeface="JetBrains Mono"/>
                    <a:sym typeface="JetBrains Mono"/>
                  </a:endParaRPr>
                </a:p>
              </p:txBody>
            </p:sp>
          </p:grpSp>
        </p:grpSp>
      </p:grpSp>
      <p:grpSp>
        <p:nvGrpSpPr>
          <p:cNvPr id="598" name="Google Shape;598;p26"/>
          <p:cNvGrpSpPr/>
          <p:nvPr/>
        </p:nvGrpSpPr>
        <p:grpSpPr>
          <a:xfrm>
            <a:off x="381000" y="4762500"/>
            <a:ext cx="8382000" cy="285750"/>
            <a:chOff x="381000" y="4762500"/>
            <a:chExt cx="8382000" cy="285750"/>
          </a:xfrm>
        </p:grpSpPr>
        <p:cxnSp>
          <p:nvCxnSpPr>
            <p:cNvPr id="599" name="Google Shape;599;p26"/>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600" name="Google Shape;600;p26"/>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27"/>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950">
                <a:solidFill>
                  <a:srgbClr val="111315"/>
                </a:solidFill>
                <a:latin typeface="Space Grotesk"/>
                <a:ea typeface="Space Grotesk"/>
                <a:cs typeface="Space Grotesk"/>
                <a:sym typeface="Space Grotesk"/>
              </a:rPr>
              <a:t>General Software Architecture: LLMs, Coding Harnesses, and MCPs</a:t>
            </a:r>
            <a:endParaRPr b="1" sz="1950">
              <a:solidFill>
                <a:srgbClr val="111315"/>
              </a:solidFill>
              <a:latin typeface="Space Grotesk"/>
              <a:ea typeface="Space Grotesk"/>
              <a:cs typeface="Space Grotesk"/>
              <a:sym typeface="Space Grotesk"/>
            </a:endParaRPr>
          </a:p>
        </p:txBody>
      </p:sp>
      <p:pic>
        <p:nvPicPr>
          <p:cNvPr id="606" name="Google Shape;606;p27"/>
          <p:cNvPicPr preferRelativeResize="0"/>
          <p:nvPr/>
        </p:nvPicPr>
        <p:blipFill rotWithShape="1">
          <a:blip r:embed="rId3">
            <a:alphaModFix/>
          </a:blip>
          <a:srcRect b="0" l="0" r="0" t="0"/>
          <a:stretch/>
        </p:blipFill>
        <p:spPr>
          <a:xfrm>
            <a:off x="381000" y="947738"/>
            <a:ext cx="8343900" cy="9600"/>
          </a:xfrm>
          <a:prstGeom prst="rect">
            <a:avLst/>
          </a:prstGeom>
          <a:noFill/>
          <a:ln>
            <a:noFill/>
          </a:ln>
        </p:spPr>
      </p:pic>
      <p:grpSp>
        <p:nvGrpSpPr>
          <p:cNvPr id="607" name="Google Shape;607;p27"/>
          <p:cNvGrpSpPr/>
          <p:nvPr/>
        </p:nvGrpSpPr>
        <p:grpSpPr>
          <a:xfrm>
            <a:off x="381000" y="1428750"/>
            <a:ext cx="1247433" cy="2095500"/>
            <a:chOff x="0" y="0"/>
            <a:chExt cx="1666800" cy="2095500"/>
          </a:xfrm>
        </p:grpSpPr>
        <p:sp>
          <p:nvSpPr>
            <p:cNvPr id="608" name="Google Shape;608;p27"/>
            <p:cNvSpPr/>
            <p:nvPr/>
          </p:nvSpPr>
          <p:spPr>
            <a:xfrm>
              <a:off x="0" y="0"/>
              <a:ext cx="1666800" cy="20955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9" name="Google Shape;609;p27"/>
            <p:cNvSpPr/>
            <p:nvPr/>
          </p:nvSpPr>
          <p:spPr>
            <a:xfrm>
              <a:off x="0" y="0"/>
              <a:ext cx="1666800" cy="38100"/>
            </a:xfrm>
            <a:prstGeom prst="rect">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0" name="Google Shape;610;p27"/>
            <p:cNvSpPr txBox="1"/>
            <p:nvPr/>
          </p:nvSpPr>
          <p:spPr>
            <a:xfrm>
              <a:off x="114300" y="152400"/>
              <a:ext cx="1438200" cy="179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GB" sz="750" u="none" strike="noStrike">
                  <a:solidFill>
                    <a:srgbClr val="D9381E"/>
                  </a:solidFill>
                  <a:latin typeface="JetBrains Mono"/>
                  <a:ea typeface="JetBrains Mono"/>
                  <a:cs typeface="JetBrains Mono"/>
                  <a:sym typeface="JetBrains Mono"/>
                </a:rPr>
                <a:t>01 // OPERATOR</a:t>
              </a:r>
              <a:endParaRPr b="0"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900"/>
                </a:spcBef>
                <a:spcAft>
                  <a:spcPts val="0"/>
                </a:spcAft>
                <a:buNone/>
              </a:pPr>
              <a:r>
                <a:rPr b="1" i="0" lang="en-GB" sz="1200" u="none" strike="noStrike">
                  <a:solidFill>
                    <a:srgbClr val="111315"/>
                  </a:solidFill>
                  <a:latin typeface="Inter"/>
                  <a:ea typeface="Inter"/>
                  <a:cs typeface="Inter"/>
                  <a:sym typeface="Inter"/>
                </a:rPr>
                <a:t>1. User</a:t>
              </a:r>
              <a:endParaRPr b="0"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600"/>
                </a:spcBef>
                <a:spcAft>
                  <a:spcPts val="450"/>
                </a:spcAft>
                <a:buNone/>
              </a:pPr>
              <a:r>
                <a:rPr b="0" i="0" lang="en-GB" sz="900" u="none" strike="noStrike">
                  <a:solidFill>
                    <a:srgbClr val="5A626A"/>
                  </a:solidFill>
                  <a:latin typeface="Inter"/>
                  <a:ea typeface="Inter"/>
                  <a:cs typeface="Inter"/>
                  <a:sym typeface="Inter"/>
                </a:rPr>
                <a:t>Operator providing prompt inputs and reviewing system outputs.</a:t>
              </a:r>
              <a:endParaRPr b="0" i="0" sz="750" u="none" strike="noStrike">
                <a:solidFill>
                  <a:srgbClr val="D9381E"/>
                </a:solidFill>
                <a:latin typeface="JetBrains Mono"/>
                <a:ea typeface="JetBrains Mono"/>
                <a:cs typeface="JetBrains Mono"/>
                <a:sym typeface="JetBrains Mono"/>
              </a:endParaRPr>
            </a:p>
          </p:txBody>
        </p:sp>
      </p:grpSp>
      <p:grpSp>
        <p:nvGrpSpPr>
          <p:cNvPr id="611" name="Google Shape;611;p27"/>
          <p:cNvGrpSpPr/>
          <p:nvPr/>
        </p:nvGrpSpPr>
        <p:grpSpPr>
          <a:xfrm>
            <a:off x="1609575" y="2438400"/>
            <a:ext cx="438150" cy="76200"/>
            <a:chOff x="2066925" y="2438400"/>
            <a:chExt cx="438150" cy="76200"/>
          </a:xfrm>
        </p:grpSpPr>
        <p:cxnSp>
          <p:nvCxnSpPr>
            <p:cNvPr id="612" name="Google Shape;612;p27"/>
            <p:cNvCxnSpPr/>
            <p:nvPr/>
          </p:nvCxnSpPr>
          <p:spPr>
            <a:xfrm>
              <a:off x="2124075" y="2476500"/>
              <a:ext cx="3240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613" name="Google Shape;613;p27"/>
            <p:cNvSpPr/>
            <p:nvPr/>
          </p:nvSpPr>
          <p:spPr>
            <a:xfrm>
              <a:off x="2066925" y="2438400"/>
              <a:ext cx="76200" cy="76200"/>
            </a:xfrm>
            <a:custGeom>
              <a:rect b="b" l="l" r="r" t="t"/>
              <a:pathLst>
                <a:path extrusionOk="0" h="120000" w="120000">
                  <a:moveTo>
                    <a:pt x="120000" y="0"/>
                  </a:moveTo>
                  <a:lnTo>
                    <a:pt x="0" y="60000"/>
                  </a:lnTo>
                  <a:lnTo>
                    <a:pt x="12000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4" name="Google Shape;614;p27"/>
            <p:cNvSpPr/>
            <p:nvPr/>
          </p:nvSpPr>
          <p:spPr>
            <a:xfrm>
              <a:off x="2428875" y="24384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15" name="Google Shape;615;p27"/>
          <p:cNvGrpSpPr/>
          <p:nvPr/>
        </p:nvGrpSpPr>
        <p:grpSpPr>
          <a:xfrm>
            <a:off x="2047725" y="1428750"/>
            <a:ext cx="1316666" cy="2095500"/>
            <a:chOff x="0" y="0"/>
            <a:chExt cx="2000100" cy="2095500"/>
          </a:xfrm>
        </p:grpSpPr>
        <p:sp>
          <p:nvSpPr>
            <p:cNvPr id="616" name="Google Shape;616;p27"/>
            <p:cNvSpPr/>
            <p:nvPr/>
          </p:nvSpPr>
          <p:spPr>
            <a:xfrm>
              <a:off x="0" y="0"/>
              <a:ext cx="2000100" cy="20955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7" name="Google Shape;617;p27"/>
            <p:cNvSpPr/>
            <p:nvPr/>
          </p:nvSpPr>
          <p:spPr>
            <a:xfrm>
              <a:off x="0" y="0"/>
              <a:ext cx="2000100" cy="38100"/>
            </a:xfrm>
            <a:prstGeom prst="rect">
              <a:avLst/>
            </a:pr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8" name="Google Shape;618;p27"/>
            <p:cNvSpPr txBox="1"/>
            <p:nvPr/>
          </p:nvSpPr>
          <p:spPr>
            <a:xfrm>
              <a:off x="114300" y="152400"/>
              <a:ext cx="1771800" cy="179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GB" sz="750" u="none" strike="noStrike">
                  <a:solidFill>
                    <a:srgbClr val="1D4ED8"/>
                  </a:solidFill>
                  <a:latin typeface="JetBrains Mono"/>
                  <a:ea typeface="JetBrains Mono"/>
                  <a:cs typeface="JetBrains Mono"/>
                  <a:sym typeface="JetBrains Mono"/>
                </a:rPr>
                <a:t>02 // ENVIRONMENT</a:t>
              </a:r>
              <a:endParaRPr b="0"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900"/>
                </a:spcBef>
                <a:spcAft>
                  <a:spcPts val="0"/>
                </a:spcAft>
                <a:buNone/>
              </a:pPr>
              <a:r>
                <a:rPr b="1" i="0" lang="en-GB" sz="1125" u="none" strike="noStrike">
                  <a:solidFill>
                    <a:srgbClr val="111315"/>
                  </a:solidFill>
                  <a:latin typeface="Inter"/>
                  <a:ea typeface="Inter"/>
                  <a:cs typeface="Inter"/>
                  <a:sym typeface="Inter"/>
                </a:rPr>
                <a:t>2. Coding Harness</a:t>
              </a:r>
              <a:endParaRPr b="0"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b="1" i="0" lang="en-GB" sz="750" u="none" strike="noStrike">
                  <a:solidFill>
                    <a:srgbClr val="111315"/>
                  </a:solidFill>
                  <a:latin typeface="JetBrains Mono"/>
                  <a:ea typeface="JetBrains Mono"/>
                  <a:cs typeface="JetBrains Mono"/>
                  <a:sym typeface="JetBrains Mono"/>
                </a:rPr>
                <a:t>System Context and Execution Loop</a:t>
              </a:r>
              <a:endParaRPr b="0"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450"/>
                </a:spcBef>
                <a:spcAft>
                  <a:spcPts val="0"/>
                </a:spcAft>
                <a:buNone/>
              </a:pPr>
              <a:r>
                <a:rPr b="0" i="0" lang="en-GB" sz="900" u="none" strike="noStrike">
                  <a:solidFill>
                    <a:srgbClr val="5A626A"/>
                  </a:solidFill>
                  <a:latin typeface="Inter"/>
                  <a:ea typeface="Inter"/>
                  <a:cs typeface="Inter"/>
                  <a:sym typeface="Inter"/>
                </a:rPr>
                <a:t>Maintains state, prepares context windows, executes code, and processes returned data.</a:t>
              </a:r>
              <a:endParaRPr b="0" i="0" sz="750" u="none" strike="noStrike">
                <a:solidFill>
                  <a:srgbClr val="1D4ED8"/>
                </a:solidFill>
                <a:latin typeface="JetBrains Mono"/>
                <a:ea typeface="JetBrains Mono"/>
                <a:cs typeface="JetBrains Mono"/>
                <a:sym typeface="JetBrains Mono"/>
              </a:endParaRPr>
            </a:p>
          </p:txBody>
        </p:sp>
      </p:grpSp>
      <p:grpSp>
        <p:nvGrpSpPr>
          <p:cNvPr id="619" name="Google Shape;619;p27"/>
          <p:cNvGrpSpPr/>
          <p:nvPr/>
        </p:nvGrpSpPr>
        <p:grpSpPr>
          <a:xfrm>
            <a:off x="3364400" y="2438400"/>
            <a:ext cx="438150" cy="76200"/>
            <a:chOff x="4543425" y="2438400"/>
            <a:chExt cx="438150" cy="76200"/>
          </a:xfrm>
        </p:grpSpPr>
        <p:cxnSp>
          <p:nvCxnSpPr>
            <p:cNvPr id="620" name="Google Shape;620;p27"/>
            <p:cNvCxnSpPr/>
            <p:nvPr/>
          </p:nvCxnSpPr>
          <p:spPr>
            <a:xfrm>
              <a:off x="4600575" y="2476500"/>
              <a:ext cx="3240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621" name="Google Shape;621;p27"/>
            <p:cNvSpPr/>
            <p:nvPr/>
          </p:nvSpPr>
          <p:spPr>
            <a:xfrm>
              <a:off x="4543425" y="2438400"/>
              <a:ext cx="76200" cy="76200"/>
            </a:xfrm>
            <a:custGeom>
              <a:rect b="b" l="l" r="r" t="t"/>
              <a:pathLst>
                <a:path extrusionOk="0" h="120000" w="120000">
                  <a:moveTo>
                    <a:pt x="120000" y="0"/>
                  </a:moveTo>
                  <a:lnTo>
                    <a:pt x="0" y="60000"/>
                  </a:lnTo>
                  <a:lnTo>
                    <a:pt x="12000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2" name="Google Shape;622;p27"/>
            <p:cNvSpPr/>
            <p:nvPr/>
          </p:nvSpPr>
          <p:spPr>
            <a:xfrm>
              <a:off x="4905375" y="24384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23" name="Google Shape;623;p27"/>
          <p:cNvGrpSpPr/>
          <p:nvPr/>
        </p:nvGrpSpPr>
        <p:grpSpPr>
          <a:xfrm>
            <a:off x="3802550" y="1428750"/>
            <a:ext cx="1247470" cy="2095500"/>
            <a:chOff x="0" y="0"/>
            <a:chExt cx="1714500" cy="2095500"/>
          </a:xfrm>
        </p:grpSpPr>
        <p:sp>
          <p:nvSpPr>
            <p:cNvPr id="624" name="Google Shape;624;p27"/>
            <p:cNvSpPr/>
            <p:nvPr/>
          </p:nvSpPr>
          <p:spPr>
            <a:xfrm>
              <a:off x="0" y="0"/>
              <a:ext cx="1714500" cy="20955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5" name="Google Shape;625;p27"/>
            <p:cNvSpPr/>
            <p:nvPr/>
          </p:nvSpPr>
          <p:spPr>
            <a:xfrm>
              <a:off x="0" y="0"/>
              <a:ext cx="1714500" cy="38100"/>
            </a:xfrm>
            <a:prstGeom prst="rect">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6" name="Google Shape;626;p27"/>
            <p:cNvSpPr txBox="1"/>
            <p:nvPr/>
          </p:nvSpPr>
          <p:spPr>
            <a:xfrm>
              <a:off x="114300" y="152400"/>
              <a:ext cx="1485900" cy="179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GB" sz="750" u="none" strike="noStrike">
                  <a:solidFill>
                    <a:srgbClr val="D9381E"/>
                  </a:solidFill>
                  <a:latin typeface="JetBrains Mono"/>
                  <a:ea typeface="JetBrains Mono"/>
                  <a:cs typeface="JetBrains Mono"/>
                  <a:sym typeface="JetBrains Mono"/>
                </a:rPr>
                <a:t>03 // MODEL</a:t>
              </a:r>
              <a:endParaRPr b="0"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900"/>
                </a:spcBef>
                <a:spcAft>
                  <a:spcPts val="0"/>
                </a:spcAft>
                <a:buNone/>
              </a:pPr>
              <a:r>
                <a:rPr b="1" i="0" lang="en-GB" sz="1200" u="none" strike="noStrike">
                  <a:solidFill>
                    <a:srgbClr val="111315"/>
                  </a:solidFill>
                  <a:latin typeface="Inter"/>
                  <a:ea typeface="Inter"/>
                  <a:cs typeface="Inter"/>
                  <a:sym typeface="Inter"/>
                </a:rPr>
                <a:t>3. LLM</a:t>
              </a:r>
              <a:endParaRPr b="0"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b="0" i="0" lang="en-GB" sz="900" u="none" strike="noStrike">
                  <a:solidFill>
                    <a:srgbClr val="5A626A"/>
                  </a:solidFill>
                  <a:latin typeface="Inter"/>
                  <a:ea typeface="Inter"/>
                  <a:cs typeface="Inter"/>
                  <a:sym typeface="Inter"/>
                </a:rPr>
                <a:t>Probabilistic model generating text tokens, code, and tool commands.</a:t>
              </a:r>
              <a:endParaRPr b="0" i="0" sz="750" u="none" strike="noStrike">
                <a:solidFill>
                  <a:srgbClr val="D9381E"/>
                </a:solidFill>
                <a:latin typeface="JetBrains Mono"/>
                <a:ea typeface="JetBrains Mono"/>
                <a:cs typeface="JetBrains Mono"/>
                <a:sym typeface="JetBrains Mono"/>
              </a:endParaRPr>
            </a:p>
          </p:txBody>
        </p:sp>
      </p:grpSp>
      <p:grpSp>
        <p:nvGrpSpPr>
          <p:cNvPr id="627" name="Google Shape;627;p27"/>
          <p:cNvGrpSpPr/>
          <p:nvPr/>
        </p:nvGrpSpPr>
        <p:grpSpPr>
          <a:xfrm>
            <a:off x="5075188" y="2438400"/>
            <a:ext cx="438150" cy="76200"/>
            <a:chOff x="6734175" y="2438400"/>
            <a:chExt cx="438150" cy="76200"/>
          </a:xfrm>
        </p:grpSpPr>
        <p:cxnSp>
          <p:nvCxnSpPr>
            <p:cNvPr id="628" name="Google Shape;628;p27"/>
            <p:cNvCxnSpPr/>
            <p:nvPr/>
          </p:nvCxnSpPr>
          <p:spPr>
            <a:xfrm>
              <a:off x="6791325" y="2476500"/>
              <a:ext cx="3240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629" name="Google Shape;629;p27"/>
            <p:cNvSpPr/>
            <p:nvPr/>
          </p:nvSpPr>
          <p:spPr>
            <a:xfrm>
              <a:off x="6734175" y="2438400"/>
              <a:ext cx="76200" cy="76200"/>
            </a:xfrm>
            <a:custGeom>
              <a:rect b="b" l="l" r="r" t="t"/>
              <a:pathLst>
                <a:path extrusionOk="0" h="120000" w="120000">
                  <a:moveTo>
                    <a:pt x="120000" y="0"/>
                  </a:moveTo>
                  <a:lnTo>
                    <a:pt x="0" y="60000"/>
                  </a:lnTo>
                  <a:lnTo>
                    <a:pt x="12000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0" name="Google Shape;630;p27"/>
            <p:cNvSpPr/>
            <p:nvPr/>
          </p:nvSpPr>
          <p:spPr>
            <a:xfrm>
              <a:off x="7096125" y="24384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31" name="Google Shape;631;p27"/>
          <p:cNvSpPr txBox="1"/>
          <p:nvPr/>
        </p:nvSpPr>
        <p:spPr>
          <a:xfrm>
            <a:off x="381000" y="4333875"/>
            <a:ext cx="8382000" cy="2382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Ref: Anthropic (2024), Model Context Protocol.</a:t>
            </a:r>
            <a:endParaRPr b="0" sz="750">
              <a:solidFill>
                <a:srgbClr val="5A626A"/>
              </a:solidFill>
              <a:latin typeface="JetBrains Mono"/>
              <a:ea typeface="JetBrains Mono"/>
              <a:cs typeface="JetBrains Mono"/>
              <a:sym typeface="JetBrains Mono"/>
            </a:endParaRPr>
          </a:p>
        </p:txBody>
      </p:sp>
      <p:grpSp>
        <p:nvGrpSpPr>
          <p:cNvPr id="632" name="Google Shape;632;p27"/>
          <p:cNvGrpSpPr/>
          <p:nvPr/>
        </p:nvGrpSpPr>
        <p:grpSpPr>
          <a:xfrm>
            <a:off x="381000" y="4714875"/>
            <a:ext cx="8382000" cy="285750"/>
            <a:chOff x="381000" y="4714875"/>
            <a:chExt cx="8382000" cy="285750"/>
          </a:xfrm>
        </p:grpSpPr>
        <p:cxnSp>
          <p:nvCxnSpPr>
            <p:cNvPr id="633" name="Google Shape;633;p27"/>
            <p:cNvCxnSpPr/>
            <p:nvPr/>
          </p:nvCxnSpPr>
          <p:spPr>
            <a:xfrm>
              <a:off x="381000" y="4714875"/>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634" name="Google Shape;634;p27"/>
            <p:cNvSpPr txBox="1"/>
            <p:nvPr/>
          </p:nvSpPr>
          <p:spPr>
            <a:xfrm>
              <a:off x="381000" y="4810125"/>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grpSp>
        <p:nvGrpSpPr>
          <p:cNvPr id="635" name="Google Shape;635;p27"/>
          <p:cNvGrpSpPr/>
          <p:nvPr/>
        </p:nvGrpSpPr>
        <p:grpSpPr>
          <a:xfrm>
            <a:off x="5538525" y="1428750"/>
            <a:ext cx="1187859" cy="2095500"/>
            <a:chOff x="0" y="0"/>
            <a:chExt cx="2000100" cy="2095500"/>
          </a:xfrm>
        </p:grpSpPr>
        <p:sp>
          <p:nvSpPr>
            <p:cNvPr id="636" name="Google Shape;636;p27"/>
            <p:cNvSpPr/>
            <p:nvPr/>
          </p:nvSpPr>
          <p:spPr>
            <a:xfrm>
              <a:off x="0" y="0"/>
              <a:ext cx="2000100" cy="20955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7" name="Google Shape;637;p27"/>
            <p:cNvSpPr/>
            <p:nvPr/>
          </p:nvSpPr>
          <p:spPr>
            <a:xfrm>
              <a:off x="0" y="0"/>
              <a:ext cx="2000100" cy="38100"/>
            </a:xfrm>
            <a:prstGeom prst="rect">
              <a:avLst/>
            </a:pr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27"/>
            <p:cNvSpPr txBox="1"/>
            <p:nvPr/>
          </p:nvSpPr>
          <p:spPr>
            <a:xfrm>
              <a:off x="114300" y="152400"/>
              <a:ext cx="1771800" cy="179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GB" sz="750" u="none" strike="noStrike">
                  <a:solidFill>
                    <a:srgbClr val="1D4ED8"/>
                  </a:solidFill>
                  <a:latin typeface="JetBrains Mono"/>
                  <a:ea typeface="JetBrains Mono"/>
                  <a:cs typeface="JetBrains Mono"/>
                  <a:sym typeface="JetBrains Mono"/>
                </a:rPr>
                <a:t>04 // INTERFACE</a:t>
              </a:r>
              <a:endParaRPr b="0"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900"/>
                </a:spcBef>
                <a:spcAft>
                  <a:spcPts val="0"/>
                </a:spcAft>
                <a:buNone/>
              </a:pPr>
              <a:r>
                <a:rPr b="1" i="0" lang="en-GB" sz="1125" u="none" strike="noStrike">
                  <a:solidFill>
                    <a:srgbClr val="111315"/>
                  </a:solidFill>
                  <a:latin typeface="Inter"/>
                  <a:ea typeface="Inter"/>
                  <a:cs typeface="Inter"/>
                  <a:sym typeface="Inter"/>
                </a:rPr>
                <a:t>4. MCP</a:t>
              </a:r>
              <a:endParaRPr b="0"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b="0" i="0" lang="en-GB" sz="900" u="none" strike="noStrike">
                  <a:solidFill>
                    <a:srgbClr val="5A626A"/>
                  </a:solidFill>
                  <a:latin typeface="Inter"/>
                  <a:ea typeface="Inter"/>
                  <a:cs typeface="Inter"/>
                  <a:sym typeface="Inter"/>
                </a:rPr>
                <a:t>Provides command interfaces and tool definitions to execute software operations.</a:t>
              </a:r>
              <a:endParaRPr b="0" i="0" sz="750" u="none" strike="noStrike">
                <a:solidFill>
                  <a:srgbClr val="1D4ED8"/>
                </a:solidFill>
                <a:latin typeface="JetBrains Mono"/>
                <a:ea typeface="JetBrains Mono"/>
                <a:cs typeface="JetBrains Mono"/>
                <a:sym typeface="JetBrains Mono"/>
              </a:endParaRPr>
            </a:p>
          </p:txBody>
        </p:sp>
      </p:grpSp>
      <p:grpSp>
        <p:nvGrpSpPr>
          <p:cNvPr id="639" name="Google Shape;639;p27"/>
          <p:cNvGrpSpPr/>
          <p:nvPr/>
        </p:nvGrpSpPr>
        <p:grpSpPr>
          <a:xfrm>
            <a:off x="7214875" y="1428750"/>
            <a:ext cx="1247470" cy="2095500"/>
            <a:chOff x="0" y="0"/>
            <a:chExt cx="1714500" cy="2095500"/>
          </a:xfrm>
        </p:grpSpPr>
        <p:sp>
          <p:nvSpPr>
            <p:cNvPr id="640" name="Google Shape;640;p27"/>
            <p:cNvSpPr/>
            <p:nvPr/>
          </p:nvSpPr>
          <p:spPr>
            <a:xfrm>
              <a:off x="0" y="0"/>
              <a:ext cx="1714500" cy="20955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1" name="Google Shape;641;p27"/>
            <p:cNvSpPr/>
            <p:nvPr/>
          </p:nvSpPr>
          <p:spPr>
            <a:xfrm>
              <a:off x="0" y="0"/>
              <a:ext cx="1714500" cy="38100"/>
            </a:xfrm>
            <a:prstGeom prst="rect">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2" name="Google Shape;642;p27"/>
            <p:cNvSpPr txBox="1"/>
            <p:nvPr/>
          </p:nvSpPr>
          <p:spPr>
            <a:xfrm>
              <a:off x="114300" y="152400"/>
              <a:ext cx="1485900" cy="1790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GB" sz="750" u="none" strike="noStrike">
                  <a:solidFill>
                    <a:srgbClr val="D9381E"/>
                  </a:solidFill>
                  <a:latin typeface="JetBrains Mono"/>
                  <a:ea typeface="JetBrains Mono"/>
                  <a:cs typeface="JetBrains Mono"/>
                  <a:sym typeface="JetBrains Mono"/>
                </a:rPr>
                <a:t>05 // APPLICATION</a:t>
              </a:r>
              <a:endParaRPr b="0"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900"/>
                </a:spcBef>
                <a:spcAft>
                  <a:spcPts val="0"/>
                </a:spcAft>
                <a:buNone/>
              </a:pPr>
              <a:r>
                <a:rPr b="1" i="0" lang="en-GB" sz="1200" u="none" strike="noStrike">
                  <a:solidFill>
                    <a:srgbClr val="111315"/>
                  </a:solidFill>
                  <a:latin typeface="Inter"/>
                  <a:ea typeface="Inter"/>
                  <a:cs typeface="Inter"/>
                  <a:sym typeface="Inter"/>
                </a:rPr>
                <a:t>5. Target Software</a:t>
              </a:r>
              <a:endParaRPr b="0"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b="0" i="0" lang="en-GB" sz="900" u="none" strike="noStrike">
                  <a:solidFill>
                    <a:srgbClr val="5A626A"/>
                  </a:solidFill>
                  <a:latin typeface="Inter"/>
                  <a:ea typeface="Inter"/>
                  <a:cs typeface="Inter"/>
                  <a:sym typeface="Inter"/>
                </a:rPr>
                <a:t>CAD and BIM software where geometry modifications execute via API or CLI commands.</a:t>
              </a:r>
              <a:endParaRPr b="0" i="0" sz="750" u="none" strike="noStrike">
                <a:solidFill>
                  <a:srgbClr val="D9381E"/>
                </a:solidFill>
                <a:latin typeface="JetBrains Mono"/>
                <a:ea typeface="JetBrains Mono"/>
                <a:cs typeface="JetBrains Mono"/>
                <a:sym typeface="JetBrains Mono"/>
              </a:endParaRPr>
            </a:p>
          </p:txBody>
        </p:sp>
      </p:grpSp>
      <p:grpSp>
        <p:nvGrpSpPr>
          <p:cNvPr id="643" name="Google Shape;643;p27"/>
          <p:cNvGrpSpPr/>
          <p:nvPr/>
        </p:nvGrpSpPr>
        <p:grpSpPr>
          <a:xfrm>
            <a:off x="6751538" y="2438400"/>
            <a:ext cx="438150" cy="76200"/>
            <a:chOff x="6734175" y="2438400"/>
            <a:chExt cx="438150" cy="76200"/>
          </a:xfrm>
        </p:grpSpPr>
        <p:cxnSp>
          <p:nvCxnSpPr>
            <p:cNvPr id="644" name="Google Shape;644;p27"/>
            <p:cNvCxnSpPr/>
            <p:nvPr/>
          </p:nvCxnSpPr>
          <p:spPr>
            <a:xfrm>
              <a:off x="6791325" y="2476500"/>
              <a:ext cx="3240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645" name="Google Shape;645;p27"/>
            <p:cNvSpPr/>
            <p:nvPr/>
          </p:nvSpPr>
          <p:spPr>
            <a:xfrm>
              <a:off x="6734175" y="2438400"/>
              <a:ext cx="76200" cy="76200"/>
            </a:xfrm>
            <a:custGeom>
              <a:rect b="b" l="l" r="r" t="t"/>
              <a:pathLst>
                <a:path extrusionOk="0" h="120000" w="120000">
                  <a:moveTo>
                    <a:pt x="120000" y="0"/>
                  </a:moveTo>
                  <a:lnTo>
                    <a:pt x="0" y="60000"/>
                  </a:lnTo>
                  <a:lnTo>
                    <a:pt x="12000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6" name="Google Shape;646;p27"/>
            <p:cNvSpPr/>
            <p:nvPr/>
          </p:nvSpPr>
          <p:spPr>
            <a:xfrm>
              <a:off x="7096125" y="24384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28"/>
          <p:cNvSpPr txBox="1"/>
          <p:nvPr/>
        </p:nvSpPr>
        <p:spPr>
          <a:xfrm>
            <a:off x="381000" y="285750"/>
            <a:ext cx="8382000" cy="476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1850" u="none" strike="noStrike">
                <a:solidFill>
                  <a:srgbClr val="111315"/>
                </a:solidFill>
                <a:latin typeface="Space Grotesk"/>
                <a:ea typeface="Space Grotesk"/>
                <a:cs typeface="Space Grotesk"/>
                <a:sym typeface="Space Grotesk"/>
              </a:rPr>
              <a:t>Live Demonstrations: CAD Automation via MCP</a:t>
            </a:r>
            <a:endParaRPr b="1" i="0" sz="1850" u="none" strike="noStrike">
              <a:solidFill>
                <a:srgbClr val="111315"/>
              </a:solidFill>
              <a:latin typeface="Space Grotesk"/>
              <a:ea typeface="Space Grotesk"/>
              <a:cs typeface="Space Grotesk"/>
              <a:sym typeface="Space Grotesk"/>
            </a:endParaRPr>
          </a:p>
        </p:txBody>
      </p:sp>
      <p:sp>
        <p:nvSpPr>
          <p:cNvPr id="652" name="Google Shape;652;p28"/>
          <p:cNvSpPr txBox="1"/>
          <p:nvPr/>
        </p:nvSpPr>
        <p:spPr>
          <a:xfrm>
            <a:off x="381000" y="742950"/>
            <a:ext cx="8382000" cy="247800"/>
          </a:xfrm>
          <a:prstGeom prst="rect">
            <a:avLst/>
          </a:prstGeom>
          <a:noFill/>
          <a:ln>
            <a:noFill/>
          </a:ln>
        </p:spPr>
        <p:txBody>
          <a:bodyPr anchorCtr="0" anchor="ctr" bIns="0" lIns="91425" spcFirstLastPara="1" rIns="91425" wrap="square" tIns="0">
            <a:noAutofit/>
          </a:bodyPr>
          <a:lstStyle/>
          <a:p>
            <a:pPr indent="0" lvl="0" marL="0" marR="0" rtl="0" algn="l">
              <a:spcBef>
                <a:spcPts val="0"/>
              </a:spcBef>
              <a:spcAft>
                <a:spcPts val="0"/>
              </a:spcAft>
              <a:buNone/>
            </a:pPr>
            <a:r>
              <a:rPr b="0" i="0" lang="en-GB" sz="800" u="none" strike="noStrike">
                <a:solidFill>
                  <a:srgbClr val="1D4ED8"/>
                </a:solidFill>
                <a:latin typeface="JetBrains Mono SemiBold"/>
                <a:ea typeface="JetBrains Mono SemiBold"/>
                <a:cs typeface="JetBrains Mono SemiBold"/>
                <a:sym typeface="JetBrains Mono SemiBold"/>
              </a:rPr>
              <a:t>SECTION 03 // INTERACTIVE EXECUTION WORKFLOWS</a:t>
            </a:r>
            <a:endParaRPr b="0" i="0" sz="800" u="none" strike="noStrike">
              <a:solidFill>
                <a:srgbClr val="1D4ED8"/>
              </a:solidFill>
              <a:latin typeface="JetBrains Mono SemiBold"/>
              <a:ea typeface="JetBrains Mono SemiBold"/>
              <a:cs typeface="JetBrains Mono SemiBold"/>
              <a:sym typeface="JetBrains Mono SemiBold"/>
            </a:endParaRPr>
          </a:p>
        </p:txBody>
      </p:sp>
      <p:cxnSp>
        <p:nvCxnSpPr>
          <p:cNvPr id="653" name="Google Shape;653;p28"/>
          <p:cNvCxnSpPr/>
          <p:nvPr/>
        </p:nvCxnSpPr>
        <p:spPr>
          <a:xfrm>
            <a:off x="381000" y="10287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654" name="Google Shape;654;p28"/>
          <p:cNvSpPr txBox="1"/>
          <p:nvPr/>
        </p:nvSpPr>
        <p:spPr>
          <a:xfrm>
            <a:off x="381000" y="4429125"/>
            <a:ext cx="8382000" cy="304800"/>
          </a:xfrm>
          <a:prstGeom prst="rect">
            <a:avLst/>
          </a:prstGeom>
          <a:noFill/>
          <a:ln>
            <a:noFill/>
          </a:ln>
        </p:spPr>
        <p:txBody>
          <a:bodyPr anchorCtr="0" anchor="ctr" bIns="19050" lIns="91425" spcFirstLastPara="1" rIns="91425" wrap="square" tIns="19050">
            <a:noAutofit/>
          </a:bodyPr>
          <a:lstStyle/>
          <a:p>
            <a:pPr indent="0" lvl="0" marL="0" marR="0" rtl="0" algn="l">
              <a:spcBef>
                <a:spcPts val="0"/>
              </a:spcBef>
              <a:spcAft>
                <a:spcPts val="0"/>
              </a:spcAft>
              <a:buNone/>
            </a:pPr>
            <a:r>
              <a:rPr b="0" i="0" lang="en-GB" sz="750" u="none" strike="noStrike">
                <a:solidFill>
                  <a:srgbClr val="5A626A"/>
                </a:solidFill>
                <a:latin typeface="JetBrains Mono"/>
                <a:ea typeface="JetBrains Mono"/>
                <a:cs typeface="JetBrains Mono"/>
                <a:sym typeface="JetBrains Mono"/>
              </a:rPr>
              <a:t>Ref: Anthropic Model Context Protocol (MCP); McNeel RhinoAI Integration.</a:t>
            </a:r>
            <a:endParaRPr b="0" i="0" sz="750" u="none" strike="noStrike">
              <a:solidFill>
                <a:srgbClr val="5A626A"/>
              </a:solidFill>
              <a:latin typeface="JetBrains Mono"/>
              <a:ea typeface="JetBrains Mono"/>
              <a:cs typeface="JetBrains Mono"/>
              <a:sym typeface="JetBrains Mono"/>
            </a:endParaRPr>
          </a:p>
        </p:txBody>
      </p:sp>
      <p:cxnSp>
        <p:nvCxnSpPr>
          <p:cNvPr id="655" name="Google Shape;655;p28"/>
          <p:cNvCxnSpPr/>
          <p:nvPr/>
        </p:nvCxnSpPr>
        <p:spPr>
          <a:xfrm>
            <a:off x="381000" y="474345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656" name="Google Shape;656;p28"/>
          <p:cNvSpPr txBox="1"/>
          <p:nvPr/>
        </p:nvSpPr>
        <p:spPr>
          <a:xfrm>
            <a:off x="381000" y="4781550"/>
            <a:ext cx="8382000" cy="304800"/>
          </a:xfrm>
          <a:prstGeom prst="rect">
            <a:avLst/>
          </a:prstGeom>
          <a:noFill/>
          <a:ln>
            <a:noFill/>
          </a:ln>
        </p:spPr>
        <p:txBody>
          <a:bodyPr anchorCtr="0" anchor="ctr" bIns="19050" lIns="91425" spcFirstLastPara="1" rIns="91425" wrap="square" tIns="19050">
            <a:noAutofit/>
          </a:bodyPr>
          <a:lstStyle/>
          <a:p>
            <a:pPr indent="0" lvl="0" marL="0" marR="0" rtl="0" algn="l">
              <a:spcBef>
                <a:spcPts val="0"/>
              </a:spcBef>
              <a:spcAft>
                <a:spcPts val="0"/>
              </a:spcAft>
              <a:buNone/>
            </a:pPr>
            <a:r>
              <a:rPr b="0" i="0" lang="en-GB" sz="750" u="none" strike="noStrike">
                <a:solidFill>
                  <a:srgbClr val="5A626A"/>
                </a:solidFill>
                <a:latin typeface="JetBrains Mono"/>
                <a:ea typeface="JetBrains Mono"/>
                <a:cs typeface="JetBrains Mono"/>
                <a:sym typeface="JetBrains Mono"/>
              </a:rPr>
              <a:t>AI in Architecture | Indrajeet Haldar</a:t>
            </a:r>
            <a:endParaRPr b="0" i="0" sz="750" u="none" strike="noStrike">
              <a:solidFill>
                <a:srgbClr val="5A626A"/>
              </a:solidFill>
              <a:latin typeface="JetBrains Mono"/>
              <a:ea typeface="JetBrains Mono"/>
              <a:cs typeface="JetBrains Mono"/>
              <a:sym typeface="JetBrains Mono"/>
            </a:endParaRPr>
          </a:p>
        </p:txBody>
      </p:sp>
      <p:sp>
        <p:nvSpPr>
          <p:cNvPr id="657" name="Google Shape;657;p28"/>
          <p:cNvSpPr/>
          <p:nvPr/>
        </p:nvSpPr>
        <p:spPr>
          <a:xfrm>
            <a:off x="381000" y="1200150"/>
            <a:ext cx="2610000" cy="31434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8"/>
          <p:cNvSpPr/>
          <p:nvPr/>
        </p:nvSpPr>
        <p:spPr>
          <a:xfrm>
            <a:off x="381000" y="1200150"/>
            <a:ext cx="2610000" cy="38100"/>
          </a:xfrm>
          <a:prstGeom prst="roundRect">
            <a:avLst>
              <a:gd fmla="val 0" name="adj"/>
            </a:avLst>
          </a:prstGeom>
          <a:solidFill>
            <a:srgbClr val="D93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8"/>
          <p:cNvSpPr txBox="1"/>
          <p:nvPr/>
        </p:nvSpPr>
        <p:spPr>
          <a:xfrm>
            <a:off x="533400" y="1352550"/>
            <a:ext cx="2305200" cy="283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750">
                <a:solidFill>
                  <a:srgbClr val="D9381E"/>
                </a:solidFill>
                <a:latin typeface="JetBrains Mono"/>
                <a:ea typeface="JetBrains Mono"/>
                <a:cs typeface="JetBrains Mono"/>
                <a:sym typeface="JetBrains Mono"/>
              </a:rPr>
              <a:t>DEMO 01 // GEOMETRY</a:t>
            </a:r>
            <a:endParaRPr b="1" sz="750">
              <a:solidFill>
                <a:srgbClr val="D9381E"/>
              </a:solidFill>
              <a:latin typeface="JetBrains Mono"/>
              <a:ea typeface="JetBrains Mono"/>
              <a:cs typeface="JetBrains Mono"/>
              <a:sym typeface="JetBrains Mono"/>
            </a:endParaRPr>
          </a:p>
          <a:p>
            <a:pPr indent="0" lvl="0" marL="0" rtl="0" algn="l">
              <a:spcBef>
                <a:spcPts val="600"/>
              </a:spcBef>
              <a:spcAft>
                <a:spcPts val="0"/>
              </a:spcAft>
              <a:buNone/>
            </a:pPr>
            <a:r>
              <a:rPr b="1" lang="en-GB" sz="1300">
                <a:solidFill>
                  <a:srgbClr val="111315"/>
                </a:solidFill>
                <a:latin typeface="Space Grotesk"/>
                <a:ea typeface="Space Grotesk"/>
                <a:cs typeface="Space Grotesk"/>
                <a:sym typeface="Space Grotesk"/>
              </a:rPr>
              <a:t>Rhino 8 Model Context</a:t>
            </a:r>
            <a:endParaRPr b="1" sz="750">
              <a:solidFill>
                <a:srgbClr val="D9381E"/>
              </a:solidFill>
              <a:latin typeface="JetBrains Mono"/>
              <a:ea typeface="JetBrains Mono"/>
              <a:cs typeface="JetBrains Mono"/>
              <a:sym typeface="JetBrains Mono"/>
            </a:endParaRPr>
          </a:p>
          <a:p>
            <a:pPr indent="0" lvl="0" marL="0" rtl="0" algn="l">
              <a:spcBef>
                <a:spcPts val="200"/>
              </a:spcBef>
              <a:spcAft>
                <a:spcPts val="0"/>
              </a:spcAft>
              <a:buNone/>
            </a:pPr>
            <a:r>
              <a:rPr b="0" lang="en-GB" sz="850">
                <a:solidFill>
                  <a:srgbClr val="5A626A"/>
                </a:solidFill>
                <a:latin typeface="Inter Medium"/>
                <a:ea typeface="Inter Medium"/>
                <a:cs typeface="Inter Medium"/>
                <a:sym typeface="Inter Medium"/>
              </a:rPr>
              <a:t>Direct Viewport &amp; Brep Control</a:t>
            </a:r>
            <a:endParaRPr b="1" sz="750">
              <a:solidFill>
                <a:srgbClr val="D9381E"/>
              </a:solidFill>
              <a:latin typeface="JetBrains Mono"/>
              <a:ea typeface="JetBrains Mono"/>
              <a:cs typeface="JetBrains Mono"/>
              <a:sym typeface="JetBrains Mono"/>
            </a:endParaRPr>
          </a:p>
          <a:p>
            <a:pPr indent="-282575" lvl="0" marL="457200" rtl="0" algn="l">
              <a:lnSpc>
                <a:spcPct val="115000"/>
              </a:lnSpc>
              <a:spcBef>
                <a:spcPts val="1400"/>
              </a:spcBef>
              <a:spcAft>
                <a:spcPts val="0"/>
              </a:spcAft>
              <a:buClr>
                <a:srgbClr val="111315"/>
              </a:buClr>
              <a:buSzPts val="850"/>
              <a:buFont typeface="Inter"/>
              <a:buChar char="●"/>
            </a:pPr>
            <a:r>
              <a:rPr b="1" lang="en-GB" sz="850">
                <a:solidFill>
                  <a:srgbClr val="111315"/>
                </a:solidFill>
                <a:latin typeface="Inter"/>
                <a:ea typeface="Inter"/>
                <a:cs typeface="Inter"/>
                <a:sym typeface="Inter"/>
              </a:rPr>
              <a:t>Native Viewport API: </a:t>
            </a:r>
            <a:r>
              <a:rPr b="0" lang="en-GB" sz="800">
                <a:solidFill>
                  <a:srgbClr val="5A626A"/>
                </a:solidFill>
                <a:latin typeface="Inter"/>
                <a:ea typeface="Inter"/>
                <a:cs typeface="Inter"/>
                <a:sym typeface="Inter"/>
              </a:rPr>
              <a:t>Inspect active layers, materials, and selected geometry.</a:t>
            </a:r>
            <a:endParaRPr b="1" sz="750">
              <a:solidFill>
                <a:srgbClr val="D9381E"/>
              </a:solidFill>
              <a:latin typeface="JetBrains Mono"/>
              <a:ea typeface="JetBrains Mono"/>
              <a:cs typeface="JetBrains Mono"/>
              <a:sym typeface="JetBrains Mono"/>
            </a:endParaRPr>
          </a:p>
          <a:p>
            <a:pPr indent="-282575" lvl="0" marL="457200" rtl="0" algn="l">
              <a:lnSpc>
                <a:spcPct val="115000"/>
              </a:lnSpc>
              <a:spcBef>
                <a:spcPts val="800"/>
              </a:spcBef>
              <a:spcAft>
                <a:spcPts val="0"/>
              </a:spcAft>
              <a:buClr>
                <a:srgbClr val="111315"/>
              </a:buClr>
              <a:buSzPts val="850"/>
              <a:buFont typeface="Inter"/>
              <a:buChar char="●"/>
            </a:pPr>
            <a:r>
              <a:rPr b="1" lang="en-GB" sz="850">
                <a:solidFill>
                  <a:srgbClr val="111315"/>
                </a:solidFill>
                <a:latin typeface="Inter"/>
                <a:ea typeface="Inter"/>
                <a:cs typeface="Inter"/>
                <a:sym typeface="Inter"/>
              </a:rPr>
              <a:t>Command Execution: </a:t>
            </a:r>
            <a:r>
              <a:rPr b="0" lang="en-GB" sz="800">
                <a:solidFill>
                  <a:srgbClr val="5A626A"/>
                </a:solidFill>
                <a:latin typeface="Inter"/>
                <a:ea typeface="Inter"/>
                <a:cs typeface="Inter"/>
                <a:sym typeface="Inter"/>
              </a:rPr>
              <a:t>Automated NURBS curves, lofting, sweeps, and booleans.</a:t>
            </a:r>
            <a:endParaRPr b="1" sz="750">
              <a:solidFill>
                <a:srgbClr val="D9381E"/>
              </a:solidFill>
              <a:latin typeface="JetBrains Mono"/>
              <a:ea typeface="JetBrains Mono"/>
              <a:cs typeface="JetBrains Mono"/>
              <a:sym typeface="JetBrains Mono"/>
            </a:endParaRPr>
          </a:p>
          <a:p>
            <a:pPr indent="-282575" lvl="0" marL="457200" rtl="0" algn="l">
              <a:lnSpc>
                <a:spcPct val="115000"/>
              </a:lnSpc>
              <a:spcBef>
                <a:spcPts val="800"/>
              </a:spcBef>
              <a:spcAft>
                <a:spcPts val="0"/>
              </a:spcAft>
              <a:buClr>
                <a:srgbClr val="111315"/>
              </a:buClr>
              <a:buSzPts val="850"/>
              <a:buFont typeface="Inter"/>
              <a:buChar char="●"/>
            </a:pPr>
            <a:r>
              <a:rPr b="1" lang="en-GB" sz="850">
                <a:solidFill>
                  <a:srgbClr val="111315"/>
                </a:solidFill>
                <a:latin typeface="Inter"/>
                <a:ea typeface="Inter"/>
                <a:cs typeface="Inter"/>
                <a:sym typeface="Inter"/>
              </a:rPr>
              <a:t>Bi-Directional State: </a:t>
            </a:r>
            <a:r>
              <a:rPr b="0" lang="en-GB" sz="800">
                <a:solidFill>
                  <a:srgbClr val="5A626A"/>
                </a:solidFill>
                <a:latin typeface="Inter"/>
                <a:ea typeface="Inter"/>
                <a:cs typeface="Inter"/>
                <a:sym typeface="Inter"/>
              </a:rPr>
              <a:t>Streams model bounding boxes and object GUIDs to LLM.</a:t>
            </a:r>
            <a:endParaRPr b="1" sz="750">
              <a:solidFill>
                <a:srgbClr val="D9381E"/>
              </a:solidFill>
              <a:latin typeface="JetBrains Mono"/>
              <a:ea typeface="JetBrains Mono"/>
              <a:cs typeface="JetBrains Mono"/>
              <a:sym typeface="JetBrains Mono"/>
            </a:endParaRPr>
          </a:p>
          <a:p>
            <a:pPr indent="0" lvl="0" marL="0" rtl="0" algn="l">
              <a:spcBef>
                <a:spcPts val="800"/>
              </a:spcBef>
              <a:spcAft>
                <a:spcPts val="0"/>
              </a:spcAft>
              <a:buNone/>
            </a:pPr>
            <a:r>
              <a:rPr b="1" lang="en-GB" sz="720">
                <a:solidFill>
                  <a:srgbClr val="1D4ED8"/>
                </a:solidFill>
                <a:latin typeface="JetBrains Mono"/>
                <a:ea typeface="JetBrains Mono"/>
                <a:cs typeface="JetBrains Mono"/>
                <a:sym typeface="JetBrains Mono"/>
              </a:rPr>
              <a:t>PROTOCOL: JSON-RPC (STDIO)</a:t>
            </a:r>
            <a:endParaRPr b="1" sz="750">
              <a:solidFill>
                <a:srgbClr val="D9381E"/>
              </a:solidFill>
              <a:latin typeface="JetBrains Mono"/>
              <a:ea typeface="JetBrains Mono"/>
              <a:cs typeface="JetBrains Mono"/>
              <a:sym typeface="JetBrains Mono"/>
            </a:endParaRPr>
          </a:p>
        </p:txBody>
      </p:sp>
      <p:sp>
        <p:nvSpPr>
          <p:cNvPr id="660" name="Google Shape;660;p28"/>
          <p:cNvSpPr/>
          <p:nvPr/>
        </p:nvSpPr>
        <p:spPr>
          <a:xfrm>
            <a:off x="3267075" y="1200150"/>
            <a:ext cx="2610000" cy="31434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8"/>
          <p:cNvSpPr/>
          <p:nvPr/>
        </p:nvSpPr>
        <p:spPr>
          <a:xfrm>
            <a:off x="3267075" y="1200150"/>
            <a:ext cx="2610000" cy="38100"/>
          </a:xfrm>
          <a:prstGeom prst="roundRect">
            <a:avLst>
              <a:gd fmla="val 0" name="adj"/>
            </a:avLst>
          </a:prstGeom>
          <a:solidFill>
            <a:srgbClr val="1D4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8"/>
          <p:cNvSpPr txBox="1"/>
          <p:nvPr/>
        </p:nvSpPr>
        <p:spPr>
          <a:xfrm>
            <a:off x="3419475" y="1352550"/>
            <a:ext cx="2305200" cy="283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750">
                <a:solidFill>
                  <a:srgbClr val="1D4ED8"/>
                </a:solidFill>
                <a:latin typeface="JetBrains Mono"/>
                <a:ea typeface="JetBrains Mono"/>
                <a:cs typeface="JetBrains Mono"/>
                <a:sym typeface="JetBrains Mono"/>
              </a:rPr>
              <a:t>DEMO 02 // PARAMETRIC</a:t>
            </a:r>
            <a:endParaRPr b="1" sz="750">
              <a:solidFill>
                <a:srgbClr val="1D4ED8"/>
              </a:solidFill>
              <a:latin typeface="JetBrains Mono"/>
              <a:ea typeface="JetBrains Mono"/>
              <a:cs typeface="JetBrains Mono"/>
              <a:sym typeface="JetBrains Mono"/>
            </a:endParaRPr>
          </a:p>
          <a:p>
            <a:pPr indent="0" lvl="0" marL="0" rtl="0" algn="l">
              <a:spcBef>
                <a:spcPts val="600"/>
              </a:spcBef>
              <a:spcAft>
                <a:spcPts val="0"/>
              </a:spcAft>
              <a:buNone/>
            </a:pPr>
            <a:r>
              <a:rPr b="1" lang="en-GB" sz="1300">
                <a:solidFill>
                  <a:srgbClr val="111315"/>
                </a:solidFill>
                <a:latin typeface="Space Grotesk"/>
                <a:ea typeface="Space Grotesk"/>
                <a:cs typeface="Space Grotesk"/>
                <a:sym typeface="Space Grotesk"/>
              </a:rPr>
              <a:t>Grasshopper Nodes</a:t>
            </a:r>
            <a:endParaRPr b="1" sz="750">
              <a:solidFill>
                <a:srgbClr val="1D4ED8"/>
              </a:solidFill>
              <a:latin typeface="JetBrains Mono"/>
              <a:ea typeface="JetBrains Mono"/>
              <a:cs typeface="JetBrains Mono"/>
              <a:sym typeface="JetBrains Mono"/>
            </a:endParaRPr>
          </a:p>
          <a:p>
            <a:pPr indent="0" lvl="0" marL="0" rtl="0" algn="l">
              <a:spcBef>
                <a:spcPts val="200"/>
              </a:spcBef>
              <a:spcAft>
                <a:spcPts val="0"/>
              </a:spcAft>
              <a:buNone/>
            </a:pPr>
            <a:r>
              <a:rPr b="0" lang="en-GB" sz="850">
                <a:solidFill>
                  <a:srgbClr val="5A626A"/>
                </a:solidFill>
                <a:latin typeface="Inter Medium"/>
                <a:ea typeface="Inter Medium"/>
                <a:cs typeface="Inter Medium"/>
                <a:sym typeface="Inter Medium"/>
              </a:rPr>
              <a:t>Algorithmic Graph Modification</a:t>
            </a:r>
            <a:endParaRPr b="1" sz="750">
              <a:solidFill>
                <a:srgbClr val="1D4ED8"/>
              </a:solidFill>
              <a:latin typeface="JetBrains Mono"/>
              <a:ea typeface="JetBrains Mono"/>
              <a:cs typeface="JetBrains Mono"/>
              <a:sym typeface="JetBrains Mono"/>
            </a:endParaRPr>
          </a:p>
          <a:p>
            <a:pPr indent="-282575" lvl="0" marL="457200" rtl="0" algn="l">
              <a:lnSpc>
                <a:spcPct val="115000"/>
              </a:lnSpc>
              <a:spcBef>
                <a:spcPts val="1400"/>
              </a:spcBef>
              <a:spcAft>
                <a:spcPts val="0"/>
              </a:spcAft>
              <a:buClr>
                <a:srgbClr val="111315"/>
              </a:buClr>
              <a:buSzPts val="850"/>
              <a:buFont typeface="Inter"/>
              <a:buChar char="●"/>
            </a:pPr>
            <a:r>
              <a:rPr b="1" lang="en-GB" sz="850">
                <a:solidFill>
                  <a:srgbClr val="111315"/>
                </a:solidFill>
                <a:latin typeface="Inter"/>
                <a:ea typeface="Inter"/>
                <a:cs typeface="Inter"/>
                <a:sym typeface="Inter"/>
              </a:rPr>
              <a:t>Graph Inspection: </a:t>
            </a:r>
            <a:r>
              <a:rPr b="0" lang="en-GB" sz="800">
                <a:solidFill>
                  <a:srgbClr val="5A626A"/>
                </a:solidFill>
                <a:latin typeface="Inter"/>
                <a:ea typeface="Inter"/>
                <a:cs typeface="Inter"/>
                <a:sym typeface="Inter"/>
              </a:rPr>
              <a:t>Reads active sliders, panel parameters, and cluster data.</a:t>
            </a:r>
            <a:endParaRPr b="1" sz="750">
              <a:solidFill>
                <a:srgbClr val="1D4ED8"/>
              </a:solidFill>
              <a:latin typeface="JetBrains Mono"/>
              <a:ea typeface="JetBrains Mono"/>
              <a:cs typeface="JetBrains Mono"/>
              <a:sym typeface="JetBrains Mono"/>
            </a:endParaRPr>
          </a:p>
          <a:p>
            <a:pPr indent="0" lvl="0" marL="0" rtl="0" algn="l">
              <a:spcBef>
                <a:spcPts val="800"/>
              </a:spcBef>
              <a:spcAft>
                <a:spcPts val="0"/>
              </a:spcAft>
              <a:buNone/>
            </a:pPr>
            <a:r>
              <a:rPr b="1" lang="en-GB" sz="720">
                <a:solidFill>
                  <a:srgbClr val="1D4ED8"/>
                </a:solidFill>
                <a:latin typeface="JetBrains Mono"/>
                <a:ea typeface="JetBrains Mono"/>
                <a:cs typeface="JetBrains Mono"/>
                <a:sym typeface="JetBrains Mono"/>
              </a:rPr>
              <a:t>ENGINE: RHINOCODE PYTHON 3</a:t>
            </a:r>
            <a:endParaRPr b="1" sz="750">
              <a:solidFill>
                <a:srgbClr val="1D4ED8"/>
              </a:solidFill>
              <a:latin typeface="JetBrains Mono"/>
              <a:ea typeface="JetBrains Mono"/>
              <a:cs typeface="JetBrains Mono"/>
              <a:sym typeface="JetBrains Mono"/>
            </a:endParaRPr>
          </a:p>
        </p:txBody>
      </p:sp>
      <p:sp>
        <p:nvSpPr>
          <p:cNvPr id="663" name="Google Shape;663;p28"/>
          <p:cNvSpPr/>
          <p:nvPr/>
        </p:nvSpPr>
        <p:spPr>
          <a:xfrm>
            <a:off x="6153150" y="1200150"/>
            <a:ext cx="2610000" cy="3143400"/>
          </a:xfrm>
          <a:prstGeom prst="roundRect">
            <a:avLst>
              <a:gd fmla="val 0" name="adj"/>
            </a:avLst>
          </a:prstGeom>
          <a:solidFill>
            <a:srgbClr val="111315"/>
          </a:solidFill>
          <a:ln cap="flat" cmpd="sng" w="14300">
            <a:solidFill>
              <a:srgbClr val="1113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8"/>
          <p:cNvSpPr/>
          <p:nvPr/>
        </p:nvSpPr>
        <p:spPr>
          <a:xfrm>
            <a:off x="6153150" y="1200150"/>
            <a:ext cx="2610000" cy="38100"/>
          </a:xfrm>
          <a:prstGeom prst="roundRect">
            <a:avLst>
              <a:gd fmla="val 0" name="adj"/>
            </a:avLst>
          </a:prstGeom>
          <a:solidFill>
            <a:srgbClr val="1113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8"/>
          <p:cNvSpPr txBox="1"/>
          <p:nvPr/>
        </p:nvSpPr>
        <p:spPr>
          <a:xfrm>
            <a:off x="6305550" y="1352550"/>
            <a:ext cx="2305200" cy="283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GB" sz="750" u="none" strike="noStrike">
                <a:solidFill>
                  <a:srgbClr val="D9381E"/>
                </a:solidFill>
                <a:latin typeface="JetBrains Mono"/>
                <a:ea typeface="JetBrains Mono"/>
                <a:cs typeface="JetBrains Mono"/>
                <a:sym typeface="JetBrains Mono"/>
              </a:rPr>
              <a:t>DEMO 03 // ECOSYSTEM</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400"/>
              </a:spcBef>
              <a:spcAft>
                <a:spcPts val="0"/>
              </a:spcAft>
              <a:buNone/>
            </a:pPr>
            <a:r>
              <a:rPr b="1" i="0" lang="en-GB" sz="1300" u="none" strike="noStrike">
                <a:solidFill>
                  <a:srgbClr val="FFFFFF"/>
                </a:solidFill>
                <a:latin typeface="Space Grotesk"/>
                <a:ea typeface="Space Grotesk"/>
                <a:cs typeface="Space Grotesk"/>
                <a:sym typeface="Space Grotesk"/>
              </a:rPr>
              <a:t>Autodesk &amp; Interop</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200"/>
              </a:spcBef>
              <a:spcAft>
                <a:spcPts val="0"/>
              </a:spcAft>
              <a:buNone/>
            </a:pPr>
            <a:r>
              <a:rPr b="0" i="0" lang="en-GB" sz="850" u="none" strike="noStrike">
                <a:solidFill>
                  <a:srgbClr val="9CA3AF"/>
                </a:solidFill>
                <a:latin typeface="Inter Medium"/>
                <a:ea typeface="Inter Medium"/>
                <a:cs typeface="Inter Medium"/>
                <a:sym typeface="Inter Medium"/>
              </a:rPr>
              <a:t>Cross-Platform Pipeline</a:t>
            </a:r>
            <a:endParaRPr b="1" i="0" sz="750" u="none" strike="noStrike">
              <a:solidFill>
                <a:srgbClr val="D9381E"/>
              </a:solidFill>
              <a:latin typeface="JetBrains Mono"/>
              <a:ea typeface="JetBrains Mono"/>
              <a:cs typeface="JetBrains Mono"/>
              <a:sym typeface="JetBrains Mono"/>
            </a:endParaRPr>
          </a:p>
          <a:p>
            <a:pPr indent="-282575" lvl="0" marL="457200" marR="0" rtl="0" algn="l">
              <a:lnSpc>
                <a:spcPct val="115000"/>
              </a:lnSpc>
              <a:spcBef>
                <a:spcPts val="800"/>
              </a:spcBef>
              <a:spcAft>
                <a:spcPts val="0"/>
              </a:spcAft>
              <a:buClr>
                <a:srgbClr val="FFFFFF"/>
              </a:buClr>
              <a:buSzPts val="850"/>
              <a:buFont typeface="Inter"/>
              <a:buChar char="●"/>
            </a:pPr>
            <a:r>
              <a:rPr b="1" lang="en-GB" sz="850">
                <a:solidFill>
                  <a:srgbClr val="FFFFFF"/>
                </a:solidFill>
                <a:latin typeface="Inter"/>
                <a:ea typeface="Inter"/>
                <a:cs typeface="Inter"/>
                <a:sym typeface="Inter"/>
              </a:rPr>
              <a:t>Forma</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b="1" i="0" lang="en-GB" sz="720" u="none" strike="noStrike">
                <a:solidFill>
                  <a:srgbClr val="60A5FA"/>
                </a:solidFill>
                <a:latin typeface="JetBrains Mono"/>
                <a:ea typeface="JetBrains Mono"/>
                <a:cs typeface="JetBrains Mono"/>
                <a:sym typeface="JetBrains Mono"/>
              </a:rPr>
              <a:t>PIPELINE: HYBRID CAD / BIM</a:t>
            </a:r>
            <a:endParaRPr b="1" i="0" sz="750" u="none" strike="noStrike">
              <a:solidFill>
                <a:srgbClr val="D9381E"/>
              </a:solidFill>
              <a:latin typeface="JetBrains Mono"/>
              <a:ea typeface="JetBrains Mono"/>
              <a:cs typeface="JetBrains Mono"/>
              <a:sym typeface="JetBrai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29"/>
          <p:cNvSpPr txBox="1"/>
          <p:nvPr/>
        </p:nvSpPr>
        <p:spPr>
          <a:xfrm>
            <a:off x="381000" y="285750"/>
            <a:ext cx="8382000" cy="476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1850" u="none" strike="noStrike">
                <a:solidFill>
                  <a:srgbClr val="111315"/>
                </a:solidFill>
                <a:latin typeface="Space Grotesk"/>
                <a:ea typeface="Space Grotesk"/>
                <a:cs typeface="Space Grotesk"/>
                <a:sym typeface="Space Grotesk"/>
              </a:rPr>
              <a:t>Installing the Rhino MCP </a:t>
            </a:r>
            <a:r>
              <a:rPr b="0" i="0" lang="en-GB" sz="1665" u="none" strike="noStrike">
                <a:solidFill>
                  <a:srgbClr val="5A626A"/>
                </a:solidFill>
                <a:latin typeface="Space Grotesk"/>
                <a:ea typeface="Space Grotesk"/>
                <a:cs typeface="Space Grotesk"/>
                <a:sym typeface="Space Grotesk"/>
              </a:rPr>
              <a:t>(mcneel.github.io/RhinoAI)</a:t>
            </a:r>
            <a:endParaRPr b="1" i="0" sz="1850" u="none" strike="noStrike">
              <a:solidFill>
                <a:srgbClr val="111315"/>
              </a:solidFill>
              <a:latin typeface="Space Grotesk"/>
              <a:ea typeface="Space Grotesk"/>
              <a:cs typeface="Space Grotesk"/>
              <a:sym typeface="Space Grotesk"/>
            </a:endParaRPr>
          </a:p>
        </p:txBody>
      </p:sp>
      <p:sp>
        <p:nvSpPr>
          <p:cNvPr id="671" name="Google Shape;671;p29"/>
          <p:cNvSpPr txBox="1"/>
          <p:nvPr/>
        </p:nvSpPr>
        <p:spPr>
          <a:xfrm>
            <a:off x="381000" y="742950"/>
            <a:ext cx="8382000" cy="247800"/>
          </a:xfrm>
          <a:prstGeom prst="rect">
            <a:avLst/>
          </a:prstGeom>
          <a:noFill/>
          <a:ln>
            <a:noFill/>
          </a:ln>
        </p:spPr>
        <p:txBody>
          <a:bodyPr anchorCtr="0" anchor="ctr" bIns="0" lIns="91425" spcFirstLastPara="1" rIns="91425" wrap="square" tIns="0">
            <a:noAutofit/>
          </a:bodyPr>
          <a:lstStyle/>
          <a:p>
            <a:pPr indent="0" lvl="0" marL="0" marR="0" rtl="0" algn="l">
              <a:spcBef>
                <a:spcPts val="0"/>
              </a:spcBef>
              <a:spcAft>
                <a:spcPts val="0"/>
              </a:spcAft>
              <a:buNone/>
            </a:pPr>
            <a:r>
              <a:rPr lang="en-GB" sz="800">
                <a:solidFill>
                  <a:srgbClr val="1D4ED8"/>
                </a:solidFill>
                <a:latin typeface="JetBrains Mono SemiBold"/>
                <a:ea typeface="JetBrains Mono SemiBold"/>
                <a:cs typeface="JetBrains Mono SemiBold"/>
                <a:sym typeface="JetBrains Mono SemiBold"/>
              </a:rPr>
              <a:t>SETUP GUIDE // RHINO 8 AND CODEX</a:t>
            </a:r>
            <a:endParaRPr b="0" i="0" sz="800" u="none" strike="noStrike">
              <a:solidFill>
                <a:srgbClr val="1D4ED8"/>
              </a:solidFill>
              <a:latin typeface="JetBrains Mono SemiBold"/>
              <a:ea typeface="JetBrains Mono SemiBold"/>
              <a:cs typeface="JetBrains Mono SemiBold"/>
              <a:sym typeface="JetBrains Mono SemiBold"/>
            </a:endParaRPr>
          </a:p>
        </p:txBody>
      </p:sp>
      <p:cxnSp>
        <p:nvCxnSpPr>
          <p:cNvPr id="672" name="Google Shape;672;p29"/>
          <p:cNvCxnSpPr/>
          <p:nvPr/>
        </p:nvCxnSpPr>
        <p:spPr>
          <a:xfrm>
            <a:off x="381000" y="10287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673" name="Google Shape;673;p29"/>
          <p:cNvSpPr txBox="1"/>
          <p:nvPr/>
        </p:nvSpPr>
        <p:spPr>
          <a:xfrm>
            <a:off x="381000" y="4429125"/>
            <a:ext cx="8382000" cy="304800"/>
          </a:xfrm>
          <a:prstGeom prst="rect">
            <a:avLst/>
          </a:prstGeom>
          <a:noFill/>
          <a:ln>
            <a:noFill/>
          </a:ln>
        </p:spPr>
        <p:txBody>
          <a:bodyPr anchorCtr="0" anchor="ctr" bIns="19050" lIns="91425" spcFirstLastPara="1" rIns="91425" wrap="square" tIns="19050">
            <a:noAutofit/>
          </a:bodyPr>
          <a:lstStyle/>
          <a:p>
            <a:pPr indent="0" lvl="0" marL="0" marR="0" rtl="0" algn="l">
              <a:spcBef>
                <a:spcPts val="0"/>
              </a:spcBef>
              <a:spcAft>
                <a:spcPts val="0"/>
              </a:spcAft>
              <a:buNone/>
            </a:pPr>
            <a:r>
              <a:rPr b="0" i="0" lang="en-GB" sz="750" u="none" strike="noStrike">
                <a:solidFill>
                  <a:srgbClr val="5A626A"/>
                </a:solidFill>
                <a:latin typeface="JetBrains Mono"/>
                <a:ea typeface="JetBrains Mono"/>
                <a:cs typeface="JetBrains Mono"/>
                <a:sym typeface="JetBrains Mono"/>
              </a:rPr>
              <a:t>Ref: McNeel RhinoAI (https://mcneel.github.io/RhinoAI/); Anthropic Claude Desktop MCP Documentation.</a:t>
            </a:r>
            <a:endParaRPr b="0" i="0" sz="750" u="none" strike="noStrike">
              <a:solidFill>
                <a:srgbClr val="5A626A"/>
              </a:solidFill>
              <a:latin typeface="JetBrains Mono"/>
              <a:ea typeface="JetBrains Mono"/>
              <a:cs typeface="JetBrains Mono"/>
              <a:sym typeface="JetBrains Mono"/>
            </a:endParaRPr>
          </a:p>
        </p:txBody>
      </p:sp>
      <p:cxnSp>
        <p:nvCxnSpPr>
          <p:cNvPr id="674" name="Google Shape;674;p29"/>
          <p:cNvCxnSpPr/>
          <p:nvPr/>
        </p:nvCxnSpPr>
        <p:spPr>
          <a:xfrm>
            <a:off x="381000" y="474345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675" name="Google Shape;675;p29"/>
          <p:cNvSpPr txBox="1"/>
          <p:nvPr/>
        </p:nvSpPr>
        <p:spPr>
          <a:xfrm>
            <a:off x="381000" y="4781550"/>
            <a:ext cx="8382000" cy="304800"/>
          </a:xfrm>
          <a:prstGeom prst="rect">
            <a:avLst/>
          </a:prstGeom>
          <a:noFill/>
          <a:ln>
            <a:noFill/>
          </a:ln>
        </p:spPr>
        <p:txBody>
          <a:bodyPr anchorCtr="0" anchor="ctr" bIns="19050" lIns="91425" spcFirstLastPara="1" rIns="91425" wrap="square" tIns="19050">
            <a:noAutofit/>
          </a:bodyPr>
          <a:lstStyle/>
          <a:p>
            <a:pPr indent="0" lvl="0" marL="0" marR="0" rtl="0" algn="l">
              <a:spcBef>
                <a:spcPts val="0"/>
              </a:spcBef>
              <a:spcAft>
                <a:spcPts val="0"/>
              </a:spcAft>
              <a:buNone/>
            </a:pPr>
            <a:r>
              <a:rPr b="0" i="0" lang="en-GB" sz="750" u="none" strike="noStrike">
                <a:solidFill>
                  <a:srgbClr val="5A626A"/>
                </a:solidFill>
                <a:latin typeface="JetBrains Mono"/>
                <a:ea typeface="JetBrains Mono"/>
                <a:cs typeface="JetBrains Mono"/>
                <a:sym typeface="JetBrains Mono"/>
              </a:rPr>
              <a:t>AI in Architecture | Indrajeet Haldar</a:t>
            </a:r>
            <a:endParaRPr b="0" i="0" sz="750" u="none" strike="noStrike">
              <a:solidFill>
                <a:srgbClr val="5A626A"/>
              </a:solidFill>
              <a:latin typeface="JetBrains Mono"/>
              <a:ea typeface="JetBrains Mono"/>
              <a:cs typeface="JetBrains Mono"/>
              <a:sym typeface="JetBrains Mono"/>
            </a:endParaRPr>
          </a:p>
        </p:txBody>
      </p:sp>
      <p:sp>
        <p:nvSpPr>
          <p:cNvPr id="676" name="Google Shape;676;p29"/>
          <p:cNvSpPr/>
          <p:nvPr/>
        </p:nvSpPr>
        <p:spPr>
          <a:xfrm>
            <a:off x="381000" y="1143000"/>
            <a:ext cx="1924200" cy="32577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9"/>
          <p:cNvSpPr/>
          <p:nvPr/>
        </p:nvSpPr>
        <p:spPr>
          <a:xfrm>
            <a:off x="381000" y="1143000"/>
            <a:ext cx="1924200" cy="38100"/>
          </a:xfrm>
          <a:prstGeom prst="roundRect">
            <a:avLst>
              <a:gd fmla="val 0" name="adj"/>
            </a:avLst>
          </a:prstGeom>
          <a:solidFill>
            <a:srgbClr val="D93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9"/>
          <p:cNvSpPr txBox="1"/>
          <p:nvPr/>
        </p:nvSpPr>
        <p:spPr>
          <a:xfrm>
            <a:off x="457200" y="1238250"/>
            <a:ext cx="1752600" cy="8382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None/>
            </a:pPr>
            <a:r>
              <a:rPr b="1" i="0" lang="en-GB" sz="750" u="none" strike="noStrike">
                <a:solidFill>
                  <a:srgbClr val="D9381E"/>
                </a:solidFill>
                <a:latin typeface="JetBrains Mono"/>
                <a:ea typeface="JetBrains Mono"/>
                <a:cs typeface="JetBrains Mono"/>
                <a:sym typeface="JetBrains Mono"/>
              </a:rPr>
              <a:t>STEP 01 // </a:t>
            </a:r>
            <a:r>
              <a:rPr b="1" i="0" lang="en-GB" sz="750" u="none" strike="noStrike">
                <a:solidFill>
                  <a:srgbClr val="5A626A"/>
                </a:solidFill>
                <a:latin typeface="JetBrains Mono"/>
                <a:ea typeface="JetBrains Mono"/>
                <a:cs typeface="JetBrains Mono"/>
                <a:sym typeface="JetBrains Mono"/>
              </a:rPr>
              <a:t>ENVIRONMENT</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300"/>
              </a:spcBef>
              <a:spcAft>
                <a:spcPts val="0"/>
              </a:spcAft>
              <a:buNone/>
            </a:pPr>
            <a:r>
              <a:rPr b="1" lang="en-GB" sz="1200">
                <a:solidFill>
                  <a:srgbClr val="111315"/>
                </a:solidFill>
                <a:latin typeface="Space Grotesk"/>
                <a:ea typeface="Space Grotesk"/>
                <a:cs typeface="Space Grotesk"/>
                <a:sym typeface="Space Grotesk"/>
              </a:rPr>
              <a:t>Rhino 8</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15000"/>
              </a:lnSpc>
              <a:spcBef>
                <a:spcPts val="300"/>
              </a:spcBef>
              <a:spcAft>
                <a:spcPts val="300"/>
              </a:spcAft>
              <a:buNone/>
            </a:pPr>
            <a:r>
              <a:rPr lang="en-GB" sz="800">
                <a:solidFill>
                  <a:srgbClr val="5A626A"/>
                </a:solidFill>
                <a:latin typeface="Inter"/>
                <a:ea typeface="Inter"/>
                <a:cs typeface="Inter"/>
                <a:sym typeface="Inter"/>
              </a:rPr>
              <a:t>Use current Rhino 8 on an Apple Silicon Mac.</a:t>
            </a:r>
            <a:endParaRPr b="1" i="0" sz="750" u="none" strike="noStrike">
              <a:solidFill>
                <a:srgbClr val="D9381E"/>
              </a:solidFill>
              <a:latin typeface="JetBrains Mono"/>
              <a:ea typeface="JetBrains Mono"/>
              <a:cs typeface="JetBrains Mono"/>
              <a:sym typeface="JetBrains Mono"/>
            </a:endParaRPr>
          </a:p>
        </p:txBody>
      </p:sp>
      <p:sp>
        <p:nvSpPr>
          <p:cNvPr id="679" name="Google Shape;679;p29"/>
          <p:cNvSpPr/>
          <p:nvPr/>
        </p:nvSpPr>
        <p:spPr>
          <a:xfrm>
            <a:off x="495300" y="2114550"/>
            <a:ext cx="1695600" cy="1524000"/>
          </a:xfrm>
          <a:prstGeom prst="roundRect">
            <a:avLst>
              <a:gd fmla="val 0" name="adj"/>
            </a:avLst>
          </a:prstGeom>
          <a:solidFill>
            <a:srgbClr val="111315"/>
          </a:solidFill>
          <a:ln cap="flat" cmpd="sng" w="9525">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9"/>
          <p:cNvSpPr/>
          <p:nvPr/>
        </p:nvSpPr>
        <p:spPr>
          <a:xfrm>
            <a:off x="495300" y="2114550"/>
            <a:ext cx="1695600" cy="209700"/>
          </a:xfrm>
          <a:prstGeom prst="roundRect">
            <a:avLst>
              <a:gd fmla="val 0" name="adj"/>
            </a:avLst>
          </a:prstGeom>
          <a:solidFill>
            <a:srgbClr val="1E23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9"/>
          <p:cNvSpPr txBox="1"/>
          <p:nvPr/>
        </p:nvSpPr>
        <p:spPr>
          <a:xfrm>
            <a:off x="533400" y="2114550"/>
            <a:ext cx="1600200" cy="228600"/>
          </a:xfrm>
          <a:prstGeom prst="rect">
            <a:avLst/>
          </a:prstGeom>
          <a:noFill/>
          <a:ln>
            <a:noFill/>
          </a:ln>
        </p:spPr>
        <p:txBody>
          <a:bodyPr anchorCtr="0" anchor="ctr" bIns="19050" lIns="19050" spcFirstLastPara="1" rIns="19050" wrap="square" tIns="19050">
            <a:noAutofit/>
          </a:bodyPr>
          <a:lstStyle/>
          <a:p>
            <a:pPr indent="0" lvl="0" marL="0" marR="0" rtl="0" algn="l">
              <a:spcBef>
                <a:spcPts val="0"/>
              </a:spcBef>
              <a:spcAft>
                <a:spcPts val="0"/>
              </a:spcAft>
              <a:buNone/>
            </a:pPr>
            <a:r>
              <a:rPr b="1" i="0" lang="en-GB" sz="720" u="none" strike="noStrike">
                <a:solidFill>
                  <a:srgbClr val="9CA3AF"/>
                </a:solidFill>
                <a:latin typeface="JetBrains Mono"/>
                <a:ea typeface="JetBrains Mono"/>
                <a:cs typeface="JetBrains Mono"/>
                <a:sym typeface="JetBrains Mono"/>
              </a:rPr>
              <a:t>CLI / COMMAND</a:t>
            </a:r>
            <a:endParaRPr b="1" i="0" sz="720" u="none" strike="noStrike">
              <a:solidFill>
                <a:srgbClr val="9CA3AF"/>
              </a:solidFill>
              <a:latin typeface="JetBrains Mono"/>
              <a:ea typeface="JetBrains Mono"/>
              <a:cs typeface="JetBrains Mono"/>
              <a:sym typeface="JetBrains Mono"/>
            </a:endParaRPr>
          </a:p>
        </p:txBody>
      </p:sp>
      <p:sp>
        <p:nvSpPr>
          <p:cNvPr id="682" name="Google Shape;682;p29"/>
          <p:cNvSpPr txBox="1"/>
          <p:nvPr/>
        </p:nvSpPr>
        <p:spPr>
          <a:xfrm>
            <a:off x="571500" y="2362200"/>
            <a:ext cx="1543200" cy="12384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GB" sz="720">
                <a:solidFill>
                  <a:srgbClr val="6B7280"/>
                </a:solidFill>
                <a:latin typeface="JetBrains Mono"/>
                <a:ea typeface="JetBrains Mono"/>
                <a:cs typeface="JetBrains Mono"/>
                <a:sym typeface="JetBrains Mono"/>
              </a:rPr>
              <a:t># In Rhino 8 command line:</a:t>
            </a:r>
            <a:endParaRPr sz="720">
              <a:solidFill>
                <a:srgbClr val="6B7280"/>
              </a:solidFill>
              <a:latin typeface="JetBrains Mono"/>
              <a:ea typeface="JetBrains Mono"/>
              <a:cs typeface="JetBrains Mono"/>
              <a:sym typeface="JetBrains Mono"/>
            </a:endParaRPr>
          </a:p>
          <a:p>
            <a:pPr indent="0" lvl="0" marL="0" rtl="0" algn="l">
              <a:lnSpc>
                <a:spcPct val="110000"/>
              </a:lnSpc>
              <a:spcBef>
                <a:spcPts val="200"/>
              </a:spcBef>
              <a:spcAft>
                <a:spcPts val="0"/>
              </a:spcAft>
              <a:buNone/>
            </a:pPr>
            <a:r>
              <a:rPr lang="en-GB" sz="720">
                <a:solidFill>
                  <a:srgbClr val="38BDF8"/>
                </a:solidFill>
                <a:latin typeface="JetBrains Mono"/>
                <a:ea typeface="JetBrains Mono"/>
                <a:cs typeface="JetBrains Mono"/>
                <a:sym typeface="JetBrains Mono"/>
              </a:rPr>
              <a:t>SystemInfo</a:t>
            </a:r>
            <a:endParaRPr sz="720">
              <a:solidFill>
                <a:srgbClr val="6B7280"/>
              </a:solidFill>
              <a:latin typeface="JetBrains Mono"/>
              <a:ea typeface="JetBrains Mono"/>
              <a:cs typeface="JetBrains Mono"/>
              <a:sym typeface="JetBrains Mono"/>
            </a:endParaRPr>
          </a:p>
          <a:p>
            <a:pPr indent="0" lvl="0" marL="0" rtl="0" algn="l">
              <a:lnSpc>
                <a:spcPct val="110000"/>
              </a:lnSpc>
              <a:spcBef>
                <a:spcPts val="200"/>
              </a:spcBef>
              <a:spcAft>
                <a:spcPts val="200"/>
              </a:spcAft>
              <a:buNone/>
            </a:pPr>
            <a:r>
              <a:rPr lang="en-GB" sz="720">
                <a:solidFill>
                  <a:srgbClr val="6B7280"/>
                </a:solidFill>
                <a:latin typeface="JetBrains Mono"/>
                <a:ea typeface="JetBrains Mono"/>
                <a:cs typeface="JetBrains Mono"/>
                <a:sym typeface="JetBrains Mono"/>
              </a:rPr>
              <a:t># Check the Rhino version</a:t>
            </a:r>
            <a:endParaRPr sz="720">
              <a:solidFill>
                <a:srgbClr val="6B7280"/>
              </a:solidFill>
              <a:latin typeface="JetBrains Mono"/>
              <a:ea typeface="JetBrains Mono"/>
              <a:cs typeface="JetBrains Mono"/>
              <a:sym typeface="JetBrains Mono"/>
            </a:endParaRPr>
          </a:p>
        </p:txBody>
      </p:sp>
      <p:sp>
        <p:nvSpPr>
          <p:cNvPr id="683" name="Google Shape;683;p29"/>
          <p:cNvSpPr txBox="1"/>
          <p:nvPr/>
        </p:nvSpPr>
        <p:spPr>
          <a:xfrm>
            <a:off x="495300" y="3714750"/>
            <a:ext cx="1695600" cy="59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720">
                <a:solidFill>
                  <a:srgbClr val="5A626A"/>
                </a:solidFill>
                <a:latin typeface="Inter"/>
                <a:ea typeface="Inter"/>
                <a:cs typeface="Inter"/>
                <a:sym typeface="Inter"/>
              </a:rPr>
              <a:t>Tested here: Rhino 8.36 on Apple Silicon.</a:t>
            </a:r>
            <a:endParaRPr sz="720">
              <a:solidFill>
                <a:srgbClr val="5A626A"/>
              </a:solidFill>
              <a:latin typeface="Inter"/>
              <a:ea typeface="Inter"/>
              <a:cs typeface="Inter"/>
              <a:sym typeface="Inter"/>
            </a:endParaRPr>
          </a:p>
        </p:txBody>
      </p:sp>
      <p:sp>
        <p:nvSpPr>
          <p:cNvPr id="684" name="Google Shape;684;p29"/>
          <p:cNvSpPr/>
          <p:nvPr/>
        </p:nvSpPr>
        <p:spPr>
          <a:xfrm>
            <a:off x="2533650" y="1143000"/>
            <a:ext cx="1924200" cy="32577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9"/>
          <p:cNvSpPr/>
          <p:nvPr/>
        </p:nvSpPr>
        <p:spPr>
          <a:xfrm>
            <a:off x="2533650" y="1143000"/>
            <a:ext cx="1924200" cy="38100"/>
          </a:xfrm>
          <a:prstGeom prst="roundRect">
            <a:avLst>
              <a:gd fmla="val 0" name="adj"/>
            </a:avLst>
          </a:prstGeom>
          <a:solidFill>
            <a:srgbClr val="1D4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9"/>
          <p:cNvSpPr txBox="1"/>
          <p:nvPr/>
        </p:nvSpPr>
        <p:spPr>
          <a:xfrm>
            <a:off x="2628900" y="1238250"/>
            <a:ext cx="1752600" cy="8382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None/>
            </a:pPr>
            <a:r>
              <a:rPr b="1" i="0" lang="en-GB" sz="750" u="none" strike="noStrike">
                <a:solidFill>
                  <a:srgbClr val="1D4ED8"/>
                </a:solidFill>
                <a:latin typeface="JetBrains Mono"/>
                <a:ea typeface="JetBrains Mono"/>
                <a:cs typeface="JetBrains Mono"/>
                <a:sym typeface="JetBrains Mono"/>
              </a:rPr>
              <a:t>STEP 02 // </a:t>
            </a:r>
            <a:r>
              <a:rPr b="1" i="0" lang="en-GB" sz="750" u="none" strike="noStrike">
                <a:solidFill>
                  <a:srgbClr val="5A626A"/>
                </a:solidFill>
                <a:latin typeface="JetBrains Mono"/>
                <a:ea typeface="JetBrains Mono"/>
                <a:cs typeface="JetBrains Mono"/>
                <a:sym typeface="JetBrains Mono"/>
              </a:rPr>
              <a:t>PACKAGE</a:t>
            </a:r>
            <a:endParaRPr b="1"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300"/>
              </a:spcBef>
              <a:spcAft>
                <a:spcPts val="0"/>
              </a:spcAft>
              <a:buNone/>
            </a:pPr>
            <a:r>
              <a:rPr b="1" i="0" lang="en-GB" sz="1200" u="none" strike="noStrike">
                <a:solidFill>
                  <a:srgbClr val="111315"/>
                </a:solidFill>
                <a:latin typeface="Space Grotesk"/>
                <a:ea typeface="Space Grotesk"/>
                <a:cs typeface="Space Grotesk"/>
                <a:sym typeface="Space Grotesk"/>
              </a:rPr>
              <a:t>Install MCP Server</a:t>
            </a:r>
            <a:endParaRPr b="1" i="0" sz="750" u="none" strike="noStrike">
              <a:solidFill>
                <a:srgbClr val="1D4ED8"/>
              </a:solidFill>
              <a:latin typeface="JetBrains Mono"/>
              <a:ea typeface="JetBrains Mono"/>
              <a:cs typeface="JetBrains Mono"/>
              <a:sym typeface="JetBrains Mono"/>
            </a:endParaRPr>
          </a:p>
          <a:p>
            <a:pPr indent="0" lvl="0" marL="0" marR="0" rtl="0" algn="l">
              <a:lnSpc>
                <a:spcPct val="115000"/>
              </a:lnSpc>
              <a:spcBef>
                <a:spcPts val="300"/>
              </a:spcBef>
              <a:spcAft>
                <a:spcPts val="300"/>
              </a:spcAft>
              <a:buNone/>
            </a:pPr>
            <a:r>
              <a:rPr lang="en-GB" sz="800">
                <a:solidFill>
                  <a:srgbClr val="5A626A"/>
                </a:solidFill>
                <a:latin typeface="Inter"/>
                <a:ea typeface="Inter"/>
                <a:cs typeface="Inter"/>
                <a:sym typeface="Inter"/>
              </a:rPr>
              <a:t>Install Rhino-MCP-Platform from Rhino Package Manager.</a:t>
            </a:r>
            <a:endParaRPr b="1" i="0" sz="750" u="none" strike="noStrike">
              <a:solidFill>
                <a:srgbClr val="1D4ED8"/>
              </a:solidFill>
              <a:latin typeface="JetBrains Mono"/>
              <a:ea typeface="JetBrains Mono"/>
              <a:cs typeface="JetBrains Mono"/>
              <a:sym typeface="JetBrains Mono"/>
            </a:endParaRPr>
          </a:p>
        </p:txBody>
      </p:sp>
      <p:sp>
        <p:nvSpPr>
          <p:cNvPr id="687" name="Google Shape;687;p29"/>
          <p:cNvSpPr/>
          <p:nvPr/>
        </p:nvSpPr>
        <p:spPr>
          <a:xfrm>
            <a:off x="2647950" y="2114550"/>
            <a:ext cx="1695600" cy="1524000"/>
          </a:xfrm>
          <a:prstGeom prst="roundRect">
            <a:avLst>
              <a:gd fmla="val 0" name="adj"/>
            </a:avLst>
          </a:prstGeom>
          <a:solidFill>
            <a:srgbClr val="111315"/>
          </a:solidFill>
          <a:ln cap="flat" cmpd="sng" w="9525">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9"/>
          <p:cNvSpPr/>
          <p:nvPr/>
        </p:nvSpPr>
        <p:spPr>
          <a:xfrm>
            <a:off x="2647950" y="2114550"/>
            <a:ext cx="1695600" cy="209700"/>
          </a:xfrm>
          <a:prstGeom prst="roundRect">
            <a:avLst>
              <a:gd fmla="val 0" name="adj"/>
            </a:avLst>
          </a:prstGeom>
          <a:solidFill>
            <a:srgbClr val="1E23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9"/>
          <p:cNvSpPr txBox="1"/>
          <p:nvPr/>
        </p:nvSpPr>
        <p:spPr>
          <a:xfrm>
            <a:off x="2705100" y="2114550"/>
            <a:ext cx="1600200" cy="228600"/>
          </a:xfrm>
          <a:prstGeom prst="rect">
            <a:avLst/>
          </a:prstGeom>
          <a:noFill/>
          <a:ln>
            <a:noFill/>
          </a:ln>
        </p:spPr>
        <p:txBody>
          <a:bodyPr anchorCtr="0" anchor="ctr" bIns="19050" lIns="19050" spcFirstLastPara="1" rIns="19050" wrap="square" tIns="19050">
            <a:noAutofit/>
          </a:bodyPr>
          <a:lstStyle/>
          <a:p>
            <a:pPr indent="0" lvl="0" marL="0" marR="0" rtl="0" algn="l">
              <a:spcBef>
                <a:spcPts val="0"/>
              </a:spcBef>
              <a:spcAft>
                <a:spcPts val="0"/>
              </a:spcAft>
              <a:buNone/>
            </a:pPr>
            <a:r>
              <a:rPr b="1" lang="en-GB" sz="720">
                <a:solidFill>
                  <a:srgbClr val="9CA3AF"/>
                </a:solidFill>
                <a:latin typeface="JetBrains Mono"/>
                <a:ea typeface="JetBrains Mono"/>
                <a:cs typeface="JetBrains Mono"/>
                <a:sym typeface="JetBrains Mono"/>
              </a:rPr>
              <a:t>RHINO COMMAND</a:t>
            </a:r>
            <a:endParaRPr b="1" i="0" sz="720" u="none" strike="noStrike">
              <a:solidFill>
                <a:srgbClr val="9CA3AF"/>
              </a:solidFill>
              <a:latin typeface="JetBrains Mono"/>
              <a:ea typeface="JetBrains Mono"/>
              <a:cs typeface="JetBrains Mono"/>
              <a:sym typeface="JetBrains Mono"/>
            </a:endParaRPr>
          </a:p>
        </p:txBody>
      </p:sp>
      <p:sp>
        <p:nvSpPr>
          <p:cNvPr id="690" name="Google Shape;690;p29"/>
          <p:cNvSpPr txBox="1"/>
          <p:nvPr/>
        </p:nvSpPr>
        <p:spPr>
          <a:xfrm>
            <a:off x="2724150" y="2362200"/>
            <a:ext cx="1543200" cy="12384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GB" sz="720">
                <a:solidFill>
                  <a:srgbClr val="38BDF8"/>
                </a:solidFill>
                <a:latin typeface="JetBrains Mono"/>
                <a:ea typeface="JetBrains Mono"/>
                <a:cs typeface="JetBrains Mono"/>
                <a:sym typeface="JetBrains Mono"/>
              </a:rPr>
              <a:t>PackageManager</a:t>
            </a:r>
            <a:endParaRPr sz="720">
              <a:solidFill>
                <a:srgbClr val="38BDF8"/>
              </a:solidFill>
              <a:latin typeface="JetBrains Mono"/>
              <a:ea typeface="JetBrains Mono"/>
              <a:cs typeface="JetBrains Mono"/>
              <a:sym typeface="JetBrains Mono"/>
            </a:endParaRPr>
          </a:p>
          <a:p>
            <a:pPr indent="0" lvl="0" marL="0" rtl="0" algn="l">
              <a:lnSpc>
                <a:spcPct val="110000"/>
              </a:lnSpc>
              <a:spcBef>
                <a:spcPts val="200"/>
              </a:spcBef>
              <a:spcAft>
                <a:spcPts val="0"/>
              </a:spcAft>
              <a:buNone/>
            </a:pPr>
            <a:r>
              <a:rPr lang="en-GB" sz="720">
                <a:solidFill>
                  <a:srgbClr val="6B7280"/>
                </a:solidFill>
                <a:latin typeface="JetBrains Mono"/>
                <a:ea typeface="JetBrains Mono"/>
                <a:cs typeface="JetBrains Mono"/>
                <a:sym typeface="JetBrains Mono"/>
              </a:rPr>
              <a:t># Search for:</a:t>
            </a:r>
            <a:endParaRPr sz="720">
              <a:solidFill>
                <a:srgbClr val="38BDF8"/>
              </a:solidFill>
              <a:latin typeface="JetBrains Mono"/>
              <a:ea typeface="JetBrains Mono"/>
              <a:cs typeface="JetBrains Mono"/>
              <a:sym typeface="JetBrains Mono"/>
            </a:endParaRPr>
          </a:p>
          <a:p>
            <a:pPr indent="0" lvl="0" marL="0" rtl="0" algn="l">
              <a:lnSpc>
                <a:spcPct val="110000"/>
              </a:lnSpc>
              <a:spcBef>
                <a:spcPts val="200"/>
              </a:spcBef>
              <a:spcAft>
                <a:spcPts val="200"/>
              </a:spcAft>
              <a:buNone/>
            </a:pPr>
            <a:r>
              <a:rPr lang="en-GB" sz="720">
                <a:solidFill>
                  <a:srgbClr val="38BDF8"/>
                </a:solidFill>
                <a:latin typeface="JetBrains Mono"/>
                <a:ea typeface="JetBrains Mono"/>
                <a:cs typeface="JetBrains Mono"/>
                <a:sym typeface="JetBrains Mono"/>
              </a:rPr>
              <a:t>Rhino-MCP-Platform</a:t>
            </a:r>
            <a:endParaRPr sz="720">
              <a:solidFill>
                <a:srgbClr val="38BDF8"/>
              </a:solidFill>
              <a:latin typeface="JetBrains Mono"/>
              <a:ea typeface="JetBrains Mono"/>
              <a:cs typeface="JetBrains Mono"/>
              <a:sym typeface="JetBrains Mono"/>
            </a:endParaRPr>
          </a:p>
        </p:txBody>
      </p:sp>
      <p:sp>
        <p:nvSpPr>
          <p:cNvPr id="691" name="Google Shape;691;p29"/>
          <p:cNvSpPr txBox="1"/>
          <p:nvPr/>
        </p:nvSpPr>
        <p:spPr>
          <a:xfrm>
            <a:off x="2647950" y="3714750"/>
            <a:ext cx="1695600" cy="59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720">
                <a:solidFill>
                  <a:srgbClr val="5A626A"/>
                </a:solidFill>
                <a:latin typeface="Inter"/>
                <a:ea typeface="Inter"/>
                <a:cs typeface="Inter"/>
                <a:sym typeface="Inter"/>
              </a:rPr>
              <a:t>Restart Rhino after the package installs.</a:t>
            </a:r>
            <a:endParaRPr sz="720">
              <a:solidFill>
                <a:srgbClr val="5A626A"/>
              </a:solidFill>
              <a:latin typeface="Inter"/>
              <a:ea typeface="Inter"/>
              <a:cs typeface="Inter"/>
              <a:sym typeface="Inter"/>
            </a:endParaRPr>
          </a:p>
        </p:txBody>
      </p:sp>
      <p:sp>
        <p:nvSpPr>
          <p:cNvPr id="692" name="Google Shape;692;p29"/>
          <p:cNvSpPr/>
          <p:nvPr/>
        </p:nvSpPr>
        <p:spPr>
          <a:xfrm>
            <a:off x="4686300" y="1143000"/>
            <a:ext cx="1924200" cy="32577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9"/>
          <p:cNvSpPr/>
          <p:nvPr/>
        </p:nvSpPr>
        <p:spPr>
          <a:xfrm>
            <a:off x="4686300" y="1143000"/>
            <a:ext cx="1924200" cy="38100"/>
          </a:xfrm>
          <a:prstGeom prst="roundRect">
            <a:avLst>
              <a:gd fmla="val 0" name="adj"/>
            </a:avLst>
          </a:prstGeom>
          <a:solidFill>
            <a:srgbClr val="1113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9"/>
          <p:cNvSpPr txBox="1"/>
          <p:nvPr/>
        </p:nvSpPr>
        <p:spPr>
          <a:xfrm>
            <a:off x="4800600" y="1238250"/>
            <a:ext cx="1752600" cy="8382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None/>
            </a:pPr>
            <a:r>
              <a:rPr b="1" i="0" lang="en-GB" sz="750" u="none" strike="noStrike">
                <a:solidFill>
                  <a:srgbClr val="111315"/>
                </a:solidFill>
                <a:latin typeface="JetBrains Mono"/>
                <a:ea typeface="JetBrains Mono"/>
                <a:cs typeface="JetBrains Mono"/>
                <a:sym typeface="JetBrains Mono"/>
              </a:rPr>
              <a:t>STEP 03 // </a:t>
            </a:r>
            <a:r>
              <a:rPr b="1" i="0" lang="en-GB" sz="750" u="none" strike="noStrike">
                <a:solidFill>
                  <a:srgbClr val="5A626A"/>
                </a:solidFill>
                <a:latin typeface="JetBrains Mono"/>
                <a:ea typeface="JetBrains Mono"/>
                <a:cs typeface="JetBrains Mono"/>
                <a:sym typeface="JetBrains Mono"/>
              </a:rPr>
              <a:t>CONFIG</a:t>
            </a:r>
            <a:endParaRPr b="1" i="0" sz="750" u="none" strike="noStrike">
              <a:solidFill>
                <a:srgbClr val="111315"/>
              </a:solidFill>
              <a:latin typeface="JetBrains Mono"/>
              <a:ea typeface="JetBrains Mono"/>
              <a:cs typeface="JetBrains Mono"/>
              <a:sym typeface="JetBrains Mono"/>
            </a:endParaRPr>
          </a:p>
          <a:p>
            <a:pPr indent="0" lvl="0" marL="0" marR="0" rtl="0" algn="l">
              <a:lnSpc>
                <a:spcPct val="100000"/>
              </a:lnSpc>
              <a:spcBef>
                <a:spcPts val="300"/>
              </a:spcBef>
              <a:spcAft>
                <a:spcPts val="0"/>
              </a:spcAft>
              <a:buNone/>
            </a:pPr>
            <a:r>
              <a:rPr b="1" i="0" lang="en-GB" sz="1200" u="none" strike="noStrike">
                <a:solidFill>
                  <a:srgbClr val="111315"/>
                </a:solidFill>
                <a:latin typeface="Space Grotesk"/>
                <a:ea typeface="Space Grotesk"/>
                <a:cs typeface="Space Grotesk"/>
                <a:sym typeface="Space Grotesk"/>
              </a:rPr>
              <a:t>Configure Harness</a:t>
            </a:r>
            <a:endParaRPr b="1" i="0" sz="750" u="none" strike="noStrike">
              <a:solidFill>
                <a:srgbClr val="111315"/>
              </a:solidFill>
              <a:latin typeface="JetBrains Mono"/>
              <a:ea typeface="JetBrains Mono"/>
              <a:cs typeface="JetBrains Mono"/>
              <a:sym typeface="JetBrains Mono"/>
            </a:endParaRPr>
          </a:p>
          <a:p>
            <a:pPr indent="0" lvl="0" marL="0" marR="0" rtl="0" algn="l">
              <a:lnSpc>
                <a:spcPct val="115000"/>
              </a:lnSpc>
              <a:spcBef>
                <a:spcPts val="300"/>
              </a:spcBef>
              <a:spcAft>
                <a:spcPts val="300"/>
              </a:spcAft>
              <a:buNone/>
            </a:pPr>
            <a:r>
              <a:rPr lang="en-GB" sz="800">
                <a:solidFill>
                  <a:srgbClr val="5A626A"/>
                </a:solidFill>
                <a:latin typeface="Inter"/>
                <a:ea typeface="Inter"/>
                <a:cs typeface="Inter"/>
                <a:sym typeface="Inter"/>
              </a:rPr>
              <a:t>In MCPConnect, click Install next to Codex.</a:t>
            </a:r>
            <a:endParaRPr b="1" i="0" sz="750" u="none" strike="noStrike">
              <a:solidFill>
                <a:srgbClr val="111315"/>
              </a:solidFill>
              <a:latin typeface="JetBrains Mono"/>
              <a:ea typeface="JetBrains Mono"/>
              <a:cs typeface="JetBrains Mono"/>
              <a:sym typeface="JetBrains Mono"/>
            </a:endParaRPr>
          </a:p>
        </p:txBody>
      </p:sp>
      <p:sp>
        <p:nvSpPr>
          <p:cNvPr id="695" name="Google Shape;695;p29"/>
          <p:cNvSpPr/>
          <p:nvPr/>
        </p:nvSpPr>
        <p:spPr>
          <a:xfrm>
            <a:off x="4800600" y="2114550"/>
            <a:ext cx="1695600" cy="1524000"/>
          </a:xfrm>
          <a:prstGeom prst="roundRect">
            <a:avLst>
              <a:gd fmla="val 0" name="adj"/>
            </a:avLst>
          </a:prstGeom>
          <a:solidFill>
            <a:srgbClr val="111315"/>
          </a:solidFill>
          <a:ln cap="flat" cmpd="sng" w="9525">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9"/>
          <p:cNvSpPr/>
          <p:nvPr/>
        </p:nvSpPr>
        <p:spPr>
          <a:xfrm>
            <a:off x="4800600" y="2114550"/>
            <a:ext cx="1695600" cy="209700"/>
          </a:xfrm>
          <a:prstGeom prst="roundRect">
            <a:avLst>
              <a:gd fmla="val 0" name="adj"/>
            </a:avLst>
          </a:prstGeom>
          <a:solidFill>
            <a:srgbClr val="1E23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9"/>
          <p:cNvSpPr txBox="1"/>
          <p:nvPr/>
        </p:nvSpPr>
        <p:spPr>
          <a:xfrm>
            <a:off x="4876800" y="2114550"/>
            <a:ext cx="1600200" cy="228600"/>
          </a:xfrm>
          <a:prstGeom prst="rect">
            <a:avLst/>
          </a:prstGeom>
          <a:noFill/>
          <a:ln>
            <a:noFill/>
          </a:ln>
        </p:spPr>
        <p:txBody>
          <a:bodyPr anchorCtr="0" anchor="ctr" bIns="19050" lIns="19050" spcFirstLastPara="1" rIns="19050" wrap="square" tIns="19050">
            <a:noAutofit/>
          </a:bodyPr>
          <a:lstStyle/>
          <a:p>
            <a:pPr indent="0" lvl="0" marL="0" marR="0" rtl="0" algn="l">
              <a:spcBef>
                <a:spcPts val="0"/>
              </a:spcBef>
              <a:spcAft>
                <a:spcPts val="0"/>
              </a:spcAft>
              <a:buNone/>
            </a:pPr>
            <a:r>
              <a:rPr b="1" lang="en-GB" sz="720">
                <a:solidFill>
                  <a:srgbClr val="9CA3AF"/>
                </a:solidFill>
                <a:latin typeface="JetBrains Mono"/>
                <a:ea typeface="JetBrains Mono"/>
                <a:cs typeface="JetBrains Mono"/>
                <a:sym typeface="JetBrains Mono"/>
              </a:rPr>
              <a:t>CODEX CONNECTION</a:t>
            </a:r>
            <a:endParaRPr b="1" i="0" sz="720" u="none" strike="noStrike">
              <a:solidFill>
                <a:srgbClr val="9CA3AF"/>
              </a:solidFill>
              <a:latin typeface="JetBrains Mono"/>
              <a:ea typeface="JetBrains Mono"/>
              <a:cs typeface="JetBrains Mono"/>
              <a:sym typeface="JetBrains Mono"/>
            </a:endParaRPr>
          </a:p>
        </p:txBody>
      </p:sp>
      <p:sp>
        <p:nvSpPr>
          <p:cNvPr id="698" name="Google Shape;698;p29"/>
          <p:cNvSpPr txBox="1"/>
          <p:nvPr/>
        </p:nvSpPr>
        <p:spPr>
          <a:xfrm>
            <a:off x="4876800" y="2362200"/>
            <a:ext cx="1543200" cy="12384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200"/>
              </a:spcAft>
              <a:buNone/>
            </a:pPr>
            <a:r>
              <a:rPr lang="en-GB" sz="720">
                <a:solidFill>
                  <a:srgbClr val="38BDF8"/>
                </a:solidFill>
                <a:latin typeface="JetBrains Mono"/>
                <a:ea typeface="JetBrains Mono"/>
                <a:cs typeface="JetBrains Mono"/>
                <a:sym typeface="JetBrains Mono"/>
              </a:rPr>
              <a:t>MCPConnect</a:t>
            </a:r>
            <a:endParaRPr sz="720">
              <a:solidFill>
                <a:srgbClr val="38BDF8"/>
              </a:solidFill>
              <a:latin typeface="JetBrains Mono"/>
              <a:ea typeface="JetBrains Mono"/>
              <a:cs typeface="JetBrains Mono"/>
              <a:sym typeface="JetBrains Mono"/>
            </a:endParaRPr>
          </a:p>
        </p:txBody>
      </p:sp>
      <p:sp>
        <p:nvSpPr>
          <p:cNvPr id="699" name="Google Shape;699;p29"/>
          <p:cNvSpPr txBox="1"/>
          <p:nvPr/>
        </p:nvSpPr>
        <p:spPr>
          <a:xfrm>
            <a:off x="4800600" y="3714750"/>
            <a:ext cx="1695600" cy="59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720">
                <a:solidFill>
                  <a:srgbClr val="5A626A"/>
                </a:solidFill>
                <a:latin typeface="Inter"/>
                <a:ea typeface="Inter"/>
                <a:cs typeface="Inter"/>
                <a:sym typeface="Inter"/>
              </a:rPr>
              <a:t>Restart Codex to load the Rhino tools.</a:t>
            </a:r>
            <a:endParaRPr sz="720">
              <a:solidFill>
                <a:srgbClr val="5A626A"/>
              </a:solidFill>
              <a:latin typeface="Inter"/>
              <a:ea typeface="Inter"/>
              <a:cs typeface="Inter"/>
              <a:sym typeface="Inter"/>
            </a:endParaRPr>
          </a:p>
        </p:txBody>
      </p:sp>
      <p:sp>
        <p:nvSpPr>
          <p:cNvPr id="700" name="Google Shape;700;p29"/>
          <p:cNvSpPr/>
          <p:nvPr/>
        </p:nvSpPr>
        <p:spPr>
          <a:xfrm>
            <a:off x="6838950" y="1143000"/>
            <a:ext cx="1924200" cy="32577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9"/>
          <p:cNvSpPr/>
          <p:nvPr/>
        </p:nvSpPr>
        <p:spPr>
          <a:xfrm>
            <a:off x="6838950" y="1143000"/>
            <a:ext cx="1924200" cy="38100"/>
          </a:xfrm>
          <a:prstGeom prst="roundRect">
            <a:avLst>
              <a:gd fmla="val 0" name="adj"/>
            </a:avLst>
          </a:prstGeom>
          <a:solidFill>
            <a:srgbClr val="1D4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9"/>
          <p:cNvSpPr txBox="1"/>
          <p:nvPr/>
        </p:nvSpPr>
        <p:spPr>
          <a:xfrm>
            <a:off x="6972300" y="1238250"/>
            <a:ext cx="1752600" cy="8382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None/>
            </a:pPr>
            <a:r>
              <a:rPr b="1" i="0" lang="en-GB" sz="750" u="none" strike="noStrike">
                <a:solidFill>
                  <a:srgbClr val="1D4ED8"/>
                </a:solidFill>
                <a:latin typeface="JetBrains Mono"/>
                <a:ea typeface="JetBrains Mono"/>
                <a:cs typeface="JetBrains Mono"/>
                <a:sym typeface="JetBrains Mono"/>
              </a:rPr>
              <a:t>STEP 04 // </a:t>
            </a:r>
            <a:r>
              <a:rPr b="1" i="0" lang="en-GB" sz="750" u="none" strike="noStrike">
                <a:solidFill>
                  <a:srgbClr val="5A626A"/>
                </a:solidFill>
                <a:latin typeface="JetBrains Mono"/>
                <a:ea typeface="JetBrains Mono"/>
                <a:cs typeface="JetBrains Mono"/>
                <a:sym typeface="JetBrains Mono"/>
              </a:rPr>
              <a:t>EXECUTE</a:t>
            </a:r>
            <a:endParaRPr b="1"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300"/>
              </a:spcBef>
              <a:spcAft>
                <a:spcPts val="0"/>
              </a:spcAft>
              <a:buNone/>
            </a:pPr>
            <a:r>
              <a:rPr b="1" i="0" lang="en-GB" sz="1200" u="none" strike="noStrike">
                <a:solidFill>
                  <a:srgbClr val="111315"/>
                </a:solidFill>
                <a:latin typeface="Space Grotesk"/>
                <a:ea typeface="Space Grotesk"/>
                <a:cs typeface="Space Grotesk"/>
                <a:sym typeface="Space Grotesk"/>
              </a:rPr>
              <a:t>Verify Connection</a:t>
            </a:r>
            <a:endParaRPr b="1" i="0" sz="750" u="none" strike="noStrike">
              <a:solidFill>
                <a:srgbClr val="1D4ED8"/>
              </a:solidFill>
              <a:latin typeface="JetBrains Mono"/>
              <a:ea typeface="JetBrains Mono"/>
              <a:cs typeface="JetBrains Mono"/>
              <a:sym typeface="JetBrains Mono"/>
            </a:endParaRPr>
          </a:p>
          <a:p>
            <a:pPr indent="0" lvl="0" marL="0" marR="0" rtl="0" algn="l">
              <a:lnSpc>
                <a:spcPct val="115000"/>
              </a:lnSpc>
              <a:spcBef>
                <a:spcPts val="300"/>
              </a:spcBef>
              <a:spcAft>
                <a:spcPts val="300"/>
              </a:spcAft>
              <a:buNone/>
            </a:pPr>
            <a:r>
              <a:rPr b="0" i="0" lang="en-GB" sz="800" u="none" strike="noStrike">
                <a:solidFill>
                  <a:srgbClr val="5A626A"/>
                </a:solidFill>
                <a:latin typeface="Inter"/>
                <a:ea typeface="Inter"/>
                <a:cs typeface="Inter"/>
                <a:sym typeface="Inter"/>
              </a:rPr>
              <a:t>Launch MCP bridge inside Rhino and prompt the LLM.</a:t>
            </a:r>
            <a:endParaRPr b="1" i="0" sz="750" u="none" strike="noStrike">
              <a:solidFill>
                <a:srgbClr val="1D4ED8"/>
              </a:solidFill>
              <a:latin typeface="JetBrains Mono"/>
              <a:ea typeface="JetBrains Mono"/>
              <a:cs typeface="JetBrains Mono"/>
              <a:sym typeface="JetBrains Mono"/>
            </a:endParaRPr>
          </a:p>
        </p:txBody>
      </p:sp>
      <p:sp>
        <p:nvSpPr>
          <p:cNvPr id="703" name="Google Shape;703;p29"/>
          <p:cNvSpPr/>
          <p:nvPr/>
        </p:nvSpPr>
        <p:spPr>
          <a:xfrm>
            <a:off x="6953250" y="2114550"/>
            <a:ext cx="1695600" cy="1524000"/>
          </a:xfrm>
          <a:prstGeom prst="roundRect">
            <a:avLst>
              <a:gd fmla="val 0" name="adj"/>
            </a:avLst>
          </a:prstGeom>
          <a:solidFill>
            <a:srgbClr val="111315"/>
          </a:solidFill>
          <a:ln cap="flat" cmpd="sng" w="9525">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9"/>
          <p:cNvSpPr/>
          <p:nvPr/>
        </p:nvSpPr>
        <p:spPr>
          <a:xfrm>
            <a:off x="6953250" y="2114550"/>
            <a:ext cx="1695600" cy="209700"/>
          </a:xfrm>
          <a:prstGeom prst="roundRect">
            <a:avLst>
              <a:gd fmla="val 0" name="adj"/>
            </a:avLst>
          </a:prstGeom>
          <a:solidFill>
            <a:srgbClr val="1E23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9"/>
          <p:cNvSpPr txBox="1"/>
          <p:nvPr/>
        </p:nvSpPr>
        <p:spPr>
          <a:xfrm>
            <a:off x="7048500" y="2114550"/>
            <a:ext cx="1600200" cy="228600"/>
          </a:xfrm>
          <a:prstGeom prst="rect">
            <a:avLst/>
          </a:prstGeom>
          <a:noFill/>
          <a:ln>
            <a:noFill/>
          </a:ln>
        </p:spPr>
        <p:txBody>
          <a:bodyPr anchorCtr="0" anchor="ctr" bIns="19050" lIns="19050" spcFirstLastPara="1" rIns="19050" wrap="square" tIns="19050">
            <a:noAutofit/>
          </a:bodyPr>
          <a:lstStyle/>
          <a:p>
            <a:pPr indent="0" lvl="0" marL="0" marR="0" rtl="0" algn="l">
              <a:spcBef>
                <a:spcPts val="0"/>
              </a:spcBef>
              <a:spcAft>
                <a:spcPts val="0"/>
              </a:spcAft>
              <a:buNone/>
            </a:pPr>
            <a:r>
              <a:rPr b="1" i="0" lang="en-GB" sz="720" u="none" strike="noStrike">
                <a:solidFill>
                  <a:srgbClr val="9CA3AF"/>
                </a:solidFill>
                <a:latin typeface="JetBrains Mono"/>
                <a:ea typeface="JetBrains Mono"/>
                <a:cs typeface="JetBrains Mono"/>
                <a:sym typeface="JetBrains Mono"/>
              </a:rPr>
              <a:t>RHINO 8 VERIFICATION</a:t>
            </a:r>
            <a:endParaRPr b="1" i="0" sz="720" u="none" strike="noStrike">
              <a:solidFill>
                <a:srgbClr val="9CA3AF"/>
              </a:solidFill>
              <a:latin typeface="JetBrains Mono"/>
              <a:ea typeface="JetBrains Mono"/>
              <a:cs typeface="JetBrains Mono"/>
              <a:sym typeface="JetBrains Mono"/>
            </a:endParaRPr>
          </a:p>
        </p:txBody>
      </p:sp>
      <p:sp>
        <p:nvSpPr>
          <p:cNvPr id="706" name="Google Shape;706;p29"/>
          <p:cNvSpPr txBox="1"/>
          <p:nvPr/>
        </p:nvSpPr>
        <p:spPr>
          <a:xfrm>
            <a:off x="7029450" y="2362200"/>
            <a:ext cx="1543200" cy="12384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Clr>
                <a:schemeClr val="dk1"/>
              </a:buClr>
              <a:buSzPts val="1100"/>
              <a:buFont typeface="Arial"/>
              <a:buNone/>
            </a:pPr>
            <a:r>
              <a:rPr lang="en-GB" sz="720">
                <a:solidFill>
                  <a:srgbClr val="6B7280"/>
                </a:solidFill>
                <a:latin typeface="JetBrains Mono"/>
                <a:ea typeface="JetBrains Mono"/>
                <a:cs typeface="JetBrains Mono"/>
                <a:sym typeface="JetBrains Mono"/>
              </a:rPr>
              <a:t># Inside Rhino 8:</a:t>
            </a:r>
            <a:endParaRPr sz="720">
              <a:solidFill>
                <a:srgbClr val="6B7280"/>
              </a:solidFill>
              <a:latin typeface="JetBrains Mono"/>
              <a:ea typeface="JetBrains Mono"/>
              <a:cs typeface="JetBrains Mono"/>
              <a:sym typeface="JetBrains Mono"/>
            </a:endParaRPr>
          </a:p>
          <a:p>
            <a:pPr indent="0" lvl="0" marL="0" rtl="0" algn="l">
              <a:lnSpc>
                <a:spcPct val="110000"/>
              </a:lnSpc>
              <a:spcBef>
                <a:spcPts val="200"/>
              </a:spcBef>
              <a:spcAft>
                <a:spcPts val="0"/>
              </a:spcAft>
              <a:buClr>
                <a:schemeClr val="dk1"/>
              </a:buClr>
              <a:buSzPts val="1100"/>
              <a:buFont typeface="Arial"/>
              <a:buNone/>
            </a:pPr>
            <a:r>
              <a:rPr lang="en-GB" sz="720">
                <a:solidFill>
                  <a:srgbClr val="6B7280"/>
                </a:solidFill>
                <a:latin typeface="JetBrains Mono"/>
                <a:ea typeface="JetBrains Mono"/>
                <a:cs typeface="JetBrains Mono"/>
                <a:sym typeface="JetBrains Mono"/>
              </a:rPr>
              <a:t>MCPStart</a:t>
            </a:r>
            <a:endParaRPr sz="720">
              <a:solidFill>
                <a:srgbClr val="6B7280"/>
              </a:solidFill>
              <a:latin typeface="JetBrains Mono"/>
              <a:ea typeface="JetBrains Mono"/>
              <a:cs typeface="JetBrains Mono"/>
              <a:sym typeface="JetBrains Mono"/>
            </a:endParaRPr>
          </a:p>
          <a:p>
            <a:pPr indent="0" lvl="0" marL="0" rtl="0" algn="l">
              <a:lnSpc>
                <a:spcPct val="110000"/>
              </a:lnSpc>
              <a:spcBef>
                <a:spcPts val="200"/>
              </a:spcBef>
              <a:spcAft>
                <a:spcPts val="0"/>
              </a:spcAft>
              <a:buClr>
                <a:schemeClr val="dk1"/>
              </a:buClr>
              <a:buSzPts val="1100"/>
              <a:buFont typeface="Arial"/>
              <a:buNone/>
            </a:pPr>
            <a:r>
              <a:rPr lang="en-GB" sz="720">
                <a:solidFill>
                  <a:srgbClr val="6B7280"/>
                </a:solidFill>
                <a:latin typeface="JetBrains Mono"/>
                <a:ea typeface="JetBrains Mono"/>
                <a:cs typeface="JetBrains Mono"/>
                <a:sym typeface="JetBrains Mono"/>
              </a:rPr>
              <a:t># Prompt: 'Draw a torus'</a:t>
            </a:r>
            <a:endParaRPr sz="720">
              <a:solidFill>
                <a:srgbClr val="6B7280"/>
              </a:solidFill>
              <a:latin typeface="JetBrains Mono"/>
              <a:ea typeface="JetBrains Mono"/>
              <a:cs typeface="JetBrains Mono"/>
              <a:sym typeface="JetBrains Mono"/>
            </a:endParaRPr>
          </a:p>
          <a:p>
            <a:pPr indent="0" lvl="0" marL="0" rtl="0" algn="l">
              <a:lnSpc>
                <a:spcPct val="110000"/>
              </a:lnSpc>
              <a:spcBef>
                <a:spcPts val="200"/>
              </a:spcBef>
              <a:spcAft>
                <a:spcPts val="200"/>
              </a:spcAft>
              <a:buNone/>
            </a:pPr>
            <a:r>
              <a:t/>
            </a:r>
            <a:endParaRPr sz="720">
              <a:solidFill>
                <a:srgbClr val="6B7280"/>
              </a:solidFill>
              <a:latin typeface="JetBrains Mono"/>
              <a:ea typeface="JetBrains Mono"/>
              <a:cs typeface="JetBrains Mono"/>
              <a:sym typeface="JetBrains Mono"/>
            </a:endParaRPr>
          </a:p>
        </p:txBody>
      </p:sp>
      <p:sp>
        <p:nvSpPr>
          <p:cNvPr id="707" name="Google Shape;707;p29"/>
          <p:cNvSpPr txBox="1"/>
          <p:nvPr/>
        </p:nvSpPr>
        <p:spPr>
          <a:xfrm>
            <a:off x="6953250" y="3714750"/>
            <a:ext cx="1695600" cy="59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720">
                <a:solidFill>
                  <a:srgbClr val="5A626A"/>
                </a:solidFill>
                <a:latin typeface="Inter"/>
                <a:ea typeface="Inter"/>
                <a:cs typeface="Inter"/>
                <a:sym typeface="Inter"/>
              </a:rPr>
              <a:t>Check: read the model, then create one torus.</a:t>
            </a:r>
            <a:endParaRPr sz="720">
              <a:solidFill>
                <a:srgbClr val="5A626A"/>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pic>
        <p:nvPicPr>
          <p:cNvPr id="712" name="Google Shape;712;p30" title="01-rhino-mcp-install.mp4">
            <a:hlinkClick r:id="rId3"/>
          </p:cNvPr>
          <p:cNvPicPr preferRelativeResize="0"/>
          <p:nvPr/>
        </p:nvPicPr>
        <p:blipFill>
          <a:blip r:embed="rId4">
            <a:alphaModFix/>
          </a:blip>
          <a:stretch>
            <a:fillRect/>
          </a:stretch>
        </p:blipFill>
        <p:spPr>
          <a:xfrm>
            <a:off x="152400" y="152400"/>
            <a:ext cx="8602133"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1000"/>
                                        <p:tgtEl>
                                          <p:spTgt spid="7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31"/>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2400" u="none" strike="noStrike">
                <a:solidFill>
                  <a:srgbClr val="111315"/>
                </a:solidFill>
                <a:latin typeface="Space Grotesk"/>
                <a:ea typeface="Space Grotesk"/>
                <a:cs typeface="Space Grotesk"/>
                <a:sym typeface="Space Grotesk"/>
              </a:rPr>
              <a:t>System Example 1A: Rhino MCP Command Selection</a:t>
            </a:r>
            <a:endParaRPr b="1" i="0" sz="2400" u="none" strike="noStrike">
              <a:solidFill>
                <a:srgbClr val="111315"/>
              </a:solidFill>
              <a:latin typeface="Space Grotesk"/>
              <a:ea typeface="Space Grotesk"/>
              <a:cs typeface="Space Grotesk"/>
              <a:sym typeface="Space Grotesk"/>
            </a:endParaRPr>
          </a:p>
        </p:txBody>
      </p:sp>
      <p:grpSp>
        <p:nvGrpSpPr>
          <p:cNvPr id="718" name="Google Shape;718;p31"/>
          <p:cNvGrpSpPr/>
          <p:nvPr/>
        </p:nvGrpSpPr>
        <p:grpSpPr>
          <a:xfrm>
            <a:off x="571500" y="1428750"/>
            <a:ext cx="8001150" cy="2286000"/>
            <a:chOff x="571500" y="1428750"/>
            <a:chExt cx="8001150" cy="2286000"/>
          </a:xfrm>
        </p:grpSpPr>
        <p:grpSp>
          <p:nvGrpSpPr>
            <p:cNvPr id="719" name="Google Shape;719;p31"/>
            <p:cNvGrpSpPr/>
            <p:nvPr/>
          </p:nvGrpSpPr>
          <p:grpSpPr>
            <a:xfrm>
              <a:off x="571500" y="1428750"/>
              <a:ext cx="2190900" cy="2286000"/>
              <a:chOff x="0" y="0"/>
              <a:chExt cx="2190900" cy="2286000"/>
            </a:xfrm>
          </p:grpSpPr>
          <p:sp>
            <p:nvSpPr>
              <p:cNvPr id="720" name="Google Shape;720;p31"/>
              <p:cNvSpPr/>
              <p:nvPr/>
            </p:nvSpPr>
            <p:spPr>
              <a:xfrm>
                <a:off x="0" y="0"/>
                <a:ext cx="2190900" cy="22860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721" name="Google Shape;721;p31"/>
              <p:cNvCxnSpPr/>
              <p:nvPr/>
            </p:nvCxnSpPr>
            <p:spPr>
              <a:xfrm>
                <a:off x="0" y="342900"/>
                <a:ext cx="2190900" cy="0"/>
              </a:xfrm>
              <a:prstGeom prst="straightConnector1">
                <a:avLst/>
              </a:prstGeom>
              <a:solidFill>
                <a:srgbClr val="FFFFFF"/>
              </a:solidFill>
              <a:ln cap="flat" cmpd="sng" w="9525">
                <a:solidFill>
                  <a:srgbClr val="E9ECEF"/>
                </a:solidFill>
                <a:prstDash val="solid"/>
                <a:round/>
                <a:headEnd len="sm" w="sm" type="none"/>
                <a:tailEnd len="sm" w="sm" type="none"/>
              </a:ln>
            </p:spPr>
          </p:cxnSp>
          <p:sp>
            <p:nvSpPr>
              <p:cNvPr id="722" name="Google Shape;722;p31"/>
              <p:cNvSpPr txBox="1"/>
              <p:nvPr/>
            </p:nvSpPr>
            <p:spPr>
              <a:xfrm>
                <a:off x="152400" y="95250"/>
                <a:ext cx="18861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1D4ED8"/>
                    </a:solidFill>
                    <a:latin typeface="JetBrains Mono"/>
                    <a:ea typeface="JetBrains Mono"/>
                    <a:cs typeface="JetBrains Mono"/>
                    <a:sym typeface="JetBrains Mono"/>
                  </a:rPr>
                  <a:t>01 / INPUT GOAL</a:t>
                </a:r>
                <a:endParaRPr b="0" sz="750">
                  <a:solidFill>
                    <a:srgbClr val="1D4ED8"/>
                  </a:solidFill>
                  <a:latin typeface="JetBrains Mono"/>
                  <a:ea typeface="JetBrains Mono"/>
                  <a:cs typeface="JetBrains Mono"/>
                  <a:sym typeface="JetBrains Mono"/>
                </a:endParaRPr>
              </a:p>
            </p:txBody>
          </p:sp>
          <p:sp>
            <p:nvSpPr>
              <p:cNvPr id="723" name="Google Shape;723;p31"/>
              <p:cNvSpPr txBox="1"/>
              <p:nvPr/>
            </p:nvSpPr>
            <p:spPr>
              <a:xfrm>
                <a:off x="152400" y="457200"/>
                <a:ext cx="1886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050">
                    <a:solidFill>
                      <a:srgbClr val="111315"/>
                    </a:solidFill>
                    <a:latin typeface="Inter"/>
                    <a:ea typeface="Inter"/>
                    <a:cs typeface="Inter"/>
                    <a:sym typeface="Inter"/>
                  </a:rPr>
                  <a:t>Target Form Sketch / Goal</a:t>
                </a:r>
                <a:endParaRPr b="1" sz="1050">
                  <a:solidFill>
                    <a:srgbClr val="111315"/>
                  </a:solidFill>
                  <a:latin typeface="Inter"/>
                  <a:ea typeface="Inter"/>
                  <a:cs typeface="Inter"/>
                  <a:sym typeface="Inter"/>
                </a:endParaRPr>
              </a:p>
            </p:txBody>
          </p:sp>
          <p:grpSp>
            <p:nvGrpSpPr>
              <p:cNvPr id="724" name="Google Shape;724;p31"/>
              <p:cNvGrpSpPr/>
              <p:nvPr/>
            </p:nvGrpSpPr>
            <p:grpSpPr>
              <a:xfrm>
                <a:off x="238125" y="952500"/>
                <a:ext cx="1714500" cy="1047900"/>
                <a:chOff x="0" y="0"/>
                <a:chExt cx="1714500" cy="1047900"/>
              </a:xfrm>
            </p:grpSpPr>
            <p:sp>
              <p:nvSpPr>
                <p:cNvPr id="725" name="Google Shape;725;p31"/>
                <p:cNvSpPr/>
                <p:nvPr/>
              </p:nvSpPr>
              <p:spPr>
                <a:xfrm>
                  <a:off x="0" y="0"/>
                  <a:ext cx="1714500" cy="10479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26" name="Google Shape;726;p31"/>
                <p:cNvPicPr preferRelativeResize="0"/>
                <p:nvPr/>
              </p:nvPicPr>
              <p:blipFill rotWithShape="1">
                <a:blip r:embed="rId3">
                  <a:alphaModFix/>
                </a:blip>
                <a:srcRect b="0" l="0" r="0" t="0"/>
                <a:stretch/>
              </p:blipFill>
              <p:spPr>
                <a:xfrm>
                  <a:off x="852488" y="95250"/>
                  <a:ext cx="9600" cy="828600"/>
                </a:xfrm>
                <a:prstGeom prst="rect">
                  <a:avLst/>
                </a:prstGeom>
                <a:noFill/>
                <a:ln>
                  <a:noFill/>
                </a:ln>
              </p:spPr>
            </p:pic>
            <p:sp>
              <p:nvSpPr>
                <p:cNvPr id="727" name="Google Shape;727;p31"/>
                <p:cNvSpPr/>
                <p:nvPr/>
              </p:nvSpPr>
              <p:spPr>
                <a:xfrm>
                  <a:off x="190500" y="190500"/>
                  <a:ext cx="381000" cy="666900"/>
                </a:xfrm>
                <a:custGeom>
                  <a:rect b="b" l="l" r="r" t="t"/>
                  <a:pathLst>
                    <a:path extrusionOk="0" h="120000" w="120000">
                      <a:moveTo>
                        <a:pt x="60000" y="120000"/>
                      </a:moveTo>
                      <a:quadBezTo>
                        <a:pt x="0" y="51429"/>
                        <a:pt x="120000" y="0"/>
                      </a:quadBezTo>
                    </a:path>
                  </a:pathLst>
                </a:custGeom>
                <a:solidFill>
                  <a:srgbClr val="000000">
                    <a:alpha val="0"/>
                  </a:srgbClr>
                </a:solidFill>
                <a:ln cap="flat" cmpd="sng" w="14300">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8" name="Google Shape;728;p31"/>
                <p:cNvSpPr/>
                <p:nvPr/>
              </p:nvSpPr>
              <p:spPr>
                <a:xfrm>
                  <a:off x="1143000" y="190500"/>
                  <a:ext cx="381000" cy="666900"/>
                </a:xfrm>
                <a:custGeom>
                  <a:rect b="b" l="l" r="r" t="t"/>
                  <a:pathLst>
                    <a:path extrusionOk="0" h="120000" w="120000">
                      <a:moveTo>
                        <a:pt x="60000" y="120000"/>
                      </a:moveTo>
                      <a:quadBezTo>
                        <a:pt x="120000" y="51429"/>
                        <a:pt x="0" y="0"/>
                      </a:quadBezTo>
                    </a:path>
                  </a:pathLst>
                </a:custGeom>
                <a:solidFill>
                  <a:srgbClr val="000000">
                    <a:alpha val="0"/>
                  </a:srgbClr>
                </a:solidFill>
                <a:ln cap="flat" cmpd="sng" w="14300">
                  <a:solidFill>
                    <a:srgbClr val="1D4E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29" name="Google Shape;729;p31"/>
                <p:cNvPicPr preferRelativeResize="0"/>
                <p:nvPr/>
              </p:nvPicPr>
              <p:blipFill rotWithShape="1">
                <a:blip r:embed="rId4">
                  <a:alphaModFix/>
                </a:blip>
                <a:srcRect b="0" l="0" r="0" t="0"/>
                <a:stretch/>
              </p:blipFill>
              <p:spPr>
                <a:xfrm>
                  <a:off x="376238" y="757238"/>
                  <a:ext cx="962100" cy="200100"/>
                </a:xfrm>
                <a:prstGeom prst="rect">
                  <a:avLst/>
                </a:prstGeom>
                <a:noFill/>
                <a:ln>
                  <a:noFill/>
                </a:ln>
              </p:spPr>
            </p:pic>
            <p:pic>
              <p:nvPicPr>
                <p:cNvPr id="730" name="Google Shape;730;p31"/>
                <p:cNvPicPr preferRelativeResize="0"/>
                <p:nvPr/>
              </p:nvPicPr>
              <p:blipFill rotWithShape="1">
                <a:blip r:embed="rId5">
                  <a:alphaModFix/>
                </a:blip>
                <a:srcRect b="0" l="0" r="0" t="0"/>
                <a:stretch/>
              </p:blipFill>
              <p:spPr>
                <a:xfrm>
                  <a:off x="571500" y="128588"/>
                  <a:ext cx="576300" cy="123900"/>
                </a:xfrm>
                <a:prstGeom prst="rect">
                  <a:avLst/>
                </a:prstGeom>
                <a:noFill/>
                <a:ln>
                  <a:noFill/>
                </a:ln>
              </p:spPr>
            </p:pic>
            <p:sp>
              <p:nvSpPr>
                <p:cNvPr id="731" name="Google Shape;731;p31"/>
                <p:cNvSpPr/>
                <p:nvPr/>
              </p:nvSpPr>
              <p:spPr>
                <a:xfrm>
                  <a:off x="352425" y="828675"/>
                  <a:ext cx="57300" cy="57300"/>
                </a:xfrm>
                <a:prstGeom prst="ellipse">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2" name="Google Shape;732;p31"/>
                <p:cNvSpPr/>
                <p:nvPr/>
              </p:nvSpPr>
              <p:spPr>
                <a:xfrm>
                  <a:off x="542925" y="161925"/>
                  <a:ext cx="57300" cy="57300"/>
                </a:xfrm>
                <a:prstGeom prst="ellipse">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3" name="Google Shape;733;p31"/>
                <p:cNvSpPr/>
                <p:nvPr/>
              </p:nvSpPr>
              <p:spPr>
                <a:xfrm>
                  <a:off x="1304925" y="828675"/>
                  <a:ext cx="57300" cy="57300"/>
                </a:xfrm>
                <a:prstGeom prst="ellipse">
                  <a:avLst/>
                </a:pr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4" name="Google Shape;734;p31"/>
                <p:cNvSpPr/>
                <p:nvPr/>
              </p:nvSpPr>
              <p:spPr>
                <a:xfrm>
                  <a:off x="1114425" y="161925"/>
                  <a:ext cx="57300" cy="57300"/>
                </a:xfrm>
                <a:prstGeom prst="ellipse">
                  <a:avLst/>
                </a:pr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735" name="Google Shape;735;p31"/>
            <p:cNvGrpSpPr/>
            <p:nvPr/>
          </p:nvGrpSpPr>
          <p:grpSpPr>
            <a:xfrm>
              <a:off x="3238500" y="1428750"/>
              <a:ext cx="1714500" cy="2286000"/>
              <a:chOff x="0" y="0"/>
              <a:chExt cx="1714500" cy="2286000"/>
            </a:xfrm>
          </p:grpSpPr>
          <p:sp>
            <p:nvSpPr>
              <p:cNvPr id="736" name="Google Shape;736;p31"/>
              <p:cNvSpPr/>
              <p:nvPr/>
            </p:nvSpPr>
            <p:spPr>
              <a:xfrm>
                <a:off x="0" y="0"/>
                <a:ext cx="1714500" cy="22860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737" name="Google Shape;737;p31"/>
              <p:cNvCxnSpPr/>
              <p:nvPr/>
            </p:nvCxnSpPr>
            <p:spPr>
              <a:xfrm>
                <a:off x="0" y="342900"/>
                <a:ext cx="1714500" cy="0"/>
              </a:xfrm>
              <a:prstGeom prst="straightConnector1">
                <a:avLst/>
              </a:prstGeom>
              <a:solidFill>
                <a:srgbClr val="FFFFFF"/>
              </a:solidFill>
              <a:ln cap="flat" cmpd="sng" w="9525">
                <a:solidFill>
                  <a:srgbClr val="E9ECEF"/>
                </a:solidFill>
                <a:prstDash val="solid"/>
                <a:round/>
                <a:headEnd len="sm" w="sm" type="none"/>
                <a:tailEnd len="sm" w="sm" type="none"/>
              </a:ln>
            </p:spPr>
          </p:cxnSp>
          <p:sp>
            <p:nvSpPr>
              <p:cNvPr id="738" name="Google Shape;738;p31"/>
              <p:cNvSpPr txBox="1"/>
              <p:nvPr/>
            </p:nvSpPr>
            <p:spPr>
              <a:xfrm>
                <a:off x="152400" y="95250"/>
                <a:ext cx="14097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GB" sz="750" u="none" strike="noStrike">
                    <a:solidFill>
                      <a:srgbClr val="D9381E"/>
                    </a:solidFill>
                    <a:latin typeface="JetBrains Mono"/>
                    <a:ea typeface="JetBrains Mono"/>
                    <a:cs typeface="JetBrains Mono"/>
                    <a:sym typeface="JetBrains Mono"/>
                  </a:rPr>
                  <a:t>02 / MODEL SELECTION</a:t>
                </a:r>
                <a:endParaRPr b="0" i="0" sz="750" u="none" strike="noStrike">
                  <a:solidFill>
                    <a:srgbClr val="D9381E"/>
                  </a:solidFill>
                  <a:latin typeface="JetBrains Mono"/>
                  <a:ea typeface="JetBrains Mono"/>
                  <a:cs typeface="JetBrains Mono"/>
                  <a:sym typeface="JetBrains Mono"/>
                </a:endParaRPr>
              </a:p>
            </p:txBody>
          </p:sp>
          <p:sp>
            <p:nvSpPr>
              <p:cNvPr id="739" name="Google Shape;739;p31"/>
              <p:cNvSpPr txBox="1"/>
              <p:nvPr/>
            </p:nvSpPr>
            <p:spPr>
              <a:xfrm>
                <a:off x="152400" y="457200"/>
                <a:ext cx="1409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500">
                    <a:solidFill>
                      <a:srgbClr val="111315"/>
                    </a:solidFill>
                    <a:latin typeface="Space Grotesk"/>
                    <a:ea typeface="Space Grotesk"/>
                    <a:cs typeface="Space Grotesk"/>
                    <a:sym typeface="Space Grotesk"/>
                  </a:rPr>
                  <a:t>Rhino MCP</a:t>
                </a:r>
                <a:endParaRPr b="1" sz="1500">
                  <a:solidFill>
                    <a:srgbClr val="111315"/>
                  </a:solidFill>
                  <a:latin typeface="Space Grotesk"/>
                  <a:ea typeface="Space Grotesk"/>
                  <a:cs typeface="Space Grotesk"/>
                  <a:sym typeface="Space Grotesk"/>
                </a:endParaRPr>
              </a:p>
            </p:txBody>
          </p:sp>
          <p:grpSp>
            <p:nvGrpSpPr>
              <p:cNvPr id="740" name="Google Shape;740;p31"/>
              <p:cNvGrpSpPr/>
              <p:nvPr/>
            </p:nvGrpSpPr>
            <p:grpSpPr>
              <a:xfrm>
                <a:off x="190500" y="952500"/>
                <a:ext cx="1333500" cy="1047900"/>
                <a:chOff x="0" y="0"/>
                <a:chExt cx="1333500" cy="1047900"/>
              </a:xfrm>
            </p:grpSpPr>
            <p:sp>
              <p:nvSpPr>
                <p:cNvPr id="741" name="Google Shape;741;p31"/>
                <p:cNvSpPr/>
                <p:nvPr/>
              </p:nvSpPr>
              <p:spPr>
                <a:xfrm>
                  <a:off x="0" y="0"/>
                  <a:ext cx="1333500" cy="1047900"/>
                </a:xfrm>
                <a:prstGeom prst="rect">
                  <a:avLst/>
                </a:prstGeom>
                <a:solidFill>
                  <a:srgbClr val="F8F9FA"/>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2" name="Google Shape;742;p31"/>
                <p:cNvSpPr/>
                <p:nvPr/>
              </p:nvSpPr>
              <p:spPr>
                <a:xfrm>
                  <a:off x="333375" y="333375"/>
                  <a:ext cx="666900" cy="381000"/>
                </a:xfrm>
                <a:prstGeom prst="rect">
                  <a:avLst/>
                </a:prstGeom>
                <a:solidFill>
                  <a:srgbClr val="111315"/>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3" name="Google Shape;743;p31"/>
                <p:cNvSpPr txBox="1"/>
                <p:nvPr/>
              </p:nvSpPr>
              <p:spPr>
                <a:xfrm>
                  <a:off x="333375" y="333375"/>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675">
                      <a:solidFill>
                        <a:srgbClr val="FFFFFF"/>
                      </a:solidFill>
                      <a:latin typeface="JetBrains Mono"/>
                      <a:ea typeface="JetBrains Mono"/>
                      <a:cs typeface="JetBrains Mono"/>
                      <a:sym typeface="JetBrains Mono"/>
                    </a:rPr>
                    <a:t>MCP CORE</a:t>
                  </a:r>
                  <a:endParaRPr b="1" sz="675">
                    <a:solidFill>
                      <a:srgbClr val="FFFFFF"/>
                    </a:solidFill>
                    <a:latin typeface="JetBrains Mono"/>
                    <a:ea typeface="JetBrains Mono"/>
                    <a:cs typeface="JetBrains Mono"/>
                    <a:sym typeface="JetBrains Mono"/>
                  </a:endParaRPr>
                </a:p>
              </p:txBody>
            </p:sp>
            <p:sp>
              <p:nvSpPr>
                <p:cNvPr id="744" name="Google Shape;744;p31"/>
                <p:cNvSpPr/>
                <p:nvPr/>
              </p:nvSpPr>
              <p:spPr>
                <a:xfrm>
                  <a:off x="133350" y="133350"/>
                  <a:ext cx="114300" cy="114300"/>
                </a:xfrm>
                <a:prstGeom prst="ellipse">
                  <a:avLst/>
                </a:prstGeom>
                <a:solidFill>
                  <a:srgbClr val="FFFFFF"/>
                </a:solidFill>
                <a:ln cap="flat" cmpd="sng" w="14300">
                  <a:solidFill>
                    <a:srgbClr val="1D4E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5" name="Google Shape;745;p31"/>
                <p:cNvSpPr/>
                <p:nvPr/>
              </p:nvSpPr>
              <p:spPr>
                <a:xfrm>
                  <a:off x="1085850" y="133350"/>
                  <a:ext cx="114300" cy="114300"/>
                </a:xfrm>
                <a:prstGeom prst="ellipse">
                  <a:avLst/>
                </a:prstGeom>
                <a:solidFill>
                  <a:srgbClr val="FFFFFF"/>
                </a:solidFill>
                <a:ln cap="flat" cmpd="sng" w="14300">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6" name="Google Shape;746;p31"/>
                <p:cNvSpPr/>
                <p:nvPr/>
              </p:nvSpPr>
              <p:spPr>
                <a:xfrm>
                  <a:off x="133350" y="800100"/>
                  <a:ext cx="114300" cy="114300"/>
                </a:xfrm>
                <a:prstGeom prst="ellipse">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7" name="Google Shape;747;p31"/>
                <p:cNvSpPr/>
                <p:nvPr/>
              </p:nvSpPr>
              <p:spPr>
                <a:xfrm>
                  <a:off x="1085850" y="800100"/>
                  <a:ext cx="114300" cy="114300"/>
                </a:xfrm>
                <a:prstGeom prst="ellipse">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748" name="Google Shape;748;p31"/>
                <p:cNvCxnSpPr/>
                <p:nvPr/>
              </p:nvCxnSpPr>
              <p:spPr>
                <a:xfrm>
                  <a:off x="238125" y="219075"/>
                  <a:ext cx="95400" cy="142800"/>
                </a:xfrm>
                <a:prstGeom prst="straightConnector1">
                  <a:avLst/>
                </a:prstGeom>
                <a:solidFill>
                  <a:srgbClr val="FFFFFF"/>
                </a:solidFill>
                <a:ln cap="flat" cmpd="sng" w="9525">
                  <a:solidFill>
                    <a:srgbClr val="1D4ED8"/>
                  </a:solidFill>
                  <a:prstDash val="solid"/>
                  <a:round/>
                  <a:headEnd len="sm" w="sm" type="none"/>
                  <a:tailEnd len="sm" w="sm" type="none"/>
                </a:ln>
              </p:spPr>
            </p:cxnSp>
            <p:cxnSp>
              <p:nvCxnSpPr>
                <p:cNvPr id="749" name="Google Shape;749;p31"/>
                <p:cNvCxnSpPr/>
                <p:nvPr/>
              </p:nvCxnSpPr>
              <p:spPr>
                <a:xfrm flipH="1">
                  <a:off x="952575" y="219075"/>
                  <a:ext cx="142800" cy="142800"/>
                </a:xfrm>
                <a:prstGeom prst="straightConnector1">
                  <a:avLst/>
                </a:prstGeom>
                <a:solidFill>
                  <a:srgbClr val="FFFFFF"/>
                </a:solidFill>
                <a:ln cap="flat" cmpd="sng" w="9525">
                  <a:solidFill>
                    <a:srgbClr val="D9381E"/>
                  </a:solidFill>
                  <a:prstDash val="solid"/>
                  <a:round/>
                  <a:headEnd len="sm" w="sm" type="none"/>
                  <a:tailEnd len="sm" w="sm" type="none"/>
                </a:ln>
              </p:spPr>
            </p:cxnSp>
            <p:cxnSp>
              <p:nvCxnSpPr>
                <p:cNvPr id="750" name="Google Shape;750;p31"/>
                <p:cNvCxnSpPr/>
                <p:nvPr/>
              </p:nvCxnSpPr>
              <p:spPr>
                <a:xfrm flipH="1" rot="10800000">
                  <a:off x="238125" y="685875"/>
                  <a:ext cx="95400" cy="142800"/>
                </a:xfrm>
                <a:prstGeom prst="straightConnector1">
                  <a:avLst/>
                </a:prstGeom>
                <a:solidFill>
                  <a:srgbClr val="FFFFFF"/>
                </a:solidFill>
                <a:ln cap="flat" cmpd="sng" w="9525">
                  <a:solidFill>
                    <a:srgbClr val="111315"/>
                  </a:solidFill>
                  <a:prstDash val="solid"/>
                  <a:round/>
                  <a:headEnd len="sm" w="sm" type="none"/>
                  <a:tailEnd len="sm" w="sm" type="none"/>
                </a:ln>
              </p:spPr>
            </p:cxnSp>
            <p:cxnSp>
              <p:nvCxnSpPr>
                <p:cNvPr id="751" name="Google Shape;751;p31"/>
                <p:cNvCxnSpPr/>
                <p:nvPr/>
              </p:nvCxnSpPr>
              <p:spPr>
                <a:xfrm rot="10800000">
                  <a:off x="952575" y="685875"/>
                  <a:ext cx="142800" cy="142800"/>
                </a:xfrm>
                <a:prstGeom prst="straightConnector1">
                  <a:avLst/>
                </a:prstGeom>
                <a:solidFill>
                  <a:srgbClr val="FFFFFF"/>
                </a:solidFill>
                <a:ln cap="flat" cmpd="sng" w="9525">
                  <a:solidFill>
                    <a:srgbClr val="111315"/>
                  </a:solidFill>
                  <a:prstDash val="solid"/>
                  <a:round/>
                  <a:headEnd len="sm" w="sm" type="none"/>
                  <a:tailEnd len="sm" w="sm" type="none"/>
                </a:ln>
              </p:spPr>
            </p:cxnSp>
          </p:grpSp>
        </p:grpSp>
        <p:grpSp>
          <p:nvGrpSpPr>
            <p:cNvPr id="752" name="Google Shape;752;p31"/>
            <p:cNvGrpSpPr/>
            <p:nvPr/>
          </p:nvGrpSpPr>
          <p:grpSpPr>
            <a:xfrm>
              <a:off x="5429250" y="1428750"/>
              <a:ext cx="3143400" cy="2286000"/>
              <a:chOff x="0" y="0"/>
              <a:chExt cx="3143400" cy="2286000"/>
            </a:xfrm>
          </p:grpSpPr>
          <p:sp>
            <p:nvSpPr>
              <p:cNvPr id="753" name="Google Shape;753;p31"/>
              <p:cNvSpPr/>
              <p:nvPr/>
            </p:nvSpPr>
            <p:spPr>
              <a:xfrm>
                <a:off x="0" y="0"/>
                <a:ext cx="3143400" cy="22860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754" name="Google Shape;754;p31"/>
              <p:cNvCxnSpPr/>
              <p:nvPr/>
            </p:nvCxnSpPr>
            <p:spPr>
              <a:xfrm>
                <a:off x="0" y="342900"/>
                <a:ext cx="3143400" cy="0"/>
              </a:xfrm>
              <a:prstGeom prst="straightConnector1">
                <a:avLst/>
              </a:prstGeom>
              <a:solidFill>
                <a:srgbClr val="FFFFFF"/>
              </a:solidFill>
              <a:ln cap="flat" cmpd="sng" w="9525">
                <a:solidFill>
                  <a:srgbClr val="E9ECEF"/>
                </a:solidFill>
                <a:prstDash val="solid"/>
                <a:round/>
                <a:headEnd len="sm" w="sm" type="none"/>
                <a:tailEnd len="sm" w="sm" type="none"/>
              </a:ln>
            </p:spPr>
          </p:cxnSp>
          <p:sp>
            <p:nvSpPr>
              <p:cNvPr id="755" name="Google Shape;755;p31"/>
              <p:cNvSpPr txBox="1"/>
              <p:nvPr/>
            </p:nvSpPr>
            <p:spPr>
              <a:xfrm>
                <a:off x="152400" y="95250"/>
                <a:ext cx="28386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1D4ED8"/>
                    </a:solidFill>
                    <a:latin typeface="JetBrains Mono"/>
                    <a:ea typeface="JetBrains Mono"/>
                    <a:cs typeface="JetBrains Mono"/>
                    <a:sym typeface="JetBrains Mono"/>
                  </a:rPr>
                  <a:t>03 / RECOMMENDED COMMAND SEQUENCE</a:t>
                </a:r>
                <a:endParaRPr b="0" sz="750">
                  <a:solidFill>
                    <a:srgbClr val="1D4ED8"/>
                  </a:solidFill>
                  <a:latin typeface="JetBrains Mono"/>
                  <a:ea typeface="JetBrains Mono"/>
                  <a:cs typeface="JetBrains Mono"/>
                  <a:sym typeface="JetBrains Mono"/>
                </a:endParaRPr>
              </a:p>
            </p:txBody>
          </p:sp>
          <p:sp>
            <p:nvSpPr>
              <p:cNvPr id="756" name="Google Shape;756;p31"/>
              <p:cNvSpPr txBox="1"/>
              <p:nvPr/>
            </p:nvSpPr>
            <p:spPr>
              <a:xfrm>
                <a:off x="152400" y="457200"/>
                <a:ext cx="28386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050">
                    <a:solidFill>
                      <a:srgbClr val="111315"/>
                    </a:solidFill>
                    <a:latin typeface="Inter"/>
                    <a:ea typeface="Inter"/>
                    <a:cs typeface="Inter"/>
                    <a:sym typeface="Inter"/>
                  </a:rPr>
                  <a:t>Recommended Command Sequence:</a:t>
                </a:r>
                <a:endParaRPr b="1" sz="1050">
                  <a:solidFill>
                    <a:srgbClr val="111315"/>
                  </a:solidFill>
                  <a:latin typeface="Inter"/>
                  <a:ea typeface="Inter"/>
                  <a:cs typeface="Inter"/>
                  <a:sym typeface="Inter"/>
                </a:endParaRPr>
              </a:p>
              <a:p>
                <a:pPr indent="0" lvl="0" marL="0" rtl="0" algn="l">
                  <a:spcBef>
                    <a:spcPts val="900"/>
                  </a:spcBef>
                  <a:spcAft>
                    <a:spcPts val="0"/>
                  </a:spcAft>
                  <a:buNone/>
                </a:pPr>
                <a:r>
                  <a:rPr b="1" lang="en-GB" sz="900">
                    <a:solidFill>
                      <a:srgbClr val="D9381E"/>
                    </a:solidFill>
                    <a:latin typeface="JetBrains Mono"/>
                    <a:ea typeface="JetBrains Mono"/>
                    <a:cs typeface="JetBrains Mono"/>
                    <a:sym typeface="JetBrains Mono"/>
                  </a:rPr>
                  <a:t>1.</a:t>
                </a:r>
                <a:r>
                  <a:rPr b="0" lang="en-GB" sz="1050">
                    <a:solidFill>
                      <a:srgbClr val="111315"/>
                    </a:solidFill>
                    <a:latin typeface="Inter"/>
                    <a:ea typeface="Inter"/>
                    <a:cs typeface="Inter"/>
                    <a:sym typeface="Inter"/>
                  </a:rPr>
                  <a:t> </a:t>
                </a:r>
                <a:r>
                  <a:rPr lang="en-GB" sz="1050">
                    <a:solidFill>
                      <a:srgbClr val="111315"/>
                    </a:solidFill>
                    <a:latin typeface="Inter"/>
                    <a:ea typeface="Inter"/>
                    <a:cs typeface="Inter"/>
                    <a:sym typeface="Inter"/>
                  </a:rPr>
                  <a:t>Radial Profile</a:t>
                </a:r>
                <a:endParaRPr b="0" sz="1050">
                  <a:solidFill>
                    <a:srgbClr val="111315"/>
                  </a:solidFill>
                  <a:latin typeface="Inter"/>
                  <a:ea typeface="Inter"/>
                  <a:cs typeface="Inter"/>
                  <a:sym typeface="Inter"/>
                </a:endParaRPr>
              </a:p>
              <a:p>
                <a:pPr indent="0" lvl="0" marL="0" rtl="0" algn="l">
                  <a:spcBef>
                    <a:spcPts val="600"/>
                  </a:spcBef>
                  <a:spcAft>
                    <a:spcPts val="0"/>
                  </a:spcAft>
                  <a:buNone/>
                </a:pPr>
                <a:r>
                  <a:rPr b="1" lang="en-GB" sz="900">
                    <a:solidFill>
                      <a:srgbClr val="D9381E"/>
                    </a:solidFill>
                    <a:latin typeface="JetBrains Mono"/>
                    <a:ea typeface="JetBrains Mono"/>
                    <a:cs typeface="JetBrains Mono"/>
                    <a:sym typeface="JetBrains Mono"/>
                  </a:rPr>
                  <a:t>2.</a:t>
                </a:r>
                <a:r>
                  <a:rPr b="0" lang="en-GB" sz="1050">
                    <a:solidFill>
                      <a:srgbClr val="111315"/>
                    </a:solidFill>
                    <a:latin typeface="Inter"/>
                    <a:ea typeface="Inter"/>
                    <a:cs typeface="Inter"/>
                    <a:sym typeface="Inter"/>
                  </a:rPr>
                  <a:t> </a:t>
                </a:r>
                <a:r>
                  <a:rPr lang="en-GB" sz="1050">
                    <a:solidFill>
                      <a:srgbClr val="111315"/>
                    </a:solidFill>
                    <a:latin typeface="Inter"/>
                    <a:ea typeface="Inter"/>
                    <a:cs typeface="Inter"/>
                    <a:sym typeface="Inter"/>
                  </a:rPr>
                  <a:t>Revolve</a:t>
                </a:r>
                <a:endParaRPr b="0" sz="1050">
                  <a:solidFill>
                    <a:srgbClr val="111315"/>
                  </a:solidFill>
                  <a:latin typeface="Inter"/>
                  <a:ea typeface="Inter"/>
                  <a:cs typeface="Inter"/>
                  <a:sym typeface="Inter"/>
                </a:endParaRPr>
              </a:p>
              <a:p>
                <a:pPr indent="0" lvl="0" marL="0" rtl="0" algn="l">
                  <a:spcBef>
                    <a:spcPts val="600"/>
                  </a:spcBef>
                  <a:spcAft>
                    <a:spcPts val="0"/>
                  </a:spcAft>
                  <a:buNone/>
                </a:pPr>
                <a:r>
                  <a:rPr b="1" lang="en-GB" sz="900">
                    <a:solidFill>
                      <a:srgbClr val="D9381E"/>
                    </a:solidFill>
                    <a:latin typeface="JetBrains Mono"/>
                    <a:ea typeface="JetBrains Mono"/>
                    <a:cs typeface="JetBrains Mono"/>
                    <a:sym typeface="JetBrains Mono"/>
                  </a:rPr>
                  <a:t>3.</a:t>
                </a:r>
                <a:r>
                  <a:rPr b="0" lang="en-GB" sz="1050">
                    <a:solidFill>
                      <a:srgbClr val="111315"/>
                    </a:solidFill>
                    <a:latin typeface="Inter"/>
                    <a:ea typeface="Inter"/>
                    <a:cs typeface="Inter"/>
                    <a:sym typeface="Inter"/>
                  </a:rPr>
                  <a:t> </a:t>
                </a:r>
                <a:r>
                  <a:rPr lang="en-GB" sz="1050">
                    <a:solidFill>
                      <a:srgbClr val="111315"/>
                    </a:solidFill>
                    <a:latin typeface="Inter"/>
                    <a:ea typeface="Inter"/>
                    <a:cs typeface="Inter"/>
                    <a:sym typeface="Inter"/>
                  </a:rPr>
                  <a:t>Cap</a:t>
                </a:r>
                <a:endParaRPr b="0" sz="1050">
                  <a:solidFill>
                    <a:srgbClr val="111315"/>
                  </a:solidFill>
                  <a:latin typeface="Inter"/>
                  <a:ea typeface="Inter"/>
                  <a:cs typeface="Inter"/>
                  <a:sym typeface="Inter"/>
                </a:endParaRPr>
              </a:p>
              <a:p>
                <a:pPr indent="0" lvl="0" marL="0" rtl="0" algn="l">
                  <a:spcBef>
                    <a:spcPts val="600"/>
                  </a:spcBef>
                  <a:spcAft>
                    <a:spcPts val="600"/>
                  </a:spcAft>
                  <a:buNone/>
                </a:pPr>
                <a:r>
                  <a:rPr b="1" lang="en-GB" sz="900">
                    <a:solidFill>
                      <a:srgbClr val="D9381E"/>
                    </a:solidFill>
                    <a:latin typeface="JetBrains Mono"/>
                    <a:ea typeface="JetBrains Mono"/>
                    <a:cs typeface="JetBrains Mono"/>
                    <a:sym typeface="JetBrains Mono"/>
                  </a:rPr>
                  <a:t>4.</a:t>
                </a:r>
                <a:r>
                  <a:rPr b="0" lang="en-GB" sz="1050">
                    <a:solidFill>
                      <a:srgbClr val="111315"/>
                    </a:solidFill>
                    <a:latin typeface="Inter"/>
                    <a:ea typeface="Inter"/>
                    <a:cs typeface="Inter"/>
                    <a:sym typeface="Inter"/>
                  </a:rPr>
                  <a:t> </a:t>
                </a:r>
                <a:r>
                  <a:rPr lang="en-GB" sz="1050">
                    <a:solidFill>
                      <a:srgbClr val="111315"/>
                    </a:solidFill>
                    <a:latin typeface="Inter"/>
                    <a:ea typeface="Inter"/>
                    <a:cs typeface="Inter"/>
                    <a:sym typeface="Inter"/>
                  </a:rPr>
                  <a:t>Check</a:t>
                </a:r>
                <a:endParaRPr b="0" sz="1050">
                  <a:solidFill>
                    <a:srgbClr val="111315"/>
                  </a:solidFill>
                  <a:latin typeface="Inter"/>
                  <a:ea typeface="Inter"/>
                  <a:cs typeface="Inter"/>
                  <a:sym typeface="Inter"/>
                </a:endParaRPr>
              </a:p>
            </p:txBody>
          </p:sp>
        </p:grpSp>
      </p:grpSp>
      <p:sp>
        <p:nvSpPr>
          <p:cNvPr id="757" name="Google Shape;757;p31"/>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0" i="0" lang="en-GB" sz="750" u="none" strike="noStrike">
                <a:solidFill>
                  <a:srgbClr val="5A626A"/>
                </a:solidFill>
                <a:latin typeface="JetBrains Mono"/>
                <a:ea typeface="JetBrains Mono"/>
                <a:cs typeface="JetBrains Mono"/>
                <a:sym typeface="JetBrains Mono"/>
              </a:rPr>
              <a:t>Sequential command retrieval via Model Context Protocol (MCP)</a:t>
            </a:r>
            <a:endParaRPr b="0" i="0" sz="750" u="none" strike="noStrike">
              <a:solidFill>
                <a:srgbClr val="5A626A"/>
              </a:solidFill>
              <a:latin typeface="JetBrains Mono"/>
              <a:ea typeface="JetBrains Mono"/>
              <a:cs typeface="JetBrains Mono"/>
              <a:sym typeface="JetBrains Mono"/>
            </a:endParaRPr>
          </a:p>
        </p:txBody>
      </p:sp>
      <p:grpSp>
        <p:nvGrpSpPr>
          <p:cNvPr id="758" name="Google Shape;758;p31"/>
          <p:cNvGrpSpPr/>
          <p:nvPr/>
        </p:nvGrpSpPr>
        <p:grpSpPr>
          <a:xfrm>
            <a:off x="381000" y="4762500"/>
            <a:ext cx="8382000" cy="285750"/>
            <a:chOff x="381000" y="4762500"/>
            <a:chExt cx="8382000" cy="285750"/>
          </a:xfrm>
        </p:grpSpPr>
        <p:cxnSp>
          <p:nvCxnSpPr>
            <p:cNvPr id="759" name="Google Shape;759;p31"/>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760" name="Google Shape;760;p31"/>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pic>
        <p:nvPicPr>
          <p:cNvPr id="765" name="Google Shape;765;p32" title="02-command-selection.mp4">
            <a:hlinkClick r:id="rId3"/>
          </p:cNvPr>
          <p:cNvPicPr preferRelativeResize="0"/>
          <p:nvPr/>
        </p:nvPicPr>
        <p:blipFill>
          <a:blip r:embed="rId4">
            <a:alphaModFix/>
          </a:blip>
          <a:stretch>
            <a:fillRect/>
          </a:stretch>
        </p:blipFill>
        <p:spPr>
          <a:xfrm>
            <a:off x="152400" y="152400"/>
            <a:ext cx="8602133"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5"/>
                                        </p:tgtEl>
                                        <p:attrNameLst>
                                          <p:attrName>style.visibility</p:attrName>
                                        </p:attrNameLst>
                                      </p:cBhvr>
                                      <p:to>
                                        <p:strVal val="visible"/>
                                      </p:to>
                                    </p:set>
                                    <p:animEffect filter="fade" transition="in">
                                      <p:cBhvr>
                                        <p:cTn dur="1000"/>
                                        <p:tgtEl>
                                          <p:spTgt spid="7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33"/>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2220" u="none" strike="noStrike">
                <a:solidFill>
                  <a:srgbClr val="111315"/>
                </a:solidFill>
                <a:latin typeface="Space Grotesk"/>
                <a:ea typeface="Space Grotesk"/>
                <a:cs typeface="Space Grotesk"/>
                <a:sym typeface="Space Grotesk"/>
              </a:rPr>
              <a:t>System Example 1B: Direct 3D Coordinate Output</a:t>
            </a:r>
            <a:endParaRPr b="1" i="0" sz="2220" u="none" strike="noStrike">
              <a:solidFill>
                <a:srgbClr val="111315"/>
              </a:solidFill>
              <a:latin typeface="Space Grotesk"/>
              <a:ea typeface="Space Grotesk"/>
              <a:cs typeface="Space Grotesk"/>
              <a:sym typeface="Space Grotesk"/>
            </a:endParaRPr>
          </a:p>
        </p:txBody>
      </p:sp>
      <p:sp>
        <p:nvSpPr>
          <p:cNvPr id="771" name="Google Shape;771;p33"/>
          <p:cNvSpPr/>
          <p:nvPr/>
        </p:nvSpPr>
        <p:spPr>
          <a:xfrm>
            <a:off x="381000" y="1143000"/>
            <a:ext cx="3429000" cy="3429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2" name="Google Shape;772;p33"/>
          <p:cNvSpPr txBox="1"/>
          <p:nvPr/>
        </p:nvSpPr>
        <p:spPr>
          <a:xfrm>
            <a:off x="381000" y="1143000"/>
            <a:ext cx="34290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50">
                <a:solidFill>
                  <a:srgbClr val="111315"/>
                </a:solidFill>
                <a:latin typeface="Inter"/>
                <a:ea typeface="Inter"/>
                <a:cs typeface="Inter"/>
                <a:sym typeface="Inter"/>
              </a:rPr>
              <a:t>Prompt: "Build Habitat 67"</a:t>
            </a:r>
            <a:endParaRPr/>
          </a:p>
        </p:txBody>
      </p:sp>
      <p:grpSp>
        <p:nvGrpSpPr>
          <p:cNvPr id="773" name="Google Shape;773;p33"/>
          <p:cNvGrpSpPr/>
          <p:nvPr/>
        </p:nvGrpSpPr>
        <p:grpSpPr>
          <a:xfrm>
            <a:off x="2057400" y="1504950"/>
            <a:ext cx="76200" cy="247800"/>
            <a:chOff x="-38100" y="0"/>
            <a:chExt cx="76200" cy="247800"/>
          </a:xfrm>
        </p:grpSpPr>
        <p:cxnSp>
          <p:nvCxnSpPr>
            <p:cNvPr id="774" name="Google Shape;774;p33"/>
            <p:cNvCxnSpPr/>
            <p:nvPr/>
          </p:nvCxnSpPr>
          <p:spPr>
            <a:xfrm>
              <a:off x="0" y="0"/>
              <a:ext cx="0" cy="19050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775" name="Google Shape;775;p33"/>
            <p:cNvSpPr/>
            <p:nvPr/>
          </p:nvSpPr>
          <p:spPr>
            <a:xfrm>
              <a:off x="-38100" y="190500"/>
              <a:ext cx="76200" cy="57300"/>
            </a:xfrm>
            <a:custGeom>
              <a:rect b="b" l="l" r="r" t="t"/>
              <a:pathLst>
                <a:path extrusionOk="0" h="120000" w="120000">
                  <a:moveTo>
                    <a:pt x="0" y="0"/>
                  </a:moveTo>
                  <a:lnTo>
                    <a:pt x="60000" y="120000"/>
                  </a:lnTo>
                  <a:lnTo>
                    <a:pt x="120000" y="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76" name="Google Shape;776;p33"/>
          <p:cNvSpPr/>
          <p:nvPr/>
        </p:nvSpPr>
        <p:spPr>
          <a:xfrm>
            <a:off x="381000" y="1790700"/>
            <a:ext cx="3429000" cy="3429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7" name="Google Shape;777;p33"/>
          <p:cNvSpPr txBox="1"/>
          <p:nvPr/>
        </p:nvSpPr>
        <p:spPr>
          <a:xfrm>
            <a:off x="381000" y="1790700"/>
            <a:ext cx="34290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1050" u="none" strike="noStrike">
                <a:solidFill>
                  <a:srgbClr val="111315"/>
                </a:solidFill>
                <a:latin typeface="Inter"/>
                <a:ea typeface="Inter"/>
                <a:cs typeface="Inter"/>
                <a:sym typeface="Inter"/>
              </a:rPr>
              <a:t>Model generates 3D coordinate values</a:t>
            </a:r>
            <a:endParaRPr b="1" i="0" sz="1050" u="none" strike="noStrike">
              <a:solidFill>
                <a:srgbClr val="111315"/>
              </a:solidFill>
              <a:latin typeface="Inter"/>
              <a:ea typeface="Inter"/>
              <a:cs typeface="Inter"/>
              <a:sym typeface="Inter"/>
            </a:endParaRPr>
          </a:p>
        </p:txBody>
      </p:sp>
      <p:grpSp>
        <p:nvGrpSpPr>
          <p:cNvPr id="778" name="Google Shape;778;p33"/>
          <p:cNvGrpSpPr/>
          <p:nvPr/>
        </p:nvGrpSpPr>
        <p:grpSpPr>
          <a:xfrm>
            <a:off x="2057400" y="2152650"/>
            <a:ext cx="76200" cy="247800"/>
            <a:chOff x="-38100" y="0"/>
            <a:chExt cx="76200" cy="247800"/>
          </a:xfrm>
        </p:grpSpPr>
        <p:cxnSp>
          <p:nvCxnSpPr>
            <p:cNvPr id="779" name="Google Shape;779;p33"/>
            <p:cNvCxnSpPr/>
            <p:nvPr/>
          </p:nvCxnSpPr>
          <p:spPr>
            <a:xfrm>
              <a:off x="0" y="0"/>
              <a:ext cx="0" cy="19050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780" name="Google Shape;780;p33"/>
            <p:cNvSpPr/>
            <p:nvPr/>
          </p:nvSpPr>
          <p:spPr>
            <a:xfrm>
              <a:off x="-38100" y="190500"/>
              <a:ext cx="76200" cy="57300"/>
            </a:xfrm>
            <a:custGeom>
              <a:rect b="b" l="l" r="r" t="t"/>
              <a:pathLst>
                <a:path extrusionOk="0" h="120000" w="120000">
                  <a:moveTo>
                    <a:pt x="0" y="0"/>
                  </a:moveTo>
                  <a:lnTo>
                    <a:pt x="60000" y="120000"/>
                  </a:lnTo>
                  <a:lnTo>
                    <a:pt x="120000" y="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81" name="Google Shape;781;p33"/>
          <p:cNvSpPr/>
          <p:nvPr/>
        </p:nvSpPr>
        <p:spPr>
          <a:xfrm>
            <a:off x="381000" y="2438400"/>
            <a:ext cx="3429000" cy="342900"/>
          </a:xfrm>
          <a:prstGeom prst="rect">
            <a:avLst/>
          </a:prstGeom>
          <a:solidFill>
            <a:srgbClr val="FFFFFF"/>
          </a:solidFill>
          <a:ln cap="flat" cmpd="sng" w="14300">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2" name="Google Shape;782;p33"/>
          <p:cNvSpPr txBox="1"/>
          <p:nvPr/>
        </p:nvSpPr>
        <p:spPr>
          <a:xfrm>
            <a:off x="381000" y="2438400"/>
            <a:ext cx="34290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GB" sz="1050">
                <a:solidFill>
                  <a:srgbClr val="D9381E"/>
                </a:solidFill>
                <a:latin typeface="Inter"/>
                <a:ea typeface="Inter"/>
                <a:cs typeface="Inter"/>
                <a:sym typeface="Inter"/>
              </a:rPr>
              <a:t>Generated Mesh Checks</a:t>
            </a:r>
            <a:endParaRPr b="1" i="0" sz="1050" u="none" strike="noStrike">
              <a:solidFill>
                <a:srgbClr val="D9381E"/>
              </a:solidFill>
              <a:latin typeface="Inter"/>
              <a:ea typeface="Inter"/>
              <a:cs typeface="Inter"/>
              <a:sym typeface="Inter"/>
            </a:endParaRPr>
          </a:p>
        </p:txBody>
      </p:sp>
      <p:sp>
        <p:nvSpPr>
          <p:cNvPr id="783" name="Google Shape;783;p33"/>
          <p:cNvSpPr txBox="1"/>
          <p:nvPr/>
        </p:nvSpPr>
        <p:spPr>
          <a:xfrm>
            <a:off x="381000" y="2933700"/>
            <a:ext cx="3429000" cy="1333500"/>
          </a:xfrm>
          <a:prstGeom prst="rect">
            <a:avLst/>
          </a:prstGeom>
          <a:noFill/>
          <a:ln>
            <a:noFill/>
          </a:ln>
        </p:spPr>
        <p:txBody>
          <a:bodyPr anchorCtr="0" anchor="t" bIns="0" lIns="0" spcFirstLastPara="1" rIns="0" wrap="square" tIns="0">
            <a:noAutofit/>
          </a:bodyPr>
          <a:lstStyle/>
          <a:p>
            <a:pPr indent="0" lvl="0" marL="457200" marR="0" rtl="0" algn="l">
              <a:lnSpc>
                <a:spcPct val="100000"/>
              </a:lnSpc>
              <a:spcBef>
                <a:spcPts val="0"/>
              </a:spcBef>
              <a:spcAft>
                <a:spcPts val="0"/>
              </a:spcAft>
              <a:buNone/>
            </a:pPr>
            <a:r>
              <a:rPr lang="en-GB" sz="893">
                <a:solidFill>
                  <a:srgbClr val="D9381E"/>
                </a:solidFill>
                <a:latin typeface="Inter"/>
                <a:ea typeface="Inter"/>
                <a:cs typeface="Inter"/>
                <a:sym typeface="Inter"/>
              </a:rPr>
              <a:t>• This run produces 126 assumed modules in one closed mesh.</a:t>
            </a:r>
            <a:endParaRPr b="0" i="0" sz="893" u="none" strike="noStrike">
              <a:solidFill>
                <a:srgbClr val="D9381E"/>
              </a:solidFill>
              <a:latin typeface="Inter"/>
              <a:ea typeface="Inter"/>
              <a:cs typeface="Inter"/>
              <a:sym typeface="Inter"/>
            </a:endParaRPr>
          </a:p>
          <a:p>
            <a:pPr indent="0" lvl="0" marL="457200" marR="0" rtl="0" algn="l">
              <a:lnSpc>
                <a:spcPct val="100000"/>
              </a:lnSpc>
              <a:spcBef>
                <a:spcPts val="900"/>
              </a:spcBef>
              <a:spcAft>
                <a:spcPts val="0"/>
              </a:spcAft>
              <a:buNone/>
            </a:pPr>
            <a:r>
              <a:rPr lang="en-GB" sz="893">
                <a:solidFill>
                  <a:srgbClr val="D9381E"/>
                </a:solidFill>
                <a:latin typeface="Inter"/>
                <a:ea typeface="Inter"/>
                <a:cs typeface="Inter"/>
                <a:sym typeface="Inter"/>
              </a:rPr>
              <a:t>• Module dimensions and the stepped layout are assumptions.</a:t>
            </a:r>
            <a:endParaRPr b="0" i="0" sz="893" u="none" strike="noStrike">
              <a:solidFill>
                <a:srgbClr val="D9381E"/>
              </a:solidFill>
              <a:latin typeface="Inter"/>
              <a:ea typeface="Inter"/>
              <a:cs typeface="Inter"/>
              <a:sym typeface="Inter"/>
            </a:endParaRPr>
          </a:p>
          <a:p>
            <a:pPr indent="0" lvl="0" marL="457200" marR="0" rtl="0" algn="l">
              <a:lnSpc>
                <a:spcPct val="100000"/>
              </a:lnSpc>
              <a:spcBef>
                <a:spcPts val="900"/>
              </a:spcBef>
              <a:spcAft>
                <a:spcPts val="900"/>
              </a:spcAft>
              <a:buNone/>
            </a:pPr>
            <a:r>
              <a:rPr lang="en-GB" sz="893">
                <a:solidFill>
                  <a:srgbClr val="D9381E"/>
                </a:solidFill>
                <a:latin typeface="Inter"/>
                <a:ea typeface="Inter"/>
                <a:cs typeface="Inter"/>
                <a:sym typeface="Inter"/>
              </a:rPr>
              <a:t>• A valid mesh still needs comparison with the building.</a:t>
            </a:r>
            <a:endParaRPr b="0" i="0" sz="893" u="none" strike="noStrike">
              <a:solidFill>
                <a:srgbClr val="D9381E"/>
              </a:solidFill>
              <a:latin typeface="Inter"/>
              <a:ea typeface="Inter"/>
              <a:cs typeface="Inter"/>
              <a:sym typeface="Inter"/>
            </a:endParaRPr>
          </a:p>
        </p:txBody>
      </p:sp>
      <p:grpSp>
        <p:nvGrpSpPr>
          <p:cNvPr id="784" name="Google Shape;784;p33"/>
          <p:cNvGrpSpPr/>
          <p:nvPr/>
        </p:nvGrpSpPr>
        <p:grpSpPr>
          <a:xfrm>
            <a:off x="4181475" y="1133475"/>
            <a:ext cx="4591200" cy="2590800"/>
            <a:chOff x="-9525" y="-9525"/>
            <a:chExt cx="4591200" cy="2590800"/>
          </a:xfrm>
        </p:grpSpPr>
        <p:pic>
          <p:nvPicPr>
            <p:cNvPr id="785" name="Google Shape;785;p33"/>
            <p:cNvPicPr preferRelativeResize="0"/>
            <p:nvPr/>
          </p:nvPicPr>
          <p:blipFill rotWithShape="1">
            <a:blip r:embed="rId3">
              <a:alphaModFix/>
            </a:blip>
            <a:srcRect b="0" l="0" r="0" t="0"/>
            <a:stretch/>
          </p:blipFill>
          <p:spPr>
            <a:xfrm>
              <a:off x="-9525" y="-9525"/>
              <a:ext cx="4591200" cy="2590800"/>
            </a:xfrm>
            <a:prstGeom prst="rect">
              <a:avLst/>
            </a:prstGeom>
            <a:noFill/>
            <a:ln>
              <a:noFill/>
            </a:ln>
          </p:spPr>
        </p:pic>
        <p:cxnSp>
          <p:nvCxnSpPr>
            <p:cNvPr id="786" name="Google Shape;786;p33"/>
            <p:cNvCxnSpPr/>
            <p:nvPr/>
          </p:nvCxnSpPr>
          <p:spPr>
            <a:xfrm>
              <a:off x="0" y="0"/>
              <a:ext cx="4572000" cy="2571900"/>
            </a:xfrm>
            <a:prstGeom prst="straightConnector1">
              <a:avLst/>
            </a:prstGeom>
            <a:solidFill>
              <a:srgbClr val="FFFFFF"/>
            </a:solidFill>
            <a:ln cap="flat" cmpd="sng" w="9525">
              <a:solidFill>
                <a:srgbClr val="E9ECEF"/>
              </a:solidFill>
              <a:prstDash val="solid"/>
              <a:round/>
              <a:headEnd len="sm" w="sm" type="none"/>
              <a:tailEnd len="sm" w="sm" type="none"/>
            </a:ln>
          </p:spPr>
        </p:cxnSp>
        <p:cxnSp>
          <p:nvCxnSpPr>
            <p:cNvPr id="787" name="Google Shape;787;p33"/>
            <p:cNvCxnSpPr/>
            <p:nvPr/>
          </p:nvCxnSpPr>
          <p:spPr>
            <a:xfrm flipH="1">
              <a:off x="0" y="0"/>
              <a:ext cx="4572000" cy="2571900"/>
            </a:xfrm>
            <a:prstGeom prst="straightConnector1">
              <a:avLst/>
            </a:prstGeom>
            <a:solidFill>
              <a:srgbClr val="FFFFFF"/>
            </a:solidFill>
            <a:ln cap="flat" cmpd="sng" w="9525">
              <a:solidFill>
                <a:srgbClr val="E9ECEF"/>
              </a:solidFill>
              <a:prstDash val="solid"/>
              <a:round/>
              <a:headEnd len="sm" w="sm" type="none"/>
              <a:tailEnd len="sm" w="sm" type="none"/>
            </a:ln>
          </p:spPr>
        </p:cxnSp>
        <p:sp>
          <p:nvSpPr>
            <p:cNvPr id="788" name="Google Shape;788;p33"/>
            <p:cNvSpPr/>
            <p:nvPr/>
          </p:nvSpPr>
          <p:spPr>
            <a:xfrm>
              <a:off x="381000" y="1047750"/>
              <a:ext cx="3810000" cy="476400"/>
            </a:xfrm>
            <a:prstGeom prst="rect">
              <a:avLst/>
            </a:prstGeom>
            <a:solidFill>
              <a:srgbClr val="FFFFF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9" name="Google Shape;789;p33"/>
            <p:cNvSpPr txBox="1"/>
            <p:nvPr/>
          </p:nvSpPr>
          <p:spPr>
            <a:xfrm>
              <a:off x="428625" y="1047750"/>
              <a:ext cx="3714900" cy="47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GB" sz="750">
                  <a:solidFill>
                    <a:srgbClr val="111315"/>
                  </a:solidFill>
                  <a:latin typeface="JetBrains Mono"/>
                  <a:ea typeface="JetBrains Mono"/>
                  <a:cs typeface="JetBrains Mono"/>
                  <a:sym typeface="JetBrains Mono"/>
                </a:rPr>
                <a:t>OBS demo: 03-habitat-prompt.mp4</a:t>
              </a:r>
              <a:endParaRPr b="0" i="0" sz="750" u="none" strike="noStrike">
                <a:solidFill>
                  <a:srgbClr val="111315"/>
                </a:solidFill>
                <a:latin typeface="JetBrains Mono"/>
                <a:ea typeface="JetBrains Mono"/>
                <a:cs typeface="JetBrains Mono"/>
                <a:sym typeface="JetBrains Mono"/>
              </a:endParaRPr>
            </a:p>
          </p:txBody>
        </p:sp>
      </p:grpSp>
      <p:sp>
        <p:nvSpPr>
          <p:cNvPr id="790" name="Google Shape;790;p33"/>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GB" sz="750">
                <a:solidFill>
                  <a:srgbClr val="5A626A"/>
                </a:solidFill>
                <a:latin typeface="JetBrains Mono"/>
                <a:ea typeface="JetBrains Mono"/>
                <a:cs typeface="JetBrains Mono"/>
                <a:sym typeface="JetBrains Mono"/>
              </a:rPr>
              <a:t>Reference: Safdie Architects, Habitat 67. Approximate massing.</a:t>
            </a:r>
            <a:endParaRPr b="0" sz="750">
              <a:solidFill>
                <a:srgbClr val="5A626A"/>
              </a:solidFill>
              <a:latin typeface="JetBrains Mono"/>
              <a:ea typeface="JetBrains Mono"/>
              <a:cs typeface="JetBrains Mono"/>
              <a:sym typeface="JetBrains Mono"/>
            </a:endParaRPr>
          </a:p>
        </p:txBody>
      </p:sp>
      <p:grpSp>
        <p:nvGrpSpPr>
          <p:cNvPr id="791" name="Google Shape;791;p33"/>
          <p:cNvGrpSpPr/>
          <p:nvPr/>
        </p:nvGrpSpPr>
        <p:grpSpPr>
          <a:xfrm>
            <a:off x="381000" y="4762500"/>
            <a:ext cx="8382000" cy="285750"/>
            <a:chOff x="381000" y="4762500"/>
            <a:chExt cx="8382000" cy="285750"/>
          </a:xfrm>
        </p:grpSpPr>
        <p:cxnSp>
          <p:nvCxnSpPr>
            <p:cNvPr id="792" name="Google Shape;792;p33"/>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793" name="Google Shape;793;p33"/>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pic>
        <p:nvPicPr>
          <p:cNvPr id="798" name="Google Shape;798;p34" title="03-habitat-prompt.mp4">
            <a:hlinkClick r:id="rId3"/>
          </p:cNvPr>
          <p:cNvPicPr preferRelativeResize="0"/>
          <p:nvPr/>
        </p:nvPicPr>
        <p:blipFill>
          <a:blip r:embed="rId4">
            <a:alphaModFix/>
          </a:blip>
          <a:stretch>
            <a:fillRect/>
          </a:stretch>
        </p:blipFill>
        <p:spPr>
          <a:xfrm>
            <a:off x="152400" y="152400"/>
            <a:ext cx="8602133"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8"/>
                                        </p:tgtEl>
                                        <p:attrNameLst>
                                          <p:attrName>style.visibility</p:attrName>
                                        </p:attrNameLst>
                                      </p:cBhvr>
                                      <p:to>
                                        <p:strVal val="visible"/>
                                      </p:to>
                                    </p:set>
                                    <p:animEffect filter="fade" transition="in">
                                      <p:cBhvr>
                                        <p:cTn dur="1000"/>
                                        <p:tgtEl>
                                          <p:spTgt spid="7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35"/>
          <p:cNvSpPr txBox="1"/>
          <p:nvPr/>
        </p:nvSpPr>
        <p:spPr>
          <a:xfrm>
            <a:off x="381000" y="342900"/>
            <a:ext cx="8382000" cy="4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GB" sz="1950" u="none" strike="noStrike">
                <a:solidFill>
                  <a:srgbClr val="111315"/>
                </a:solidFill>
                <a:latin typeface="Space Grotesk"/>
                <a:ea typeface="Space Grotesk"/>
                <a:cs typeface="Space Grotesk"/>
                <a:sym typeface="Space Grotesk"/>
              </a:rPr>
              <a:t>System Example 2A: Parametric Script Generation via Grasshopper</a:t>
            </a:r>
            <a:endParaRPr b="0" i="0" sz="1950" u="none" strike="noStrike">
              <a:solidFill>
                <a:srgbClr val="111315"/>
              </a:solidFill>
              <a:latin typeface="Space Grotesk"/>
              <a:ea typeface="Space Grotesk"/>
              <a:cs typeface="Space Grotesk"/>
              <a:sym typeface="Space Grotesk"/>
            </a:endParaRPr>
          </a:p>
        </p:txBody>
      </p:sp>
      <p:grpSp>
        <p:nvGrpSpPr>
          <p:cNvPr id="804" name="Google Shape;804;p35"/>
          <p:cNvGrpSpPr/>
          <p:nvPr/>
        </p:nvGrpSpPr>
        <p:grpSpPr>
          <a:xfrm>
            <a:off x="381000" y="1047750"/>
            <a:ext cx="3429000" cy="400200"/>
            <a:chOff x="0" y="0"/>
            <a:chExt cx="3429000" cy="400200"/>
          </a:xfrm>
        </p:grpSpPr>
        <p:sp>
          <p:nvSpPr>
            <p:cNvPr id="805" name="Google Shape;805;p35"/>
            <p:cNvSpPr/>
            <p:nvPr/>
          </p:nvSpPr>
          <p:spPr>
            <a:xfrm>
              <a:off x="0" y="0"/>
              <a:ext cx="3429000" cy="4002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6" name="Google Shape;806;p35"/>
            <p:cNvSpPr txBox="1"/>
            <p:nvPr/>
          </p:nvSpPr>
          <p:spPr>
            <a:xfrm>
              <a:off x="0" y="0"/>
              <a:ext cx="34290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25">
                  <a:solidFill>
                    <a:srgbClr val="111315"/>
                  </a:solidFill>
                  <a:latin typeface="JetBrains Mono"/>
                  <a:ea typeface="JetBrains Mono"/>
                  <a:cs typeface="JetBrains Mono"/>
                  <a:sym typeface="JetBrains Mono"/>
                </a:rPr>
                <a:t>Create a tower with floor-count and twist controls.</a:t>
              </a:r>
              <a:endParaRPr b="1" sz="825">
                <a:solidFill>
                  <a:srgbClr val="111315"/>
                </a:solidFill>
                <a:latin typeface="JetBrains Mono"/>
                <a:ea typeface="JetBrains Mono"/>
                <a:cs typeface="JetBrains Mono"/>
                <a:sym typeface="JetBrains Mono"/>
              </a:endParaRPr>
            </a:p>
          </p:txBody>
        </p:sp>
      </p:grpSp>
      <p:grpSp>
        <p:nvGrpSpPr>
          <p:cNvPr id="807" name="Google Shape;807;p35"/>
          <p:cNvGrpSpPr/>
          <p:nvPr/>
        </p:nvGrpSpPr>
        <p:grpSpPr>
          <a:xfrm>
            <a:off x="2057400" y="1466850"/>
            <a:ext cx="76200" cy="209700"/>
            <a:chOff x="-38100" y="0"/>
            <a:chExt cx="76200" cy="209700"/>
          </a:xfrm>
        </p:grpSpPr>
        <p:cxnSp>
          <p:nvCxnSpPr>
            <p:cNvPr id="808" name="Google Shape;808;p35"/>
            <p:cNvCxnSpPr/>
            <p:nvPr/>
          </p:nvCxnSpPr>
          <p:spPr>
            <a:xfrm>
              <a:off x="0" y="0"/>
              <a:ext cx="0" cy="15240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809" name="Google Shape;809;p35"/>
            <p:cNvSpPr/>
            <p:nvPr/>
          </p:nvSpPr>
          <p:spPr>
            <a:xfrm>
              <a:off x="-38100" y="152400"/>
              <a:ext cx="76200" cy="57300"/>
            </a:xfrm>
            <a:custGeom>
              <a:rect b="b" l="l" r="r" t="t"/>
              <a:pathLst>
                <a:path extrusionOk="0" h="120000" w="120000">
                  <a:moveTo>
                    <a:pt x="0" y="0"/>
                  </a:moveTo>
                  <a:lnTo>
                    <a:pt x="60000" y="120000"/>
                  </a:lnTo>
                  <a:lnTo>
                    <a:pt x="120000" y="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810" name="Google Shape;810;p35"/>
          <p:cNvGrpSpPr/>
          <p:nvPr/>
        </p:nvGrpSpPr>
        <p:grpSpPr>
          <a:xfrm>
            <a:off x="381000" y="1714500"/>
            <a:ext cx="3429000" cy="457200"/>
            <a:chOff x="0" y="0"/>
            <a:chExt cx="3429000" cy="457200"/>
          </a:xfrm>
        </p:grpSpPr>
        <p:sp>
          <p:nvSpPr>
            <p:cNvPr id="811" name="Google Shape;811;p35"/>
            <p:cNvSpPr/>
            <p:nvPr/>
          </p:nvSpPr>
          <p:spPr>
            <a:xfrm>
              <a:off x="0" y="0"/>
              <a:ext cx="3429000" cy="457200"/>
            </a:xfrm>
            <a:prstGeom prst="rect">
              <a:avLst/>
            </a:prstGeom>
            <a:solidFill>
              <a:srgbClr val="FFFFFF"/>
            </a:solidFill>
            <a:ln cap="flat" cmpd="sng" w="14300">
              <a:solidFill>
                <a:srgbClr val="1D4E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2" name="Google Shape;812;p35"/>
            <p:cNvSpPr txBox="1"/>
            <p:nvPr/>
          </p:nvSpPr>
          <p:spPr>
            <a:xfrm>
              <a:off x="0" y="0"/>
              <a:ext cx="34290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GB" sz="975">
                  <a:solidFill>
                    <a:srgbClr val="1D4ED8"/>
                  </a:solidFill>
                  <a:latin typeface="Inter"/>
                  <a:ea typeface="Inter"/>
                  <a:cs typeface="Inter"/>
                  <a:sym typeface="Inter"/>
                </a:rPr>
                <a:t>Python component in Grasshopper</a:t>
              </a:r>
              <a:endParaRPr b="1" i="0" sz="975" u="none" strike="noStrike">
                <a:solidFill>
                  <a:srgbClr val="1D4ED8"/>
                </a:solidFill>
                <a:latin typeface="Inter"/>
                <a:ea typeface="Inter"/>
                <a:cs typeface="Inter"/>
                <a:sym typeface="Inter"/>
              </a:endParaRPr>
            </a:p>
          </p:txBody>
        </p:sp>
      </p:grpSp>
      <p:grpSp>
        <p:nvGrpSpPr>
          <p:cNvPr id="813" name="Google Shape;813;p35"/>
          <p:cNvGrpSpPr/>
          <p:nvPr/>
        </p:nvGrpSpPr>
        <p:grpSpPr>
          <a:xfrm>
            <a:off x="2057400" y="2190750"/>
            <a:ext cx="76200" cy="209700"/>
            <a:chOff x="-38100" y="0"/>
            <a:chExt cx="76200" cy="209700"/>
          </a:xfrm>
        </p:grpSpPr>
        <p:cxnSp>
          <p:nvCxnSpPr>
            <p:cNvPr id="814" name="Google Shape;814;p35"/>
            <p:cNvCxnSpPr/>
            <p:nvPr/>
          </p:nvCxnSpPr>
          <p:spPr>
            <a:xfrm>
              <a:off x="0" y="0"/>
              <a:ext cx="0" cy="15240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815" name="Google Shape;815;p35"/>
            <p:cNvSpPr/>
            <p:nvPr/>
          </p:nvSpPr>
          <p:spPr>
            <a:xfrm>
              <a:off x="-38100" y="152400"/>
              <a:ext cx="76200" cy="57300"/>
            </a:xfrm>
            <a:custGeom>
              <a:rect b="b" l="l" r="r" t="t"/>
              <a:pathLst>
                <a:path extrusionOk="0" h="120000" w="120000">
                  <a:moveTo>
                    <a:pt x="0" y="0"/>
                  </a:moveTo>
                  <a:lnTo>
                    <a:pt x="60000" y="120000"/>
                  </a:lnTo>
                  <a:lnTo>
                    <a:pt x="120000" y="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816" name="Google Shape;816;p35"/>
          <p:cNvGrpSpPr/>
          <p:nvPr/>
        </p:nvGrpSpPr>
        <p:grpSpPr>
          <a:xfrm>
            <a:off x="381000" y="2438400"/>
            <a:ext cx="3429000" cy="400200"/>
            <a:chOff x="0" y="0"/>
            <a:chExt cx="3429000" cy="400200"/>
          </a:xfrm>
        </p:grpSpPr>
        <p:sp>
          <p:nvSpPr>
            <p:cNvPr id="817" name="Google Shape;817;p35"/>
            <p:cNvSpPr/>
            <p:nvPr/>
          </p:nvSpPr>
          <p:spPr>
            <a:xfrm>
              <a:off x="0" y="0"/>
              <a:ext cx="3429000" cy="4002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8" name="Google Shape;818;p35"/>
            <p:cNvSpPr txBox="1"/>
            <p:nvPr/>
          </p:nvSpPr>
          <p:spPr>
            <a:xfrm>
              <a:off x="0" y="0"/>
              <a:ext cx="34290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25">
                  <a:solidFill>
                    <a:srgbClr val="111315"/>
                  </a:solidFill>
                  <a:latin typeface="JetBrains Mono"/>
                  <a:ea typeface="JetBrains Mono"/>
                  <a:cs typeface="JetBrains Mono"/>
                  <a:sym typeface="JetBrains Mono"/>
                </a:rPr>
                <a:t>12 closed slabs and one core</a:t>
              </a:r>
              <a:endParaRPr b="1" sz="825">
                <a:solidFill>
                  <a:srgbClr val="111315"/>
                </a:solidFill>
                <a:latin typeface="JetBrains Mono"/>
                <a:ea typeface="JetBrains Mono"/>
                <a:cs typeface="JetBrains Mono"/>
                <a:sym typeface="JetBrains Mono"/>
              </a:endParaRPr>
            </a:p>
          </p:txBody>
        </p:sp>
      </p:grpSp>
      <p:grpSp>
        <p:nvGrpSpPr>
          <p:cNvPr id="819" name="Google Shape;819;p35"/>
          <p:cNvGrpSpPr/>
          <p:nvPr/>
        </p:nvGrpSpPr>
        <p:grpSpPr>
          <a:xfrm>
            <a:off x="381000" y="3028950"/>
            <a:ext cx="3429000" cy="1285800"/>
            <a:chOff x="0" y="0"/>
            <a:chExt cx="3429000" cy="1285800"/>
          </a:xfrm>
        </p:grpSpPr>
        <p:sp>
          <p:nvSpPr>
            <p:cNvPr id="820" name="Google Shape;820;p35"/>
            <p:cNvSpPr/>
            <p:nvPr/>
          </p:nvSpPr>
          <p:spPr>
            <a:xfrm>
              <a:off x="0" y="0"/>
              <a:ext cx="3429000" cy="1285800"/>
            </a:xfrm>
            <a:prstGeom prst="rect">
              <a:avLst/>
            </a:prstGeom>
            <a:solidFill>
              <a:srgbClr val="FFFFFF"/>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1" name="Google Shape;821;p35"/>
            <p:cNvSpPr txBox="1"/>
            <p:nvPr/>
          </p:nvSpPr>
          <p:spPr>
            <a:xfrm>
              <a:off x="152400" y="152400"/>
              <a:ext cx="3124200" cy="9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GB" sz="975" u="none" strike="noStrike">
                  <a:solidFill>
                    <a:srgbClr val="111315"/>
                  </a:solidFill>
                  <a:latin typeface="Inter"/>
                  <a:ea typeface="Inter"/>
                  <a:cs typeface="Inter"/>
                  <a:sym typeface="Inter"/>
                </a:rPr>
                <a:t>The model writes script syntax; the CAD engine executes geometric calculation.</a:t>
              </a:r>
              <a:endParaRPr b="0" i="0" sz="975" u="none" strike="noStrike">
                <a:solidFill>
                  <a:srgbClr val="111315"/>
                </a:solidFill>
                <a:latin typeface="Inter"/>
                <a:ea typeface="Inter"/>
                <a:cs typeface="Inter"/>
                <a:sym typeface="Inter"/>
              </a:endParaRPr>
            </a:p>
            <a:p>
              <a:pPr indent="0" lvl="0" marL="0" marR="0" rtl="0" algn="l">
                <a:lnSpc>
                  <a:spcPct val="100000"/>
                </a:lnSpc>
                <a:spcBef>
                  <a:spcPts val="600"/>
                </a:spcBef>
                <a:spcAft>
                  <a:spcPts val="0"/>
                </a:spcAft>
                <a:buNone/>
              </a:pPr>
              <a:r>
                <a:rPr b="0" i="0" lang="en-GB" sz="900" u="none" strike="noStrike">
                  <a:solidFill>
                    <a:srgbClr val="5A626A"/>
                  </a:solidFill>
                  <a:latin typeface="Inter"/>
                  <a:ea typeface="Inter"/>
                  <a:cs typeface="Inter"/>
                  <a:sym typeface="Inter"/>
                </a:rPr>
                <a:t>Script generation produces parametric definitions that execute within the CAD environment according to defined geometric rules.</a:t>
              </a:r>
              <a:endParaRPr b="0" i="0" sz="975" u="none" strike="noStrike">
                <a:solidFill>
                  <a:srgbClr val="111315"/>
                </a:solidFill>
                <a:latin typeface="Inter"/>
                <a:ea typeface="Inter"/>
                <a:cs typeface="Inter"/>
                <a:sym typeface="Inter"/>
              </a:endParaRPr>
            </a:p>
          </p:txBody>
        </p:sp>
      </p:grpSp>
      <p:grpSp>
        <p:nvGrpSpPr>
          <p:cNvPr id="822" name="Google Shape;822;p35"/>
          <p:cNvGrpSpPr/>
          <p:nvPr/>
        </p:nvGrpSpPr>
        <p:grpSpPr>
          <a:xfrm>
            <a:off x="4181475" y="1038225"/>
            <a:ext cx="4591200" cy="2590800"/>
            <a:chOff x="-9525" y="-9525"/>
            <a:chExt cx="4591200" cy="2590800"/>
          </a:xfrm>
        </p:grpSpPr>
        <p:pic>
          <p:nvPicPr>
            <p:cNvPr id="823" name="Google Shape;823;p35"/>
            <p:cNvPicPr preferRelativeResize="0"/>
            <p:nvPr/>
          </p:nvPicPr>
          <p:blipFill rotWithShape="1">
            <a:blip r:embed="rId3">
              <a:alphaModFix/>
            </a:blip>
            <a:srcRect b="0" l="0" r="0" t="0"/>
            <a:stretch/>
          </p:blipFill>
          <p:spPr>
            <a:xfrm>
              <a:off x="-9525" y="-9525"/>
              <a:ext cx="4591200" cy="2590800"/>
            </a:xfrm>
            <a:prstGeom prst="rect">
              <a:avLst/>
            </a:prstGeom>
            <a:noFill/>
            <a:ln>
              <a:noFill/>
            </a:ln>
          </p:spPr>
        </p:pic>
        <p:cxnSp>
          <p:nvCxnSpPr>
            <p:cNvPr id="824" name="Google Shape;824;p35"/>
            <p:cNvCxnSpPr/>
            <p:nvPr/>
          </p:nvCxnSpPr>
          <p:spPr>
            <a:xfrm>
              <a:off x="0" y="0"/>
              <a:ext cx="4572000" cy="2571900"/>
            </a:xfrm>
            <a:prstGeom prst="straightConnector1">
              <a:avLst/>
            </a:prstGeom>
            <a:solidFill>
              <a:srgbClr val="FFFFFF"/>
            </a:solidFill>
            <a:ln cap="flat" cmpd="sng" w="9525">
              <a:solidFill>
                <a:srgbClr val="E9ECEF"/>
              </a:solidFill>
              <a:prstDash val="solid"/>
              <a:round/>
              <a:headEnd len="sm" w="sm" type="none"/>
              <a:tailEnd len="sm" w="sm" type="none"/>
            </a:ln>
          </p:spPr>
        </p:cxnSp>
        <p:cxnSp>
          <p:nvCxnSpPr>
            <p:cNvPr id="825" name="Google Shape;825;p35"/>
            <p:cNvCxnSpPr/>
            <p:nvPr/>
          </p:nvCxnSpPr>
          <p:spPr>
            <a:xfrm flipH="1">
              <a:off x="0" y="0"/>
              <a:ext cx="4572000" cy="2571900"/>
            </a:xfrm>
            <a:prstGeom prst="straightConnector1">
              <a:avLst/>
            </a:prstGeom>
            <a:solidFill>
              <a:srgbClr val="FFFFFF"/>
            </a:solidFill>
            <a:ln cap="flat" cmpd="sng" w="9525">
              <a:solidFill>
                <a:srgbClr val="E9ECEF"/>
              </a:solidFill>
              <a:prstDash val="solid"/>
              <a:round/>
              <a:headEnd len="sm" w="sm" type="none"/>
              <a:tailEnd len="sm" w="sm" type="none"/>
            </a:ln>
          </p:spPr>
        </p:cxnSp>
        <p:sp>
          <p:nvSpPr>
            <p:cNvPr id="826" name="Google Shape;826;p35"/>
            <p:cNvSpPr/>
            <p:nvPr/>
          </p:nvSpPr>
          <p:spPr>
            <a:xfrm>
              <a:off x="238125" y="1028700"/>
              <a:ext cx="4095900" cy="514500"/>
            </a:xfrm>
            <a:prstGeom prst="rect">
              <a:avLst/>
            </a:prstGeom>
            <a:solidFill>
              <a:srgbClr val="FFFFFF"/>
            </a:solidFill>
            <a:ln cap="flat" cmpd="sng" w="9525">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7" name="Google Shape;827;p35"/>
            <p:cNvSpPr txBox="1"/>
            <p:nvPr/>
          </p:nvSpPr>
          <p:spPr>
            <a:xfrm>
              <a:off x="285750" y="1047750"/>
              <a:ext cx="4000500" cy="47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GB" sz="825">
                  <a:solidFill>
                    <a:srgbClr val="111315"/>
                  </a:solidFill>
                  <a:latin typeface="JetBrains Mono"/>
                  <a:ea typeface="JetBrains Mono"/>
                  <a:cs typeface="JetBrains Mono"/>
                  <a:sym typeface="JetBrains Mono"/>
                </a:rPr>
                <a:t>OBS demo: 04-parametric-tower.mp4</a:t>
              </a:r>
              <a:endParaRPr b="1" i="0" sz="825" u="none" strike="noStrike">
                <a:solidFill>
                  <a:srgbClr val="111315"/>
                </a:solidFill>
                <a:latin typeface="JetBrains Mono"/>
                <a:ea typeface="JetBrains Mono"/>
                <a:cs typeface="JetBrains Mono"/>
                <a:sym typeface="JetBrains Mono"/>
              </a:endParaRPr>
            </a:p>
          </p:txBody>
        </p:sp>
      </p:grpSp>
      <p:grpSp>
        <p:nvGrpSpPr>
          <p:cNvPr id="828" name="Google Shape;828;p35"/>
          <p:cNvGrpSpPr/>
          <p:nvPr/>
        </p:nvGrpSpPr>
        <p:grpSpPr>
          <a:xfrm>
            <a:off x="381000" y="4714875"/>
            <a:ext cx="8382000" cy="285750"/>
            <a:chOff x="381000" y="4714875"/>
            <a:chExt cx="8382000" cy="285750"/>
          </a:xfrm>
        </p:grpSpPr>
        <p:cxnSp>
          <p:nvCxnSpPr>
            <p:cNvPr id="829" name="Google Shape;829;p35"/>
            <p:cNvCxnSpPr/>
            <p:nvPr/>
          </p:nvCxnSpPr>
          <p:spPr>
            <a:xfrm>
              <a:off x="381000" y="4714875"/>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830" name="Google Shape;830;p35"/>
            <p:cNvSpPr txBox="1"/>
            <p:nvPr/>
          </p:nvSpPr>
          <p:spPr>
            <a:xfrm>
              <a:off x="381000" y="4810125"/>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pic>
        <p:nvPicPr>
          <p:cNvPr id="835" name="Google Shape;835;p36" title="04-parametric-tower.mp4">
            <a:hlinkClick r:id="rId3"/>
          </p:cNvPr>
          <p:cNvPicPr preferRelativeResize="0"/>
          <p:nvPr/>
        </p:nvPicPr>
        <p:blipFill>
          <a:blip r:embed="rId4">
            <a:alphaModFix/>
          </a:blip>
          <a:stretch>
            <a:fillRect/>
          </a:stretch>
        </p:blipFill>
        <p:spPr>
          <a:xfrm>
            <a:off x="152400" y="152400"/>
            <a:ext cx="8602133"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
                                        </p:tgtEl>
                                        <p:attrNameLst>
                                          <p:attrName>style.visibility</p:attrName>
                                        </p:attrNameLst>
                                      </p:cBhvr>
                                      <p:to>
                                        <p:strVal val="visible"/>
                                      </p:to>
                                    </p:set>
                                    <p:animEffect filter="fade" transition="in">
                                      <p:cBhvr>
                                        <p:cTn dur="1000"/>
                                        <p:tgtEl>
                                          <p:spTgt spid="8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grpSp>
        <p:nvGrpSpPr>
          <p:cNvPr id="840" name="Google Shape;840;p37"/>
          <p:cNvGrpSpPr/>
          <p:nvPr/>
        </p:nvGrpSpPr>
        <p:grpSpPr>
          <a:xfrm>
            <a:off x="381000" y="333375"/>
            <a:ext cx="8382000" cy="809625"/>
            <a:chOff x="381000" y="333375"/>
            <a:chExt cx="8382000" cy="809625"/>
          </a:xfrm>
        </p:grpSpPr>
        <p:sp>
          <p:nvSpPr>
            <p:cNvPr id="841" name="Google Shape;841;p37"/>
            <p:cNvSpPr txBox="1"/>
            <p:nvPr/>
          </p:nvSpPr>
          <p:spPr>
            <a:xfrm>
              <a:off x="381000" y="333375"/>
              <a:ext cx="8382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100">
                  <a:solidFill>
                    <a:srgbClr val="111315"/>
                  </a:solidFill>
                  <a:latin typeface="Space Grotesk"/>
                  <a:ea typeface="Space Grotesk"/>
                  <a:cs typeface="Space Grotesk"/>
                  <a:sym typeface="Space Grotesk"/>
                </a:rPr>
                <a:t>System Example 2B: Airflow in a 2D Slice</a:t>
              </a:r>
              <a:endParaRPr b="0" i="0" sz="2100" u="none" strike="noStrike">
                <a:solidFill>
                  <a:srgbClr val="111315"/>
                </a:solidFill>
                <a:latin typeface="Space Grotesk"/>
                <a:ea typeface="Space Grotesk"/>
                <a:cs typeface="Space Grotesk"/>
                <a:sym typeface="Space Grotesk"/>
              </a:endParaRPr>
            </a:p>
          </p:txBody>
        </p:sp>
        <p:sp>
          <p:nvSpPr>
            <p:cNvPr id="842" name="Google Shape;842;p37"/>
            <p:cNvSpPr txBox="1"/>
            <p:nvPr/>
          </p:nvSpPr>
          <p:spPr>
            <a:xfrm>
              <a:off x="381000" y="762000"/>
              <a:ext cx="8382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125">
                  <a:solidFill>
                    <a:srgbClr val="5A626A"/>
                  </a:solidFill>
                  <a:latin typeface="Space Grotesk SemiBold"/>
                  <a:ea typeface="Space Grotesk SemiBold"/>
                  <a:cs typeface="Space Grotesk SemiBold"/>
                  <a:sym typeface="Space Grotesk SemiBold"/>
                </a:rPr>
                <a:t>Adapt existing LBM code into a Grasshopper tool for a 2D flow slice.</a:t>
              </a:r>
              <a:endParaRPr b="0" i="0" sz="1125" u="none" strike="noStrike">
                <a:solidFill>
                  <a:srgbClr val="5A626A"/>
                </a:solidFill>
                <a:latin typeface="Space Grotesk SemiBold"/>
                <a:ea typeface="Space Grotesk SemiBold"/>
                <a:cs typeface="Space Grotesk SemiBold"/>
                <a:sym typeface="Space Grotesk SemiBold"/>
              </a:endParaRPr>
            </a:p>
          </p:txBody>
        </p:sp>
      </p:grpSp>
      <p:grpSp>
        <p:nvGrpSpPr>
          <p:cNvPr id="843" name="Google Shape;843;p37"/>
          <p:cNvGrpSpPr/>
          <p:nvPr/>
        </p:nvGrpSpPr>
        <p:grpSpPr>
          <a:xfrm>
            <a:off x="571500" y="1428750"/>
            <a:ext cx="2190900" cy="2667000"/>
            <a:chOff x="0" y="0"/>
            <a:chExt cx="2190900" cy="2667000"/>
          </a:xfrm>
        </p:grpSpPr>
        <p:sp>
          <p:nvSpPr>
            <p:cNvPr id="844" name="Google Shape;844;p37"/>
            <p:cNvSpPr/>
            <p:nvPr/>
          </p:nvSpPr>
          <p:spPr>
            <a:xfrm>
              <a:off x="0" y="0"/>
              <a:ext cx="2190900" cy="26670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845" name="Google Shape;845;p37"/>
            <p:cNvCxnSpPr/>
            <p:nvPr/>
          </p:nvCxnSpPr>
          <p:spPr>
            <a:xfrm>
              <a:off x="0" y="0"/>
              <a:ext cx="2190900" cy="0"/>
            </a:xfrm>
            <a:prstGeom prst="straightConnector1">
              <a:avLst/>
            </a:prstGeom>
            <a:solidFill>
              <a:srgbClr val="FFFFFF"/>
            </a:solidFill>
            <a:ln cap="flat" cmpd="sng" w="38100">
              <a:solidFill>
                <a:srgbClr val="1D4ED8"/>
              </a:solidFill>
              <a:prstDash val="solid"/>
              <a:round/>
              <a:headEnd len="sm" w="sm" type="none"/>
              <a:tailEnd len="sm" w="sm" type="none"/>
            </a:ln>
          </p:spPr>
        </p:cxnSp>
        <p:sp>
          <p:nvSpPr>
            <p:cNvPr id="846" name="Google Shape;846;p37"/>
            <p:cNvSpPr txBox="1"/>
            <p:nvPr/>
          </p:nvSpPr>
          <p:spPr>
            <a:xfrm>
              <a:off x="152400" y="152400"/>
              <a:ext cx="1886100" cy="236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GB" sz="750" u="none" strike="noStrike">
                  <a:solidFill>
                    <a:srgbClr val="1D4ED8"/>
                  </a:solidFill>
                  <a:latin typeface="JetBrains Mono"/>
                  <a:ea typeface="JetBrains Mono"/>
                  <a:cs typeface="JetBrains Mono"/>
                  <a:sym typeface="JetBrains Mono"/>
                </a:rPr>
                <a:t>01 // INPUT PARAMETERS</a:t>
              </a:r>
              <a:endParaRPr b="1"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900"/>
                </a:spcBef>
                <a:spcAft>
                  <a:spcPts val="0"/>
                </a:spcAft>
                <a:buNone/>
              </a:pPr>
              <a:r>
                <a:rPr b="1" lang="en-GB" sz="1050">
                  <a:solidFill>
                    <a:srgbClr val="111315"/>
                  </a:solidFill>
                  <a:latin typeface="Inter"/>
                  <a:ea typeface="Inter"/>
                  <a:cs typeface="Inter"/>
                  <a:sym typeface="Inter"/>
                </a:rPr>
                <a:t>Building Slice</a:t>
              </a:r>
              <a:endParaRPr b="1"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lang="en-GB" sz="975">
                  <a:solidFill>
                    <a:srgbClr val="5A626A"/>
                  </a:solidFill>
                  <a:latin typeface="Inter"/>
                  <a:ea typeface="Inter"/>
                  <a:cs typeface="Inter"/>
                  <a:sym typeface="Inter"/>
                </a:rPr>
                <a:t>Closed footprints, inlet speed, grid size and viscosity.</a:t>
              </a:r>
              <a:endParaRPr b="1"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900"/>
                </a:spcBef>
                <a:spcAft>
                  <a:spcPts val="0"/>
                </a:spcAft>
                <a:buNone/>
              </a:pPr>
              <a:r>
                <a:rPr i="1" lang="en-GB" sz="975">
                  <a:solidFill>
                    <a:srgbClr val="111315"/>
                  </a:solidFill>
                  <a:highlight>
                    <a:srgbClr val="F8F9FA"/>
                  </a:highlight>
                  <a:latin typeface="Inter"/>
                  <a:ea typeface="Inter"/>
                  <a:cs typeface="Inter"/>
                  <a:sym typeface="Inter"/>
                </a:rPr>
                <a:t>Compare two layouts with the same flow settings.</a:t>
              </a:r>
              <a:endParaRPr b="1" i="0" sz="750" u="none" strike="noStrike">
                <a:solidFill>
                  <a:srgbClr val="1D4ED8"/>
                </a:solidFill>
                <a:latin typeface="JetBrains Mono"/>
                <a:ea typeface="JetBrains Mono"/>
                <a:cs typeface="JetBrains Mono"/>
                <a:sym typeface="JetBrains Mono"/>
              </a:endParaRPr>
            </a:p>
          </p:txBody>
        </p:sp>
      </p:grpSp>
      <p:grpSp>
        <p:nvGrpSpPr>
          <p:cNvPr id="847" name="Google Shape;847;p37"/>
          <p:cNvGrpSpPr/>
          <p:nvPr/>
        </p:nvGrpSpPr>
        <p:grpSpPr>
          <a:xfrm>
            <a:off x="2857500" y="2714625"/>
            <a:ext cx="457350" cy="95400"/>
            <a:chOff x="2857500" y="2714625"/>
            <a:chExt cx="457350" cy="95400"/>
          </a:xfrm>
        </p:grpSpPr>
        <p:cxnSp>
          <p:nvCxnSpPr>
            <p:cNvPr id="848" name="Google Shape;848;p37"/>
            <p:cNvCxnSpPr/>
            <p:nvPr/>
          </p:nvCxnSpPr>
          <p:spPr>
            <a:xfrm>
              <a:off x="2857500" y="2762250"/>
              <a:ext cx="362100" cy="0"/>
            </a:xfrm>
            <a:prstGeom prst="straightConnector1">
              <a:avLst/>
            </a:prstGeom>
            <a:solidFill>
              <a:srgbClr val="FFFFFF"/>
            </a:solidFill>
            <a:ln cap="flat" cmpd="sng" w="19050">
              <a:solidFill>
                <a:srgbClr val="111315"/>
              </a:solidFill>
              <a:prstDash val="solid"/>
              <a:round/>
              <a:headEnd len="sm" w="sm" type="none"/>
              <a:tailEnd len="sm" w="sm" type="none"/>
            </a:ln>
          </p:spPr>
        </p:cxnSp>
        <p:sp>
          <p:nvSpPr>
            <p:cNvPr id="849" name="Google Shape;849;p37"/>
            <p:cNvSpPr/>
            <p:nvPr/>
          </p:nvSpPr>
          <p:spPr>
            <a:xfrm>
              <a:off x="3219450" y="2714625"/>
              <a:ext cx="95400" cy="954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850" name="Google Shape;850;p37"/>
          <p:cNvGrpSpPr/>
          <p:nvPr/>
        </p:nvGrpSpPr>
        <p:grpSpPr>
          <a:xfrm>
            <a:off x="3333750" y="1428750"/>
            <a:ext cx="2476500" cy="2667000"/>
            <a:chOff x="0" y="0"/>
            <a:chExt cx="2476500" cy="2667000"/>
          </a:xfrm>
        </p:grpSpPr>
        <p:sp>
          <p:nvSpPr>
            <p:cNvPr id="851" name="Google Shape;851;p37"/>
            <p:cNvSpPr/>
            <p:nvPr/>
          </p:nvSpPr>
          <p:spPr>
            <a:xfrm>
              <a:off x="0" y="0"/>
              <a:ext cx="2476500" cy="26670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852" name="Google Shape;852;p37"/>
            <p:cNvCxnSpPr/>
            <p:nvPr/>
          </p:nvCxnSpPr>
          <p:spPr>
            <a:xfrm>
              <a:off x="0" y="0"/>
              <a:ext cx="2476500" cy="0"/>
            </a:xfrm>
            <a:prstGeom prst="straightConnector1">
              <a:avLst/>
            </a:prstGeom>
            <a:solidFill>
              <a:srgbClr val="FFFFFF"/>
            </a:solidFill>
            <a:ln cap="flat" cmpd="sng" w="38100">
              <a:solidFill>
                <a:srgbClr val="111315"/>
              </a:solidFill>
              <a:prstDash val="solid"/>
              <a:round/>
              <a:headEnd len="sm" w="sm" type="none"/>
              <a:tailEnd len="sm" w="sm" type="none"/>
            </a:ln>
          </p:spPr>
        </p:cxnSp>
        <p:sp>
          <p:nvSpPr>
            <p:cNvPr id="853" name="Google Shape;853;p37"/>
            <p:cNvSpPr txBox="1"/>
            <p:nvPr/>
          </p:nvSpPr>
          <p:spPr>
            <a:xfrm>
              <a:off x="152400" y="152400"/>
              <a:ext cx="2171700" cy="236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GB" sz="750">
                  <a:solidFill>
                    <a:srgbClr val="111315"/>
                  </a:solidFill>
                  <a:latin typeface="JetBrains Mono"/>
                  <a:ea typeface="JetBrains Mono"/>
                  <a:cs typeface="JetBrains Mono"/>
                  <a:sym typeface="JetBrains Mono"/>
                </a:rPr>
                <a:t>02 // CODE ADAPTATION</a:t>
              </a:r>
              <a:endParaRPr b="1" i="0" sz="750" u="none" strike="noStrike">
                <a:solidFill>
                  <a:srgbClr val="111315"/>
                </a:solidFill>
                <a:latin typeface="JetBrains Mono"/>
                <a:ea typeface="JetBrains Mono"/>
                <a:cs typeface="JetBrains Mono"/>
                <a:sym typeface="JetBrains Mono"/>
              </a:endParaRPr>
            </a:p>
            <a:p>
              <a:pPr indent="0" lvl="0" marL="0" marR="0" rtl="0" algn="l">
                <a:lnSpc>
                  <a:spcPct val="100000"/>
                </a:lnSpc>
                <a:spcBef>
                  <a:spcPts val="900"/>
                </a:spcBef>
                <a:spcAft>
                  <a:spcPts val="0"/>
                </a:spcAft>
                <a:buNone/>
              </a:pPr>
              <a:r>
                <a:rPr b="1" lang="en-GB" sz="1050">
                  <a:solidFill>
                    <a:srgbClr val="111315"/>
                  </a:solidFill>
                  <a:latin typeface="Inter"/>
                  <a:ea typeface="Inter"/>
                  <a:cs typeface="Inter"/>
                  <a:sym typeface="Inter"/>
                </a:rPr>
                <a:t>Adapt Existing Code</a:t>
              </a:r>
              <a:endParaRPr b="1" i="0" sz="750" u="none" strike="noStrike">
                <a:solidFill>
                  <a:srgbClr val="111315"/>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b="0" i="0" lang="en-GB" sz="975" u="none" strike="noStrike">
                  <a:solidFill>
                    <a:srgbClr val="111315"/>
                  </a:solidFill>
                  <a:latin typeface="Inter"/>
                  <a:ea typeface="Inter"/>
                  <a:cs typeface="Inter"/>
                  <a:sym typeface="Inter"/>
                </a:rPr>
                <a:t>• </a:t>
              </a:r>
              <a:r>
                <a:rPr lang="en-GB" sz="975">
                  <a:solidFill>
                    <a:srgbClr val="111315"/>
                  </a:solidFill>
                  <a:latin typeface="Inter"/>
                  <a:ea typeface="Inter"/>
                  <a:cs typeface="Inter"/>
                  <a:sym typeface="Inter"/>
                </a:rPr>
                <a:t>Ports D2Q9 / TRT from GitHub</a:t>
              </a:r>
              <a:endParaRPr b="1" i="0" sz="750" u="none" strike="noStrike">
                <a:solidFill>
                  <a:srgbClr val="111315"/>
                </a:solidFill>
                <a:latin typeface="JetBrains Mono"/>
                <a:ea typeface="JetBrains Mono"/>
                <a:cs typeface="JetBrains Mono"/>
                <a:sym typeface="JetBrains Mono"/>
              </a:endParaRPr>
            </a:p>
            <a:p>
              <a:pPr indent="0" lvl="0" marL="0" marR="0" rtl="0" algn="l">
                <a:lnSpc>
                  <a:spcPct val="100000"/>
                </a:lnSpc>
                <a:spcBef>
                  <a:spcPts val="450"/>
                </a:spcBef>
                <a:spcAft>
                  <a:spcPts val="0"/>
                </a:spcAft>
                <a:buNone/>
              </a:pPr>
              <a:r>
                <a:rPr b="0" i="0" lang="en-GB" sz="975" u="none" strike="noStrike">
                  <a:solidFill>
                    <a:srgbClr val="111315"/>
                  </a:solidFill>
                  <a:latin typeface="Inter"/>
                  <a:ea typeface="Inter"/>
                  <a:cs typeface="Inter"/>
                  <a:sym typeface="Inter"/>
                </a:rPr>
                <a:t>• </a:t>
              </a:r>
              <a:r>
                <a:rPr lang="en-GB" sz="975">
                  <a:solidFill>
                    <a:srgbClr val="111315"/>
                  </a:solidFill>
                  <a:latin typeface="Inter"/>
                  <a:ea typeface="Inter"/>
                  <a:cs typeface="Inter"/>
                  <a:sym typeface="Inter"/>
                </a:rPr>
                <a:t>Runs a small Python solver</a:t>
              </a:r>
              <a:endParaRPr b="1" i="0" sz="750" u="none" strike="noStrike">
                <a:solidFill>
                  <a:srgbClr val="111315"/>
                </a:solidFill>
                <a:latin typeface="JetBrains Mono"/>
                <a:ea typeface="JetBrains Mono"/>
                <a:cs typeface="JetBrains Mono"/>
                <a:sym typeface="JetBrains Mono"/>
              </a:endParaRPr>
            </a:p>
            <a:p>
              <a:pPr indent="0" lvl="0" marL="0" marR="0" rtl="0" algn="l">
                <a:lnSpc>
                  <a:spcPct val="100000"/>
                </a:lnSpc>
                <a:spcBef>
                  <a:spcPts val="900"/>
                </a:spcBef>
                <a:spcAft>
                  <a:spcPts val="0"/>
                </a:spcAft>
                <a:buNone/>
              </a:pPr>
              <a:r>
                <a:rPr lang="en-GB" sz="825">
                  <a:solidFill>
                    <a:srgbClr val="D9381E"/>
                  </a:solidFill>
                  <a:latin typeface="JetBrains Mono"/>
                  <a:ea typeface="JetBrains Mono"/>
                  <a:cs typeface="JetBrains Mono"/>
                  <a:sym typeface="JetBrains Mono"/>
                </a:rPr>
                <a:t>// LBM time step</a:t>
              </a:r>
              <a:endParaRPr b="1" i="0" sz="750" u="none" strike="noStrike">
                <a:solidFill>
                  <a:srgbClr val="111315"/>
                </a:solidFill>
                <a:latin typeface="JetBrains Mono"/>
                <a:ea typeface="JetBrains Mono"/>
                <a:cs typeface="JetBrains Mono"/>
                <a:sym typeface="JetBrains Mono"/>
              </a:endParaRPr>
            </a:p>
            <a:p>
              <a:pPr indent="0" lvl="0" marL="0" marR="0" rtl="0" algn="l">
                <a:lnSpc>
                  <a:spcPct val="100000"/>
                </a:lnSpc>
                <a:spcBef>
                  <a:spcPts val="0"/>
                </a:spcBef>
                <a:spcAft>
                  <a:spcPts val="0"/>
                </a:spcAft>
                <a:buNone/>
              </a:pPr>
              <a:r>
                <a:rPr lang="en-GB" sz="825">
                  <a:solidFill>
                    <a:srgbClr val="F8F9FA"/>
                  </a:solidFill>
                  <a:highlight>
                    <a:srgbClr val="000000"/>
                  </a:highlight>
                  <a:latin typeface="JetBrains Mono"/>
                  <a:ea typeface="JetBrains Mono"/>
                  <a:cs typeface="JetBrains Mono"/>
                  <a:sym typeface="JetBrains Mono"/>
                </a:rPr>
                <a:t>for each step {</a:t>
              </a:r>
              <a:endParaRPr b="1" i="0" sz="750" u="none" strike="noStrike">
                <a:solidFill>
                  <a:srgbClr val="111315"/>
                </a:solidFill>
                <a:latin typeface="JetBrains Mono"/>
                <a:ea typeface="JetBrains Mono"/>
                <a:cs typeface="JetBrains Mono"/>
                <a:sym typeface="JetBrains Mono"/>
              </a:endParaRPr>
            </a:p>
            <a:p>
              <a:pPr indent="0" lvl="0" marL="0" marR="0" rtl="0" algn="l">
                <a:lnSpc>
                  <a:spcPct val="100000"/>
                </a:lnSpc>
                <a:spcBef>
                  <a:spcPts val="0"/>
                </a:spcBef>
                <a:spcAft>
                  <a:spcPts val="0"/>
                </a:spcAft>
                <a:buNone/>
              </a:pPr>
              <a:r>
                <a:rPr lang="en-GB" sz="825">
                  <a:solidFill>
                    <a:srgbClr val="F8F9FA"/>
                  </a:solidFill>
                  <a:highlight>
                    <a:srgbClr val="000000"/>
                  </a:highlight>
                  <a:latin typeface="JetBrains Mono"/>
                  <a:ea typeface="JetBrains Mono"/>
                  <a:cs typeface="JetBrains Mono"/>
                  <a:sym typeface="JetBrains Mono"/>
                </a:rPr>
                <a:t>collide_and_stream()</a:t>
              </a:r>
              <a:endParaRPr b="1" i="0" sz="750" u="none" strike="noStrike">
                <a:solidFill>
                  <a:srgbClr val="111315"/>
                </a:solidFill>
                <a:latin typeface="JetBrains Mono"/>
                <a:ea typeface="JetBrains Mono"/>
                <a:cs typeface="JetBrains Mono"/>
                <a:sym typeface="JetBrains Mono"/>
              </a:endParaRPr>
            </a:p>
            <a:p>
              <a:pPr indent="0" lvl="0" marL="0" marR="0" rtl="0" algn="l">
                <a:lnSpc>
                  <a:spcPct val="100000"/>
                </a:lnSpc>
                <a:spcBef>
                  <a:spcPts val="0"/>
                </a:spcBef>
                <a:spcAft>
                  <a:spcPts val="0"/>
                </a:spcAft>
                <a:buNone/>
              </a:pPr>
              <a:r>
                <a:rPr lang="en-GB" sz="825">
                  <a:solidFill>
                    <a:srgbClr val="F8F9FA"/>
                  </a:solidFill>
                  <a:highlight>
                    <a:srgbClr val="000000"/>
                  </a:highlight>
                  <a:latin typeface="JetBrains Mono"/>
                  <a:ea typeface="JetBrains Mono"/>
                  <a:cs typeface="JetBrains Mono"/>
                  <a:sym typeface="JetBrains Mono"/>
                </a:rPr>
                <a:t>apply_boundaries()</a:t>
              </a:r>
              <a:endParaRPr b="1" i="0" sz="750" u="none" strike="noStrike">
                <a:solidFill>
                  <a:srgbClr val="111315"/>
                </a:solidFill>
                <a:latin typeface="JetBrains Mono"/>
                <a:ea typeface="JetBrains Mono"/>
                <a:cs typeface="JetBrains Mono"/>
                <a:sym typeface="JetBrains Mono"/>
              </a:endParaRPr>
            </a:p>
            <a:p>
              <a:pPr indent="0" lvl="0" marL="0" marR="0" rtl="0" algn="l">
                <a:lnSpc>
                  <a:spcPct val="100000"/>
                </a:lnSpc>
                <a:spcBef>
                  <a:spcPts val="0"/>
                </a:spcBef>
                <a:spcAft>
                  <a:spcPts val="0"/>
                </a:spcAft>
                <a:buNone/>
              </a:pPr>
              <a:r>
                <a:rPr b="0" i="0" lang="en-GB" sz="825" u="none" strike="noStrike">
                  <a:solidFill>
                    <a:srgbClr val="F8F9FA"/>
                  </a:solidFill>
                  <a:highlight>
                    <a:srgbClr val="000000"/>
                  </a:highlight>
                  <a:latin typeface="JetBrains Mono"/>
                  <a:ea typeface="JetBrains Mono"/>
                  <a:cs typeface="JetBrains Mono"/>
                  <a:sym typeface="JetBrains Mono"/>
                </a:rPr>
                <a:t>}</a:t>
              </a:r>
              <a:endParaRPr b="1" i="0" sz="750" u="none" strike="noStrike">
                <a:solidFill>
                  <a:srgbClr val="111315"/>
                </a:solidFill>
                <a:latin typeface="JetBrains Mono"/>
                <a:ea typeface="JetBrains Mono"/>
                <a:cs typeface="JetBrains Mono"/>
                <a:sym typeface="JetBrains Mono"/>
              </a:endParaRPr>
            </a:p>
          </p:txBody>
        </p:sp>
      </p:grpSp>
      <p:grpSp>
        <p:nvGrpSpPr>
          <p:cNvPr id="854" name="Google Shape;854;p37"/>
          <p:cNvGrpSpPr/>
          <p:nvPr/>
        </p:nvGrpSpPr>
        <p:grpSpPr>
          <a:xfrm>
            <a:off x="5905500" y="2714625"/>
            <a:ext cx="457350" cy="95400"/>
            <a:chOff x="5905500" y="2714625"/>
            <a:chExt cx="457350" cy="95400"/>
          </a:xfrm>
        </p:grpSpPr>
        <p:cxnSp>
          <p:nvCxnSpPr>
            <p:cNvPr id="855" name="Google Shape;855;p37"/>
            <p:cNvCxnSpPr/>
            <p:nvPr/>
          </p:nvCxnSpPr>
          <p:spPr>
            <a:xfrm>
              <a:off x="5905500" y="2762250"/>
              <a:ext cx="362100" cy="0"/>
            </a:xfrm>
            <a:prstGeom prst="straightConnector1">
              <a:avLst/>
            </a:prstGeom>
            <a:solidFill>
              <a:srgbClr val="FFFFFF"/>
            </a:solidFill>
            <a:ln cap="flat" cmpd="sng" w="19050">
              <a:solidFill>
                <a:srgbClr val="111315"/>
              </a:solidFill>
              <a:prstDash val="solid"/>
              <a:round/>
              <a:headEnd len="sm" w="sm" type="none"/>
              <a:tailEnd len="sm" w="sm" type="none"/>
            </a:ln>
          </p:spPr>
        </p:cxnSp>
        <p:sp>
          <p:nvSpPr>
            <p:cNvPr id="856" name="Google Shape;856;p37"/>
            <p:cNvSpPr/>
            <p:nvPr/>
          </p:nvSpPr>
          <p:spPr>
            <a:xfrm>
              <a:off x="6267450" y="2714625"/>
              <a:ext cx="95400" cy="954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857" name="Google Shape;857;p37"/>
          <p:cNvGrpSpPr/>
          <p:nvPr/>
        </p:nvGrpSpPr>
        <p:grpSpPr>
          <a:xfrm>
            <a:off x="6381750" y="1428750"/>
            <a:ext cx="2190900" cy="2667000"/>
            <a:chOff x="0" y="0"/>
            <a:chExt cx="2190900" cy="2667000"/>
          </a:xfrm>
        </p:grpSpPr>
        <p:sp>
          <p:nvSpPr>
            <p:cNvPr id="858" name="Google Shape;858;p37"/>
            <p:cNvSpPr/>
            <p:nvPr/>
          </p:nvSpPr>
          <p:spPr>
            <a:xfrm>
              <a:off x="0" y="0"/>
              <a:ext cx="2190900" cy="26670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859" name="Google Shape;859;p37"/>
            <p:cNvCxnSpPr/>
            <p:nvPr/>
          </p:nvCxnSpPr>
          <p:spPr>
            <a:xfrm>
              <a:off x="0" y="0"/>
              <a:ext cx="2190900" cy="0"/>
            </a:xfrm>
            <a:prstGeom prst="straightConnector1">
              <a:avLst/>
            </a:prstGeom>
            <a:solidFill>
              <a:srgbClr val="FFFFFF"/>
            </a:solidFill>
            <a:ln cap="flat" cmpd="sng" w="38100">
              <a:solidFill>
                <a:srgbClr val="D9381E"/>
              </a:solidFill>
              <a:prstDash val="solid"/>
              <a:round/>
              <a:headEnd len="sm" w="sm" type="none"/>
              <a:tailEnd len="sm" w="sm" type="none"/>
            </a:ln>
          </p:spPr>
        </p:cxnSp>
        <p:sp>
          <p:nvSpPr>
            <p:cNvPr id="860" name="Google Shape;860;p37"/>
            <p:cNvSpPr txBox="1"/>
            <p:nvPr/>
          </p:nvSpPr>
          <p:spPr>
            <a:xfrm>
              <a:off x="152400" y="152400"/>
              <a:ext cx="1886100" cy="236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GB" sz="750" u="none" strike="noStrike">
                  <a:solidFill>
                    <a:srgbClr val="D9381E"/>
                  </a:solidFill>
                  <a:latin typeface="JetBrains Mono"/>
                  <a:ea typeface="JetBrains Mono"/>
                  <a:cs typeface="JetBrains Mono"/>
                  <a:sym typeface="JetBrains Mono"/>
                </a:rPr>
                <a:t>03 // GENERATED TOOL</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900"/>
                </a:spcBef>
                <a:spcAft>
                  <a:spcPts val="0"/>
                </a:spcAft>
                <a:buNone/>
              </a:pPr>
              <a:r>
                <a:rPr b="1" lang="en-GB" sz="1050">
                  <a:solidFill>
                    <a:srgbClr val="111315"/>
                  </a:solidFill>
                  <a:latin typeface="Inter"/>
                  <a:ea typeface="Inter"/>
                  <a:cs typeface="Inter"/>
                  <a:sym typeface="Inter"/>
                </a:rPr>
                <a:t>2D Flow Field</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lang="en-GB" sz="975">
                  <a:solidFill>
                    <a:srgbClr val="5A626A"/>
                  </a:solidFill>
                  <a:latin typeface="Inter"/>
                  <a:ea typeface="Inter"/>
                  <a:cs typeface="Inter"/>
                  <a:sym typeface="Inter"/>
                </a:rPr>
                <a:t>Teaching model. Check stability before comparing layouts.</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900"/>
                </a:spcBef>
                <a:spcAft>
                  <a:spcPts val="0"/>
                </a:spcAft>
                <a:buNone/>
              </a:pPr>
              <a:r>
                <a:rPr b="1" i="0" lang="en-GB" sz="750" u="none" strike="noStrike">
                  <a:solidFill>
                    <a:srgbClr val="5A626A"/>
                  </a:solidFill>
                  <a:highlight>
                    <a:srgbClr val="F8F9FA"/>
                  </a:highlight>
                  <a:latin typeface="JetBrains Mono"/>
                  <a:ea typeface="JetBrains Mono"/>
                  <a:cs typeface="JetBrains Mono"/>
                  <a:sym typeface="JetBrains Mono"/>
                </a:rPr>
                <a:t>OUTPUT METRICS:</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300"/>
                </a:spcBef>
                <a:spcAft>
                  <a:spcPts val="0"/>
                </a:spcAft>
                <a:buNone/>
              </a:pPr>
              <a:r>
                <a:rPr b="0" i="0" lang="en-GB" sz="750" u="none" strike="noStrike">
                  <a:solidFill>
                    <a:srgbClr val="5A626A"/>
                  </a:solidFill>
                  <a:highlight>
                    <a:srgbClr val="F8F9FA"/>
                  </a:highlight>
                  <a:latin typeface="JetBrains Mono"/>
                  <a:ea typeface="JetBrains Mono"/>
                  <a:cs typeface="JetBrains Mono"/>
                  <a:sym typeface="JetBrains Mono"/>
                </a:rPr>
                <a:t>• </a:t>
              </a:r>
              <a:r>
                <a:rPr lang="en-GB" sz="750">
                  <a:solidFill>
                    <a:srgbClr val="5A626A"/>
                  </a:solidFill>
                  <a:highlight>
                    <a:srgbClr val="F8F9FA"/>
                  </a:highlight>
                  <a:latin typeface="JetBrains Mono"/>
                  <a:ea typeface="JetBrains Mono"/>
                  <a:cs typeface="JetBrains Mono"/>
                  <a:sym typeface="JetBrains Mono"/>
                </a:rPr>
                <a:t>Relative speed</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150"/>
                </a:spcBef>
                <a:spcAft>
                  <a:spcPts val="0"/>
                </a:spcAft>
                <a:buNone/>
              </a:pPr>
              <a:r>
                <a:rPr b="0" i="0" lang="en-GB" sz="750" u="none" strike="noStrike">
                  <a:solidFill>
                    <a:srgbClr val="5A626A"/>
                  </a:solidFill>
                  <a:highlight>
                    <a:srgbClr val="F8F9FA"/>
                  </a:highlight>
                  <a:latin typeface="JetBrains Mono"/>
                  <a:ea typeface="JetBrains Mono"/>
                  <a:cs typeface="JetBrains Mono"/>
                  <a:sym typeface="JetBrains Mono"/>
                </a:rPr>
                <a:t>• </a:t>
              </a:r>
              <a:r>
                <a:rPr lang="en-GB" sz="750">
                  <a:solidFill>
                    <a:srgbClr val="5A626A"/>
                  </a:solidFill>
                  <a:highlight>
                    <a:srgbClr val="F8F9FA"/>
                  </a:highlight>
                  <a:latin typeface="JetBrains Mono"/>
                  <a:ea typeface="JetBrains Mono"/>
                  <a:cs typeface="JetBrains Mono"/>
                  <a:sym typeface="JetBrains Mono"/>
                </a:rPr>
                <a:t>Velocity vectors</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150"/>
                </a:spcBef>
                <a:spcAft>
                  <a:spcPts val="0"/>
                </a:spcAft>
                <a:buNone/>
              </a:pPr>
              <a:r>
                <a:rPr b="0" i="0" lang="en-GB" sz="750" u="none" strike="noStrike">
                  <a:solidFill>
                    <a:srgbClr val="5A626A"/>
                  </a:solidFill>
                  <a:highlight>
                    <a:srgbClr val="F8F9FA"/>
                  </a:highlight>
                  <a:latin typeface="JetBrains Mono"/>
                  <a:ea typeface="JetBrains Mono"/>
                  <a:cs typeface="JetBrains Mono"/>
                  <a:sym typeface="JetBrains Mono"/>
                </a:rPr>
                <a:t>• </a:t>
              </a:r>
              <a:r>
                <a:rPr lang="en-GB" sz="750">
                  <a:solidFill>
                    <a:srgbClr val="5A626A"/>
                  </a:solidFill>
                  <a:highlight>
                    <a:srgbClr val="F8F9FA"/>
                  </a:highlight>
                  <a:latin typeface="JetBrains Mono"/>
                  <a:ea typeface="JetBrains Mono"/>
                  <a:cs typeface="JetBrains Mono"/>
                  <a:sym typeface="JetBrains Mono"/>
                </a:rPr>
                <a:t>Wake pattern</a:t>
              </a:r>
              <a:endParaRPr b="1" i="0" sz="750" u="none" strike="noStrike">
                <a:solidFill>
                  <a:srgbClr val="D9381E"/>
                </a:solidFill>
                <a:latin typeface="JetBrains Mono"/>
                <a:ea typeface="JetBrains Mono"/>
                <a:cs typeface="JetBrains Mono"/>
                <a:sym typeface="JetBrains Mono"/>
              </a:endParaRPr>
            </a:p>
          </p:txBody>
        </p:sp>
      </p:grpSp>
      <p:grpSp>
        <p:nvGrpSpPr>
          <p:cNvPr id="861" name="Google Shape;861;p37"/>
          <p:cNvGrpSpPr/>
          <p:nvPr/>
        </p:nvGrpSpPr>
        <p:grpSpPr>
          <a:xfrm>
            <a:off x="381000" y="4667250"/>
            <a:ext cx="8382000" cy="304800"/>
            <a:chOff x="381000" y="4667250"/>
            <a:chExt cx="8382000" cy="304800"/>
          </a:xfrm>
        </p:grpSpPr>
        <p:cxnSp>
          <p:nvCxnSpPr>
            <p:cNvPr id="862" name="Google Shape;862;p37"/>
            <p:cNvCxnSpPr/>
            <p:nvPr/>
          </p:nvCxnSpPr>
          <p:spPr>
            <a:xfrm>
              <a:off x="381000" y="466725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863" name="Google Shape;863;p37"/>
            <p:cNvSpPr txBox="1"/>
            <p:nvPr/>
          </p:nvSpPr>
          <p:spPr>
            <a:xfrm>
              <a:off x="381000" y="47815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pic>
        <p:nvPicPr>
          <p:cNvPr id="868" name="Google Shape;868;p38" title="05-lbm-to-grasshopper.mp4">
            <a:hlinkClick r:id="rId3"/>
          </p:cNvPr>
          <p:cNvPicPr preferRelativeResize="0"/>
          <p:nvPr/>
        </p:nvPicPr>
        <p:blipFill>
          <a:blip r:embed="rId4">
            <a:alphaModFix/>
          </a:blip>
          <a:stretch>
            <a:fillRect/>
          </a:stretch>
        </p:blipFill>
        <p:spPr>
          <a:xfrm>
            <a:off x="152400" y="152400"/>
            <a:ext cx="8602133"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8"/>
                                        </p:tgtEl>
                                        <p:attrNameLst>
                                          <p:attrName>style.visibility</p:attrName>
                                        </p:attrNameLst>
                                      </p:cBhvr>
                                      <p:to>
                                        <p:strVal val="visible"/>
                                      </p:to>
                                    </p:set>
                                    <p:animEffect filter="fade" transition="in">
                                      <p:cBhvr>
                                        <p:cTn dur="1000"/>
                                        <p:tgtEl>
                                          <p:spTgt spid="8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39"/>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GB" sz="1581" u="none" strike="noStrike">
                <a:solidFill>
                  <a:srgbClr val="111315"/>
                </a:solidFill>
                <a:latin typeface="Space Grotesk"/>
                <a:ea typeface="Space Grotesk"/>
                <a:cs typeface="Space Grotesk"/>
                <a:sym typeface="Space Grotesk"/>
              </a:rPr>
              <a:t>System Example 2C: Extracting Regulatory Constraints for Grasshopper Models</a:t>
            </a:r>
            <a:endParaRPr b="0" i="0" sz="1581" u="none" strike="noStrike">
              <a:solidFill>
                <a:srgbClr val="111315"/>
              </a:solidFill>
              <a:latin typeface="Space Grotesk"/>
              <a:ea typeface="Space Grotesk"/>
              <a:cs typeface="Space Grotesk"/>
              <a:sym typeface="Space Grotesk"/>
            </a:endParaRPr>
          </a:p>
        </p:txBody>
      </p:sp>
      <p:grpSp>
        <p:nvGrpSpPr>
          <p:cNvPr id="874" name="Google Shape;874;p39"/>
          <p:cNvGrpSpPr/>
          <p:nvPr/>
        </p:nvGrpSpPr>
        <p:grpSpPr>
          <a:xfrm>
            <a:off x="381000" y="952500"/>
            <a:ext cx="8382000" cy="495300"/>
            <a:chOff x="0" y="0"/>
            <a:chExt cx="8382000" cy="495300"/>
          </a:xfrm>
        </p:grpSpPr>
        <p:sp>
          <p:nvSpPr>
            <p:cNvPr id="875" name="Google Shape;875;p39"/>
            <p:cNvSpPr/>
            <p:nvPr/>
          </p:nvSpPr>
          <p:spPr>
            <a:xfrm>
              <a:off x="0" y="0"/>
              <a:ext cx="8382000" cy="495300"/>
            </a:xfrm>
            <a:prstGeom prst="rect">
              <a:avLst/>
            </a:prstGeom>
            <a:solidFill>
              <a:srgbClr val="FFFFFF"/>
            </a:solidFill>
            <a:ln cap="flat" cmpd="sng" w="9525">
              <a:solidFill>
                <a:srgbClr val="E9ECE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876" name="Google Shape;876;p39"/>
            <p:cNvCxnSpPr/>
            <p:nvPr/>
          </p:nvCxnSpPr>
          <p:spPr>
            <a:xfrm>
              <a:off x="0" y="0"/>
              <a:ext cx="0" cy="495300"/>
            </a:xfrm>
            <a:prstGeom prst="straightConnector1">
              <a:avLst/>
            </a:prstGeom>
            <a:solidFill>
              <a:srgbClr val="FFFFFF"/>
            </a:solidFill>
            <a:ln cap="flat" cmpd="sng" w="38100">
              <a:solidFill>
                <a:srgbClr val="1D4ED8"/>
              </a:solidFill>
              <a:prstDash val="solid"/>
              <a:round/>
              <a:headEnd len="sm" w="sm" type="none"/>
              <a:tailEnd len="sm" w="sm" type="none"/>
            </a:ln>
          </p:spPr>
        </p:cxnSp>
        <p:sp>
          <p:nvSpPr>
            <p:cNvPr id="877" name="Google Shape;877;p39"/>
            <p:cNvSpPr txBox="1"/>
            <p:nvPr/>
          </p:nvSpPr>
          <p:spPr>
            <a:xfrm>
              <a:off x="190500" y="95250"/>
              <a:ext cx="800100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GB" sz="971" u="none" strike="noStrike">
                  <a:solidFill>
                    <a:srgbClr val="111315"/>
                  </a:solidFill>
                  <a:latin typeface="Inter"/>
                  <a:ea typeface="Inter"/>
                  <a:cs typeface="Inter"/>
                  <a:sym typeface="Inter"/>
                </a:rPr>
                <a:t>Function:</a:t>
              </a:r>
              <a:r>
                <a:rPr b="0" i="0" lang="en-GB" sz="971" u="none" strike="noStrike">
                  <a:solidFill>
                    <a:srgbClr val="111315"/>
                  </a:solidFill>
                  <a:latin typeface="Inter"/>
                  <a:ea typeface="Inter"/>
                  <a:cs typeface="Inter"/>
                  <a:sym typeface="Inter"/>
                </a:rPr>
                <a:t> Models extract quantitative constraints from regulatory texts to define parametric building envelopes.</a:t>
              </a:r>
              <a:endParaRPr b="1" i="0" sz="971" u="none" strike="noStrike">
                <a:solidFill>
                  <a:srgbClr val="111315"/>
                </a:solidFill>
                <a:latin typeface="Inter"/>
                <a:ea typeface="Inter"/>
                <a:cs typeface="Inter"/>
                <a:sym typeface="Inter"/>
              </a:endParaRPr>
            </a:p>
          </p:txBody>
        </p:sp>
      </p:grpSp>
      <p:grpSp>
        <p:nvGrpSpPr>
          <p:cNvPr id="878" name="Google Shape;878;p39"/>
          <p:cNvGrpSpPr/>
          <p:nvPr/>
        </p:nvGrpSpPr>
        <p:grpSpPr>
          <a:xfrm>
            <a:off x="571500" y="1762125"/>
            <a:ext cx="8001000" cy="1743075"/>
            <a:chOff x="571500" y="1762125"/>
            <a:chExt cx="8001000" cy="1743075"/>
          </a:xfrm>
        </p:grpSpPr>
        <p:grpSp>
          <p:nvGrpSpPr>
            <p:cNvPr id="879" name="Google Shape;879;p39"/>
            <p:cNvGrpSpPr/>
            <p:nvPr/>
          </p:nvGrpSpPr>
          <p:grpSpPr>
            <a:xfrm>
              <a:off x="571500" y="1762125"/>
              <a:ext cx="2286000" cy="1428900"/>
              <a:chOff x="0" y="0"/>
              <a:chExt cx="2286000" cy="1428900"/>
            </a:xfrm>
          </p:grpSpPr>
          <p:sp>
            <p:nvSpPr>
              <p:cNvPr id="880" name="Google Shape;880;p39"/>
              <p:cNvSpPr/>
              <p:nvPr/>
            </p:nvSpPr>
            <p:spPr>
              <a:xfrm>
                <a:off x="0" y="0"/>
                <a:ext cx="2286000" cy="14289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881" name="Google Shape;881;p39"/>
              <p:cNvCxnSpPr/>
              <p:nvPr/>
            </p:nvCxnSpPr>
            <p:spPr>
              <a:xfrm>
                <a:off x="0" y="0"/>
                <a:ext cx="2286000" cy="0"/>
              </a:xfrm>
              <a:prstGeom prst="straightConnector1">
                <a:avLst/>
              </a:prstGeom>
              <a:solidFill>
                <a:srgbClr val="FFFFFF"/>
              </a:solidFill>
              <a:ln cap="flat" cmpd="sng" w="28575">
                <a:solidFill>
                  <a:srgbClr val="1D4ED8"/>
                </a:solidFill>
                <a:prstDash val="solid"/>
                <a:round/>
                <a:headEnd len="sm" w="sm" type="none"/>
                <a:tailEnd len="sm" w="sm" type="none"/>
              </a:ln>
            </p:spPr>
          </p:cxnSp>
          <p:sp>
            <p:nvSpPr>
              <p:cNvPr id="882" name="Google Shape;882;p39"/>
              <p:cNvSpPr txBox="1"/>
              <p:nvPr/>
            </p:nvSpPr>
            <p:spPr>
              <a:xfrm>
                <a:off x="152400" y="152400"/>
                <a:ext cx="19812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1D4ED8"/>
                    </a:solidFill>
                    <a:latin typeface="JetBrains Mono"/>
                    <a:ea typeface="JetBrains Mono"/>
                    <a:cs typeface="JetBrains Mono"/>
                    <a:sym typeface="JetBrains Mono"/>
                  </a:rPr>
                  <a:t>[INPUT 01]</a:t>
                </a:r>
                <a:endParaRPr b="0" sz="750">
                  <a:solidFill>
                    <a:srgbClr val="1D4ED8"/>
                  </a:solidFill>
                  <a:latin typeface="JetBrains Mono"/>
                  <a:ea typeface="JetBrains Mono"/>
                  <a:cs typeface="JetBrains Mono"/>
                  <a:sym typeface="JetBrains Mono"/>
                </a:endParaRPr>
              </a:p>
              <a:p>
                <a:pPr indent="0" lvl="0" marL="0" rtl="0" algn="l">
                  <a:spcBef>
                    <a:spcPts val="600"/>
                  </a:spcBef>
                  <a:spcAft>
                    <a:spcPts val="0"/>
                  </a:spcAft>
                  <a:buNone/>
                </a:pPr>
                <a:r>
                  <a:rPr b="1" lang="en-GB" sz="1050">
                    <a:solidFill>
                      <a:srgbClr val="111315"/>
                    </a:solidFill>
                    <a:latin typeface="Inter"/>
                    <a:ea typeface="Inter"/>
                    <a:cs typeface="Inter"/>
                    <a:sym typeface="Inter"/>
                  </a:rPr>
                  <a:t>Toronto RD Zoning Rules</a:t>
                </a:r>
                <a:endParaRPr b="1" sz="1050">
                  <a:solidFill>
                    <a:srgbClr val="111315"/>
                  </a:solidFill>
                  <a:latin typeface="Inter"/>
                  <a:ea typeface="Inter"/>
                  <a:cs typeface="Inter"/>
                  <a:sym typeface="Inter"/>
                </a:endParaRPr>
              </a:p>
              <a:p>
                <a:pPr indent="0" lvl="0" marL="0" rtl="0" algn="l">
                  <a:spcBef>
                    <a:spcPts val="600"/>
                  </a:spcBef>
                  <a:spcAft>
                    <a:spcPts val="0"/>
                  </a:spcAft>
                  <a:buNone/>
                </a:pPr>
                <a:r>
                  <a:rPr lang="en-GB" sz="750">
                    <a:solidFill>
                      <a:srgbClr val="5A626A"/>
                    </a:solidFill>
                    <a:latin typeface="JetBrains Mono"/>
                    <a:ea typeface="JetBrains Mono"/>
                    <a:cs typeface="JetBrains Mono"/>
                    <a:sym typeface="JetBrains Mono"/>
                  </a:rPr>
                  <a:t>Selected Toronto clauses. Fictional 15 x 36 m lot.</a:t>
                </a:r>
                <a:endParaRPr b="0" sz="750">
                  <a:solidFill>
                    <a:srgbClr val="5A626A"/>
                  </a:solidFill>
                  <a:latin typeface="JetBrains Mono"/>
                  <a:ea typeface="JetBrains Mono"/>
                  <a:cs typeface="JetBrains Mono"/>
                  <a:sym typeface="JetBrains Mono"/>
                </a:endParaRPr>
              </a:p>
            </p:txBody>
          </p:sp>
        </p:grpSp>
        <p:grpSp>
          <p:nvGrpSpPr>
            <p:cNvPr id="883" name="Google Shape;883;p39"/>
            <p:cNvGrpSpPr/>
            <p:nvPr/>
          </p:nvGrpSpPr>
          <p:grpSpPr>
            <a:xfrm>
              <a:off x="2952750" y="2438400"/>
              <a:ext cx="438150" cy="76200"/>
              <a:chOff x="95250" y="-38100"/>
              <a:chExt cx="438150" cy="76200"/>
            </a:xfrm>
          </p:grpSpPr>
          <p:cxnSp>
            <p:nvCxnSpPr>
              <p:cNvPr id="884" name="Google Shape;884;p39"/>
              <p:cNvCxnSpPr/>
              <p:nvPr/>
            </p:nvCxnSpPr>
            <p:spPr>
              <a:xfrm>
                <a:off x="95250" y="0"/>
                <a:ext cx="3621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885" name="Google Shape;885;p39"/>
              <p:cNvSpPr/>
              <p:nvPr/>
            </p:nvSpPr>
            <p:spPr>
              <a:xfrm>
                <a:off x="457200" y="-381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886" name="Google Shape;886;p39"/>
            <p:cNvGrpSpPr/>
            <p:nvPr/>
          </p:nvGrpSpPr>
          <p:grpSpPr>
            <a:xfrm>
              <a:off x="3429000" y="1762125"/>
              <a:ext cx="2286000" cy="1428900"/>
              <a:chOff x="0" y="0"/>
              <a:chExt cx="2286000" cy="1428900"/>
            </a:xfrm>
          </p:grpSpPr>
          <p:sp>
            <p:nvSpPr>
              <p:cNvPr id="887" name="Google Shape;887;p39"/>
              <p:cNvSpPr/>
              <p:nvPr/>
            </p:nvSpPr>
            <p:spPr>
              <a:xfrm>
                <a:off x="0" y="0"/>
                <a:ext cx="2286000" cy="1428900"/>
              </a:xfrm>
              <a:prstGeom prst="rect">
                <a:avLst/>
              </a:prstGeom>
              <a:solidFill>
                <a:srgbClr val="FFFFFF"/>
              </a:solidFill>
              <a:ln cap="flat" cmpd="sng" w="14300">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888" name="Google Shape;888;p39"/>
              <p:cNvCxnSpPr/>
              <p:nvPr/>
            </p:nvCxnSpPr>
            <p:spPr>
              <a:xfrm>
                <a:off x="0" y="0"/>
                <a:ext cx="2286000" cy="0"/>
              </a:xfrm>
              <a:prstGeom prst="straightConnector1">
                <a:avLst/>
              </a:prstGeom>
              <a:solidFill>
                <a:srgbClr val="FFFFFF"/>
              </a:solidFill>
              <a:ln cap="flat" cmpd="sng" w="28575">
                <a:solidFill>
                  <a:srgbClr val="D9381E"/>
                </a:solidFill>
                <a:prstDash val="solid"/>
                <a:round/>
                <a:headEnd len="sm" w="sm" type="none"/>
                <a:tailEnd len="sm" w="sm" type="none"/>
              </a:ln>
            </p:spPr>
          </p:cxnSp>
          <p:sp>
            <p:nvSpPr>
              <p:cNvPr id="889" name="Google Shape;889;p39"/>
              <p:cNvSpPr txBox="1"/>
              <p:nvPr/>
            </p:nvSpPr>
            <p:spPr>
              <a:xfrm>
                <a:off x="152400" y="152400"/>
                <a:ext cx="1981200" cy="11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GB" sz="750" u="none" strike="noStrike">
                    <a:solidFill>
                      <a:srgbClr val="D9381E"/>
                    </a:solidFill>
                    <a:latin typeface="JetBrains Mono"/>
                    <a:ea typeface="JetBrains Mono"/>
                    <a:cs typeface="JetBrains Mono"/>
                    <a:sym typeface="JetBrains Mono"/>
                  </a:rPr>
                  <a:t>[DATA PROCESSING 02]</a:t>
                </a:r>
                <a:endParaRPr b="0"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b="1" i="0" lang="en-GB" sz="1050" u="none" strike="noStrike">
                    <a:solidFill>
                      <a:srgbClr val="111315"/>
                    </a:solidFill>
                    <a:latin typeface="Inter"/>
                    <a:ea typeface="Inter"/>
                    <a:cs typeface="Inter"/>
                    <a:sym typeface="Inter"/>
                  </a:rPr>
                  <a:t>Text Parsing</a:t>
                </a:r>
                <a:endParaRPr b="0"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lang="en-GB" sz="975">
                    <a:solidFill>
                      <a:srgbClr val="111315"/>
                    </a:solidFill>
                    <a:latin typeface="Inter"/>
                    <a:ea typeface="Inter"/>
                    <a:cs typeface="Inter"/>
                    <a:sym typeface="Inter"/>
                  </a:rPr>
                  <a:t>Check each clause. Declare the zone, setbacks and coverage assumptions.</a:t>
                </a:r>
                <a:endParaRPr b="0" i="0" sz="750" u="none" strike="noStrike">
                  <a:solidFill>
                    <a:srgbClr val="D9381E"/>
                  </a:solidFill>
                  <a:latin typeface="JetBrains Mono"/>
                  <a:ea typeface="JetBrains Mono"/>
                  <a:cs typeface="JetBrains Mono"/>
                  <a:sym typeface="JetBrains Mono"/>
                </a:endParaRPr>
              </a:p>
            </p:txBody>
          </p:sp>
        </p:grpSp>
        <p:grpSp>
          <p:nvGrpSpPr>
            <p:cNvPr id="890" name="Google Shape;890;p39"/>
            <p:cNvGrpSpPr/>
            <p:nvPr/>
          </p:nvGrpSpPr>
          <p:grpSpPr>
            <a:xfrm>
              <a:off x="5810250" y="2438400"/>
              <a:ext cx="438150" cy="76200"/>
              <a:chOff x="95250" y="-38100"/>
              <a:chExt cx="438150" cy="76200"/>
            </a:xfrm>
          </p:grpSpPr>
          <p:cxnSp>
            <p:nvCxnSpPr>
              <p:cNvPr id="891" name="Google Shape;891;p39"/>
              <p:cNvCxnSpPr/>
              <p:nvPr/>
            </p:nvCxnSpPr>
            <p:spPr>
              <a:xfrm>
                <a:off x="95250" y="0"/>
                <a:ext cx="362100" cy="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892" name="Google Shape;892;p39"/>
              <p:cNvSpPr/>
              <p:nvPr/>
            </p:nvSpPr>
            <p:spPr>
              <a:xfrm>
                <a:off x="457200" y="-38100"/>
                <a:ext cx="76200" cy="76200"/>
              </a:xfrm>
              <a:custGeom>
                <a:rect b="b" l="l" r="r" t="t"/>
                <a:pathLst>
                  <a:path extrusionOk="0" h="120000" w="120000">
                    <a:moveTo>
                      <a:pt x="0" y="0"/>
                    </a:moveTo>
                    <a:lnTo>
                      <a:pt x="120000" y="60000"/>
                    </a:lnTo>
                    <a:lnTo>
                      <a:pt x="0" y="12000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893" name="Google Shape;893;p39"/>
            <p:cNvGrpSpPr/>
            <p:nvPr/>
          </p:nvGrpSpPr>
          <p:grpSpPr>
            <a:xfrm>
              <a:off x="6286500" y="1762125"/>
              <a:ext cx="2286000" cy="1428900"/>
              <a:chOff x="0" y="0"/>
              <a:chExt cx="2286000" cy="1428900"/>
            </a:xfrm>
          </p:grpSpPr>
          <p:sp>
            <p:nvSpPr>
              <p:cNvPr id="894" name="Google Shape;894;p39"/>
              <p:cNvSpPr/>
              <p:nvPr/>
            </p:nvSpPr>
            <p:spPr>
              <a:xfrm>
                <a:off x="0" y="0"/>
                <a:ext cx="2286000" cy="14289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895" name="Google Shape;895;p39"/>
              <p:cNvCxnSpPr/>
              <p:nvPr/>
            </p:nvCxnSpPr>
            <p:spPr>
              <a:xfrm>
                <a:off x="0" y="0"/>
                <a:ext cx="2286000" cy="0"/>
              </a:xfrm>
              <a:prstGeom prst="straightConnector1">
                <a:avLst/>
              </a:prstGeom>
              <a:solidFill>
                <a:srgbClr val="FFFFFF"/>
              </a:solidFill>
              <a:ln cap="flat" cmpd="sng" w="28575">
                <a:solidFill>
                  <a:srgbClr val="1D4ED8"/>
                </a:solidFill>
                <a:prstDash val="solid"/>
                <a:round/>
                <a:headEnd len="sm" w="sm" type="none"/>
                <a:tailEnd len="sm" w="sm" type="none"/>
              </a:ln>
            </p:spPr>
          </p:cxnSp>
          <p:sp>
            <p:nvSpPr>
              <p:cNvPr id="896" name="Google Shape;896;p39"/>
              <p:cNvSpPr txBox="1"/>
              <p:nvPr/>
            </p:nvSpPr>
            <p:spPr>
              <a:xfrm>
                <a:off x="152400" y="152400"/>
                <a:ext cx="1981200" cy="11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GB" sz="750" u="none" strike="noStrike">
                    <a:solidFill>
                      <a:srgbClr val="1D4ED8"/>
                    </a:solidFill>
                    <a:latin typeface="JetBrains Mono"/>
                    <a:ea typeface="JetBrains Mono"/>
                    <a:cs typeface="JetBrains Mono"/>
                    <a:sym typeface="JetBrains Mono"/>
                  </a:rPr>
                  <a:t>[OUTPUT 03]</a:t>
                </a:r>
                <a:endParaRPr b="0"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b="1" i="0" lang="en-GB" sz="1050" u="none" strike="noStrike">
                    <a:solidFill>
                      <a:srgbClr val="111315"/>
                    </a:solidFill>
                    <a:latin typeface="Inter"/>
                    <a:ea typeface="Inter"/>
                    <a:cs typeface="Inter"/>
                    <a:sym typeface="Inter"/>
                  </a:rPr>
                  <a:t>Grasshopper 3D Model</a:t>
                </a:r>
                <a:endParaRPr b="0"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lang="en-GB" sz="750">
                    <a:solidFill>
                      <a:srgbClr val="5A626A"/>
                    </a:solidFill>
                    <a:latin typeface="JetBrains Mono"/>
                    <a:ea typeface="JetBrains Mono"/>
                    <a:cs typeface="JetBrains Mono"/>
                    <a:sym typeface="JetBrains Mono"/>
                  </a:rPr>
                  <a:t>Change lot depth to 30 m. Recompute setbacks and house size.</a:t>
                </a:r>
                <a:endParaRPr b="0" i="0" sz="750" u="none" strike="noStrike">
                  <a:solidFill>
                    <a:srgbClr val="1D4ED8"/>
                  </a:solidFill>
                  <a:latin typeface="JetBrains Mono"/>
                  <a:ea typeface="JetBrains Mono"/>
                  <a:cs typeface="JetBrains Mono"/>
                  <a:sym typeface="JetBrains Mono"/>
                </a:endParaRPr>
              </a:p>
            </p:txBody>
          </p:sp>
        </p:grpSp>
        <p:sp>
          <p:nvSpPr>
            <p:cNvPr id="897" name="Google Shape;897;p39"/>
            <p:cNvSpPr txBox="1"/>
            <p:nvPr/>
          </p:nvSpPr>
          <p:spPr>
            <a:xfrm>
              <a:off x="571500" y="3314700"/>
              <a:ext cx="22860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5A626A"/>
                  </a:solidFill>
                  <a:latin typeface="JetBrains Mono"/>
                  <a:ea typeface="JetBrains Mono"/>
                  <a:cs typeface="JetBrains Mono"/>
                  <a:sym typeface="JetBrains Mono"/>
                </a:rPr>
                <a:t>Format: Unstructured PDF / Text</a:t>
              </a:r>
              <a:endParaRPr b="0" sz="750">
                <a:solidFill>
                  <a:srgbClr val="5A626A"/>
                </a:solidFill>
                <a:latin typeface="JetBrains Mono"/>
                <a:ea typeface="JetBrains Mono"/>
                <a:cs typeface="JetBrains Mono"/>
                <a:sym typeface="JetBrains Mono"/>
              </a:endParaRPr>
            </a:p>
          </p:txBody>
        </p:sp>
        <p:sp>
          <p:nvSpPr>
            <p:cNvPr id="898" name="Google Shape;898;p39"/>
            <p:cNvSpPr txBox="1"/>
            <p:nvPr/>
          </p:nvSpPr>
          <p:spPr>
            <a:xfrm>
              <a:off x="3429000" y="3314700"/>
              <a:ext cx="22860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D9381E"/>
                  </a:solidFill>
                  <a:latin typeface="JetBrains Mono"/>
                  <a:ea typeface="JetBrains Mono"/>
                  <a:cs typeface="JetBrains Mono"/>
                  <a:sym typeface="JetBrains Mono"/>
                </a:rPr>
                <a:t>Structured Data Extraction</a:t>
              </a:r>
              <a:endParaRPr b="0" sz="750">
                <a:solidFill>
                  <a:srgbClr val="D9381E"/>
                </a:solidFill>
                <a:latin typeface="JetBrains Mono"/>
                <a:ea typeface="JetBrains Mono"/>
                <a:cs typeface="JetBrains Mono"/>
                <a:sym typeface="JetBrains Mono"/>
              </a:endParaRPr>
            </a:p>
          </p:txBody>
        </p:sp>
        <p:sp>
          <p:nvSpPr>
            <p:cNvPr id="899" name="Google Shape;899;p39"/>
            <p:cNvSpPr txBox="1"/>
            <p:nvPr/>
          </p:nvSpPr>
          <p:spPr>
            <a:xfrm>
              <a:off x="6286500" y="3314700"/>
              <a:ext cx="22860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GB" sz="750" u="none" strike="noStrike">
                  <a:solidFill>
                    <a:srgbClr val="5A626A"/>
                  </a:solidFill>
                  <a:latin typeface="JetBrains Mono"/>
                  <a:ea typeface="JetBrains Mono"/>
                  <a:cs typeface="JetBrains Mono"/>
                  <a:sym typeface="JetBrains Mono"/>
                </a:rPr>
                <a:t>3D Parametric Volume</a:t>
              </a:r>
              <a:endParaRPr b="0" i="0" sz="750" u="none" strike="noStrike">
                <a:solidFill>
                  <a:srgbClr val="5A626A"/>
                </a:solidFill>
                <a:latin typeface="JetBrains Mono"/>
                <a:ea typeface="JetBrains Mono"/>
                <a:cs typeface="JetBrains Mono"/>
                <a:sym typeface="JetBrains Mono"/>
              </a:endParaRPr>
            </a:p>
          </p:txBody>
        </p:sp>
      </p:grpSp>
      <p:sp>
        <p:nvSpPr>
          <p:cNvPr id="900" name="Google Shape;900;p39"/>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0" i="0" lang="en-GB" sz="750" u="none" strike="noStrike">
                <a:solidFill>
                  <a:srgbClr val="5A626A"/>
                </a:solidFill>
                <a:latin typeface="JetBrains Mono"/>
                <a:ea typeface="JetBrains Mono"/>
                <a:cs typeface="JetBrains Mono"/>
                <a:sym typeface="JetBrains Mono"/>
              </a:rPr>
              <a:t>Process: Regulatory Document → Parameter Extraction → Parametric Boundary Generation</a:t>
            </a:r>
            <a:endParaRPr b="0" i="0" sz="750" u="none" strike="noStrike">
              <a:solidFill>
                <a:srgbClr val="5A626A"/>
              </a:solidFill>
              <a:latin typeface="JetBrains Mono"/>
              <a:ea typeface="JetBrains Mono"/>
              <a:cs typeface="JetBrains Mono"/>
              <a:sym typeface="JetBrains Mono"/>
            </a:endParaRPr>
          </a:p>
        </p:txBody>
      </p:sp>
      <p:grpSp>
        <p:nvGrpSpPr>
          <p:cNvPr id="901" name="Google Shape;901;p39"/>
          <p:cNvGrpSpPr/>
          <p:nvPr/>
        </p:nvGrpSpPr>
        <p:grpSpPr>
          <a:xfrm>
            <a:off x="381000" y="4762500"/>
            <a:ext cx="8382000" cy="285750"/>
            <a:chOff x="381000" y="4762500"/>
            <a:chExt cx="8382000" cy="285750"/>
          </a:xfrm>
        </p:grpSpPr>
        <p:cxnSp>
          <p:nvCxnSpPr>
            <p:cNvPr id="902" name="Google Shape;902;p39"/>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903" name="Google Shape;903;p39"/>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pic>
        <p:nvPicPr>
          <p:cNvPr id="908" name="Google Shape;908;p40" title="20-toronto-zoning.mp4">
            <a:hlinkClick r:id="rId3"/>
          </p:cNvPr>
          <p:cNvPicPr preferRelativeResize="0"/>
          <p:nvPr/>
        </p:nvPicPr>
        <p:blipFill>
          <a:blip r:embed="rId4">
            <a:alphaModFix/>
          </a:blip>
          <a:stretch>
            <a:fillRect/>
          </a:stretch>
        </p:blipFill>
        <p:spPr>
          <a:xfrm>
            <a:off x="152400" y="152400"/>
            <a:ext cx="8602133"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1000"/>
                                        <p:tgtEl>
                                          <p:spTgt spid="9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grpSp>
        <p:nvGrpSpPr>
          <p:cNvPr id="913" name="Google Shape;913;p41"/>
          <p:cNvGrpSpPr/>
          <p:nvPr/>
        </p:nvGrpSpPr>
        <p:grpSpPr>
          <a:xfrm>
            <a:off x="2057400" y="2057325"/>
            <a:ext cx="76200" cy="247800"/>
            <a:chOff x="-38100" y="0"/>
            <a:chExt cx="76200" cy="247800"/>
          </a:xfrm>
        </p:grpSpPr>
        <p:cxnSp>
          <p:nvCxnSpPr>
            <p:cNvPr id="914" name="Google Shape;914;p41"/>
            <p:cNvCxnSpPr/>
            <p:nvPr/>
          </p:nvCxnSpPr>
          <p:spPr>
            <a:xfrm>
              <a:off x="0" y="0"/>
              <a:ext cx="0" cy="19050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915" name="Google Shape;915;p41"/>
            <p:cNvSpPr/>
            <p:nvPr/>
          </p:nvSpPr>
          <p:spPr>
            <a:xfrm>
              <a:off x="-38100" y="190500"/>
              <a:ext cx="76200" cy="57300"/>
            </a:xfrm>
            <a:custGeom>
              <a:rect b="b" l="l" r="r" t="t"/>
              <a:pathLst>
                <a:path extrusionOk="0" h="120000" w="120000">
                  <a:moveTo>
                    <a:pt x="0" y="0"/>
                  </a:moveTo>
                  <a:lnTo>
                    <a:pt x="60000" y="120000"/>
                  </a:lnTo>
                  <a:lnTo>
                    <a:pt x="120000" y="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16" name="Google Shape;916;p41"/>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950">
                <a:solidFill>
                  <a:srgbClr val="111315"/>
                </a:solidFill>
                <a:latin typeface="Space Grotesk"/>
                <a:ea typeface="Space Grotesk"/>
                <a:cs typeface="Space Grotesk"/>
                <a:sym typeface="Space Grotesk"/>
              </a:rPr>
              <a:t>System Example 3: Autodesk Forma (Published Demo)</a:t>
            </a:r>
            <a:endParaRPr b="1" i="0" sz="1950" u="none" strike="noStrike">
              <a:solidFill>
                <a:srgbClr val="111315"/>
              </a:solidFill>
              <a:latin typeface="Space Grotesk"/>
              <a:ea typeface="Space Grotesk"/>
              <a:cs typeface="Space Grotesk"/>
              <a:sym typeface="Space Grotesk"/>
            </a:endParaRPr>
          </a:p>
        </p:txBody>
      </p:sp>
      <p:grpSp>
        <p:nvGrpSpPr>
          <p:cNvPr id="917" name="Google Shape;917;p41"/>
          <p:cNvGrpSpPr/>
          <p:nvPr/>
        </p:nvGrpSpPr>
        <p:grpSpPr>
          <a:xfrm>
            <a:off x="381000" y="1562100"/>
            <a:ext cx="3429000" cy="457200"/>
            <a:chOff x="0" y="0"/>
            <a:chExt cx="3429000" cy="457200"/>
          </a:xfrm>
        </p:grpSpPr>
        <p:sp>
          <p:nvSpPr>
            <p:cNvPr id="918" name="Google Shape;918;p41"/>
            <p:cNvSpPr/>
            <p:nvPr/>
          </p:nvSpPr>
          <p:spPr>
            <a:xfrm>
              <a:off x="0" y="0"/>
              <a:ext cx="3429000" cy="4572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9" name="Google Shape;919;p41"/>
            <p:cNvSpPr txBox="1"/>
            <p:nvPr/>
          </p:nvSpPr>
          <p:spPr>
            <a:xfrm>
              <a:off x="0" y="0"/>
              <a:ext cx="34290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11315"/>
                  </a:solidFill>
                  <a:latin typeface="Inter"/>
                  <a:ea typeface="Inter"/>
                  <a:cs typeface="Inter"/>
                  <a:sym typeface="Inter"/>
                </a:rPr>
                <a:t>Building massing, type and material</a:t>
              </a:r>
              <a:endParaRPr/>
            </a:p>
          </p:txBody>
        </p:sp>
      </p:grpSp>
      <p:grpSp>
        <p:nvGrpSpPr>
          <p:cNvPr id="920" name="Google Shape;920;p41"/>
          <p:cNvGrpSpPr/>
          <p:nvPr/>
        </p:nvGrpSpPr>
        <p:grpSpPr>
          <a:xfrm>
            <a:off x="381000" y="2343150"/>
            <a:ext cx="3429000" cy="457200"/>
            <a:chOff x="0" y="0"/>
            <a:chExt cx="3429000" cy="457200"/>
          </a:xfrm>
        </p:grpSpPr>
        <p:sp>
          <p:nvSpPr>
            <p:cNvPr id="921" name="Google Shape;921;p41"/>
            <p:cNvSpPr/>
            <p:nvPr/>
          </p:nvSpPr>
          <p:spPr>
            <a:xfrm>
              <a:off x="0" y="0"/>
              <a:ext cx="3429000" cy="457200"/>
            </a:xfrm>
            <a:prstGeom prst="rect">
              <a:avLst/>
            </a:prstGeom>
            <a:solidFill>
              <a:srgbClr val="FFFFFF"/>
            </a:solidFill>
            <a:ln cap="flat" cmpd="sng" w="19050">
              <a:solidFill>
                <a:srgbClr val="1D4ED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2" name="Google Shape;922;p41"/>
            <p:cNvSpPr txBox="1"/>
            <p:nvPr/>
          </p:nvSpPr>
          <p:spPr>
            <a:xfrm>
              <a:off x="0" y="0"/>
              <a:ext cx="34290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50">
                  <a:solidFill>
                    <a:srgbClr val="1D4ED8"/>
                  </a:solidFill>
                  <a:latin typeface="Inter"/>
                  <a:ea typeface="Inter"/>
                  <a:cs typeface="Inter"/>
                  <a:sym typeface="Inter"/>
                </a:rPr>
                <a:t>Forma Building Layout Explorer</a:t>
              </a:r>
              <a:endParaRPr/>
            </a:p>
          </p:txBody>
        </p:sp>
      </p:grpSp>
      <p:grpSp>
        <p:nvGrpSpPr>
          <p:cNvPr id="923" name="Google Shape;923;p41"/>
          <p:cNvGrpSpPr/>
          <p:nvPr/>
        </p:nvGrpSpPr>
        <p:grpSpPr>
          <a:xfrm>
            <a:off x="381000" y="3124200"/>
            <a:ext cx="3429000" cy="457200"/>
            <a:chOff x="0" y="0"/>
            <a:chExt cx="3429000" cy="457200"/>
          </a:xfrm>
        </p:grpSpPr>
        <p:sp>
          <p:nvSpPr>
            <p:cNvPr id="924" name="Google Shape;924;p41"/>
            <p:cNvSpPr/>
            <p:nvPr/>
          </p:nvSpPr>
          <p:spPr>
            <a:xfrm>
              <a:off x="0" y="0"/>
              <a:ext cx="3429000" cy="4572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5" name="Google Shape;925;p41"/>
            <p:cNvSpPr txBox="1"/>
            <p:nvPr/>
          </p:nvSpPr>
          <p:spPr>
            <a:xfrm>
              <a:off x="0" y="0"/>
              <a:ext cx="34290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975">
                  <a:solidFill>
                    <a:srgbClr val="111315"/>
                  </a:solidFill>
                  <a:latin typeface="Inter"/>
                  <a:ea typeface="Inter"/>
                  <a:cs typeface="Inter"/>
                  <a:sym typeface="Inter"/>
                </a:rPr>
                <a:t>Floor-plan options (experimental)</a:t>
              </a:r>
              <a:endParaRPr/>
            </a:p>
          </p:txBody>
        </p:sp>
      </p:grpSp>
      <p:grpSp>
        <p:nvGrpSpPr>
          <p:cNvPr id="926" name="Google Shape;926;p41"/>
          <p:cNvGrpSpPr/>
          <p:nvPr/>
        </p:nvGrpSpPr>
        <p:grpSpPr>
          <a:xfrm>
            <a:off x="381000" y="4762500"/>
            <a:ext cx="8382000" cy="285750"/>
            <a:chOff x="381000" y="4762500"/>
            <a:chExt cx="8382000" cy="285750"/>
          </a:xfrm>
        </p:grpSpPr>
        <p:cxnSp>
          <p:nvCxnSpPr>
            <p:cNvPr id="927" name="Google Shape;927;p41"/>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928" name="Google Shape;928;p41"/>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grpSp>
        <p:nvGrpSpPr>
          <p:cNvPr id="929" name="Google Shape;929;p41"/>
          <p:cNvGrpSpPr/>
          <p:nvPr/>
        </p:nvGrpSpPr>
        <p:grpSpPr>
          <a:xfrm>
            <a:off x="2057400" y="2838375"/>
            <a:ext cx="76200" cy="247800"/>
            <a:chOff x="-38100" y="0"/>
            <a:chExt cx="76200" cy="247800"/>
          </a:xfrm>
        </p:grpSpPr>
        <p:cxnSp>
          <p:nvCxnSpPr>
            <p:cNvPr id="930" name="Google Shape;930;p41"/>
            <p:cNvCxnSpPr/>
            <p:nvPr/>
          </p:nvCxnSpPr>
          <p:spPr>
            <a:xfrm>
              <a:off x="0" y="0"/>
              <a:ext cx="0" cy="19050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931" name="Google Shape;931;p41"/>
            <p:cNvSpPr/>
            <p:nvPr/>
          </p:nvSpPr>
          <p:spPr>
            <a:xfrm>
              <a:off x="-38100" y="190500"/>
              <a:ext cx="76200" cy="57300"/>
            </a:xfrm>
            <a:custGeom>
              <a:rect b="b" l="l" r="r" t="t"/>
              <a:pathLst>
                <a:path extrusionOk="0" h="120000" w="120000">
                  <a:moveTo>
                    <a:pt x="0" y="0"/>
                  </a:moveTo>
                  <a:lnTo>
                    <a:pt x="60000" y="120000"/>
                  </a:lnTo>
                  <a:lnTo>
                    <a:pt x="120000" y="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descr="Join us live from Las Vegas for the Day 1 Keynote at AU 2026: The Design &amp; Make Conference.&#10;&#10;Autodesk President and CEO Andrew Anagnost and CTO Raji Arasu take the main stage to share what’s next for Autodesk customers across design, make, and operate, and how new technology can help teams reduce repetitive tasks, work more efficiently, and turn ideas into outcomes with greater speed and confidence.&#10;&#10;Plus, hear Andrew’s conversation with TIME100 AI leader Clara Shih about how agents are reshaping the way organizations work.&#10;&#10;Watch with us here on Tuesday, September 15, starting at 9:00 a.m. PT.&#10;&#10;Explore more AU content ondemand: https://autode.sk/AU2026Digitalyt1.&#10;&#10;For languages other than english, click here: https://autode.sk/Day1-Keynote." id="932" name="Google Shape;932;p41" title="AU 2026: The Design &amp; Make Conference | Day 1 Keynote Livestream | Autodesk">
            <a:hlinkClick r:id="rId3"/>
          </p:cNvPr>
          <p:cNvPicPr preferRelativeResize="0"/>
          <p:nvPr/>
        </p:nvPicPr>
        <p:blipFill>
          <a:blip r:embed="rId4">
            <a:alphaModFix/>
          </a:blip>
          <a:stretch>
            <a:fillRect/>
          </a:stretch>
        </p:blipFill>
        <p:spPr>
          <a:xfrm>
            <a:off x="4191000" y="1285875"/>
            <a:ext cx="4572000" cy="2571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1000"/>
                                        <p:tgtEl>
                                          <p:spTgt spid="9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id="937" name="Google Shape;937;p42" title="21-autodesk-published-demo.mp4">
            <a:hlinkClick r:id="rId3"/>
          </p:cNvPr>
          <p:cNvPicPr preferRelativeResize="0"/>
          <p:nvPr/>
        </p:nvPicPr>
        <p:blipFill>
          <a:blip r:embed="rId4">
            <a:alphaModFix/>
          </a:blip>
          <a:stretch>
            <a:fillRect/>
          </a:stretch>
        </p:blipFill>
        <p:spPr>
          <a:xfrm>
            <a:off x="152400" y="152400"/>
            <a:ext cx="8602133"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7"/>
                                        </p:tgtEl>
                                        <p:attrNameLst>
                                          <p:attrName>style.visibility</p:attrName>
                                        </p:attrNameLst>
                                      </p:cBhvr>
                                      <p:to>
                                        <p:strVal val="visible"/>
                                      </p:to>
                                    </p:set>
                                    <p:animEffect filter="fade" transition="in">
                                      <p:cBhvr>
                                        <p:cTn dur="1000"/>
                                        <p:tgtEl>
                                          <p:spTgt spid="9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43"/>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GB" sz="2400" u="none" strike="noStrike">
                <a:solidFill>
                  <a:srgbClr val="111315"/>
                </a:solidFill>
                <a:latin typeface="Space Grotesk"/>
                <a:ea typeface="Space Grotesk"/>
                <a:cs typeface="Space Grotesk"/>
                <a:sym typeface="Space Grotesk"/>
              </a:rPr>
              <a:t>Computational Optimization: Navier-Stokes Case Study</a:t>
            </a:r>
            <a:endParaRPr b="0" i="0" sz="2400" u="none" strike="noStrike">
              <a:solidFill>
                <a:srgbClr val="111315"/>
              </a:solidFill>
              <a:latin typeface="Space Grotesk"/>
              <a:ea typeface="Space Grotesk"/>
              <a:cs typeface="Space Grotesk"/>
              <a:sym typeface="Space Grotesk"/>
            </a:endParaRPr>
          </a:p>
        </p:txBody>
      </p:sp>
      <p:grpSp>
        <p:nvGrpSpPr>
          <p:cNvPr id="943" name="Google Shape;943;p43"/>
          <p:cNvGrpSpPr/>
          <p:nvPr/>
        </p:nvGrpSpPr>
        <p:grpSpPr>
          <a:xfrm>
            <a:off x="1328738" y="1238250"/>
            <a:ext cx="6486600" cy="2524275"/>
            <a:chOff x="1328738" y="1238250"/>
            <a:chExt cx="6486600" cy="2524275"/>
          </a:xfrm>
        </p:grpSpPr>
        <p:pic>
          <p:nvPicPr>
            <p:cNvPr id="944" name="Google Shape;944;p43"/>
            <p:cNvPicPr preferRelativeResize="0"/>
            <p:nvPr/>
          </p:nvPicPr>
          <p:blipFill rotWithShape="1">
            <a:blip r:embed="rId3">
              <a:alphaModFix/>
            </a:blip>
            <a:srcRect b="0" l="0" r="0" t="0"/>
            <a:stretch/>
          </p:blipFill>
          <p:spPr>
            <a:xfrm>
              <a:off x="1328738" y="2090738"/>
              <a:ext cx="581100" cy="628800"/>
            </a:xfrm>
            <a:prstGeom prst="rect">
              <a:avLst/>
            </a:prstGeom>
            <a:noFill/>
            <a:ln>
              <a:noFill/>
            </a:ln>
          </p:spPr>
        </p:pic>
        <p:pic>
          <p:nvPicPr>
            <p:cNvPr id="945" name="Google Shape;945;p43"/>
            <p:cNvPicPr preferRelativeResize="0"/>
            <p:nvPr/>
          </p:nvPicPr>
          <p:blipFill rotWithShape="1">
            <a:blip r:embed="rId4">
              <a:alphaModFix/>
            </a:blip>
            <a:srcRect b="0" l="0" r="0" t="0"/>
            <a:stretch/>
          </p:blipFill>
          <p:spPr>
            <a:xfrm>
              <a:off x="7234238" y="2090738"/>
              <a:ext cx="581100" cy="628800"/>
            </a:xfrm>
            <a:prstGeom prst="rect">
              <a:avLst/>
            </a:prstGeom>
            <a:noFill/>
            <a:ln>
              <a:noFill/>
            </a:ln>
          </p:spPr>
        </p:pic>
        <p:grpSp>
          <p:nvGrpSpPr>
            <p:cNvPr id="946" name="Google Shape;946;p43"/>
            <p:cNvGrpSpPr/>
            <p:nvPr/>
          </p:nvGrpSpPr>
          <p:grpSpPr>
            <a:xfrm>
              <a:off x="1333500" y="1238250"/>
              <a:ext cx="6477000" cy="857400"/>
              <a:chOff x="0" y="0"/>
              <a:chExt cx="6477000" cy="857400"/>
            </a:xfrm>
          </p:grpSpPr>
          <p:sp>
            <p:nvSpPr>
              <p:cNvPr id="947" name="Google Shape;947;p43"/>
              <p:cNvSpPr/>
              <p:nvPr/>
            </p:nvSpPr>
            <p:spPr>
              <a:xfrm>
                <a:off x="0" y="0"/>
                <a:ext cx="6477000" cy="8574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948" name="Google Shape;948;p43"/>
              <p:cNvCxnSpPr/>
              <p:nvPr/>
            </p:nvCxnSpPr>
            <p:spPr>
              <a:xfrm>
                <a:off x="0" y="0"/>
                <a:ext cx="6477000" cy="0"/>
              </a:xfrm>
              <a:prstGeom prst="straightConnector1">
                <a:avLst/>
              </a:prstGeom>
              <a:solidFill>
                <a:srgbClr val="FFFFFF"/>
              </a:solidFill>
              <a:ln cap="flat" cmpd="sng" w="38100">
                <a:solidFill>
                  <a:srgbClr val="D9381E"/>
                </a:solidFill>
                <a:prstDash val="solid"/>
                <a:round/>
                <a:headEnd len="sm" w="sm" type="none"/>
                <a:tailEnd len="sm" w="sm" type="none"/>
              </a:ln>
            </p:spPr>
          </p:cxnSp>
          <p:sp>
            <p:nvSpPr>
              <p:cNvPr id="949" name="Google Shape;949;p43"/>
              <p:cNvSpPr txBox="1"/>
              <p:nvPr/>
            </p:nvSpPr>
            <p:spPr>
              <a:xfrm>
                <a:off x="190500" y="142875"/>
                <a:ext cx="60960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GB" sz="750" u="none" strike="noStrike">
                    <a:solidFill>
                      <a:srgbClr val="D9381E"/>
                    </a:solidFill>
                    <a:latin typeface="JetBrains Mono"/>
                    <a:ea typeface="JetBrains Mono"/>
                    <a:cs typeface="JetBrains Mono"/>
                    <a:sym typeface="JetBrains Mono"/>
                  </a:rPr>
                  <a:t>PHASE 01 // PROBLEM FORMULATION</a:t>
                </a:r>
                <a:endParaRPr b="0"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300"/>
                  </a:spcBef>
                  <a:spcAft>
                    <a:spcPts val="0"/>
                  </a:spcAft>
                  <a:buNone/>
                </a:pPr>
                <a:r>
                  <a:rPr b="1" i="0" lang="en-GB" sz="1050" u="none" strike="noStrike">
                    <a:solidFill>
                      <a:srgbClr val="111315"/>
                    </a:solidFill>
                    <a:latin typeface="Inter"/>
                    <a:ea typeface="Inter"/>
                    <a:cs typeface="Inter"/>
                    <a:sym typeface="Inter"/>
                  </a:rPr>
                  <a:t>Mathematical formulation</a:t>
                </a:r>
                <a:r>
                  <a:rPr b="0" i="0" lang="en-GB" sz="1050" u="none" strike="noStrike">
                    <a:solidFill>
                      <a:srgbClr val="111315"/>
                    </a:solidFill>
                    <a:latin typeface="Inter"/>
                    <a:ea typeface="Inter"/>
                    <a:cs typeface="Inter"/>
                    <a:sym typeface="Inter"/>
                  </a:rPr>
                  <a:t> defined by Cordoba &amp; Martinez-Zoroa (2023) and Buckmaster &amp; Alpoge (2026).</a:t>
                </a:r>
                <a:endParaRPr b="0" i="0" sz="750" u="none" strike="noStrike">
                  <a:solidFill>
                    <a:srgbClr val="D9381E"/>
                  </a:solidFill>
                  <a:latin typeface="JetBrains Mono"/>
                  <a:ea typeface="JetBrains Mono"/>
                  <a:cs typeface="JetBrains Mono"/>
                  <a:sym typeface="JetBrains Mono"/>
                </a:endParaRPr>
              </a:p>
            </p:txBody>
          </p:sp>
        </p:grpSp>
        <p:grpSp>
          <p:nvGrpSpPr>
            <p:cNvPr id="950" name="Google Shape;950;p43"/>
            <p:cNvGrpSpPr/>
            <p:nvPr/>
          </p:nvGrpSpPr>
          <p:grpSpPr>
            <a:xfrm>
              <a:off x="4533900" y="2190750"/>
              <a:ext cx="76200" cy="476250"/>
              <a:chOff x="-38100" y="0"/>
              <a:chExt cx="76200" cy="476250"/>
            </a:xfrm>
          </p:grpSpPr>
          <p:cxnSp>
            <p:nvCxnSpPr>
              <p:cNvPr id="951" name="Google Shape;951;p43"/>
              <p:cNvCxnSpPr/>
              <p:nvPr/>
            </p:nvCxnSpPr>
            <p:spPr>
              <a:xfrm>
                <a:off x="0" y="0"/>
                <a:ext cx="0" cy="400200"/>
              </a:xfrm>
              <a:prstGeom prst="straightConnector1">
                <a:avLst/>
              </a:prstGeom>
              <a:solidFill>
                <a:srgbClr val="FFFFFF"/>
              </a:solidFill>
              <a:ln cap="flat" cmpd="sng" w="14300">
                <a:solidFill>
                  <a:srgbClr val="111315"/>
                </a:solidFill>
                <a:prstDash val="solid"/>
                <a:round/>
                <a:headEnd len="sm" w="sm" type="none"/>
                <a:tailEnd len="sm" w="sm" type="none"/>
              </a:ln>
            </p:spPr>
          </p:cxnSp>
          <p:sp>
            <p:nvSpPr>
              <p:cNvPr id="952" name="Google Shape;952;p43"/>
              <p:cNvSpPr/>
              <p:nvPr/>
            </p:nvSpPr>
            <p:spPr>
              <a:xfrm>
                <a:off x="-38100" y="400050"/>
                <a:ext cx="76200" cy="76200"/>
              </a:xfrm>
              <a:custGeom>
                <a:rect b="b" l="l" r="r" t="t"/>
                <a:pathLst>
                  <a:path extrusionOk="0" h="120000" w="120000">
                    <a:moveTo>
                      <a:pt x="0" y="0"/>
                    </a:moveTo>
                    <a:lnTo>
                      <a:pt x="60000" y="120000"/>
                    </a:lnTo>
                    <a:lnTo>
                      <a:pt x="120000" y="0"/>
                    </a:lnTo>
                    <a:close/>
                  </a:path>
                </a:pathLst>
              </a:custGeom>
              <a:solidFill>
                <a:srgbClr val="11131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953" name="Google Shape;953;p43"/>
            <p:cNvGrpSpPr/>
            <p:nvPr/>
          </p:nvGrpSpPr>
          <p:grpSpPr>
            <a:xfrm>
              <a:off x="1905000" y="2714625"/>
              <a:ext cx="5334000" cy="1047900"/>
              <a:chOff x="0" y="0"/>
              <a:chExt cx="5334000" cy="1047900"/>
            </a:xfrm>
          </p:grpSpPr>
          <p:sp>
            <p:nvSpPr>
              <p:cNvPr id="954" name="Google Shape;954;p43"/>
              <p:cNvSpPr/>
              <p:nvPr/>
            </p:nvSpPr>
            <p:spPr>
              <a:xfrm>
                <a:off x="0" y="0"/>
                <a:ext cx="5334000" cy="10479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955" name="Google Shape;955;p43"/>
              <p:cNvCxnSpPr/>
              <p:nvPr/>
            </p:nvCxnSpPr>
            <p:spPr>
              <a:xfrm>
                <a:off x="0" y="0"/>
                <a:ext cx="5334000" cy="0"/>
              </a:xfrm>
              <a:prstGeom prst="straightConnector1">
                <a:avLst/>
              </a:prstGeom>
              <a:solidFill>
                <a:srgbClr val="FFFFFF"/>
              </a:solidFill>
              <a:ln cap="flat" cmpd="sng" w="38100">
                <a:solidFill>
                  <a:srgbClr val="1D4ED8"/>
                </a:solidFill>
                <a:prstDash val="solid"/>
                <a:round/>
                <a:headEnd len="sm" w="sm" type="none"/>
                <a:tailEnd len="sm" w="sm" type="none"/>
              </a:ln>
            </p:spPr>
          </p:cxnSp>
          <p:sp>
            <p:nvSpPr>
              <p:cNvPr id="956" name="Google Shape;956;p43"/>
              <p:cNvSpPr txBox="1"/>
              <p:nvPr/>
            </p:nvSpPr>
            <p:spPr>
              <a:xfrm>
                <a:off x="190500" y="142875"/>
                <a:ext cx="4953000" cy="76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GB" sz="750" u="none" strike="noStrike">
                    <a:solidFill>
                      <a:srgbClr val="1D4ED8"/>
                    </a:solidFill>
                    <a:latin typeface="JetBrains Mono"/>
                    <a:ea typeface="JetBrains Mono"/>
                    <a:cs typeface="JetBrains Mono"/>
                    <a:sym typeface="JetBrains Mono"/>
                  </a:rPr>
                  <a:t>PHASE 02 // AUTOMATED SEARCH</a:t>
                </a:r>
                <a:endParaRPr b="0" i="0" sz="750" u="none" strike="noStrike">
                  <a:solidFill>
                    <a:srgbClr val="1D4ED8"/>
                  </a:solidFill>
                  <a:latin typeface="JetBrains Mono"/>
                  <a:ea typeface="JetBrains Mono"/>
                  <a:cs typeface="JetBrains Mono"/>
                  <a:sym typeface="JetBrains Mono"/>
                </a:endParaRPr>
              </a:p>
              <a:p>
                <a:pPr indent="0" lvl="0" marL="0" marR="0" rtl="0" algn="l">
                  <a:lnSpc>
                    <a:spcPct val="100000"/>
                  </a:lnSpc>
                  <a:spcBef>
                    <a:spcPts val="300"/>
                  </a:spcBef>
                  <a:spcAft>
                    <a:spcPts val="0"/>
                  </a:spcAft>
                  <a:buNone/>
                </a:pPr>
                <a:r>
                  <a:rPr b="1" i="0" lang="en-GB" sz="1050" u="none" strike="noStrike">
                    <a:solidFill>
                      <a:srgbClr val="111315"/>
                    </a:solidFill>
                    <a:latin typeface="Inter"/>
                    <a:ea typeface="Inter"/>
                    <a:cs typeface="Inter"/>
                    <a:sym typeface="Inter"/>
                  </a:rPr>
                  <a:t>Algorithmic search:</a:t>
                </a:r>
                <a:r>
                  <a:rPr b="0" i="0" lang="en-GB" sz="1050" u="none" strike="noStrike">
                    <a:solidFill>
                      <a:srgbClr val="111315"/>
                    </a:solidFill>
                    <a:latin typeface="Inter"/>
                    <a:ea typeface="Inter"/>
                    <a:cs typeface="Inter"/>
                    <a:sym typeface="Inter"/>
                  </a:rPr>
                  <a:t> 10,000 automated search processes executed across candidate proof steps within formal verification tools.</a:t>
                </a:r>
                <a:endParaRPr b="0" i="0" sz="750" u="none" strike="noStrike">
                  <a:solidFill>
                    <a:srgbClr val="1D4ED8"/>
                  </a:solidFill>
                  <a:latin typeface="JetBrains Mono"/>
                  <a:ea typeface="JetBrains Mono"/>
                  <a:cs typeface="JetBrains Mono"/>
                  <a:sym typeface="JetBrains Mono"/>
                </a:endParaRPr>
              </a:p>
            </p:txBody>
          </p:sp>
        </p:grpSp>
      </p:grpSp>
      <p:sp>
        <p:nvSpPr>
          <p:cNvPr id="957" name="Google Shape;957;p43"/>
          <p:cNvSpPr txBox="1"/>
          <p:nvPr/>
        </p:nvSpPr>
        <p:spPr>
          <a:xfrm>
            <a:off x="381000" y="4381500"/>
            <a:ext cx="8382000" cy="190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Ref: Cordoba &amp; Martinez-Zoroa (2023); Buckmaster &amp; Alpoge (2026); OpenAI (2026).</a:t>
            </a:r>
            <a:endParaRPr b="0" sz="750">
              <a:solidFill>
                <a:srgbClr val="5A626A"/>
              </a:solidFill>
              <a:latin typeface="JetBrains Mono"/>
              <a:ea typeface="JetBrains Mono"/>
              <a:cs typeface="JetBrains Mono"/>
              <a:sym typeface="JetBrains Mono"/>
            </a:endParaRPr>
          </a:p>
        </p:txBody>
      </p:sp>
      <p:grpSp>
        <p:nvGrpSpPr>
          <p:cNvPr id="958" name="Google Shape;958;p43"/>
          <p:cNvGrpSpPr/>
          <p:nvPr/>
        </p:nvGrpSpPr>
        <p:grpSpPr>
          <a:xfrm>
            <a:off x="381000" y="4762500"/>
            <a:ext cx="8382000" cy="285750"/>
            <a:chOff x="381000" y="4762500"/>
            <a:chExt cx="8382000" cy="285750"/>
          </a:xfrm>
        </p:grpSpPr>
        <p:cxnSp>
          <p:nvCxnSpPr>
            <p:cNvPr id="959" name="Google Shape;959;p43"/>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960" name="Google Shape;960;p43"/>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44"/>
          <p:cNvSpPr txBox="1"/>
          <p:nvPr/>
        </p:nvSpPr>
        <p:spPr>
          <a:xfrm>
            <a:off x="381000" y="342900"/>
            <a:ext cx="83820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1950" u="none" strike="noStrike">
                <a:solidFill>
                  <a:srgbClr val="111315"/>
                </a:solidFill>
                <a:latin typeface="Space Grotesk"/>
                <a:ea typeface="Space Grotesk"/>
                <a:cs typeface="Space Grotesk"/>
                <a:sym typeface="Space Grotesk"/>
              </a:rPr>
              <a:t>Cross-Domain Structural Mapping</a:t>
            </a:r>
            <a:endParaRPr b="1" i="0" sz="1950" u="none" strike="noStrike">
              <a:solidFill>
                <a:srgbClr val="111315"/>
              </a:solidFill>
              <a:latin typeface="Space Grotesk"/>
              <a:ea typeface="Space Grotesk"/>
              <a:cs typeface="Space Grotesk"/>
              <a:sym typeface="Space Grotesk"/>
            </a:endParaRPr>
          </a:p>
        </p:txBody>
      </p:sp>
      <p:sp>
        <p:nvSpPr>
          <p:cNvPr id="966" name="Google Shape;966;p44"/>
          <p:cNvSpPr txBox="1"/>
          <p:nvPr/>
        </p:nvSpPr>
        <p:spPr>
          <a:xfrm>
            <a:off x="381000" y="723900"/>
            <a:ext cx="8382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GB" sz="1125" u="none" strike="noStrike">
                <a:solidFill>
                  <a:srgbClr val="5A626A"/>
                </a:solidFill>
                <a:latin typeface="Space Grotesk Medium"/>
                <a:ea typeface="Space Grotesk Medium"/>
                <a:cs typeface="Space Grotesk Medium"/>
                <a:sym typeface="Space Grotesk Medium"/>
              </a:rPr>
              <a:t>Large models contain text from multiple disciplines. Mathematical formulations from one field can be transferred to problems in other fields.</a:t>
            </a:r>
            <a:endParaRPr b="0" i="0" sz="1125" u="none" strike="noStrike">
              <a:solidFill>
                <a:srgbClr val="5A626A"/>
              </a:solidFill>
              <a:latin typeface="Space Grotesk Medium"/>
              <a:ea typeface="Space Grotesk Medium"/>
              <a:cs typeface="Space Grotesk Medium"/>
              <a:sym typeface="Space Grotesk Medium"/>
            </a:endParaRPr>
          </a:p>
        </p:txBody>
      </p:sp>
      <p:grpSp>
        <p:nvGrpSpPr>
          <p:cNvPr id="967" name="Google Shape;967;p44"/>
          <p:cNvGrpSpPr/>
          <p:nvPr/>
        </p:nvGrpSpPr>
        <p:grpSpPr>
          <a:xfrm>
            <a:off x="571500" y="1524000"/>
            <a:ext cx="8001000" cy="2476500"/>
            <a:chOff x="571500" y="1524000"/>
            <a:chExt cx="8001000" cy="2476500"/>
          </a:xfrm>
        </p:grpSpPr>
        <p:grpSp>
          <p:nvGrpSpPr>
            <p:cNvPr id="968" name="Google Shape;968;p44"/>
            <p:cNvGrpSpPr/>
            <p:nvPr/>
          </p:nvGrpSpPr>
          <p:grpSpPr>
            <a:xfrm>
              <a:off x="571500" y="1524000"/>
              <a:ext cx="3238500" cy="2476500"/>
              <a:chOff x="571500" y="1524000"/>
              <a:chExt cx="3238500" cy="2476500"/>
            </a:xfrm>
          </p:grpSpPr>
          <p:sp>
            <p:nvSpPr>
              <p:cNvPr id="969" name="Google Shape;969;p44"/>
              <p:cNvSpPr/>
              <p:nvPr/>
            </p:nvSpPr>
            <p:spPr>
              <a:xfrm>
                <a:off x="571500" y="1524000"/>
                <a:ext cx="3238500" cy="2476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0" name="Google Shape;970;p44"/>
              <p:cNvSpPr/>
              <p:nvPr/>
            </p:nvSpPr>
            <p:spPr>
              <a:xfrm>
                <a:off x="571500" y="1524000"/>
                <a:ext cx="3238500" cy="304800"/>
              </a:xfrm>
              <a:prstGeom prst="rect">
                <a:avLst/>
              </a:prstGeom>
              <a:solidFill>
                <a:srgbClr val="E9ECE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1" name="Google Shape;971;p44"/>
              <p:cNvSpPr txBox="1"/>
              <p:nvPr/>
            </p:nvSpPr>
            <p:spPr>
              <a:xfrm>
                <a:off x="714375" y="1600200"/>
                <a:ext cx="2952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750">
                    <a:solidFill>
                      <a:srgbClr val="1D4ED8"/>
                    </a:solidFill>
                    <a:latin typeface="JetBrains Mono"/>
                    <a:ea typeface="JetBrains Mono"/>
                    <a:cs typeface="JetBrains Mono"/>
                    <a:sym typeface="JetBrains Mono"/>
                  </a:rPr>
                  <a:t>SOURCE DOMAINS // FIELD A</a:t>
                </a:r>
                <a:endParaRPr b="1" sz="750">
                  <a:solidFill>
                    <a:srgbClr val="1D4ED8"/>
                  </a:solidFill>
                  <a:latin typeface="JetBrains Mono"/>
                  <a:ea typeface="JetBrains Mono"/>
                  <a:cs typeface="JetBrains Mono"/>
                  <a:sym typeface="JetBrains Mono"/>
                </a:endParaRPr>
              </a:p>
            </p:txBody>
          </p:sp>
          <p:sp>
            <p:nvSpPr>
              <p:cNvPr id="972" name="Google Shape;972;p44"/>
              <p:cNvSpPr txBox="1"/>
              <p:nvPr/>
            </p:nvSpPr>
            <p:spPr>
              <a:xfrm>
                <a:off x="762000" y="1981200"/>
                <a:ext cx="2857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050">
                    <a:solidFill>
                      <a:srgbClr val="111315"/>
                    </a:solidFill>
                    <a:latin typeface="Inter"/>
                    <a:ea typeface="Inter"/>
                    <a:cs typeface="Inter"/>
                    <a:sym typeface="Inter"/>
                  </a:rPr>
                  <a:t>Epidemiology</a:t>
                </a:r>
                <a:endParaRPr b="1" sz="1050">
                  <a:solidFill>
                    <a:srgbClr val="111315"/>
                  </a:solidFill>
                  <a:latin typeface="Inter"/>
                  <a:ea typeface="Inter"/>
                  <a:cs typeface="Inter"/>
                  <a:sym typeface="Inter"/>
                </a:endParaRPr>
              </a:p>
              <a:p>
                <a:pPr indent="0" lvl="0" marL="0" rtl="0" algn="l">
                  <a:spcBef>
                    <a:spcPts val="300"/>
                  </a:spcBef>
                  <a:spcAft>
                    <a:spcPts val="0"/>
                  </a:spcAft>
                  <a:buNone/>
                </a:pPr>
                <a:r>
                  <a:rPr b="0" lang="en-GB" sz="750">
                    <a:solidFill>
                      <a:srgbClr val="5A626A"/>
                    </a:solidFill>
                    <a:latin typeface="JetBrains Mono"/>
                    <a:ea typeface="JetBrains Mono"/>
                    <a:cs typeface="JetBrains Mono"/>
                    <a:sym typeface="JetBrains Mono"/>
                  </a:rPr>
                  <a:t>Kermack &amp; McKendrick, 1927</a:t>
                </a:r>
                <a:endParaRPr b="0" sz="750">
                  <a:solidFill>
                    <a:srgbClr val="5A626A"/>
                  </a:solidFill>
                  <a:latin typeface="JetBrains Mono"/>
                  <a:ea typeface="JetBrains Mono"/>
                  <a:cs typeface="JetBrains Mono"/>
                  <a:sym typeface="JetBrains Mono"/>
                </a:endParaRPr>
              </a:p>
            </p:txBody>
          </p:sp>
          <p:cxnSp>
            <p:nvCxnSpPr>
              <p:cNvPr id="973" name="Google Shape;973;p44"/>
              <p:cNvCxnSpPr/>
              <p:nvPr/>
            </p:nvCxnSpPr>
            <p:spPr>
              <a:xfrm>
                <a:off x="762000" y="2667000"/>
                <a:ext cx="2857500" cy="0"/>
              </a:xfrm>
              <a:prstGeom prst="straightConnector1">
                <a:avLst/>
              </a:prstGeom>
              <a:solidFill>
                <a:srgbClr val="FFFFFF"/>
              </a:solidFill>
              <a:ln cap="flat" cmpd="sng" w="9525">
                <a:solidFill>
                  <a:srgbClr val="E9ECEF"/>
                </a:solidFill>
                <a:prstDash val="solid"/>
                <a:round/>
                <a:headEnd len="sm" w="sm" type="none"/>
                <a:tailEnd len="sm" w="sm" type="none"/>
              </a:ln>
            </p:spPr>
          </p:cxnSp>
          <p:sp>
            <p:nvSpPr>
              <p:cNvPr id="974" name="Google Shape;974;p44"/>
              <p:cNvSpPr txBox="1"/>
              <p:nvPr/>
            </p:nvSpPr>
            <p:spPr>
              <a:xfrm>
                <a:off x="762000" y="2819400"/>
                <a:ext cx="2857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050">
                    <a:solidFill>
                      <a:srgbClr val="111315"/>
                    </a:solidFill>
                    <a:latin typeface="Inter"/>
                    <a:ea typeface="Inter"/>
                    <a:cs typeface="Inter"/>
                    <a:sym typeface="Inter"/>
                  </a:rPr>
                  <a:t>Game Theory / Consensus</a:t>
                </a:r>
                <a:endParaRPr b="1" sz="1050">
                  <a:solidFill>
                    <a:srgbClr val="111315"/>
                  </a:solidFill>
                  <a:latin typeface="Inter"/>
                  <a:ea typeface="Inter"/>
                  <a:cs typeface="Inter"/>
                  <a:sym typeface="Inter"/>
                </a:endParaRPr>
              </a:p>
              <a:p>
                <a:pPr indent="0" lvl="0" marL="0" rtl="0" algn="l">
                  <a:spcBef>
                    <a:spcPts val="300"/>
                  </a:spcBef>
                  <a:spcAft>
                    <a:spcPts val="0"/>
                  </a:spcAft>
                  <a:buNone/>
                </a:pPr>
                <a:r>
                  <a:rPr b="0" lang="en-GB" sz="750">
                    <a:solidFill>
                      <a:srgbClr val="5A626A"/>
                    </a:solidFill>
                    <a:latin typeface="JetBrains Mono"/>
                    <a:ea typeface="JetBrains Mono"/>
                    <a:cs typeface="JetBrains Mono"/>
                    <a:sym typeface="JetBrains Mono"/>
                  </a:rPr>
                  <a:t>DeGroot, 1974</a:t>
                </a:r>
                <a:endParaRPr b="0" sz="750">
                  <a:solidFill>
                    <a:srgbClr val="5A626A"/>
                  </a:solidFill>
                  <a:latin typeface="JetBrains Mono"/>
                  <a:ea typeface="JetBrains Mono"/>
                  <a:cs typeface="JetBrains Mono"/>
                  <a:sym typeface="JetBrains Mono"/>
                </a:endParaRPr>
              </a:p>
              <a:p>
                <a:pPr indent="0" lvl="0" marL="0" rtl="0" algn="l">
                  <a:spcBef>
                    <a:spcPts val="900"/>
                  </a:spcBef>
                  <a:spcAft>
                    <a:spcPts val="0"/>
                  </a:spcAft>
                  <a:buNone/>
                </a:pPr>
                <a:r>
                  <a:rPr b="0" i="1" lang="en-GB" sz="750">
                    <a:solidFill>
                      <a:srgbClr val="5A626A"/>
                    </a:solidFill>
                    <a:latin typeface="JetBrains Mono"/>
                    <a:ea typeface="JetBrains Mono"/>
                    <a:cs typeface="JetBrains Mono"/>
                    <a:sym typeface="JetBrains Mono"/>
                  </a:rPr>
                  <a:t>Mathematical abstractions for network state transitions &amp; opinion dynamics.</a:t>
                </a:r>
                <a:endParaRPr b="0" i="1" sz="750">
                  <a:solidFill>
                    <a:srgbClr val="5A626A"/>
                  </a:solidFill>
                  <a:latin typeface="JetBrains Mono"/>
                  <a:ea typeface="JetBrains Mono"/>
                  <a:cs typeface="JetBrains Mono"/>
                  <a:sym typeface="JetBrains Mono"/>
                </a:endParaRPr>
              </a:p>
            </p:txBody>
          </p:sp>
        </p:grpSp>
        <p:grpSp>
          <p:nvGrpSpPr>
            <p:cNvPr id="975" name="Google Shape;975;p44"/>
            <p:cNvGrpSpPr/>
            <p:nvPr/>
          </p:nvGrpSpPr>
          <p:grpSpPr>
            <a:xfrm>
              <a:off x="3810000" y="2047875"/>
              <a:ext cx="1524150" cy="1428900"/>
              <a:chOff x="3810000" y="2047875"/>
              <a:chExt cx="1524150" cy="1428900"/>
            </a:xfrm>
          </p:grpSpPr>
          <p:cxnSp>
            <p:nvCxnSpPr>
              <p:cNvPr id="976" name="Google Shape;976;p44"/>
              <p:cNvCxnSpPr/>
              <p:nvPr/>
            </p:nvCxnSpPr>
            <p:spPr>
              <a:xfrm>
                <a:off x="3810000" y="2762250"/>
                <a:ext cx="95400" cy="0"/>
              </a:xfrm>
              <a:prstGeom prst="straightConnector1">
                <a:avLst/>
              </a:prstGeom>
              <a:solidFill>
                <a:srgbClr val="FFFFFF"/>
              </a:solidFill>
              <a:ln cap="flat" cmpd="sng" w="19050">
                <a:solidFill>
                  <a:srgbClr val="D9381E"/>
                </a:solidFill>
                <a:prstDash val="solid"/>
                <a:round/>
                <a:headEnd len="sm" w="sm" type="none"/>
                <a:tailEnd len="sm" w="sm" type="none"/>
              </a:ln>
            </p:spPr>
          </p:cxnSp>
          <p:cxnSp>
            <p:nvCxnSpPr>
              <p:cNvPr id="977" name="Google Shape;977;p44"/>
              <p:cNvCxnSpPr/>
              <p:nvPr/>
            </p:nvCxnSpPr>
            <p:spPr>
              <a:xfrm>
                <a:off x="5238750" y="2762250"/>
                <a:ext cx="95400" cy="0"/>
              </a:xfrm>
              <a:prstGeom prst="straightConnector1">
                <a:avLst/>
              </a:prstGeom>
              <a:solidFill>
                <a:srgbClr val="FFFFFF"/>
              </a:solidFill>
              <a:ln cap="flat" cmpd="sng" w="19050">
                <a:solidFill>
                  <a:srgbClr val="D9381E"/>
                </a:solidFill>
                <a:prstDash val="solid"/>
                <a:round/>
                <a:headEnd len="sm" w="sm" type="none"/>
                <a:tailEnd len="sm" w="sm" type="none"/>
              </a:ln>
            </p:spPr>
          </p:cxnSp>
          <p:sp>
            <p:nvSpPr>
              <p:cNvPr id="978" name="Google Shape;978;p44"/>
              <p:cNvSpPr/>
              <p:nvPr/>
            </p:nvSpPr>
            <p:spPr>
              <a:xfrm>
                <a:off x="5267325" y="2714625"/>
                <a:ext cx="66600" cy="95400"/>
              </a:xfrm>
              <a:custGeom>
                <a:rect b="b" l="l" r="r" t="t"/>
                <a:pathLst>
                  <a:path extrusionOk="0" h="120000" w="120000">
                    <a:moveTo>
                      <a:pt x="0" y="0"/>
                    </a:moveTo>
                    <a:lnTo>
                      <a:pt x="120000" y="60000"/>
                    </a:lnTo>
                    <a:lnTo>
                      <a:pt x="0" y="120000"/>
                    </a:lnTo>
                    <a:close/>
                  </a:path>
                </a:pathLst>
              </a:cu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9" name="Google Shape;979;p44"/>
              <p:cNvSpPr/>
              <p:nvPr/>
            </p:nvSpPr>
            <p:spPr>
              <a:xfrm>
                <a:off x="3905250" y="2047875"/>
                <a:ext cx="1333500" cy="1428900"/>
              </a:xfrm>
              <a:prstGeom prst="rect">
                <a:avLst/>
              </a:prstGeom>
              <a:solidFill>
                <a:srgbClr val="FFFFFF"/>
              </a:solidFill>
              <a:ln cap="flat" cmpd="sng" w="14300">
                <a:solidFill>
                  <a:srgbClr val="D9381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0" name="Google Shape;980;p44"/>
              <p:cNvSpPr/>
              <p:nvPr/>
            </p:nvSpPr>
            <p:spPr>
              <a:xfrm>
                <a:off x="3905250" y="2047875"/>
                <a:ext cx="1333500" cy="266700"/>
              </a:xfrm>
              <a:prstGeom prst="rect">
                <a:avLst/>
              </a:prstGeom>
              <a:solidFill>
                <a:srgbClr val="D9381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1" name="Google Shape;981;p44"/>
              <p:cNvSpPr txBox="1"/>
              <p:nvPr/>
            </p:nvSpPr>
            <p:spPr>
              <a:xfrm>
                <a:off x="3905250" y="2105025"/>
                <a:ext cx="13335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750" u="none" strike="noStrike">
                    <a:solidFill>
                      <a:srgbClr val="FFFFFF"/>
                    </a:solidFill>
                    <a:latin typeface="JetBrains Mono"/>
                    <a:ea typeface="JetBrains Mono"/>
                    <a:cs typeface="JetBrains Mono"/>
                    <a:sym typeface="JetBrains Mono"/>
                  </a:rPr>
                  <a:t>STRUCTURAL MAPPING</a:t>
                </a:r>
                <a:endParaRPr b="1" i="0" sz="750" u="none" strike="noStrike">
                  <a:solidFill>
                    <a:srgbClr val="FFFFFF"/>
                  </a:solidFill>
                  <a:latin typeface="JetBrains Mono"/>
                  <a:ea typeface="JetBrains Mono"/>
                  <a:cs typeface="JetBrains Mono"/>
                  <a:sym typeface="JetBrains Mono"/>
                </a:endParaRPr>
              </a:p>
            </p:txBody>
          </p:sp>
          <p:sp>
            <p:nvSpPr>
              <p:cNvPr id="982" name="Google Shape;982;p44"/>
              <p:cNvSpPr txBox="1"/>
              <p:nvPr/>
            </p:nvSpPr>
            <p:spPr>
              <a:xfrm>
                <a:off x="3981450" y="2409825"/>
                <a:ext cx="1181100" cy="95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1050" u="none" strike="noStrike">
                    <a:solidFill>
                      <a:srgbClr val="D9381E"/>
                    </a:solidFill>
                    <a:latin typeface="Inter"/>
                    <a:ea typeface="Inter"/>
                    <a:cs typeface="Inter"/>
                    <a:sym typeface="Inter"/>
                  </a:rPr>
                  <a:t>(Operator Selection and Input)</a:t>
                </a:r>
                <a:endParaRPr b="1" i="0" sz="1050" u="none" strike="noStrike">
                  <a:solidFill>
                    <a:srgbClr val="D9381E"/>
                  </a:solidFill>
                  <a:latin typeface="Inter"/>
                  <a:ea typeface="Inter"/>
                  <a:cs typeface="Inter"/>
                  <a:sym typeface="Inter"/>
                </a:endParaRPr>
              </a:p>
              <a:p>
                <a:pPr indent="0" lvl="0" marL="0" marR="0" rtl="0" algn="ctr">
                  <a:lnSpc>
                    <a:spcPct val="100000"/>
                  </a:lnSpc>
                  <a:spcBef>
                    <a:spcPts val="450"/>
                  </a:spcBef>
                  <a:spcAft>
                    <a:spcPts val="0"/>
                  </a:spcAft>
                  <a:buNone/>
                </a:pPr>
                <a:r>
                  <a:rPr b="0" i="0" lang="en-GB" sz="675" u="none" strike="noStrike">
                    <a:solidFill>
                      <a:srgbClr val="5A626A"/>
                    </a:solidFill>
                    <a:latin typeface="JetBrains Mono"/>
                    <a:ea typeface="JetBrains Mono"/>
                    <a:cs typeface="JetBrains Mono"/>
                    <a:sym typeface="JetBrains Mono"/>
                  </a:rPr>
                  <a:t>Cross-domain model mapping</a:t>
                </a:r>
                <a:endParaRPr b="1" i="0" sz="1050" u="none" strike="noStrike">
                  <a:solidFill>
                    <a:srgbClr val="D9381E"/>
                  </a:solidFill>
                  <a:latin typeface="Inter"/>
                  <a:ea typeface="Inter"/>
                  <a:cs typeface="Inter"/>
                  <a:sym typeface="Inter"/>
                </a:endParaRPr>
              </a:p>
            </p:txBody>
          </p:sp>
        </p:grpSp>
        <p:grpSp>
          <p:nvGrpSpPr>
            <p:cNvPr id="983" name="Google Shape;983;p44"/>
            <p:cNvGrpSpPr/>
            <p:nvPr/>
          </p:nvGrpSpPr>
          <p:grpSpPr>
            <a:xfrm>
              <a:off x="5334000" y="1524000"/>
              <a:ext cx="3238500" cy="2476500"/>
              <a:chOff x="5334000" y="1524000"/>
              <a:chExt cx="3238500" cy="2476500"/>
            </a:xfrm>
          </p:grpSpPr>
          <p:sp>
            <p:nvSpPr>
              <p:cNvPr id="984" name="Google Shape;984;p44"/>
              <p:cNvSpPr/>
              <p:nvPr/>
            </p:nvSpPr>
            <p:spPr>
              <a:xfrm>
                <a:off x="5334000" y="1524000"/>
                <a:ext cx="3238500" cy="2476500"/>
              </a:xfrm>
              <a:prstGeom prst="rect">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5" name="Google Shape;985;p44"/>
              <p:cNvSpPr/>
              <p:nvPr/>
            </p:nvSpPr>
            <p:spPr>
              <a:xfrm>
                <a:off x="5334000" y="1524000"/>
                <a:ext cx="3238500" cy="304800"/>
              </a:xfrm>
              <a:prstGeom prst="rect">
                <a:avLst/>
              </a:prstGeom>
              <a:solidFill>
                <a:srgbClr val="E9ECE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6" name="Google Shape;986;p44"/>
              <p:cNvSpPr txBox="1"/>
              <p:nvPr/>
            </p:nvSpPr>
            <p:spPr>
              <a:xfrm>
                <a:off x="5476875" y="1600200"/>
                <a:ext cx="2952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750">
                    <a:solidFill>
                      <a:srgbClr val="D9381E"/>
                    </a:solidFill>
                    <a:latin typeface="JetBrains Mono"/>
                    <a:ea typeface="JetBrains Mono"/>
                    <a:cs typeface="JetBrains Mono"/>
                    <a:sym typeface="JetBrains Mono"/>
                  </a:rPr>
                  <a:t>TARGET DOMAIN // FIELD B</a:t>
                </a:r>
                <a:endParaRPr b="1" sz="750">
                  <a:solidFill>
                    <a:srgbClr val="D9381E"/>
                  </a:solidFill>
                  <a:latin typeface="JetBrains Mono"/>
                  <a:ea typeface="JetBrains Mono"/>
                  <a:cs typeface="JetBrains Mono"/>
                  <a:sym typeface="JetBrains Mono"/>
                </a:endParaRPr>
              </a:p>
            </p:txBody>
          </p:sp>
          <p:sp>
            <p:nvSpPr>
              <p:cNvPr id="987" name="Google Shape;987;p44"/>
              <p:cNvSpPr txBox="1"/>
              <p:nvPr/>
            </p:nvSpPr>
            <p:spPr>
              <a:xfrm>
                <a:off x="5524500" y="1981200"/>
                <a:ext cx="2857500" cy="57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GB" sz="1050" u="none" strike="noStrike">
                    <a:solidFill>
                      <a:srgbClr val="111315"/>
                    </a:solidFill>
                    <a:latin typeface="Inter"/>
                    <a:ea typeface="Inter"/>
                    <a:cs typeface="Inter"/>
                    <a:sym typeface="Inter"/>
                  </a:rPr>
                  <a:t>Information Propagation</a:t>
                </a:r>
                <a:endParaRPr b="1" i="0" sz="1050" u="none" strike="noStrike">
                  <a:solidFill>
                    <a:srgbClr val="111315"/>
                  </a:solidFill>
                  <a:latin typeface="Inter"/>
                  <a:ea typeface="Inter"/>
                  <a:cs typeface="Inter"/>
                  <a:sym typeface="Inter"/>
                </a:endParaRPr>
              </a:p>
              <a:p>
                <a:pPr indent="0" lvl="0" marL="0" marR="0" rtl="0" algn="l">
                  <a:lnSpc>
                    <a:spcPct val="100000"/>
                  </a:lnSpc>
                  <a:spcBef>
                    <a:spcPts val="300"/>
                  </a:spcBef>
                  <a:spcAft>
                    <a:spcPts val="0"/>
                  </a:spcAft>
                  <a:buNone/>
                </a:pPr>
                <a:r>
                  <a:rPr b="0" i="0" lang="en-GB" sz="750" u="none" strike="noStrike">
                    <a:solidFill>
                      <a:srgbClr val="5A626A"/>
                    </a:solidFill>
                    <a:latin typeface="JetBrains Mono"/>
                    <a:ea typeface="JetBrains Mono"/>
                    <a:cs typeface="JetBrains Mono"/>
                    <a:sym typeface="JetBrains Mono"/>
                  </a:rPr>
                  <a:t>Across 1,000,000+ Graph Nodes</a:t>
                </a:r>
                <a:endParaRPr b="1" i="0" sz="1050" u="none" strike="noStrike">
                  <a:solidFill>
                    <a:srgbClr val="111315"/>
                  </a:solidFill>
                  <a:latin typeface="Inter"/>
                  <a:ea typeface="Inter"/>
                  <a:cs typeface="Inter"/>
                  <a:sym typeface="Inter"/>
                </a:endParaRPr>
              </a:p>
            </p:txBody>
          </p:sp>
          <p:cxnSp>
            <p:nvCxnSpPr>
              <p:cNvPr id="988" name="Google Shape;988;p44"/>
              <p:cNvCxnSpPr/>
              <p:nvPr/>
            </p:nvCxnSpPr>
            <p:spPr>
              <a:xfrm>
                <a:off x="5524500" y="2667000"/>
                <a:ext cx="2857500" cy="0"/>
              </a:xfrm>
              <a:prstGeom prst="straightConnector1">
                <a:avLst/>
              </a:prstGeom>
              <a:solidFill>
                <a:srgbClr val="FFFFFF"/>
              </a:solidFill>
              <a:ln cap="flat" cmpd="sng" w="9525">
                <a:solidFill>
                  <a:srgbClr val="E9ECEF"/>
                </a:solidFill>
                <a:prstDash val="solid"/>
                <a:round/>
                <a:headEnd len="sm" w="sm" type="none"/>
                <a:tailEnd len="sm" w="sm" type="none"/>
              </a:ln>
            </p:spPr>
          </p:cxnSp>
          <p:sp>
            <p:nvSpPr>
              <p:cNvPr id="989" name="Google Shape;989;p44"/>
              <p:cNvSpPr txBox="1"/>
              <p:nvPr/>
            </p:nvSpPr>
            <p:spPr>
              <a:xfrm>
                <a:off x="5524500" y="2819400"/>
                <a:ext cx="28575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GB" sz="1050" u="none" strike="noStrike">
                    <a:solidFill>
                      <a:srgbClr val="111315"/>
                    </a:solidFill>
                    <a:latin typeface="Inter"/>
                    <a:ea typeface="Inter"/>
                    <a:cs typeface="Inter"/>
                    <a:sym typeface="Inter"/>
                  </a:rPr>
                  <a:t>Documented Implementations</a:t>
                </a:r>
                <a:endParaRPr b="1" i="0" sz="1050" u="none" strike="noStrike">
                  <a:solidFill>
                    <a:srgbClr val="111315"/>
                  </a:solidFill>
                  <a:latin typeface="Inter"/>
                  <a:ea typeface="Inter"/>
                  <a:cs typeface="Inter"/>
                  <a:sym typeface="Inter"/>
                </a:endParaRPr>
              </a:p>
              <a:p>
                <a:pPr indent="0" lvl="0" marL="0" marR="0" rtl="0" algn="l">
                  <a:lnSpc>
                    <a:spcPct val="100000"/>
                  </a:lnSpc>
                  <a:spcBef>
                    <a:spcPts val="450"/>
                  </a:spcBef>
                  <a:spcAft>
                    <a:spcPts val="0"/>
                  </a:spcAft>
                  <a:buNone/>
                </a:pPr>
                <a:r>
                  <a:rPr b="1" i="0" lang="en-GB" sz="825" u="none" strike="noStrike">
                    <a:solidFill>
                      <a:srgbClr val="111315"/>
                    </a:solidFill>
                    <a:latin typeface="JetBrains Mono"/>
                    <a:ea typeface="JetBrains Mono"/>
                    <a:cs typeface="JetBrains Mono"/>
                    <a:sym typeface="JetBrains Mono"/>
                  </a:rPr>
                  <a:t>• Network Propagation Formulations (Haldar 2022)</a:t>
                </a:r>
                <a:endParaRPr b="1" i="0" sz="1050" u="none" strike="noStrike">
                  <a:solidFill>
                    <a:srgbClr val="111315"/>
                  </a:solidFill>
                  <a:latin typeface="Inter"/>
                  <a:ea typeface="Inter"/>
                  <a:cs typeface="Inter"/>
                  <a:sym typeface="Inter"/>
                </a:endParaRPr>
              </a:p>
              <a:p>
                <a:pPr indent="0" lvl="0" marL="0" marR="0" rtl="0" algn="l">
                  <a:lnSpc>
                    <a:spcPct val="100000"/>
                  </a:lnSpc>
                  <a:spcBef>
                    <a:spcPts val="300"/>
                  </a:spcBef>
                  <a:spcAft>
                    <a:spcPts val="0"/>
                  </a:spcAft>
                  <a:buNone/>
                </a:pPr>
                <a:r>
                  <a:rPr b="1" i="0" lang="en-GB" sz="825" u="none" strike="noStrike">
                    <a:solidFill>
                      <a:srgbClr val="111315"/>
                    </a:solidFill>
                    <a:latin typeface="JetBrains Mono"/>
                    <a:ea typeface="JetBrains Mono"/>
                    <a:cs typeface="JetBrains Mono"/>
                    <a:sym typeface="JetBrains Mono"/>
                  </a:rPr>
                  <a:t>• Graph Network Library (Haldar 2023)</a:t>
                </a:r>
                <a:endParaRPr b="1" i="0" sz="1050" u="none" strike="noStrike">
                  <a:solidFill>
                    <a:srgbClr val="111315"/>
                  </a:solidFill>
                  <a:latin typeface="Inter"/>
                  <a:ea typeface="Inter"/>
                  <a:cs typeface="Inter"/>
                  <a:sym typeface="Inter"/>
                </a:endParaRPr>
              </a:p>
            </p:txBody>
          </p:sp>
        </p:grpSp>
      </p:grpSp>
      <p:sp>
        <p:nvSpPr>
          <p:cNvPr id="990" name="Google Shape;990;p44"/>
          <p:cNvSpPr txBox="1"/>
          <p:nvPr/>
        </p:nvSpPr>
        <p:spPr>
          <a:xfrm>
            <a:off x="571500" y="4305300"/>
            <a:ext cx="80010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GB" sz="750" u="none" strike="noStrike">
                <a:solidFill>
                  <a:srgbClr val="5A626A"/>
                </a:solidFill>
                <a:latin typeface="JetBrains Mono"/>
                <a:ea typeface="JetBrains Mono"/>
                <a:cs typeface="JetBrains Mono"/>
                <a:sym typeface="JetBrains Mono"/>
              </a:rPr>
              <a:t>STRUCTURE: Application of epidemic and consensus equations to network graph architectures.</a:t>
            </a:r>
            <a:endParaRPr b="0" i="0" sz="750" u="none" strike="noStrike">
              <a:solidFill>
                <a:srgbClr val="5A626A"/>
              </a:solidFill>
              <a:latin typeface="JetBrains Mono"/>
              <a:ea typeface="JetBrains Mono"/>
              <a:cs typeface="JetBrains Mono"/>
              <a:sym typeface="JetBrains Mono"/>
            </a:endParaRPr>
          </a:p>
        </p:txBody>
      </p:sp>
      <p:grpSp>
        <p:nvGrpSpPr>
          <p:cNvPr id="991" name="Google Shape;991;p44"/>
          <p:cNvGrpSpPr/>
          <p:nvPr/>
        </p:nvGrpSpPr>
        <p:grpSpPr>
          <a:xfrm>
            <a:off x="381000" y="4762500"/>
            <a:ext cx="8382000" cy="285750"/>
            <a:chOff x="381000" y="4762500"/>
            <a:chExt cx="8382000" cy="285750"/>
          </a:xfrm>
        </p:grpSpPr>
        <p:cxnSp>
          <p:nvCxnSpPr>
            <p:cNvPr id="992" name="Google Shape;992;p44"/>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993" name="Google Shape;993;p44"/>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45"/>
          <p:cNvSpPr txBox="1"/>
          <p:nvPr/>
        </p:nvSpPr>
        <p:spPr>
          <a:xfrm>
            <a:off x="381000" y="247650"/>
            <a:ext cx="8382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GB" sz="2000" u="none" strike="noStrike">
                <a:solidFill>
                  <a:srgbClr val="111315"/>
                </a:solidFill>
                <a:latin typeface="Space Grotesk"/>
                <a:ea typeface="Space Grotesk"/>
                <a:cs typeface="Space Grotesk"/>
                <a:sym typeface="Space Grotesk"/>
              </a:rPr>
              <a:t>Model Utility: General-Purpose Optimization and Retrieval</a:t>
            </a:r>
            <a:endParaRPr b="0" i="0" sz="2000" u="none" strike="noStrike">
              <a:solidFill>
                <a:srgbClr val="111315"/>
              </a:solidFill>
              <a:latin typeface="Space Grotesk"/>
              <a:ea typeface="Space Grotesk"/>
              <a:cs typeface="Space Grotesk"/>
              <a:sym typeface="Space Grotesk"/>
            </a:endParaRPr>
          </a:p>
        </p:txBody>
      </p:sp>
      <p:grpSp>
        <p:nvGrpSpPr>
          <p:cNvPr id="999" name="Google Shape;999;p45"/>
          <p:cNvGrpSpPr/>
          <p:nvPr/>
        </p:nvGrpSpPr>
        <p:grpSpPr>
          <a:xfrm>
            <a:off x="381000" y="4762500"/>
            <a:ext cx="8382000" cy="285750"/>
            <a:chOff x="381000" y="4762500"/>
            <a:chExt cx="8382000" cy="285750"/>
          </a:xfrm>
        </p:grpSpPr>
        <p:cxnSp>
          <p:nvCxnSpPr>
            <p:cNvPr id="1000" name="Google Shape;1000;p45"/>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001" name="Google Shape;1001;p45"/>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
        <p:nvSpPr>
          <p:cNvPr id="1002" name="Google Shape;1002;p45"/>
          <p:cNvSpPr txBox="1"/>
          <p:nvPr/>
        </p:nvSpPr>
        <p:spPr>
          <a:xfrm>
            <a:off x="381000" y="628650"/>
            <a:ext cx="8382000" cy="3240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0" i="0" lang="en-GB" sz="879" u="none" strike="noStrike">
                <a:solidFill>
                  <a:srgbClr val="5A626A"/>
                </a:solidFill>
                <a:latin typeface="Space Grotesk Medium"/>
                <a:ea typeface="Space Grotesk Medium"/>
                <a:cs typeface="Space Grotesk Medium"/>
                <a:sym typeface="Space Grotesk Medium"/>
              </a:rPr>
              <a:t>Functional profile: Models perform automated iterative candidate generation and validation within defined constraints.</a:t>
            </a:r>
            <a:endParaRPr b="0" i="0" sz="879" u="none" strike="noStrike">
              <a:solidFill>
                <a:srgbClr val="5A626A"/>
              </a:solidFill>
              <a:latin typeface="Space Grotesk Medium"/>
              <a:ea typeface="Space Grotesk Medium"/>
              <a:cs typeface="Space Grotesk Medium"/>
              <a:sym typeface="Space Grotesk Medium"/>
            </a:endParaRPr>
          </a:p>
        </p:txBody>
      </p:sp>
      <p:sp>
        <p:nvSpPr>
          <p:cNvPr id="1003" name="Google Shape;1003;p45"/>
          <p:cNvSpPr/>
          <p:nvPr/>
        </p:nvSpPr>
        <p:spPr>
          <a:xfrm>
            <a:off x="381000" y="1085850"/>
            <a:ext cx="8382000" cy="2762400"/>
          </a:xfrm>
          <a:prstGeom prst="roundRect">
            <a:avLst>
              <a:gd fmla="val 0" name="adj"/>
            </a:avLst>
          </a:prstGeom>
          <a:solidFill>
            <a:srgbClr val="FFFFFF"/>
          </a:solidFill>
          <a:ln cap="flat" cmpd="sng" w="14300">
            <a:solidFill>
              <a:srgbClr val="11131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004" name="Google Shape;1004;p45"/>
          <p:cNvCxnSpPr/>
          <p:nvPr/>
        </p:nvCxnSpPr>
        <p:spPr>
          <a:xfrm>
            <a:off x="381000" y="1085850"/>
            <a:ext cx="8382000" cy="0"/>
          </a:xfrm>
          <a:prstGeom prst="straightConnector1">
            <a:avLst/>
          </a:prstGeom>
          <a:solidFill>
            <a:srgbClr val="FFFFFF"/>
          </a:solidFill>
          <a:ln cap="flat" cmpd="sng" w="38100">
            <a:solidFill>
              <a:srgbClr val="059669"/>
            </a:solidFill>
            <a:prstDash val="solid"/>
            <a:round/>
            <a:headEnd len="sm" w="sm" type="none"/>
            <a:tailEnd len="sm" w="sm" type="none"/>
          </a:ln>
        </p:spPr>
      </p:cxnSp>
      <p:sp>
        <p:nvSpPr>
          <p:cNvPr id="1005" name="Google Shape;1005;p45"/>
          <p:cNvSpPr txBox="1"/>
          <p:nvPr/>
        </p:nvSpPr>
        <p:spPr>
          <a:xfrm>
            <a:off x="571500" y="1238250"/>
            <a:ext cx="3714900" cy="2457600"/>
          </a:xfrm>
          <a:prstGeom prst="rect">
            <a:avLst/>
          </a:prstGeom>
          <a:solidFill>
            <a:srgbClr val="000000">
              <a:alpha val="0"/>
            </a:srgbClr>
          </a:solidFill>
          <a:ln>
            <a:noFill/>
          </a:ln>
        </p:spPr>
        <p:txBody>
          <a:bodyPr anchorCtr="0" anchor="ctr" bIns="47625" lIns="47625" spcFirstLastPara="1" rIns="47625" wrap="square" tIns="47625">
            <a:noAutofit/>
          </a:bodyPr>
          <a:lstStyle/>
          <a:p>
            <a:pPr indent="0" lvl="0" marL="0" marR="0" rtl="0" algn="l">
              <a:lnSpc>
                <a:spcPct val="100000"/>
              </a:lnSpc>
              <a:spcBef>
                <a:spcPts val="0"/>
              </a:spcBef>
              <a:spcAft>
                <a:spcPts val="0"/>
              </a:spcAft>
              <a:buNone/>
            </a:pPr>
            <a:r>
              <a:rPr b="0" i="0" lang="en-GB" sz="800" u="none" strike="noStrike">
                <a:solidFill>
                  <a:srgbClr val="059669"/>
                </a:solidFill>
                <a:latin typeface="JetBrains Mono"/>
                <a:ea typeface="JetBrains Mono"/>
                <a:cs typeface="JetBrains Mono"/>
                <a:sym typeface="JetBrains Mono"/>
              </a:rPr>
              <a:t>CASE STUDY 02 // CAD RECONSTRUCTION</a:t>
            </a:r>
            <a:endParaRPr b="0" i="0" sz="800" u="none" strike="noStrike">
              <a:solidFill>
                <a:srgbClr val="059669"/>
              </a:solidFill>
              <a:latin typeface="JetBrains Mono"/>
              <a:ea typeface="JetBrains Mono"/>
              <a:cs typeface="JetBrains Mono"/>
              <a:sym typeface="JetBrains Mono"/>
            </a:endParaRPr>
          </a:p>
          <a:p>
            <a:pPr indent="0" lvl="0" marL="0" marR="0" rtl="0" algn="l">
              <a:lnSpc>
                <a:spcPct val="100000"/>
              </a:lnSpc>
              <a:spcBef>
                <a:spcPts val="600"/>
              </a:spcBef>
              <a:spcAft>
                <a:spcPts val="0"/>
              </a:spcAft>
              <a:buNone/>
            </a:pPr>
            <a:r>
              <a:rPr b="1" i="0" lang="en-GB" sz="1300" u="none" strike="noStrike">
                <a:solidFill>
                  <a:srgbClr val="111315"/>
                </a:solidFill>
                <a:latin typeface="Inter"/>
                <a:ea typeface="Inter"/>
                <a:cs typeface="Inter"/>
                <a:sym typeface="Inter"/>
              </a:rPr>
              <a:t>CAD Code Reconstruction:</a:t>
            </a:r>
            <a:r>
              <a:rPr b="0" i="0" lang="en-GB" sz="1300" u="none" strike="noStrike">
                <a:solidFill>
                  <a:srgbClr val="111315"/>
                </a:solidFill>
                <a:latin typeface="Inter"/>
                <a:ea typeface="Inter"/>
                <a:cs typeface="Inter"/>
                <a:sym typeface="Inter"/>
              </a:rPr>
              <a:t> CadCraft and PartCraft</a:t>
            </a:r>
            <a:endParaRPr b="0" i="0" sz="800" u="none" strike="noStrike">
              <a:solidFill>
                <a:srgbClr val="059669"/>
              </a:solidFill>
              <a:latin typeface="JetBrains Mono"/>
              <a:ea typeface="JetBrains Mono"/>
              <a:cs typeface="JetBrains Mono"/>
              <a:sym typeface="JetBrains Mono"/>
            </a:endParaRPr>
          </a:p>
          <a:p>
            <a:pPr indent="-288925" lvl="0" marL="457200" marR="0" rtl="0" algn="l">
              <a:lnSpc>
                <a:spcPct val="100000"/>
              </a:lnSpc>
              <a:spcBef>
                <a:spcPts val="1000"/>
              </a:spcBef>
              <a:spcAft>
                <a:spcPts val="0"/>
              </a:spcAft>
              <a:buClr>
                <a:srgbClr val="111315"/>
              </a:buClr>
              <a:buSzPts val="950"/>
              <a:buFont typeface="Inter"/>
              <a:buChar char="●"/>
            </a:pPr>
            <a:r>
              <a:rPr b="1" i="0" lang="en-GB" sz="950" u="none" strike="noStrike">
                <a:solidFill>
                  <a:srgbClr val="111315"/>
                </a:solidFill>
                <a:latin typeface="Inter"/>
                <a:ea typeface="Inter"/>
                <a:cs typeface="Inter"/>
                <a:sym typeface="Inter"/>
              </a:rPr>
              <a:t>Parametric Code Generation:</a:t>
            </a:r>
            <a:r>
              <a:rPr b="0" i="0" lang="en-GB" sz="950" u="none" strike="noStrike">
                <a:solidFill>
                  <a:srgbClr val="111315"/>
                </a:solidFill>
                <a:latin typeface="Inter"/>
                <a:ea typeface="Inter"/>
                <a:cs typeface="Inter"/>
                <a:sym typeface="Inter"/>
              </a:rPr>
              <a:t> CadCraft and PartCraft generate CAD script commands to reconstruct specified 3D target geometry.</a:t>
            </a:r>
            <a:endParaRPr b="0" i="0" sz="800" u="none" strike="noStrike">
              <a:solidFill>
                <a:srgbClr val="059669"/>
              </a:solidFill>
              <a:latin typeface="JetBrains Mono"/>
              <a:ea typeface="JetBrains Mono"/>
              <a:cs typeface="JetBrains Mono"/>
              <a:sym typeface="JetBrains Mono"/>
            </a:endParaRPr>
          </a:p>
          <a:p>
            <a:pPr indent="-288925" lvl="0" marL="457200" marR="0" rtl="0" algn="l">
              <a:lnSpc>
                <a:spcPct val="100000"/>
              </a:lnSpc>
              <a:spcBef>
                <a:spcPts val="1000"/>
              </a:spcBef>
              <a:spcAft>
                <a:spcPts val="0"/>
              </a:spcAft>
              <a:buClr>
                <a:srgbClr val="111315"/>
              </a:buClr>
              <a:buSzPts val="950"/>
              <a:buFont typeface="Inter"/>
              <a:buChar char="●"/>
            </a:pPr>
            <a:r>
              <a:rPr b="0" i="0" lang="en-GB" sz="950" u="none" strike="noStrike">
                <a:solidFill>
                  <a:srgbClr val="111315"/>
                </a:solidFill>
                <a:latin typeface="Inter"/>
                <a:ea typeface="Inter"/>
                <a:cs typeface="Inter"/>
                <a:sym typeface="Inter"/>
              </a:rPr>
              <a:t>Closed-Loop Geometry Verification: Model generates script -&gt; CAD kernel executes geometry -&gt; shape discrepancy is calculated -&gt; script updates until geometric tolerance is reached.</a:t>
            </a:r>
            <a:endParaRPr b="0" i="0" sz="800" u="none" strike="noStrike">
              <a:solidFill>
                <a:srgbClr val="059669"/>
              </a:solidFill>
              <a:latin typeface="JetBrains Mono"/>
              <a:ea typeface="JetBrains Mono"/>
              <a:cs typeface="JetBrains Mono"/>
              <a:sym typeface="JetBrains Mono"/>
            </a:endParaRPr>
          </a:p>
        </p:txBody>
      </p:sp>
      <p:pic>
        <p:nvPicPr>
          <p:cNvPr id="1006" name="Google Shape;1006;p45"/>
          <p:cNvPicPr preferRelativeResize="0"/>
          <p:nvPr/>
        </p:nvPicPr>
        <p:blipFill rotWithShape="1">
          <a:blip r:embed="rId3">
            <a:alphaModFix/>
          </a:blip>
          <a:srcRect b="0" l="1997" r="2006" t="0"/>
          <a:stretch/>
        </p:blipFill>
        <p:spPr>
          <a:xfrm>
            <a:off x="4476750" y="1276350"/>
            <a:ext cx="4095900" cy="2381400"/>
          </a:xfrm>
          <a:prstGeom prst="rect">
            <a:avLst/>
          </a:prstGeom>
          <a:noFill/>
          <a:ln>
            <a:noFill/>
          </a:ln>
        </p:spPr>
      </p:pic>
      <p:sp>
        <p:nvSpPr>
          <p:cNvPr id="1007" name="Google Shape;1007;p45"/>
          <p:cNvSpPr txBox="1"/>
          <p:nvPr/>
        </p:nvSpPr>
        <p:spPr>
          <a:xfrm>
            <a:off x="381000" y="4038600"/>
            <a:ext cx="8382000" cy="495300"/>
          </a:xfrm>
          <a:prstGeom prst="rect">
            <a:avLst/>
          </a:prstGeom>
          <a:solidFill>
            <a:srgbClr val="E9ECEF"/>
          </a:solidFill>
          <a:ln cap="flat" cmpd="sng" w="9525">
            <a:solidFill>
              <a:srgbClr val="111315"/>
            </a:solidFill>
            <a:prstDash val="solid"/>
            <a:round/>
            <a:headEnd len="sm" w="sm" type="none"/>
            <a:tailEnd len="sm" w="sm" type="none"/>
          </a:ln>
        </p:spPr>
        <p:txBody>
          <a:bodyPr anchorCtr="0" anchor="ctr" bIns="76200" lIns="152400" spcFirstLastPara="1" rIns="152400" wrap="square" tIns="76200">
            <a:noAutofit/>
          </a:bodyPr>
          <a:lstStyle/>
          <a:p>
            <a:pPr indent="0" lvl="0" marL="0" marR="0" rtl="0" algn="ctr">
              <a:spcBef>
                <a:spcPts val="0"/>
              </a:spcBef>
              <a:spcAft>
                <a:spcPts val="0"/>
              </a:spcAft>
              <a:buNone/>
            </a:pPr>
            <a:r>
              <a:rPr b="1" i="0" lang="en-GB" sz="850" u="none" strike="noStrike">
                <a:solidFill>
                  <a:srgbClr val="111315"/>
                </a:solidFill>
                <a:latin typeface="JetBrains Mono"/>
                <a:ea typeface="JetBrains Mono"/>
                <a:cs typeface="JetBrains Mono"/>
                <a:sym typeface="JetBrains Mono"/>
              </a:rPr>
              <a:t>SUMMARY:</a:t>
            </a:r>
            <a:r>
              <a:rPr b="0" i="0" lang="en-GB" sz="850" u="none" strike="noStrike">
                <a:solidFill>
                  <a:srgbClr val="111315"/>
                </a:solidFill>
                <a:latin typeface="JetBrains Mono"/>
                <a:ea typeface="JetBrains Mono"/>
                <a:cs typeface="JetBrains Mono"/>
                <a:sym typeface="JetBrains Mono"/>
              </a:rPr>
              <a:t> Models operate as iterative search systems and structured retrieval engines when paired with deterministic execution environments.</a:t>
            </a:r>
            <a:endParaRPr b="1" i="0" sz="850" u="none" strike="noStrike">
              <a:solidFill>
                <a:srgbClr val="111315"/>
              </a:solidFill>
              <a:latin typeface="JetBrains Mono"/>
              <a:ea typeface="JetBrains Mono"/>
              <a:cs typeface="JetBrains Mono"/>
              <a:sym typeface="JetBrains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46"/>
          <p:cNvSpPr txBox="1"/>
          <p:nvPr/>
        </p:nvSpPr>
        <p:spPr>
          <a:xfrm>
            <a:off x="381000" y="247650"/>
            <a:ext cx="8382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2000" u="none" strike="noStrike">
                <a:solidFill>
                  <a:srgbClr val="111315"/>
                </a:solidFill>
                <a:latin typeface="Space Grotesk"/>
                <a:ea typeface="Space Grotesk"/>
                <a:cs typeface="Space Grotesk"/>
                <a:sym typeface="Space Grotesk"/>
              </a:rPr>
              <a:t>Reference Material and Technical Documentation</a:t>
            </a:r>
            <a:endParaRPr b="1" i="0" sz="2000" u="none" strike="noStrike">
              <a:solidFill>
                <a:srgbClr val="111315"/>
              </a:solidFill>
              <a:latin typeface="Space Grotesk"/>
              <a:ea typeface="Space Grotesk"/>
              <a:cs typeface="Space Grotesk"/>
              <a:sym typeface="Space Grotesk"/>
            </a:endParaRPr>
          </a:p>
        </p:txBody>
      </p:sp>
      <p:grpSp>
        <p:nvGrpSpPr>
          <p:cNvPr id="1013" name="Google Shape;1013;p46"/>
          <p:cNvGrpSpPr/>
          <p:nvPr/>
        </p:nvGrpSpPr>
        <p:grpSpPr>
          <a:xfrm>
            <a:off x="381000" y="4762500"/>
            <a:ext cx="8382000" cy="285750"/>
            <a:chOff x="381000" y="4762500"/>
            <a:chExt cx="8382000" cy="285750"/>
          </a:xfrm>
        </p:grpSpPr>
        <p:cxnSp>
          <p:nvCxnSpPr>
            <p:cNvPr id="1014" name="Google Shape;1014;p46"/>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015" name="Google Shape;1015;p46"/>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
        <p:nvSpPr>
          <p:cNvPr id="1016" name="Google Shape;1016;p46"/>
          <p:cNvSpPr txBox="1"/>
          <p:nvPr/>
        </p:nvSpPr>
        <p:spPr>
          <a:xfrm>
            <a:off x="381000" y="628650"/>
            <a:ext cx="8382000" cy="3429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0" i="0" lang="en-GB" sz="950" u="none" strike="noStrike">
                <a:solidFill>
                  <a:srgbClr val="5A626A"/>
                </a:solidFill>
                <a:latin typeface="Space Grotesk"/>
                <a:ea typeface="Space Grotesk"/>
                <a:cs typeface="Space Grotesk"/>
                <a:sym typeface="Space Grotesk"/>
              </a:rPr>
              <a:t>Technical documentation, mathematics references, and visualizations of neural network functions.</a:t>
            </a:r>
            <a:endParaRPr b="0" i="0" sz="950" u="none" strike="noStrike">
              <a:solidFill>
                <a:srgbClr val="5A626A"/>
              </a:solidFill>
              <a:latin typeface="Space Grotesk"/>
              <a:ea typeface="Space Grotesk"/>
              <a:cs typeface="Space Grotesk"/>
              <a:sym typeface="Space Grotesk"/>
            </a:endParaRPr>
          </a:p>
        </p:txBody>
      </p:sp>
      <p:sp>
        <p:nvSpPr>
          <p:cNvPr id="1017" name="Google Shape;1017;p46"/>
          <p:cNvSpPr/>
          <p:nvPr/>
        </p:nvSpPr>
        <p:spPr>
          <a:xfrm>
            <a:off x="381000" y="1085850"/>
            <a:ext cx="5143500" cy="3448200"/>
          </a:xfrm>
          <a:prstGeom prst="roundRect">
            <a:avLst>
              <a:gd fmla="val 2209" name="adj"/>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6"/>
          <p:cNvSpPr/>
          <p:nvPr/>
        </p:nvSpPr>
        <p:spPr>
          <a:xfrm>
            <a:off x="381000" y="1085850"/>
            <a:ext cx="5143500" cy="38100"/>
          </a:xfrm>
          <a:prstGeom prst="roundRect">
            <a:avLst>
              <a:gd fmla="val 0" name="adj"/>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46"/>
          <p:cNvSpPr txBox="1"/>
          <p:nvPr/>
        </p:nvSpPr>
        <p:spPr>
          <a:xfrm>
            <a:off x="571500" y="1200150"/>
            <a:ext cx="4762500" cy="323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GB" sz="800" u="none" strike="noStrike">
                <a:solidFill>
                  <a:srgbClr val="2563EB"/>
                </a:solidFill>
                <a:latin typeface="JetBrains Mono"/>
                <a:ea typeface="JetBrains Mono"/>
                <a:cs typeface="JetBrains Mono"/>
                <a:sym typeface="JetBrains Mono"/>
              </a:rPr>
              <a:t>VIDEO LECTURES // VISUAL MATHEMATICS</a:t>
            </a:r>
            <a:endParaRPr b="0" i="0" sz="800" u="none" strike="noStrike">
              <a:solidFill>
                <a:srgbClr val="2563EB"/>
              </a:solidFill>
              <a:latin typeface="JetBrains Mono"/>
              <a:ea typeface="JetBrains Mono"/>
              <a:cs typeface="JetBrains Mono"/>
              <a:sym typeface="JetBrains Mono"/>
            </a:endParaRPr>
          </a:p>
          <a:p>
            <a:pPr indent="0" lvl="0" marL="0" marR="0" rtl="0" algn="l">
              <a:lnSpc>
                <a:spcPct val="100000"/>
              </a:lnSpc>
              <a:spcBef>
                <a:spcPts val="400"/>
              </a:spcBef>
              <a:spcAft>
                <a:spcPts val="0"/>
              </a:spcAft>
              <a:buNone/>
            </a:pPr>
            <a:r>
              <a:rPr b="1" i="0" lang="en-GB" sz="1400" u="none" strike="noStrike">
                <a:solidFill>
                  <a:srgbClr val="111315"/>
                </a:solidFill>
                <a:latin typeface="Space Grotesk"/>
                <a:ea typeface="Space Grotesk"/>
                <a:cs typeface="Space Grotesk"/>
                <a:sym typeface="Space Grotesk"/>
              </a:rPr>
              <a:t>3Blue1Brown:</a:t>
            </a:r>
            <a:r>
              <a:rPr b="0" i="0" lang="en-GB" sz="1400" u="none" strike="noStrike">
                <a:solidFill>
                  <a:srgbClr val="111315"/>
                </a:solidFill>
                <a:latin typeface="Space Grotesk"/>
                <a:ea typeface="Space Grotesk"/>
                <a:cs typeface="Space Grotesk"/>
                <a:sym typeface="Space Grotesk"/>
              </a:rPr>
              <a:t> Neural Networks and Deep Learning</a:t>
            </a:r>
            <a:endParaRPr b="0" i="0" sz="800" u="none" strike="noStrike">
              <a:solidFill>
                <a:srgbClr val="2563EB"/>
              </a:solidFill>
              <a:latin typeface="JetBrains Mono"/>
              <a:ea typeface="JetBrains Mono"/>
              <a:cs typeface="JetBrains Mono"/>
              <a:sym typeface="JetBrains Mono"/>
            </a:endParaRPr>
          </a:p>
          <a:p>
            <a:pPr indent="0" lvl="0" marL="0" marR="0" rtl="0" algn="l">
              <a:lnSpc>
                <a:spcPct val="118000"/>
              </a:lnSpc>
              <a:spcBef>
                <a:spcPts val="800"/>
              </a:spcBef>
              <a:spcAft>
                <a:spcPts val="0"/>
              </a:spcAft>
              <a:buNone/>
            </a:pPr>
            <a:r>
              <a:rPr b="0" i="0" lang="en-GB" sz="950" u="none" strike="noStrike">
                <a:solidFill>
                  <a:srgbClr val="4B5563"/>
                </a:solidFill>
                <a:latin typeface="Inter"/>
                <a:ea typeface="Inter"/>
                <a:cs typeface="Inter"/>
                <a:sym typeface="Inter"/>
              </a:rPr>
              <a:t>A video lecture series explaining matrix operations, gradient backpropagation, and geometric transformations in high-dimensional coordinate spaces.</a:t>
            </a:r>
            <a:endParaRPr b="0" i="0" sz="800" u="none" strike="noStrike">
              <a:solidFill>
                <a:srgbClr val="2563EB"/>
              </a:solidFill>
              <a:latin typeface="JetBrains Mono"/>
              <a:ea typeface="JetBrains Mono"/>
              <a:cs typeface="JetBrains Mono"/>
              <a:sym typeface="JetBrains Mono"/>
            </a:endParaRPr>
          </a:p>
          <a:p>
            <a:pPr indent="-285750" lvl="0" marL="457200" marR="0" rtl="0" algn="l">
              <a:lnSpc>
                <a:spcPct val="115000"/>
              </a:lnSpc>
              <a:spcBef>
                <a:spcPts val="1000"/>
              </a:spcBef>
              <a:spcAft>
                <a:spcPts val="0"/>
              </a:spcAft>
              <a:buClr>
                <a:srgbClr val="111315"/>
              </a:buClr>
              <a:buSzPts val="900"/>
              <a:buFont typeface="Inter"/>
              <a:buChar char="●"/>
            </a:pPr>
            <a:r>
              <a:rPr b="1" i="0" lang="en-GB" sz="900" u="none" strike="noStrike">
                <a:solidFill>
                  <a:srgbClr val="111315"/>
                </a:solidFill>
                <a:latin typeface="Inter"/>
                <a:ea typeface="Inter"/>
                <a:cs typeface="Inter"/>
                <a:sym typeface="Inter"/>
              </a:rPr>
              <a:t>Topics:</a:t>
            </a:r>
            <a:r>
              <a:rPr b="0" i="0" lang="en-GB" sz="900" u="none" strike="noStrike">
                <a:solidFill>
                  <a:srgbClr val="111315"/>
                </a:solidFill>
                <a:latin typeface="Inter"/>
                <a:ea typeface="Inter"/>
                <a:cs typeface="Inter"/>
                <a:sym typeface="Inter"/>
              </a:rPr>
              <a:t> Weights, biases, activation functions, gradient descent, and loss surfaces.</a:t>
            </a:r>
            <a:endParaRPr b="0" i="0" sz="800" u="none" strike="noStrike">
              <a:solidFill>
                <a:srgbClr val="2563EB"/>
              </a:solidFill>
              <a:latin typeface="JetBrains Mono"/>
              <a:ea typeface="JetBrains Mono"/>
              <a:cs typeface="JetBrains Mono"/>
              <a:sym typeface="JetBrains Mono"/>
            </a:endParaRPr>
          </a:p>
          <a:p>
            <a:pPr indent="-285750" lvl="0" marL="457200" marR="0" rtl="0" algn="l">
              <a:lnSpc>
                <a:spcPct val="115000"/>
              </a:lnSpc>
              <a:spcBef>
                <a:spcPts val="600"/>
              </a:spcBef>
              <a:spcAft>
                <a:spcPts val="0"/>
              </a:spcAft>
              <a:buClr>
                <a:srgbClr val="111315"/>
              </a:buClr>
              <a:buSzPts val="900"/>
              <a:buFont typeface="Inter"/>
              <a:buChar char="●"/>
            </a:pPr>
            <a:r>
              <a:rPr b="1" i="0" lang="en-GB" sz="900" u="none" strike="noStrike">
                <a:solidFill>
                  <a:srgbClr val="111315"/>
                </a:solidFill>
                <a:latin typeface="Inter"/>
                <a:ea typeface="Inter"/>
                <a:cs typeface="Inter"/>
                <a:sym typeface="Inter"/>
              </a:rPr>
              <a:t>Application:</a:t>
            </a:r>
            <a:r>
              <a:rPr b="0" i="0" lang="en-GB" sz="900" u="none" strike="noStrike">
                <a:solidFill>
                  <a:srgbClr val="111315"/>
                </a:solidFill>
                <a:latin typeface="Inter"/>
                <a:ea typeface="Inter"/>
                <a:cs typeface="Inter"/>
                <a:sym typeface="Inter"/>
              </a:rPr>
              <a:t> Visual presentation of linear algebra and vector calculus operations.</a:t>
            </a:r>
            <a:endParaRPr b="0" i="0" sz="800" u="none" strike="noStrike">
              <a:solidFill>
                <a:srgbClr val="2563EB"/>
              </a:solidFill>
              <a:latin typeface="JetBrains Mono"/>
              <a:ea typeface="JetBrains Mono"/>
              <a:cs typeface="JetBrains Mono"/>
              <a:sym typeface="JetBrains Mono"/>
            </a:endParaRPr>
          </a:p>
          <a:p>
            <a:pPr indent="0" lvl="0" marL="0" marR="0" rtl="0" algn="l">
              <a:lnSpc>
                <a:spcPct val="100000"/>
              </a:lnSpc>
              <a:spcBef>
                <a:spcPts val="1000"/>
              </a:spcBef>
              <a:spcAft>
                <a:spcPts val="0"/>
              </a:spcAft>
              <a:buNone/>
            </a:pPr>
            <a:r>
              <a:rPr b="1" i="0" lang="en-GB" sz="850" u="none" strike="noStrike">
                <a:solidFill>
                  <a:srgbClr val="111315"/>
                </a:solidFill>
                <a:latin typeface="JetBrains Mono"/>
                <a:ea typeface="JetBrains Mono"/>
                <a:cs typeface="JetBrains Mono"/>
                <a:sym typeface="JetBrains Mono"/>
              </a:rPr>
              <a:t>Link to Series on YouTube:</a:t>
            </a:r>
            <a:r>
              <a:rPr b="0" i="0" lang="en-GB" sz="850" u="none" strike="noStrike">
                <a:solidFill>
                  <a:srgbClr val="111315"/>
                </a:solidFill>
                <a:latin typeface="JetBrains Mono"/>
                <a:ea typeface="JetBrains Mono"/>
                <a:cs typeface="JetBrains Mono"/>
                <a:sym typeface="JetBrains Mono"/>
              </a:rPr>
              <a:t> 3Blue1Brown Neural Networks Playlist</a:t>
            </a:r>
            <a:endParaRPr b="0" i="0" sz="800" u="none" strike="noStrike">
              <a:solidFill>
                <a:srgbClr val="2563EB"/>
              </a:solidFill>
              <a:latin typeface="JetBrains Mono"/>
              <a:ea typeface="JetBrains Mono"/>
              <a:cs typeface="JetBrains Mono"/>
              <a:sym typeface="JetBrains Mono"/>
            </a:endParaRPr>
          </a:p>
          <a:p>
            <a:pPr indent="0" lvl="0" marL="0" marR="0" rtl="0" algn="l">
              <a:lnSpc>
                <a:spcPct val="100000"/>
              </a:lnSpc>
              <a:spcBef>
                <a:spcPts val="300"/>
              </a:spcBef>
              <a:spcAft>
                <a:spcPts val="600"/>
              </a:spcAft>
              <a:buNone/>
            </a:pPr>
            <a:r>
              <a:rPr b="0" i="0" lang="en-GB" sz="750" u="none" strike="noStrike">
                <a:solidFill>
                  <a:srgbClr val="64748B"/>
                </a:solidFill>
                <a:latin typeface="JetBrains Mono"/>
                <a:ea typeface="JetBrains Mono"/>
                <a:cs typeface="JetBrains Mono"/>
                <a:sym typeface="JetBrains Mono"/>
              </a:rPr>
              <a:t>youtube.com/playlist?list=PLZHQObOWTQDM4E-dwvbnQTiyKDO-y9T2t</a:t>
            </a:r>
            <a:endParaRPr b="0" i="0" sz="800" u="none" strike="noStrike">
              <a:solidFill>
                <a:srgbClr val="2563EB"/>
              </a:solidFill>
              <a:latin typeface="JetBrains Mono"/>
              <a:ea typeface="JetBrains Mono"/>
              <a:cs typeface="JetBrains Mono"/>
              <a:sym typeface="JetBrains Mono"/>
            </a:endParaRPr>
          </a:p>
        </p:txBody>
      </p:sp>
      <p:sp>
        <p:nvSpPr>
          <p:cNvPr id="1020" name="Google Shape;1020;p46"/>
          <p:cNvSpPr/>
          <p:nvPr/>
        </p:nvSpPr>
        <p:spPr>
          <a:xfrm>
            <a:off x="5753100" y="1085850"/>
            <a:ext cx="3009900" cy="1647900"/>
          </a:xfrm>
          <a:prstGeom prst="roundRect">
            <a:avLst>
              <a:gd fmla="val 4624" name="adj"/>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46"/>
          <p:cNvSpPr/>
          <p:nvPr/>
        </p:nvSpPr>
        <p:spPr>
          <a:xfrm>
            <a:off x="5753100" y="1085850"/>
            <a:ext cx="3009900" cy="38100"/>
          </a:xfrm>
          <a:prstGeom prst="roundRect">
            <a:avLst>
              <a:gd fmla="val 0" name="adj"/>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46"/>
          <p:cNvSpPr txBox="1"/>
          <p:nvPr/>
        </p:nvSpPr>
        <p:spPr>
          <a:xfrm>
            <a:off x="5886450" y="1181100"/>
            <a:ext cx="2743200" cy="1485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GB" sz="750" u="none" strike="noStrike">
                <a:solidFill>
                  <a:srgbClr val="059669"/>
                </a:solidFill>
                <a:latin typeface="JetBrains Mono"/>
                <a:ea typeface="JetBrains Mono"/>
                <a:cs typeface="JetBrains Mono"/>
                <a:sym typeface="JetBrains Mono"/>
              </a:rPr>
              <a:t>MODEL ARCHITECTURE // REFERENCE CODE</a:t>
            </a:r>
            <a:endParaRPr b="1" i="0" sz="750" u="none" strike="noStrike">
              <a:solidFill>
                <a:srgbClr val="059669"/>
              </a:solidFill>
              <a:latin typeface="JetBrains Mono"/>
              <a:ea typeface="JetBrains Mono"/>
              <a:cs typeface="JetBrains Mono"/>
              <a:sym typeface="JetBrains Mono"/>
            </a:endParaRPr>
          </a:p>
          <a:p>
            <a:pPr indent="0" lvl="0" marL="0" marR="0" rtl="0" algn="l">
              <a:lnSpc>
                <a:spcPct val="100000"/>
              </a:lnSpc>
              <a:spcBef>
                <a:spcPts val="300"/>
              </a:spcBef>
              <a:spcAft>
                <a:spcPts val="0"/>
              </a:spcAft>
              <a:buNone/>
            </a:pPr>
            <a:r>
              <a:rPr b="1" i="0" lang="en-GB" sz="1100" u="none" strike="noStrike">
                <a:solidFill>
                  <a:srgbClr val="111315"/>
                </a:solidFill>
                <a:latin typeface="Space Grotesk"/>
                <a:ea typeface="Space Grotesk"/>
                <a:cs typeface="Space Grotesk"/>
                <a:sym typeface="Space Grotesk"/>
              </a:rPr>
              <a:t>Andrej Karpathy: Neural Networks: Zero to Hero</a:t>
            </a:r>
            <a:endParaRPr b="1" i="0" sz="750" u="none" strike="noStrike">
              <a:solidFill>
                <a:srgbClr val="059669"/>
              </a:solidFill>
              <a:latin typeface="JetBrains Mono"/>
              <a:ea typeface="JetBrains Mono"/>
              <a:cs typeface="JetBrains Mono"/>
              <a:sym typeface="JetBrains Mono"/>
            </a:endParaRPr>
          </a:p>
          <a:p>
            <a:pPr indent="0" lvl="0" marL="0" marR="0" rtl="0" algn="l">
              <a:lnSpc>
                <a:spcPct val="115000"/>
              </a:lnSpc>
              <a:spcBef>
                <a:spcPts val="500"/>
              </a:spcBef>
              <a:spcAft>
                <a:spcPts val="0"/>
              </a:spcAft>
              <a:buNone/>
            </a:pPr>
            <a:r>
              <a:rPr b="0" i="0" lang="en-GB" sz="850" u="none" strike="noStrike">
                <a:solidFill>
                  <a:srgbClr val="4B5563"/>
                </a:solidFill>
                <a:latin typeface="Inter"/>
                <a:ea typeface="Inter"/>
                <a:cs typeface="Inter"/>
                <a:sym typeface="Inter"/>
              </a:rPr>
              <a:t>Code walkthrough showing implementation of basic neural networks and transformer models using Python and PyTorch.</a:t>
            </a:r>
            <a:endParaRPr b="1" i="0" sz="750" u="none" strike="noStrike">
              <a:solidFill>
                <a:srgbClr val="059669"/>
              </a:solidFill>
              <a:latin typeface="JetBrains Mono"/>
              <a:ea typeface="JetBrains Mono"/>
              <a:cs typeface="JetBrains Mono"/>
              <a:sym typeface="JetBrains Mono"/>
            </a:endParaRPr>
          </a:p>
          <a:p>
            <a:pPr indent="0" lvl="0" marL="0" marR="0" rtl="0" algn="l">
              <a:lnSpc>
                <a:spcPct val="100000"/>
              </a:lnSpc>
              <a:spcBef>
                <a:spcPts val="600"/>
              </a:spcBef>
              <a:spcAft>
                <a:spcPts val="300"/>
              </a:spcAft>
              <a:buNone/>
            </a:pPr>
            <a:r>
              <a:rPr b="1" i="0" lang="en-GB" sz="800" u="none" strike="noStrike">
                <a:solidFill>
                  <a:srgbClr val="111315"/>
                </a:solidFill>
                <a:latin typeface="JetBrains Mono"/>
                <a:ea typeface="JetBrains Mono"/>
                <a:cs typeface="JetBrains Mono"/>
                <a:sym typeface="JetBrains Mono"/>
              </a:rPr>
              <a:t>Resource: karpathy.ai / YouTube</a:t>
            </a:r>
            <a:endParaRPr b="1" i="0" sz="750" u="none" strike="noStrike">
              <a:solidFill>
                <a:srgbClr val="059669"/>
              </a:solidFill>
              <a:latin typeface="JetBrains Mono"/>
              <a:ea typeface="JetBrains Mono"/>
              <a:cs typeface="JetBrains Mono"/>
              <a:sym typeface="JetBrains Mono"/>
            </a:endParaRPr>
          </a:p>
        </p:txBody>
      </p:sp>
      <p:sp>
        <p:nvSpPr>
          <p:cNvPr id="1023" name="Google Shape;1023;p46"/>
          <p:cNvSpPr/>
          <p:nvPr/>
        </p:nvSpPr>
        <p:spPr>
          <a:xfrm>
            <a:off x="5753100" y="2886075"/>
            <a:ext cx="3009900" cy="1647900"/>
          </a:xfrm>
          <a:prstGeom prst="roundRect">
            <a:avLst>
              <a:gd fmla="val 4624" name="adj"/>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46"/>
          <p:cNvSpPr/>
          <p:nvPr/>
        </p:nvSpPr>
        <p:spPr>
          <a:xfrm>
            <a:off x="5753100" y="2886075"/>
            <a:ext cx="3009900" cy="38100"/>
          </a:xfrm>
          <a:prstGeom prst="roundRect">
            <a:avLst>
              <a:gd fmla="val 0" name="adj"/>
            </a:avLst>
          </a:prstGeom>
          <a:solidFill>
            <a:srgbClr val="D938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46"/>
          <p:cNvSpPr txBox="1"/>
          <p:nvPr/>
        </p:nvSpPr>
        <p:spPr>
          <a:xfrm>
            <a:off x="5886450" y="2981325"/>
            <a:ext cx="2743200" cy="1485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GB" sz="750" u="none" strike="noStrike">
                <a:solidFill>
                  <a:srgbClr val="D9381E"/>
                </a:solidFill>
                <a:latin typeface="JetBrains Mono"/>
                <a:ea typeface="JetBrains Mono"/>
                <a:cs typeface="JetBrains Mono"/>
                <a:sym typeface="JetBrains Mono"/>
              </a:rPr>
              <a:t>INTERACTIVE TOOLS // WEB VISUALIZATION</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300"/>
              </a:spcBef>
              <a:spcAft>
                <a:spcPts val="0"/>
              </a:spcAft>
              <a:buNone/>
            </a:pPr>
            <a:r>
              <a:rPr b="1" i="0" lang="en-GB" sz="1100" u="none" strike="noStrike">
                <a:solidFill>
                  <a:srgbClr val="111315"/>
                </a:solidFill>
                <a:latin typeface="Space Grotesk"/>
                <a:ea typeface="Space Grotesk"/>
                <a:cs typeface="Space Grotesk"/>
                <a:sym typeface="Space Grotesk"/>
              </a:rPr>
              <a:t>Transformer Explainer and Distill.pub</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15000"/>
              </a:lnSpc>
              <a:spcBef>
                <a:spcPts val="500"/>
              </a:spcBef>
              <a:spcAft>
                <a:spcPts val="0"/>
              </a:spcAft>
              <a:buNone/>
            </a:pPr>
            <a:r>
              <a:rPr b="0" i="0" lang="en-GB" sz="850" u="none" strike="noStrike">
                <a:solidFill>
                  <a:srgbClr val="4B5563"/>
                </a:solidFill>
                <a:latin typeface="Inter"/>
                <a:ea typeface="Inter"/>
                <a:cs typeface="Inter"/>
                <a:sym typeface="Inter"/>
              </a:rPr>
              <a:t>Web-based interactive diagrams demonstrating attention weight matrices, token transformations, and dimensional projections.</a:t>
            </a:r>
            <a:endParaRPr b="1" i="0" sz="750" u="none" strike="noStrike">
              <a:solidFill>
                <a:srgbClr val="D9381E"/>
              </a:solidFill>
              <a:latin typeface="JetBrains Mono"/>
              <a:ea typeface="JetBrains Mono"/>
              <a:cs typeface="JetBrains Mono"/>
              <a:sym typeface="JetBrains Mono"/>
            </a:endParaRPr>
          </a:p>
          <a:p>
            <a:pPr indent="0" lvl="0" marL="0" marR="0" rtl="0" algn="l">
              <a:lnSpc>
                <a:spcPct val="100000"/>
              </a:lnSpc>
              <a:spcBef>
                <a:spcPts val="600"/>
              </a:spcBef>
              <a:spcAft>
                <a:spcPts val="300"/>
              </a:spcAft>
              <a:buNone/>
            </a:pPr>
            <a:r>
              <a:rPr b="1" i="0" lang="en-GB" sz="800" u="none" strike="noStrike">
                <a:solidFill>
                  <a:srgbClr val="111315"/>
                </a:solidFill>
                <a:latin typeface="JetBrains Mono"/>
                <a:ea typeface="JetBrains Mono"/>
                <a:cs typeface="JetBrains Mono"/>
                <a:sym typeface="JetBrains Mono"/>
              </a:rPr>
              <a:t>Resource: poloclub.github.io/transformer-explainer</a:t>
            </a:r>
            <a:endParaRPr b="1" i="0" sz="750" u="none" strike="noStrike">
              <a:solidFill>
                <a:srgbClr val="D9381E"/>
              </a:solidFill>
              <a:latin typeface="JetBrains Mono"/>
              <a:ea typeface="JetBrains Mono"/>
              <a:cs typeface="JetBrains Mono"/>
              <a:sym typeface="JetBrains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47"/>
          <p:cNvSpPr txBox="1"/>
          <p:nvPr/>
        </p:nvSpPr>
        <p:spPr>
          <a:xfrm>
            <a:off x="381000" y="2286000"/>
            <a:ext cx="8382000" cy="571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3000" u="none" strike="noStrike">
                <a:solidFill>
                  <a:srgbClr val="111315"/>
                </a:solidFill>
                <a:latin typeface="Space Grotesk"/>
                <a:ea typeface="Space Grotesk"/>
                <a:cs typeface="Space Grotesk"/>
                <a:sym typeface="Space Grotesk"/>
              </a:rPr>
              <a:t>Questions and Answers</a:t>
            </a:r>
            <a:endParaRPr b="1" i="0" sz="3000" u="none" strike="noStrike">
              <a:solidFill>
                <a:srgbClr val="111315"/>
              </a:solidFill>
              <a:latin typeface="Space Grotesk"/>
              <a:ea typeface="Space Grotesk"/>
              <a:cs typeface="Space Grotesk"/>
              <a:sym typeface="Space Grotesk"/>
            </a:endParaRPr>
          </a:p>
        </p:txBody>
      </p:sp>
      <p:grpSp>
        <p:nvGrpSpPr>
          <p:cNvPr id="1031" name="Google Shape;1031;p47"/>
          <p:cNvGrpSpPr/>
          <p:nvPr/>
        </p:nvGrpSpPr>
        <p:grpSpPr>
          <a:xfrm>
            <a:off x="381000" y="4762500"/>
            <a:ext cx="8382000" cy="285750"/>
            <a:chOff x="381000" y="4762500"/>
            <a:chExt cx="8382000" cy="285750"/>
          </a:xfrm>
        </p:grpSpPr>
        <p:cxnSp>
          <p:nvCxnSpPr>
            <p:cNvPr id="1032" name="Google Shape;1032;p47"/>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033" name="Google Shape;1033;p47"/>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48"/>
          <p:cNvSpPr txBox="1"/>
          <p:nvPr/>
        </p:nvSpPr>
        <p:spPr>
          <a:xfrm>
            <a:off x="381000" y="333375"/>
            <a:ext cx="8382000" cy="66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2200" u="none" strike="noStrike">
                <a:solidFill>
                  <a:srgbClr val="111315"/>
                </a:solidFill>
                <a:latin typeface="Space Grotesk"/>
                <a:ea typeface="Space Grotesk"/>
                <a:cs typeface="Space Grotesk"/>
                <a:sym typeface="Space Grotesk"/>
              </a:rPr>
              <a:t>Technical Appendices</a:t>
            </a:r>
            <a:endParaRPr b="1" i="0" sz="2200" u="none" strike="noStrike">
              <a:solidFill>
                <a:srgbClr val="111315"/>
              </a:solidFill>
              <a:latin typeface="Space Grotesk"/>
              <a:ea typeface="Space Grotesk"/>
              <a:cs typeface="Space Grotesk"/>
              <a:sym typeface="Space Grotesk"/>
            </a:endParaRPr>
          </a:p>
          <a:p>
            <a:pPr indent="0" lvl="0" marL="0" marR="0" rtl="0" algn="l">
              <a:spcBef>
                <a:spcPts val="400"/>
              </a:spcBef>
              <a:spcAft>
                <a:spcPts val="0"/>
              </a:spcAft>
              <a:buNone/>
            </a:pPr>
            <a:r>
              <a:rPr b="0" i="0" lang="en-GB" sz="1050" u="none" strike="noStrike">
                <a:solidFill>
                  <a:srgbClr val="5A626A"/>
                </a:solidFill>
                <a:latin typeface="Space Grotesk"/>
                <a:ea typeface="Space Grotesk"/>
                <a:cs typeface="Space Grotesk"/>
                <a:sym typeface="Space Grotesk"/>
              </a:rPr>
              <a:t>Mathematical definitions, optimization procedures, and training architectures.</a:t>
            </a:r>
            <a:endParaRPr b="1" i="0" sz="2200" u="none" strike="noStrike">
              <a:solidFill>
                <a:srgbClr val="111315"/>
              </a:solidFill>
              <a:latin typeface="Space Grotesk"/>
              <a:ea typeface="Space Grotesk"/>
              <a:cs typeface="Space Grotesk"/>
              <a:sym typeface="Space Grotesk"/>
            </a:endParaRPr>
          </a:p>
        </p:txBody>
      </p:sp>
      <p:grpSp>
        <p:nvGrpSpPr>
          <p:cNvPr id="1039" name="Google Shape;1039;p48"/>
          <p:cNvGrpSpPr/>
          <p:nvPr/>
        </p:nvGrpSpPr>
        <p:grpSpPr>
          <a:xfrm>
            <a:off x="381000" y="4762500"/>
            <a:ext cx="8382000" cy="285750"/>
            <a:chOff x="381000" y="4762500"/>
            <a:chExt cx="8382000" cy="285750"/>
          </a:xfrm>
        </p:grpSpPr>
        <p:cxnSp>
          <p:nvCxnSpPr>
            <p:cNvPr id="1040" name="Google Shape;1040;p48"/>
            <p:cNvCxnSpPr/>
            <p:nvPr/>
          </p:nvCxnSpPr>
          <p:spPr>
            <a:xfrm>
              <a:off x="381000" y="4762500"/>
              <a:ext cx="8382000" cy="0"/>
            </a:xfrm>
            <a:prstGeom prst="straightConnector1">
              <a:avLst/>
            </a:prstGeom>
            <a:solidFill>
              <a:srgbClr val="FFFFFF"/>
            </a:solidFill>
            <a:ln cap="flat" cmpd="sng" w="9525">
              <a:solidFill>
                <a:srgbClr val="111315"/>
              </a:solidFill>
              <a:prstDash val="solid"/>
              <a:round/>
              <a:headEnd len="sm" w="sm" type="none"/>
              <a:tailEnd len="sm" w="sm" type="none"/>
            </a:ln>
          </p:spPr>
        </p:cxnSp>
        <p:sp>
          <p:nvSpPr>
            <p:cNvPr id="1041" name="Google Shape;1041;p48"/>
            <p:cNvSpPr txBox="1"/>
            <p:nvPr/>
          </p:nvSpPr>
          <p:spPr>
            <a:xfrm>
              <a:off x="381000" y="485775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5A626A"/>
                  </a:solidFill>
                  <a:latin typeface="JetBrains Mono"/>
                  <a:ea typeface="JetBrains Mono"/>
                  <a:cs typeface="JetBrains Mono"/>
                  <a:sym typeface="JetBrains Mono"/>
                </a:rPr>
                <a:t>AI in Architecture | Indrajeet Haldar</a:t>
              </a:r>
              <a:endParaRPr b="0" sz="750">
                <a:solidFill>
                  <a:srgbClr val="5A626A"/>
                </a:solidFill>
                <a:latin typeface="JetBrains Mono"/>
                <a:ea typeface="JetBrains Mono"/>
                <a:cs typeface="JetBrains Mono"/>
                <a:sym typeface="JetBrains Mono"/>
              </a:endParaRPr>
            </a:p>
          </p:txBody>
        </p:sp>
      </p:grpSp>
      <p:sp>
        <p:nvSpPr>
          <p:cNvPr id="1042" name="Google Shape;1042;p48"/>
          <p:cNvSpPr/>
          <p:nvPr/>
        </p:nvSpPr>
        <p:spPr>
          <a:xfrm>
            <a:off x="381000" y="1190625"/>
            <a:ext cx="8382000" cy="904800"/>
          </a:xfrm>
          <a:prstGeom prst="roundRect">
            <a:avLst>
              <a:gd fmla="val 8421" name="adj"/>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48"/>
          <p:cNvSpPr/>
          <p:nvPr/>
        </p:nvSpPr>
        <p:spPr>
          <a:xfrm>
            <a:off x="381000" y="1190625"/>
            <a:ext cx="38100" cy="904800"/>
          </a:xfrm>
          <a:prstGeom prst="roundRect">
            <a:avLst>
              <a:gd fmla="val 0" name="adj"/>
            </a:avLst>
          </a:prstGeom>
          <a:solidFill>
            <a:srgbClr val="1D4ED8"/>
          </a:solidFill>
          <a:ln cap="flat" cmpd="sng">
            <a:solidFill>
              <a:srgbClr val="1D4E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48"/>
          <p:cNvSpPr txBox="1"/>
          <p:nvPr/>
        </p:nvSpPr>
        <p:spPr>
          <a:xfrm>
            <a:off x="571500" y="1285875"/>
            <a:ext cx="6858000" cy="7143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506" u="none" strike="noStrike">
                <a:solidFill>
                  <a:srgbClr val="1D4ED8"/>
                </a:solidFill>
                <a:latin typeface="JetBrains Mono"/>
                <a:ea typeface="JetBrains Mono"/>
                <a:cs typeface="JetBrains Mono"/>
                <a:sym typeface="JetBrains Mono"/>
              </a:rPr>
              <a:t>APPENDIX A // VECTOR EMBEDDINGS</a:t>
            </a:r>
            <a:endParaRPr b="1" i="0" sz="506" u="none" strike="noStrike">
              <a:solidFill>
                <a:srgbClr val="1D4ED8"/>
              </a:solidFill>
              <a:latin typeface="JetBrains Mono"/>
              <a:ea typeface="JetBrains Mono"/>
              <a:cs typeface="JetBrains Mono"/>
              <a:sym typeface="JetBrains Mono"/>
            </a:endParaRPr>
          </a:p>
          <a:p>
            <a:pPr indent="0" lvl="0" marL="0" marR="0" rtl="0" algn="l">
              <a:spcBef>
                <a:spcPts val="200"/>
              </a:spcBef>
              <a:spcAft>
                <a:spcPts val="0"/>
              </a:spcAft>
              <a:buNone/>
            </a:pPr>
            <a:r>
              <a:rPr b="1" i="0" lang="en-GB" sz="774" u="none" strike="noStrike">
                <a:solidFill>
                  <a:srgbClr val="111315"/>
                </a:solidFill>
                <a:latin typeface="Space Grotesk"/>
                <a:ea typeface="Space Grotesk"/>
                <a:cs typeface="Space Grotesk"/>
                <a:sym typeface="Space Grotesk"/>
              </a:rPr>
              <a:t>Word Vectorization Mathematics</a:t>
            </a:r>
            <a:endParaRPr b="1" i="0" sz="506" u="none" strike="noStrike">
              <a:solidFill>
                <a:srgbClr val="1D4ED8"/>
              </a:solidFill>
              <a:latin typeface="JetBrains Mono"/>
              <a:ea typeface="JetBrains Mono"/>
              <a:cs typeface="JetBrains Mono"/>
              <a:sym typeface="JetBrains Mono"/>
            </a:endParaRPr>
          </a:p>
          <a:p>
            <a:pPr indent="0" lvl="0" marL="0" marR="0" rtl="0" algn="l">
              <a:spcBef>
                <a:spcPts val="300"/>
              </a:spcBef>
              <a:spcAft>
                <a:spcPts val="0"/>
              </a:spcAft>
              <a:buNone/>
            </a:pPr>
            <a:r>
              <a:rPr b="0" i="0" lang="en-GB" sz="808" u="none" strike="noStrike">
                <a:solidFill>
                  <a:srgbClr val="4B5563"/>
                </a:solidFill>
                <a:latin typeface="Inter"/>
                <a:ea typeface="Inter"/>
                <a:cs typeface="Inter"/>
                <a:sym typeface="Inter"/>
              </a:rPr>
              <a:t>Vector space projection, embedding lookup matrices E in R^(V x d), and vector similarity calculation using cosine distance.</a:t>
            </a:r>
            <a:endParaRPr b="1" i="0" sz="506" u="none" strike="noStrike">
              <a:solidFill>
                <a:srgbClr val="1D4ED8"/>
              </a:solidFill>
              <a:latin typeface="JetBrains Mono"/>
              <a:ea typeface="JetBrains Mono"/>
              <a:cs typeface="JetBrains Mono"/>
              <a:sym typeface="JetBrains Mono"/>
            </a:endParaRPr>
          </a:p>
        </p:txBody>
      </p:sp>
      <p:sp>
        <p:nvSpPr>
          <p:cNvPr id="1045" name="Google Shape;1045;p48"/>
          <p:cNvSpPr txBox="1"/>
          <p:nvPr/>
        </p:nvSpPr>
        <p:spPr>
          <a:xfrm>
            <a:off x="7524750" y="1485900"/>
            <a:ext cx="1047900" cy="304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GB" sz="786">
                <a:solidFill>
                  <a:srgbClr val="1D4ED8"/>
                </a:solidFill>
                <a:latin typeface="JetBrains Mono"/>
                <a:ea typeface="JetBrains Mono"/>
                <a:cs typeface="JetBrains Mono"/>
                <a:sym typeface="JetBrains Mono"/>
              </a:rPr>
              <a:t>Slide 25 -&gt;</a:t>
            </a:r>
            <a:endParaRPr b="1" sz="786">
              <a:solidFill>
                <a:srgbClr val="1D4ED8"/>
              </a:solidFill>
              <a:latin typeface="JetBrains Mono"/>
              <a:ea typeface="JetBrains Mono"/>
              <a:cs typeface="JetBrains Mono"/>
              <a:sym typeface="JetBrains Mono"/>
            </a:endParaRPr>
          </a:p>
        </p:txBody>
      </p:sp>
      <p:sp>
        <p:nvSpPr>
          <p:cNvPr id="1046" name="Google Shape;1046;p48"/>
          <p:cNvSpPr/>
          <p:nvPr/>
        </p:nvSpPr>
        <p:spPr>
          <a:xfrm>
            <a:off x="381000" y="2238375"/>
            <a:ext cx="8382000" cy="904800"/>
          </a:xfrm>
          <a:prstGeom prst="roundRect">
            <a:avLst>
              <a:gd fmla="val 8421" name="adj"/>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48"/>
          <p:cNvSpPr/>
          <p:nvPr/>
        </p:nvSpPr>
        <p:spPr>
          <a:xfrm>
            <a:off x="381000" y="2238375"/>
            <a:ext cx="38100" cy="904800"/>
          </a:xfrm>
          <a:prstGeom prst="roundRect">
            <a:avLst>
              <a:gd fmla="val 0" name="adj"/>
            </a:avLst>
          </a:prstGeom>
          <a:solidFill>
            <a:srgbClr val="D9381E"/>
          </a:solidFill>
          <a:ln cap="flat" cmpd="sng">
            <a:solidFill>
              <a:srgbClr val="D938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48"/>
          <p:cNvSpPr txBox="1"/>
          <p:nvPr/>
        </p:nvSpPr>
        <p:spPr>
          <a:xfrm>
            <a:off x="571500" y="2333625"/>
            <a:ext cx="6858000" cy="7143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0" i="0" lang="en-GB" sz="506" u="none" strike="noStrike">
                <a:solidFill>
                  <a:srgbClr val="D9381E"/>
                </a:solidFill>
                <a:latin typeface="JetBrains Mono"/>
                <a:ea typeface="JetBrains Mono"/>
                <a:cs typeface="JetBrains Mono"/>
                <a:sym typeface="JetBrains Mono"/>
              </a:rPr>
              <a:t>APPENDIX B // OPTIMIZATION AND PARAMETER UPDATES</a:t>
            </a:r>
            <a:endParaRPr b="0" i="0" sz="506" u="none" strike="noStrike">
              <a:solidFill>
                <a:srgbClr val="D9381E"/>
              </a:solidFill>
              <a:latin typeface="JetBrains Mono"/>
              <a:ea typeface="JetBrains Mono"/>
              <a:cs typeface="JetBrains Mono"/>
              <a:sym typeface="JetBrains Mono"/>
            </a:endParaRPr>
          </a:p>
          <a:p>
            <a:pPr indent="0" lvl="0" marL="0" marR="0" rtl="0" algn="l">
              <a:spcBef>
                <a:spcPts val="200"/>
              </a:spcBef>
              <a:spcAft>
                <a:spcPts val="0"/>
              </a:spcAft>
              <a:buNone/>
            </a:pPr>
            <a:r>
              <a:rPr b="0" i="0" lang="en-GB" sz="774" u="none" strike="noStrike">
                <a:solidFill>
                  <a:srgbClr val="111315"/>
                </a:solidFill>
                <a:latin typeface="Space Grotesk"/>
                <a:ea typeface="Space Grotesk"/>
                <a:cs typeface="Space Grotesk"/>
                <a:sym typeface="Space Grotesk"/>
              </a:rPr>
              <a:t>Loss Functions and Parameter Updates via Backpropagation</a:t>
            </a:r>
            <a:endParaRPr b="0" i="0" sz="506" u="none" strike="noStrike">
              <a:solidFill>
                <a:srgbClr val="D9381E"/>
              </a:solidFill>
              <a:latin typeface="JetBrains Mono"/>
              <a:ea typeface="JetBrains Mono"/>
              <a:cs typeface="JetBrains Mono"/>
              <a:sym typeface="JetBrains Mono"/>
            </a:endParaRPr>
          </a:p>
          <a:p>
            <a:pPr indent="0" lvl="0" marL="0" marR="0" rtl="0" algn="l">
              <a:spcBef>
                <a:spcPts val="300"/>
              </a:spcBef>
              <a:spcAft>
                <a:spcPts val="0"/>
              </a:spcAft>
              <a:buNone/>
            </a:pPr>
            <a:r>
              <a:rPr b="0" i="0" lang="en-GB" sz="808" u="none" strike="noStrike">
                <a:solidFill>
                  <a:srgbClr val="4B5563"/>
                </a:solidFill>
                <a:latin typeface="Inter"/>
                <a:ea typeface="Inter"/>
                <a:cs typeface="Inter"/>
                <a:sym typeface="Inter"/>
              </a:rPr>
              <a:t>Cross-entropy loss calculation, gradient computation across model weights via the calculus chain rule, and parameter updates using AdamW.</a:t>
            </a:r>
            <a:endParaRPr b="0" i="0" sz="506" u="none" strike="noStrike">
              <a:solidFill>
                <a:srgbClr val="D9381E"/>
              </a:solidFill>
              <a:latin typeface="JetBrains Mono"/>
              <a:ea typeface="JetBrains Mono"/>
              <a:cs typeface="JetBrains Mono"/>
              <a:sym typeface="JetBrains Mono"/>
            </a:endParaRPr>
          </a:p>
        </p:txBody>
      </p:sp>
      <p:sp>
        <p:nvSpPr>
          <p:cNvPr id="1049" name="Google Shape;1049;p48"/>
          <p:cNvSpPr txBox="1"/>
          <p:nvPr/>
        </p:nvSpPr>
        <p:spPr>
          <a:xfrm>
            <a:off x="7524750" y="2533650"/>
            <a:ext cx="1047900" cy="304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GB" sz="786">
                <a:solidFill>
                  <a:srgbClr val="D9381E"/>
                </a:solidFill>
                <a:latin typeface="JetBrains Mono"/>
                <a:ea typeface="JetBrains Mono"/>
                <a:cs typeface="JetBrains Mono"/>
                <a:sym typeface="JetBrains Mono"/>
              </a:rPr>
              <a:t>Slide 26 -&gt;</a:t>
            </a:r>
            <a:endParaRPr b="1" sz="786">
              <a:solidFill>
                <a:srgbClr val="D9381E"/>
              </a:solidFill>
              <a:latin typeface="JetBrains Mono"/>
              <a:ea typeface="JetBrains Mono"/>
              <a:cs typeface="JetBrains Mono"/>
              <a:sym typeface="JetBrains Mono"/>
            </a:endParaRPr>
          </a:p>
        </p:txBody>
      </p:sp>
      <p:sp>
        <p:nvSpPr>
          <p:cNvPr id="1050" name="Google Shape;1050;p48"/>
          <p:cNvSpPr/>
          <p:nvPr/>
        </p:nvSpPr>
        <p:spPr>
          <a:xfrm>
            <a:off x="381000" y="3286125"/>
            <a:ext cx="8382000" cy="904800"/>
          </a:xfrm>
          <a:prstGeom prst="roundRect">
            <a:avLst>
              <a:gd fmla="val 8421" name="adj"/>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48"/>
          <p:cNvSpPr/>
          <p:nvPr/>
        </p:nvSpPr>
        <p:spPr>
          <a:xfrm>
            <a:off x="381000" y="3286125"/>
            <a:ext cx="38100" cy="904800"/>
          </a:xfrm>
          <a:prstGeom prst="roundRect">
            <a:avLst>
              <a:gd fmla="val 0" name="adj"/>
            </a:avLst>
          </a:prstGeom>
          <a:solidFill>
            <a:srgbClr val="059669"/>
          </a:solidFill>
          <a:ln cap="flat" cmpd="sng">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48"/>
          <p:cNvSpPr txBox="1"/>
          <p:nvPr/>
        </p:nvSpPr>
        <p:spPr>
          <a:xfrm>
            <a:off x="571500" y="3381375"/>
            <a:ext cx="6858000" cy="7143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0" i="0" lang="en-GB" sz="506" u="none" strike="noStrike">
                <a:solidFill>
                  <a:srgbClr val="059669"/>
                </a:solidFill>
                <a:latin typeface="JetBrains Mono"/>
                <a:ea typeface="JetBrains Mono"/>
                <a:cs typeface="JetBrains Mono"/>
                <a:sym typeface="JetBrains Mono"/>
              </a:rPr>
              <a:t>APPENDIX C // POST-TRAINING ENVIRONMENTS</a:t>
            </a:r>
            <a:endParaRPr b="0" i="0" sz="506" u="none" strike="noStrike">
              <a:solidFill>
                <a:srgbClr val="059669"/>
              </a:solidFill>
              <a:latin typeface="JetBrains Mono"/>
              <a:ea typeface="JetBrains Mono"/>
              <a:cs typeface="JetBrains Mono"/>
              <a:sym typeface="JetBrains Mono"/>
            </a:endParaRPr>
          </a:p>
          <a:p>
            <a:pPr indent="0" lvl="0" marL="0" marR="0" rtl="0" algn="l">
              <a:spcBef>
                <a:spcPts val="200"/>
              </a:spcBef>
              <a:spcAft>
                <a:spcPts val="0"/>
              </a:spcAft>
              <a:buNone/>
            </a:pPr>
            <a:r>
              <a:rPr b="0" i="0" lang="en-GB" sz="774" u="none" strike="noStrike">
                <a:solidFill>
                  <a:srgbClr val="111315"/>
                </a:solidFill>
                <a:latin typeface="Space Grotesk"/>
                <a:ea typeface="Space Grotesk"/>
                <a:cs typeface="Space Grotesk"/>
                <a:sym typeface="Space Grotesk"/>
              </a:rPr>
              <a:t>Reinforcement Learning Environments in Model Training</a:t>
            </a:r>
            <a:endParaRPr b="0" i="0" sz="506" u="none" strike="noStrike">
              <a:solidFill>
                <a:srgbClr val="059669"/>
              </a:solidFill>
              <a:latin typeface="JetBrains Mono"/>
              <a:ea typeface="JetBrains Mono"/>
              <a:cs typeface="JetBrains Mono"/>
              <a:sym typeface="JetBrains Mono"/>
            </a:endParaRPr>
          </a:p>
          <a:p>
            <a:pPr indent="0" lvl="0" marL="0" marR="0" rtl="0" algn="l">
              <a:spcBef>
                <a:spcPts val="300"/>
              </a:spcBef>
              <a:spcAft>
                <a:spcPts val="0"/>
              </a:spcAft>
              <a:buNone/>
            </a:pPr>
            <a:r>
              <a:rPr b="0" i="0" lang="en-GB" sz="808" u="none" strike="noStrike">
                <a:solidFill>
                  <a:srgbClr val="4B5563"/>
                </a:solidFill>
                <a:latin typeface="Inter"/>
                <a:ea typeface="Inter"/>
                <a:cs typeface="Inter"/>
                <a:sym typeface="Inter"/>
              </a:rPr>
              <a:t>Training feedback mechanisms: human evaluations (RLHF), model-based evaluations (RLAIF), and deterministic code verification (RLVR).</a:t>
            </a:r>
            <a:endParaRPr b="0" i="0" sz="506" u="none" strike="noStrike">
              <a:solidFill>
                <a:srgbClr val="059669"/>
              </a:solidFill>
              <a:latin typeface="JetBrains Mono"/>
              <a:ea typeface="JetBrains Mono"/>
              <a:cs typeface="JetBrains Mono"/>
              <a:sym typeface="JetBrains Mono"/>
            </a:endParaRPr>
          </a:p>
        </p:txBody>
      </p:sp>
      <p:sp>
        <p:nvSpPr>
          <p:cNvPr id="1053" name="Google Shape;1053;p48"/>
          <p:cNvSpPr txBox="1"/>
          <p:nvPr/>
        </p:nvSpPr>
        <p:spPr>
          <a:xfrm>
            <a:off x="7524750" y="3581400"/>
            <a:ext cx="1047900" cy="304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GB" sz="786">
                <a:solidFill>
                  <a:srgbClr val="059669"/>
                </a:solidFill>
                <a:latin typeface="JetBrains Mono"/>
                <a:ea typeface="JetBrains Mono"/>
                <a:cs typeface="JetBrains Mono"/>
                <a:sym typeface="JetBrains Mono"/>
              </a:rPr>
              <a:t>Slide 27 -&gt;</a:t>
            </a:r>
            <a:endParaRPr b="1" sz="786">
              <a:solidFill>
                <a:srgbClr val="059669"/>
              </a:solidFill>
              <a:latin typeface="JetBrains Mono"/>
              <a:ea typeface="JetBrains Mono"/>
              <a:cs typeface="JetBrains Mono"/>
              <a:sym typeface="JetBrains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057" name="Shape 1057"/>
        <p:cNvGrpSpPr/>
        <p:nvPr/>
      </p:nvGrpSpPr>
      <p:grpSpPr>
        <a:xfrm>
          <a:off x="0" y="0"/>
          <a:ext cx="0" cy="0"/>
          <a:chOff x="0" y="0"/>
          <a:chExt cx="0" cy="0"/>
        </a:xfrm>
      </p:grpSpPr>
      <p:cxnSp>
        <p:nvCxnSpPr>
          <p:cNvPr id="1058" name="Google Shape;1058;p49"/>
          <p:cNvCxnSpPr/>
          <p:nvPr/>
        </p:nvCxnSpPr>
        <p:spPr>
          <a:xfrm>
            <a:off x="381000" y="4762500"/>
            <a:ext cx="8382000" cy="9600"/>
          </a:xfrm>
          <a:prstGeom prst="straightConnector1">
            <a:avLst/>
          </a:prstGeom>
          <a:solidFill>
            <a:srgbClr val="FFFFFF"/>
          </a:solidFill>
          <a:ln cap="flat" cmpd="sng" w="9525">
            <a:solidFill>
              <a:srgbClr val="D1D5DB"/>
            </a:solidFill>
            <a:prstDash val="solid"/>
            <a:round/>
            <a:headEnd len="sm" w="sm" type="none"/>
            <a:tailEnd len="sm" w="sm" type="none"/>
          </a:ln>
        </p:spPr>
      </p:cxnSp>
      <p:sp>
        <p:nvSpPr>
          <p:cNvPr id="1059" name="Google Shape;1059;p49"/>
          <p:cNvSpPr txBox="1"/>
          <p:nvPr/>
        </p:nvSpPr>
        <p:spPr>
          <a:xfrm>
            <a:off x="381000" y="4819650"/>
            <a:ext cx="8382000" cy="28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638">
                <a:solidFill>
                  <a:srgbClr val="5A626A"/>
                </a:solidFill>
                <a:latin typeface="JetBrains Mono"/>
                <a:ea typeface="JetBrains Mono"/>
                <a:cs typeface="JetBrains Mono"/>
                <a:sym typeface="JetBrains Mono"/>
              </a:rPr>
              <a:t>AI in Architecture | Indrajeet Haldar</a:t>
            </a:r>
            <a:endParaRPr sz="638">
              <a:solidFill>
                <a:srgbClr val="5A626A"/>
              </a:solidFill>
              <a:latin typeface="JetBrains Mono"/>
              <a:ea typeface="JetBrains Mono"/>
              <a:cs typeface="JetBrains Mono"/>
              <a:sym typeface="JetBrains Mono"/>
            </a:endParaRPr>
          </a:p>
        </p:txBody>
      </p:sp>
      <p:sp>
        <p:nvSpPr>
          <p:cNvPr id="1060" name="Google Shape;1060;p49"/>
          <p:cNvSpPr txBox="1"/>
          <p:nvPr/>
        </p:nvSpPr>
        <p:spPr>
          <a:xfrm>
            <a:off x="381000" y="266700"/>
            <a:ext cx="8382000" cy="4953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1125" u="none" strike="noStrike">
                <a:solidFill>
                  <a:srgbClr val="111315"/>
                </a:solidFill>
                <a:latin typeface="Space Grotesk"/>
                <a:ea typeface="Space Grotesk"/>
                <a:cs typeface="Space Grotesk"/>
                <a:sym typeface="Space Grotesk"/>
              </a:rPr>
              <a:t>Appendix A: Word Vectorization Mathematics</a:t>
            </a:r>
            <a:endParaRPr b="1" i="0" sz="1125" u="none" strike="noStrike">
              <a:solidFill>
                <a:srgbClr val="111315"/>
              </a:solidFill>
              <a:latin typeface="Space Grotesk"/>
              <a:ea typeface="Space Grotesk"/>
              <a:cs typeface="Space Grotesk"/>
              <a:sym typeface="Space Grotesk"/>
            </a:endParaRPr>
          </a:p>
          <a:p>
            <a:pPr indent="0" lvl="0" marL="0" marR="0" rtl="0" algn="l">
              <a:spcBef>
                <a:spcPts val="200"/>
              </a:spcBef>
              <a:spcAft>
                <a:spcPts val="0"/>
              </a:spcAft>
              <a:buNone/>
            </a:pPr>
            <a:r>
              <a:rPr b="0" i="0" lang="en-GB" sz="594" u="none" strike="noStrike">
                <a:solidFill>
                  <a:srgbClr val="5A626A"/>
                </a:solidFill>
                <a:latin typeface="Space Grotesk"/>
                <a:ea typeface="Space Grotesk"/>
                <a:cs typeface="Space Grotesk"/>
                <a:sym typeface="Space Grotesk"/>
              </a:rPr>
              <a:t>Mathematical projection of discrete symbolic tokens into continuous coordinate spaces.</a:t>
            </a:r>
            <a:endParaRPr b="1" i="0" sz="1125" u="none" strike="noStrike">
              <a:solidFill>
                <a:srgbClr val="111315"/>
              </a:solidFill>
              <a:latin typeface="Space Grotesk"/>
              <a:ea typeface="Space Grotesk"/>
              <a:cs typeface="Space Grotesk"/>
              <a:sym typeface="Space Grotesk"/>
            </a:endParaRPr>
          </a:p>
        </p:txBody>
      </p:sp>
      <p:sp>
        <p:nvSpPr>
          <p:cNvPr id="1061" name="Google Shape;1061;p49"/>
          <p:cNvSpPr/>
          <p:nvPr/>
        </p:nvSpPr>
        <p:spPr>
          <a:xfrm>
            <a:off x="381000" y="819150"/>
            <a:ext cx="8382000" cy="3190800"/>
          </a:xfrm>
          <a:prstGeom prst="roundRect">
            <a:avLst>
              <a:gd fmla="val 2388" name="adj"/>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49"/>
          <p:cNvSpPr/>
          <p:nvPr/>
        </p:nvSpPr>
        <p:spPr>
          <a:xfrm>
            <a:off x="381000" y="819150"/>
            <a:ext cx="8382000" cy="28500"/>
          </a:xfrm>
          <a:prstGeom prst="roundRect">
            <a:avLst>
              <a:gd fmla="val 0" name="adj"/>
            </a:avLst>
          </a:prstGeom>
          <a:solidFill>
            <a:srgbClr val="1D4ED8"/>
          </a:solidFill>
          <a:ln cap="flat" cmpd="sng">
            <a:solidFill>
              <a:srgbClr val="1D4E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49"/>
          <p:cNvSpPr txBox="1"/>
          <p:nvPr/>
        </p:nvSpPr>
        <p:spPr>
          <a:xfrm>
            <a:off x="571500" y="952500"/>
            <a:ext cx="2524200" cy="29052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750" u="none" strike="noStrike">
                <a:solidFill>
                  <a:srgbClr val="1D4ED8"/>
                </a:solidFill>
                <a:latin typeface="JetBrains Mono"/>
                <a:ea typeface="JetBrains Mono"/>
                <a:cs typeface="JetBrains Mono"/>
                <a:sym typeface="JetBrains Mono"/>
              </a:rPr>
              <a:t>01 // ONE-HOT ENCODING</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200"/>
              </a:spcBef>
              <a:spcAft>
                <a:spcPts val="0"/>
              </a:spcAft>
              <a:buNone/>
            </a:pPr>
            <a:r>
              <a:rPr b="1" i="0" lang="en-GB" sz="1300" u="none" strike="noStrike">
                <a:solidFill>
                  <a:srgbClr val="111315"/>
                </a:solidFill>
                <a:latin typeface="Space Grotesk"/>
                <a:ea typeface="Space Grotesk"/>
                <a:cs typeface="Space Grotesk"/>
                <a:sym typeface="Space Grotesk"/>
              </a:rPr>
              <a:t>Sparse Vector Representation</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For vocabulary size |V| (e.g. 50,000 words), each token corresponds to an indicator vector:</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400"/>
              </a:spcBef>
              <a:spcAft>
                <a:spcPts val="0"/>
              </a:spcAft>
              <a:buNone/>
            </a:pPr>
            <a:r>
              <a:rPr b="0" i="0" lang="en-GB" sz="800" u="none" strike="noStrike">
                <a:solidFill>
                  <a:srgbClr val="1E293B"/>
                </a:solidFill>
                <a:latin typeface="JetBrains Mono"/>
                <a:ea typeface="JetBrains Mono"/>
                <a:cs typeface="JetBrains Mono"/>
                <a:sym typeface="JetBrains Mono"/>
              </a:rPr>
              <a:t>x_i = [0, 0, ..., 1, ..., 0]^T ∈ {0, 1}^|V|</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Geometric Properties:</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All distinct one-hot vectors are mutually orthogonal:</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00" u="none" strike="noStrike">
                <a:solidFill>
                  <a:srgbClr val="DC2626"/>
                </a:solidFill>
                <a:latin typeface="JetBrains Mono"/>
                <a:ea typeface="JetBrains Mono"/>
                <a:cs typeface="JetBrains Mono"/>
                <a:sym typeface="JetBrains Mono"/>
              </a:rPr>
              <a:t>x_i · x_j = 0  (for all i ≠ j)</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800"/>
              </a:spcBef>
              <a:spcAft>
                <a:spcPts val="0"/>
              </a:spcAft>
              <a:buNone/>
            </a:pPr>
            <a:r>
              <a:rPr b="0" i="0" lang="en-GB" sz="830" u="none" strike="noStrike">
                <a:solidFill>
                  <a:srgbClr val="4B5563"/>
                </a:solidFill>
                <a:latin typeface="Inter"/>
                <a:ea typeface="Inter"/>
                <a:cs typeface="Inter"/>
                <a:sym typeface="Inter"/>
              </a:rPr>
              <a:t>This representation assigns equal geometric distance between all distinct word pairs.</a:t>
            </a:r>
            <a:endParaRPr b="1" i="0" sz="750" u="none" strike="noStrike">
              <a:solidFill>
                <a:srgbClr val="1D4ED8"/>
              </a:solidFill>
              <a:latin typeface="JetBrains Mono"/>
              <a:ea typeface="JetBrains Mono"/>
              <a:cs typeface="JetBrains Mono"/>
              <a:sym typeface="JetBrains Mono"/>
            </a:endParaRPr>
          </a:p>
        </p:txBody>
      </p:sp>
      <p:cxnSp>
        <p:nvCxnSpPr>
          <p:cNvPr id="1064" name="Google Shape;1064;p49"/>
          <p:cNvCxnSpPr/>
          <p:nvPr/>
        </p:nvCxnSpPr>
        <p:spPr>
          <a:xfrm>
            <a:off x="3238500" y="1000125"/>
            <a:ext cx="9600" cy="280980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065" name="Google Shape;1065;p49"/>
          <p:cNvSpPr txBox="1"/>
          <p:nvPr/>
        </p:nvSpPr>
        <p:spPr>
          <a:xfrm>
            <a:off x="3381375" y="952500"/>
            <a:ext cx="2524200" cy="29052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750" u="none" strike="noStrike">
                <a:solidFill>
                  <a:srgbClr val="1D4ED8"/>
                </a:solidFill>
                <a:latin typeface="JetBrains Mono"/>
                <a:ea typeface="JetBrains Mono"/>
                <a:cs typeface="JetBrains Mono"/>
                <a:sym typeface="JetBrains Mono"/>
              </a:rPr>
              <a:t>02 // EMBEDDING MATRIX</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200"/>
              </a:spcBef>
              <a:spcAft>
                <a:spcPts val="0"/>
              </a:spcAft>
              <a:buNone/>
            </a:pPr>
            <a:r>
              <a:rPr b="1" i="0" lang="en-GB" sz="1300" u="none" strike="noStrike">
                <a:solidFill>
                  <a:srgbClr val="111315"/>
                </a:solidFill>
                <a:latin typeface="Space Grotesk"/>
                <a:ea typeface="Space Grotesk"/>
                <a:cs typeface="Space Grotesk"/>
                <a:sym typeface="Space Grotesk"/>
              </a:rPr>
              <a:t>Linear Matrix Lookup</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An embedding matrix W_e ∈ ℝ^(d × |V|) projects sparse indicator vectors into d-dimensional coordinate space (e.g. d = 768 or 4096):</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400"/>
              </a:spcBef>
              <a:spcAft>
                <a:spcPts val="0"/>
              </a:spcAft>
              <a:buNone/>
            </a:pPr>
            <a:r>
              <a:rPr b="0" i="0" lang="en-GB" sz="800" u="none" strike="noStrike">
                <a:solidFill>
                  <a:srgbClr val="1E293B"/>
                </a:solidFill>
                <a:latin typeface="JetBrains Mono"/>
                <a:ea typeface="JetBrains Mono"/>
                <a:cs typeface="JetBrains Mono"/>
                <a:sym typeface="JetBrains Mono"/>
              </a:rPr>
              <a:t>e_word = W_e · x_word = W_e[:, index]</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Coordinate Properties:</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Each token corresponds to a coordinate vector of real values:</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00" u="none" strike="noStrike">
                <a:solidFill>
                  <a:srgbClr val="1D4ED8"/>
                </a:solidFill>
                <a:latin typeface="JetBrains Mono"/>
                <a:ea typeface="JetBrains Mono"/>
                <a:cs typeface="JetBrains Mono"/>
                <a:sym typeface="JetBrains Mono"/>
              </a:rPr>
              <a:t>e_studio = [ +0.42, +0.85, -0.19, ... ]</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800"/>
              </a:spcBef>
              <a:spcAft>
                <a:spcPts val="0"/>
              </a:spcAft>
              <a:buNone/>
            </a:pPr>
            <a:r>
              <a:rPr b="0" i="0" lang="en-GB" sz="830" u="none" strike="noStrike">
                <a:solidFill>
                  <a:srgbClr val="4B5563"/>
                </a:solidFill>
                <a:latin typeface="Inter"/>
                <a:ea typeface="Inter"/>
                <a:cs typeface="Inter"/>
                <a:sym typeface="Inter"/>
              </a:rPr>
              <a:t>Embedding matrix values are adjusted during training via gradient descent.</a:t>
            </a:r>
            <a:endParaRPr b="1" i="0" sz="750" u="none" strike="noStrike">
              <a:solidFill>
                <a:srgbClr val="1D4ED8"/>
              </a:solidFill>
              <a:latin typeface="JetBrains Mono"/>
              <a:ea typeface="JetBrains Mono"/>
              <a:cs typeface="JetBrains Mono"/>
              <a:sym typeface="JetBrains Mono"/>
            </a:endParaRPr>
          </a:p>
        </p:txBody>
      </p:sp>
      <p:cxnSp>
        <p:nvCxnSpPr>
          <p:cNvPr id="1066" name="Google Shape;1066;p49"/>
          <p:cNvCxnSpPr/>
          <p:nvPr/>
        </p:nvCxnSpPr>
        <p:spPr>
          <a:xfrm>
            <a:off x="6048375" y="1000125"/>
            <a:ext cx="9600" cy="280980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067" name="Google Shape;1067;p49"/>
          <p:cNvSpPr txBox="1"/>
          <p:nvPr/>
        </p:nvSpPr>
        <p:spPr>
          <a:xfrm>
            <a:off x="6191250" y="952500"/>
            <a:ext cx="2428800" cy="29052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750" u="none" strike="noStrike">
                <a:solidFill>
                  <a:srgbClr val="1D4ED8"/>
                </a:solidFill>
                <a:latin typeface="JetBrains Mono"/>
                <a:ea typeface="JetBrains Mono"/>
                <a:cs typeface="JetBrains Mono"/>
                <a:sym typeface="JetBrains Mono"/>
              </a:rPr>
              <a:t>03 // DISTANCE METRIC</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200"/>
              </a:spcBef>
              <a:spcAft>
                <a:spcPts val="0"/>
              </a:spcAft>
              <a:buNone/>
            </a:pPr>
            <a:r>
              <a:rPr b="1" i="0" lang="en-GB" sz="1300" u="none" strike="noStrike">
                <a:solidFill>
                  <a:srgbClr val="111315"/>
                </a:solidFill>
                <a:latin typeface="Space Grotesk"/>
                <a:ea typeface="Space Grotesk"/>
                <a:cs typeface="Space Grotesk"/>
                <a:sym typeface="Space Grotesk"/>
              </a:rPr>
              <a:t>Cosine Distance Metric</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Vector orientation similarity is calculated using normalized dot products:</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400"/>
              </a:spcBef>
              <a:spcAft>
                <a:spcPts val="0"/>
              </a:spcAft>
              <a:buNone/>
            </a:pPr>
            <a:r>
              <a:rPr b="0" i="0" lang="en-GB" sz="800" u="none" strike="noStrike">
                <a:solidFill>
                  <a:srgbClr val="1E293B"/>
                </a:solidFill>
                <a:latin typeface="JetBrains Mono"/>
                <a:ea typeface="JetBrains Mono"/>
                <a:cs typeface="JetBrains Mono"/>
                <a:sym typeface="JetBrains Mono"/>
              </a:rPr>
              <a:t>cos(u, v) = (u · v) / (||u|| ||v||)</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Vector Operations:</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Vector translations correspond to relational shifts:</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00" u="none" strike="noStrike">
                <a:solidFill>
                  <a:srgbClr val="059669"/>
                </a:solidFill>
                <a:latin typeface="JetBrains Mono"/>
                <a:ea typeface="JetBrains Mono"/>
                <a:cs typeface="JetBrains Mono"/>
                <a:sym typeface="JetBrains Mono"/>
              </a:rPr>
              <a:t>v_king - v_man + v_woman ≈ v_queen</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30" u="none" strike="noStrike">
                <a:solidFill>
                  <a:srgbClr val="4B5563"/>
                </a:solidFill>
                <a:latin typeface="Inter"/>
                <a:ea typeface="Inter"/>
                <a:cs typeface="Inter"/>
                <a:sym typeface="Inter"/>
              </a:rPr>
              <a:t>In domain-specific vocabulary spaces:</a:t>
            </a:r>
            <a:endParaRPr b="1" i="0" sz="750" u="none" strike="noStrike">
              <a:solidFill>
                <a:srgbClr val="1D4ED8"/>
              </a:solidFill>
              <a:latin typeface="JetBrains Mono"/>
              <a:ea typeface="JetBrains Mono"/>
              <a:cs typeface="JetBrains Mono"/>
              <a:sym typeface="JetBrains Mono"/>
            </a:endParaRPr>
          </a:p>
          <a:p>
            <a:pPr indent="0" lvl="0" marL="0" marR="0" rtl="0" algn="l">
              <a:spcBef>
                <a:spcPts val="800"/>
              </a:spcBef>
              <a:spcAft>
                <a:spcPts val="0"/>
              </a:spcAft>
              <a:buNone/>
            </a:pPr>
            <a:r>
              <a:rPr b="0" i="0" lang="en-GB" sz="780" u="none" strike="noStrike">
                <a:solidFill>
                  <a:srgbClr val="2563EB"/>
                </a:solidFill>
                <a:latin typeface="JetBrains Mono"/>
                <a:ea typeface="JetBrains Mono"/>
                <a:cs typeface="JetBrains Mono"/>
                <a:sym typeface="JetBrains Mono"/>
              </a:rPr>
              <a:t>v_studio - v_residential + v_commercial ≈ v_office</a:t>
            </a:r>
            <a:endParaRPr b="1" i="0" sz="750" u="none" strike="noStrike">
              <a:solidFill>
                <a:srgbClr val="1D4ED8"/>
              </a:solidFill>
              <a:latin typeface="JetBrains Mono"/>
              <a:ea typeface="JetBrains Mono"/>
              <a:cs typeface="JetBrains Mono"/>
              <a:sym typeface="JetBrains Mono"/>
            </a:endParaRPr>
          </a:p>
        </p:txBody>
      </p:sp>
      <p:sp>
        <p:nvSpPr>
          <p:cNvPr id="1068" name="Google Shape;1068;p49"/>
          <p:cNvSpPr/>
          <p:nvPr/>
        </p:nvSpPr>
        <p:spPr>
          <a:xfrm>
            <a:off x="381000" y="4095750"/>
            <a:ext cx="8382000" cy="457200"/>
          </a:xfrm>
          <a:prstGeom prst="roundRect">
            <a:avLst>
              <a:gd fmla="val 12500"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49"/>
          <p:cNvSpPr txBox="1"/>
          <p:nvPr/>
        </p:nvSpPr>
        <p:spPr>
          <a:xfrm>
            <a:off x="523875" y="4114800"/>
            <a:ext cx="8096400" cy="4191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i="0" lang="en-GB" sz="740" u="none" strike="noStrike">
                <a:solidFill>
                  <a:srgbClr val="1D4ED8"/>
                </a:solidFill>
                <a:latin typeface="JetBrains Mono"/>
                <a:ea typeface="JetBrains Mono"/>
                <a:cs typeface="JetBrains Mono"/>
                <a:sym typeface="JetBrains Mono"/>
              </a:rPr>
              <a:t>MATHEMATICAL SUMMARY:</a:t>
            </a:r>
            <a:r>
              <a:rPr b="0" i="0" lang="en-GB" sz="740" u="none" strike="noStrike">
                <a:solidFill>
                  <a:srgbClr val="1D4ED8"/>
                </a:solidFill>
                <a:latin typeface="JetBrains Mono"/>
                <a:ea typeface="JetBrains Mono"/>
                <a:cs typeface="JetBrains Mono"/>
                <a:sym typeface="JetBrains Mono"/>
              </a:rPr>
              <a:t> Vectorization converts text symbols into numeric vectors. Geometric distance corresponds to statistical correlation, and vector differences correspond to semantic relationships.</a:t>
            </a:r>
            <a:endParaRPr b="1" i="0" sz="740" u="none" strike="noStrike">
              <a:solidFill>
                <a:srgbClr val="1D4ED8"/>
              </a:solidFill>
              <a:latin typeface="JetBrains Mono"/>
              <a:ea typeface="JetBrains Mono"/>
              <a:cs typeface="JetBrains Mono"/>
              <a:sym typeface="JetBrains Mon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073" name="Shape 1073"/>
        <p:cNvGrpSpPr/>
        <p:nvPr/>
      </p:nvGrpSpPr>
      <p:grpSpPr>
        <a:xfrm>
          <a:off x="0" y="0"/>
          <a:ext cx="0" cy="0"/>
          <a:chOff x="0" y="0"/>
          <a:chExt cx="0" cy="0"/>
        </a:xfrm>
      </p:grpSpPr>
      <p:cxnSp>
        <p:nvCxnSpPr>
          <p:cNvPr id="1074" name="Google Shape;1074;p50"/>
          <p:cNvCxnSpPr/>
          <p:nvPr/>
        </p:nvCxnSpPr>
        <p:spPr>
          <a:xfrm>
            <a:off x="381000" y="4762500"/>
            <a:ext cx="8382000" cy="9600"/>
          </a:xfrm>
          <a:prstGeom prst="straightConnector1">
            <a:avLst/>
          </a:prstGeom>
          <a:solidFill>
            <a:srgbClr val="FFFFFF"/>
          </a:solidFill>
          <a:ln cap="flat" cmpd="sng" w="9525">
            <a:solidFill>
              <a:srgbClr val="D1D5DB"/>
            </a:solidFill>
            <a:prstDash val="solid"/>
            <a:round/>
            <a:headEnd len="sm" w="sm" type="none"/>
            <a:tailEnd len="sm" w="sm" type="none"/>
          </a:ln>
        </p:spPr>
      </p:cxnSp>
      <p:sp>
        <p:nvSpPr>
          <p:cNvPr id="1075" name="Google Shape;1075;p50"/>
          <p:cNvSpPr txBox="1"/>
          <p:nvPr/>
        </p:nvSpPr>
        <p:spPr>
          <a:xfrm>
            <a:off x="381000" y="4819650"/>
            <a:ext cx="8382000" cy="28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638">
                <a:solidFill>
                  <a:srgbClr val="5A626A"/>
                </a:solidFill>
                <a:latin typeface="JetBrains Mono"/>
                <a:ea typeface="JetBrains Mono"/>
                <a:cs typeface="JetBrains Mono"/>
                <a:sym typeface="JetBrains Mono"/>
              </a:rPr>
              <a:t>AI in Architecture | Indrajeet Haldar</a:t>
            </a:r>
            <a:endParaRPr sz="638">
              <a:solidFill>
                <a:srgbClr val="5A626A"/>
              </a:solidFill>
              <a:latin typeface="JetBrains Mono"/>
              <a:ea typeface="JetBrains Mono"/>
              <a:cs typeface="JetBrains Mono"/>
              <a:sym typeface="JetBrains Mono"/>
            </a:endParaRPr>
          </a:p>
        </p:txBody>
      </p:sp>
      <p:sp>
        <p:nvSpPr>
          <p:cNvPr id="1076" name="Google Shape;1076;p50"/>
          <p:cNvSpPr txBox="1"/>
          <p:nvPr/>
        </p:nvSpPr>
        <p:spPr>
          <a:xfrm>
            <a:off x="381000" y="266700"/>
            <a:ext cx="8382000" cy="4953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0" i="0" lang="en-GB" sz="1125" u="none" strike="noStrike">
                <a:solidFill>
                  <a:srgbClr val="111315"/>
                </a:solidFill>
                <a:latin typeface="Space Grotesk"/>
                <a:ea typeface="Space Grotesk"/>
                <a:cs typeface="Space Grotesk"/>
                <a:sym typeface="Space Grotesk"/>
              </a:rPr>
              <a:t>Appendix B: Loss Functions and Parameter Optimization</a:t>
            </a:r>
            <a:endParaRPr b="0" i="0" sz="1125" u="none" strike="noStrike">
              <a:solidFill>
                <a:srgbClr val="111315"/>
              </a:solidFill>
              <a:latin typeface="Space Grotesk"/>
              <a:ea typeface="Space Grotesk"/>
              <a:cs typeface="Space Grotesk"/>
              <a:sym typeface="Space Grotesk"/>
            </a:endParaRPr>
          </a:p>
          <a:p>
            <a:pPr indent="0" lvl="0" marL="0" marR="0" rtl="0" algn="l">
              <a:spcBef>
                <a:spcPts val="200"/>
              </a:spcBef>
              <a:spcAft>
                <a:spcPts val="0"/>
              </a:spcAft>
              <a:buNone/>
            </a:pPr>
            <a:r>
              <a:rPr b="0" i="0" lang="en-GB" sz="594" u="none" strike="noStrike">
                <a:solidFill>
                  <a:srgbClr val="5A626A"/>
                </a:solidFill>
                <a:latin typeface="Space Grotesk"/>
                <a:ea typeface="Space Grotesk"/>
                <a:cs typeface="Space Grotesk"/>
                <a:sym typeface="Space Grotesk"/>
              </a:rPr>
              <a:t>Quantifying token prediction error and updating parameter values via gradient descent.</a:t>
            </a:r>
            <a:endParaRPr b="0" i="0" sz="1125" u="none" strike="noStrike">
              <a:solidFill>
                <a:srgbClr val="111315"/>
              </a:solidFill>
              <a:latin typeface="Space Grotesk"/>
              <a:ea typeface="Space Grotesk"/>
              <a:cs typeface="Space Grotesk"/>
              <a:sym typeface="Space Grotesk"/>
            </a:endParaRPr>
          </a:p>
        </p:txBody>
      </p:sp>
      <p:sp>
        <p:nvSpPr>
          <p:cNvPr id="1077" name="Google Shape;1077;p50"/>
          <p:cNvSpPr/>
          <p:nvPr/>
        </p:nvSpPr>
        <p:spPr>
          <a:xfrm>
            <a:off x="381000" y="819150"/>
            <a:ext cx="8382000" cy="3190800"/>
          </a:xfrm>
          <a:prstGeom prst="roundRect">
            <a:avLst>
              <a:gd fmla="val 2388" name="adj"/>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50"/>
          <p:cNvSpPr/>
          <p:nvPr/>
        </p:nvSpPr>
        <p:spPr>
          <a:xfrm>
            <a:off x="381000" y="819150"/>
            <a:ext cx="8382000" cy="28500"/>
          </a:xfrm>
          <a:prstGeom prst="roundRect">
            <a:avLst>
              <a:gd fmla="val 0" name="adj"/>
            </a:avLst>
          </a:prstGeom>
          <a:solidFill>
            <a:srgbClr val="D9381E"/>
          </a:solidFill>
          <a:ln cap="flat" cmpd="sng">
            <a:solidFill>
              <a:srgbClr val="D938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50"/>
          <p:cNvSpPr txBox="1"/>
          <p:nvPr/>
        </p:nvSpPr>
        <p:spPr>
          <a:xfrm>
            <a:off x="571500" y="952500"/>
            <a:ext cx="2524200" cy="29052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750" u="none" strike="noStrike">
                <a:solidFill>
                  <a:srgbClr val="D9381E"/>
                </a:solidFill>
                <a:latin typeface="JetBrains Mono"/>
                <a:ea typeface="JetBrains Mono"/>
                <a:cs typeface="JetBrains Mono"/>
                <a:sym typeface="JetBrains Mono"/>
              </a:rPr>
              <a:t>01 // LOSS FUNCTION</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200"/>
              </a:spcBef>
              <a:spcAft>
                <a:spcPts val="0"/>
              </a:spcAft>
              <a:buNone/>
            </a:pPr>
            <a:r>
              <a:rPr b="1" i="0" lang="en-GB" sz="1300" u="none" strike="noStrike">
                <a:solidFill>
                  <a:srgbClr val="111315"/>
                </a:solidFill>
                <a:latin typeface="Space Grotesk"/>
                <a:ea typeface="Space Grotesk"/>
                <a:cs typeface="Space Grotesk"/>
                <a:sym typeface="Space Grotesk"/>
              </a:rPr>
              <a:t>Cross-Entropy Loss (L)</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The model outputs raw logits z. The softmax function calculates predicted probability values:</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400"/>
              </a:spcBef>
              <a:spcAft>
                <a:spcPts val="0"/>
              </a:spcAft>
              <a:buNone/>
            </a:pPr>
            <a:r>
              <a:rPr b="1" i="0" lang="en-GB" sz="800" u="none" strike="noStrike">
                <a:solidFill>
                  <a:srgbClr val="1E293B"/>
                </a:solidFill>
                <a:latin typeface="JetBrains Mono"/>
                <a:ea typeface="JetBrains Mono"/>
                <a:cs typeface="JetBrains Mono"/>
                <a:sym typeface="JetBrains Mono"/>
              </a:rPr>
              <a:t>p_i = exp(z_i) / Σ_j exp(z_j)</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Negative Log-Likelihood:</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For target token index y_true, the error value is defined as:</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D9381E"/>
                </a:solidFill>
                <a:latin typeface="JetBrains Mono"/>
                <a:ea typeface="JetBrains Mono"/>
                <a:cs typeface="JetBrains Mono"/>
                <a:sym typeface="JetBrains Mono"/>
              </a:rPr>
              <a:t>L = -log( p_target )</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20" u="none" strike="noStrike">
                <a:solidFill>
                  <a:srgbClr val="4B5563"/>
                </a:solidFill>
                <a:latin typeface="Inter"/>
                <a:ea typeface="Inter"/>
                <a:cs typeface="Inter"/>
                <a:sym typeface="Inter"/>
              </a:rPr>
              <a:t>• If p_target = 0.99 → L ≈ 0.01 (Low error value)</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800"/>
              </a:spcBef>
              <a:spcAft>
                <a:spcPts val="0"/>
              </a:spcAft>
              <a:buNone/>
            </a:pPr>
            <a:r>
              <a:rPr b="0" i="0" lang="en-GB" sz="820" u="none" strike="noStrike">
                <a:solidFill>
                  <a:srgbClr val="4B5563"/>
                </a:solidFill>
                <a:latin typeface="Inter"/>
                <a:ea typeface="Inter"/>
                <a:cs typeface="Inter"/>
                <a:sym typeface="Inter"/>
              </a:rPr>
              <a:t>• If p_target = 0.01 → L ≈ 4.60 (High error value)</a:t>
            </a:r>
            <a:endParaRPr b="1" i="0" sz="750" u="none" strike="noStrike">
              <a:solidFill>
                <a:srgbClr val="D9381E"/>
              </a:solidFill>
              <a:latin typeface="JetBrains Mono"/>
              <a:ea typeface="JetBrains Mono"/>
              <a:cs typeface="JetBrains Mono"/>
              <a:sym typeface="JetBrains Mono"/>
            </a:endParaRPr>
          </a:p>
        </p:txBody>
      </p:sp>
      <p:cxnSp>
        <p:nvCxnSpPr>
          <p:cNvPr id="1080" name="Google Shape;1080;p50"/>
          <p:cNvCxnSpPr/>
          <p:nvPr/>
        </p:nvCxnSpPr>
        <p:spPr>
          <a:xfrm>
            <a:off x="3238500" y="1000125"/>
            <a:ext cx="9600" cy="280980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081" name="Google Shape;1081;p50"/>
          <p:cNvSpPr txBox="1"/>
          <p:nvPr/>
        </p:nvSpPr>
        <p:spPr>
          <a:xfrm>
            <a:off x="3381375" y="952500"/>
            <a:ext cx="2524200" cy="29052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750" u="none" strike="noStrike">
                <a:solidFill>
                  <a:srgbClr val="D9381E"/>
                </a:solidFill>
                <a:latin typeface="JetBrains Mono"/>
                <a:ea typeface="JetBrains Mono"/>
                <a:cs typeface="JetBrains Mono"/>
                <a:sym typeface="JetBrains Mono"/>
              </a:rPr>
              <a:t>02 // CHAIN RULE OF CALCULUS</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200"/>
              </a:spcBef>
              <a:spcAft>
                <a:spcPts val="0"/>
              </a:spcAft>
              <a:buNone/>
            </a:pPr>
            <a:r>
              <a:rPr b="1" i="0" lang="en-GB" sz="1300" u="none" strike="noStrike">
                <a:solidFill>
                  <a:srgbClr val="111315"/>
                </a:solidFill>
                <a:latin typeface="Space Grotesk"/>
                <a:ea typeface="Space Grotesk"/>
                <a:cs typeface="Space Grotesk"/>
                <a:sym typeface="Space Grotesk"/>
              </a:rPr>
              <a:t>Gradient Calculation (∂L/∂W)</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Backpropagation applies the chain rule to calculate the partial derivative of loss with respect to parameter W:</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400"/>
              </a:spcBef>
              <a:spcAft>
                <a:spcPts val="0"/>
              </a:spcAft>
              <a:buNone/>
            </a:pPr>
            <a:r>
              <a:rPr b="0" i="0" lang="en-GB" sz="750" u="none" strike="noStrike">
                <a:solidFill>
                  <a:srgbClr val="1E293B"/>
                </a:solidFill>
                <a:latin typeface="JetBrains Mono"/>
                <a:ea typeface="JetBrains Mono"/>
                <a:cs typeface="JetBrains Mono"/>
                <a:sym typeface="JetBrains Mono"/>
              </a:rPr>
              <a:t>∂L / ∂W_l = (∂L / ∂a_l) · (∂a_l / ∂z_l) · (∂z_l / ∂W_l)</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Gradient Flow:</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800"/>
              </a:spcBef>
              <a:spcAft>
                <a:spcPts val="0"/>
              </a:spcAft>
              <a:buNone/>
            </a:pPr>
            <a:r>
              <a:rPr b="0" i="0" lang="en-GB" sz="830" u="none" strike="noStrike">
                <a:solidFill>
                  <a:srgbClr val="4B5563"/>
                </a:solidFill>
                <a:latin typeface="Inter"/>
                <a:ea typeface="Inter"/>
                <a:cs typeface="Inter"/>
                <a:sym typeface="Inter"/>
              </a:rPr>
              <a:t>Gradients propagate backward from output logits through attention and feed-forward layers to the input embedding matrix.</a:t>
            </a:r>
            <a:endParaRPr b="1" i="0" sz="750" u="none" strike="noStrike">
              <a:solidFill>
                <a:srgbClr val="D9381E"/>
              </a:solidFill>
              <a:latin typeface="JetBrains Mono"/>
              <a:ea typeface="JetBrains Mono"/>
              <a:cs typeface="JetBrains Mono"/>
              <a:sym typeface="JetBrains Mono"/>
            </a:endParaRPr>
          </a:p>
        </p:txBody>
      </p:sp>
      <p:cxnSp>
        <p:nvCxnSpPr>
          <p:cNvPr id="1082" name="Google Shape;1082;p50"/>
          <p:cNvCxnSpPr/>
          <p:nvPr/>
        </p:nvCxnSpPr>
        <p:spPr>
          <a:xfrm>
            <a:off x="6048375" y="1000125"/>
            <a:ext cx="9600" cy="280980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083" name="Google Shape;1083;p50"/>
          <p:cNvSpPr txBox="1"/>
          <p:nvPr/>
        </p:nvSpPr>
        <p:spPr>
          <a:xfrm>
            <a:off x="6191250" y="952500"/>
            <a:ext cx="2428800" cy="29052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750" u="none" strike="noStrike">
                <a:solidFill>
                  <a:srgbClr val="D9381E"/>
                </a:solidFill>
                <a:latin typeface="JetBrains Mono"/>
                <a:ea typeface="JetBrains Mono"/>
                <a:cs typeface="JetBrains Mono"/>
                <a:sym typeface="JetBrains Mono"/>
              </a:rPr>
              <a:t>03 // PARAMETER UPDATES</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200"/>
              </a:spcBef>
              <a:spcAft>
                <a:spcPts val="0"/>
              </a:spcAft>
              <a:buNone/>
            </a:pPr>
            <a:r>
              <a:rPr b="1" i="0" lang="en-GB" sz="1300" u="none" strike="noStrike">
                <a:solidFill>
                  <a:srgbClr val="111315"/>
                </a:solidFill>
                <a:latin typeface="Space Grotesk"/>
                <a:ea typeface="Space Grotesk"/>
                <a:cs typeface="Space Grotesk"/>
                <a:sym typeface="Space Grotesk"/>
              </a:rPr>
              <a:t>Gradient Descent Optimization (AdamW)</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In standard gradient descent, parameters update proportionally to the negative gradient scaled by learning rate η:</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400"/>
              </a:spcBef>
              <a:spcAft>
                <a:spcPts val="0"/>
              </a:spcAft>
              <a:buNone/>
            </a:pPr>
            <a:r>
              <a:rPr b="1" i="0" lang="en-GB" sz="800" u="none" strike="noStrike">
                <a:solidFill>
                  <a:srgbClr val="1E293B"/>
                </a:solidFill>
                <a:latin typeface="JetBrains Mono"/>
                <a:ea typeface="JetBrains Mono"/>
                <a:cs typeface="JetBrains Mono"/>
                <a:sym typeface="JetBrains Mono"/>
              </a:rPr>
              <a:t>W ← W - η · (∂L / ∂W)</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AdamW applies three adjustments:</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20" u="none" strike="noStrike">
                <a:solidFill>
                  <a:srgbClr val="4B5563"/>
                </a:solidFill>
                <a:latin typeface="Inter"/>
                <a:ea typeface="Inter"/>
                <a:cs typeface="Inter"/>
                <a:sym typeface="Inter"/>
              </a:rPr>
              <a:t>1. First moment vector: tracks the exponential moving average of gradients.</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20" u="none" strike="noStrike">
                <a:solidFill>
                  <a:srgbClr val="4B5563"/>
                </a:solidFill>
                <a:latin typeface="Inter"/>
                <a:ea typeface="Inter"/>
                <a:cs typeface="Inter"/>
                <a:sym typeface="Inter"/>
              </a:rPr>
              <a:t>2. Second moment vector: divides steps by gradient variance for adaptive per-parameter updates.</a:t>
            </a:r>
            <a:endParaRPr b="1" i="0" sz="750" u="none" strike="noStrike">
              <a:solidFill>
                <a:srgbClr val="D9381E"/>
              </a:solidFill>
              <a:latin typeface="JetBrains Mono"/>
              <a:ea typeface="JetBrains Mono"/>
              <a:cs typeface="JetBrains Mono"/>
              <a:sym typeface="JetBrains Mono"/>
            </a:endParaRPr>
          </a:p>
          <a:p>
            <a:pPr indent="0" lvl="0" marL="0" marR="0" rtl="0" algn="l">
              <a:spcBef>
                <a:spcPts val="800"/>
              </a:spcBef>
              <a:spcAft>
                <a:spcPts val="0"/>
              </a:spcAft>
              <a:buNone/>
            </a:pPr>
            <a:r>
              <a:rPr b="0" i="0" lang="en-GB" sz="820" u="none" strike="noStrike">
                <a:solidFill>
                  <a:srgbClr val="4B5563"/>
                </a:solidFill>
                <a:latin typeface="Inter"/>
                <a:ea typeface="Inter"/>
                <a:cs typeface="Inter"/>
                <a:sym typeface="Inter"/>
              </a:rPr>
              <a:t>3. Weight decay: applies proportional parameter shrinkage to regularize weights.</a:t>
            </a:r>
            <a:endParaRPr b="1" i="0" sz="750" u="none" strike="noStrike">
              <a:solidFill>
                <a:srgbClr val="D9381E"/>
              </a:solidFill>
              <a:latin typeface="JetBrains Mono"/>
              <a:ea typeface="JetBrains Mono"/>
              <a:cs typeface="JetBrains Mono"/>
              <a:sym typeface="JetBrains Mono"/>
            </a:endParaRPr>
          </a:p>
        </p:txBody>
      </p:sp>
      <p:sp>
        <p:nvSpPr>
          <p:cNvPr id="1084" name="Google Shape;1084;p50"/>
          <p:cNvSpPr/>
          <p:nvPr/>
        </p:nvSpPr>
        <p:spPr>
          <a:xfrm>
            <a:off x="381000" y="4095750"/>
            <a:ext cx="8382000" cy="457200"/>
          </a:xfrm>
          <a:prstGeom prst="roundRect">
            <a:avLst>
              <a:gd fmla="val 12500"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50"/>
          <p:cNvSpPr txBox="1"/>
          <p:nvPr/>
        </p:nvSpPr>
        <p:spPr>
          <a:xfrm>
            <a:off x="523875" y="4114800"/>
            <a:ext cx="8096400" cy="4191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i="0" lang="en-GB" sz="740" u="none" strike="noStrike">
                <a:solidFill>
                  <a:srgbClr val="D9381E"/>
                </a:solidFill>
                <a:latin typeface="JetBrains Mono"/>
                <a:ea typeface="JetBrains Mono"/>
                <a:cs typeface="JetBrains Mono"/>
                <a:sym typeface="JetBrains Mono"/>
              </a:rPr>
              <a:t>OPTIMIZATION SUMMARY:</a:t>
            </a:r>
            <a:r>
              <a:rPr b="0" i="0" lang="en-GB" sz="740" u="none" strike="noStrike">
                <a:solidFill>
                  <a:srgbClr val="D9381E"/>
                </a:solidFill>
                <a:latin typeface="JetBrains Mono"/>
                <a:ea typeface="JetBrains Mono"/>
                <a:cs typeface="JetBrains Mono"/>
                <a:sym typeface="JetBrains Mono"/>
              </a:rPr>
              <a:t> Model training is an iterative numerical procedure: forward execution produces logits, cross-entropy calculates loss, backpropagation computes partial derivatives, and AdamW updates parameters to minimize loss.</a:t>
            </a:r>
            <a:endParaRPr b="1" i="0" sz="740" u="none" strike="noStrike">
              <a:solidFill>
                <a:srgbClr val="D9381E"/>
              </a:solidFill>
              <a:latin typeface="JetBrains Mono"/>
              <a:ea typeface="JetBrains Mono"/>
              <a:cs typeface="JetBrains Mono"/>
              <a:sym typeface="JetBrains Mon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089" name="Shape 1089"/>
        <p:cNvGrpSpPr/>
        <p:nvPr/>
      </p:nvGrpSpPr>
      <p:grpSpPr>
        <a:xfrm>
          <a:off x="0" y="0"/>
          <a:ext cx="0" cy="0"/>
          <a:chOff x="0" y="0"/>
          <a:chExt cx="0" cy="0"/>
        </a:xfrm>
      </p:grpSpPr>
      <p:cxnSp>
        <p:nvCxnSpPr>
          <p:cNvPr id="1090" name="Google Shape;1090;p51"/>
          <p:cNvCxnSpPr/>
          <p:nvPr/>
        </p:nvCxnSpPr>
        <p:spPr>
          <a:xfrm>
            <a:off x="381000" y="4762500"/>
            <a:ext cx="8382000" cy="9600"/>
          </a:xfrm>
          <a:prstGeom prst="straightConnector1">
            <a:avLst/>
          </a:prstGeom>
          <a:solidFill>
            <a:srgbClr val="FFFFFF"/>
          </a:solidFill>
          <a:ln cap="flat" cmpd="sng" w="9525">
            <a:solidFill>
              <a:srgbClr val="D1D5DB"/>
            </a:solidFill>
            <a:prstDash val="solid"/>
            <a:round/>
            <a:headEnd len="sm" w="sm" type="none"/>
            <a:tailEnd len="sm" w="sm" type="none"/>
          </a:ln>
        </p:spPr>
      </p:cxnSp>
      <p:sp>
        <p:nvSpPr>
          <p:cNvPr id="1091" name="Google Shape;1091;p51"/>
          <p:cNvSpPr txBox="1"/>
          <p:nvPr/>
        </p:nvSpPr>
        <p:spPr>
          <a:xfrm>
            <a:off x="381000" y="4819650"/>
            <a:ext cx="8382000" cy="28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638">
                <a:solidFill>
                  <a:srgbClr val="5A626A"/>
                </a:solidFill>
                <a:latin typeface="JetBrains Mono"/>
                <a:ea typeface="JetBrains Mono"/>
                <a:cs typeface="JetBrains Mono"/>
                <a:sym typeface="JetBrains Mono"/>
              </a:rPr>
              <a:t>AI in Architecture | Indrajeet Haldar</a:t>
            </a:r>
            <a:endParaRPr sz="638">
              <a:solidFill>
                <a:srgbClr val="5A626A"/>
              </a:solidFill>
              <a:latin typeface="JetBrains Mono"/>
              <a:ea typeface="JetBrains Mono"/>
              <a:cs typeface="JetBrains Mono"/>
              <a:sym typeface="JetBrains Mono"/>
            </a:endParaRPr>
          </a:p>
        </p:txBody>
      </p:sp>
      <p:sp>
        <p:nvSpPr>
          <p:cNvPr id="1092" name="Google Shape;1092;p51"/>
          <p:cNvSpPr txBox="1"/>
          <p:nvPr/>
        </p:nvSpPr>
        <p:spPr>
          <a:xfrm>
            <a:off x="381000" y="266700"/>
            <a:ext cx="8382000" cy="4953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0" i="0" lang="en-GB" sz="1125" u="none" strike="noStrike">
                <a:solidFill>
                  <a:srgbClr val="111315"/>
                </a:solidFill>
                <a:latin typeface="Space Grotesk"/>
                <a:ea typeface="Space Grotesk"/>
                <a:cs typeface="Space Grotesk"/>
                <a:sym typeface="Space Grotesk"/>
              </a:rPr>
              <a:t>Appendix C: Reinforcement Learning Environments in Model Training</a:t>
            </a:r>
            <a:endParaRPr b="0" i="0" sz="1125" u="none" strike="noStrike">
              <a:solidFill>
                <a:srgbClr val="111315"/>
              </a:solidFill>
              <a:latin typeface="Space Grotesk"/>
              <a:ea typeface="Space Grotesk"/>
              <a:cs typeface="Space Grotesk"/>
              <a:sym typeface="Space Grotesk"/>
            </a:endParaRPr>
          </a:p>
          <a:p>
            <a:pPr indent="0" lvl="0" marL="0" marR="0" rtl="0" algn="l">
              <a:spcBef>
                <a:spcPts val="200"/>
              </a:spcBef>
              <a:spcAft>
                <a:spcPts val="0"/>
              </a:spcAft>
              <a:buNone/>
            </a:pPr>
            <a:r>
              <a:rPr b="0" i="0" lang="en-GB" sz="594" u="none" strike="noStrike">
                <a:solidFill>
                  <a:srgbClr val="5A626A"/>
                </a:solidFill>
                <a:latin typeface="Space Grotesk"/>
                <a:ea typeface="Space Grotesk"/>
                <a:cs typeface="Space Grotesk"/>
                <a:sym typeface="Space Grotesk"/>
              </a:rPr>
              <a:t>Training feedback methodologies: human feedback (RLHF), model-based feedback (RLAIF), and deterministic execution verification (RLVR).</a:t>
            </a:r>
            <a:endParaRPr b="0" i="0" sz="1125" u="none" strike="noStrike">
              <a:solidFill>
                <a:srgbClr val="111315"/>
              </a:solidFill>
              <a:latin typeface="Space Grotesk"/>
              <a:ea typeface="Space Grotesk"/>
              <a:cs typeface="Space Grotesk"/>
              <a:sym typeface="Space Grotesk"/>
            </a:endParaRPr>
          </a:p>
        </p:txBody>
      </p:sp>
      <p:sp>
        <p:nvSpPr>
          <p:cNvPr id="1093" name="Google Shape;1093;p51"/>
          <p:cNvSpPr/>
          <p:nvPr/>
        </p:nvSpPr>
        <p:spPr>
          <a:xfrm>
            <a:off x="381000" y="819150"/>
            <a:ext cx="8382000" cy="3190800"/>
          </a:xfrm>
          <a:prstGeom prst="roundRect">
            <a:avLst>
              <a:gd fmla="val 2388" name="adj"/>
            </a:avLst>
          </a:prstGeom>
          <a:solidFill>
            <a:srgbClr val="FFFFFF"/>
          </a:solidFill>
          <a:ln cap="flat" cmpd="sng" w="9525">
            <a:solidFill>
              <a:srgbClr val="D1D5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51"/>
          <p:cNvSpPr/>
          <p:nvPr/>
        </p:nvSpPr>
        <p:spPr>
          <a:xfrm>
            <a:off x="381000" y="819150"/>
            <a:ext cx="8382000" cy="28500"/>
          </a:xfrm>
          <a:prstGeom prst="roundRect">
            <a:avLst>
              <a:gd fmla="val 0" name="adj"/>
            </a:avLst>
          </a:prstGeom>
          <a:solidFill>
            <a:srgbClr val="059669"/>
          </a:solidFill>
          <a:ln cap="flat" cmpd="sng">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51"/>
          <p:cNvSpPr txBox="1"/>
          <p:nvPr/>
        </p:nvSpPr>
        <p:spPr>
          <a:xfrm>
            <a:off x="571500" y="952500"/>
            <a:ext cx="2524200" cy="29052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750" u="none" strike="noStrike">
                <a:solidFill>
                  <a:srgbClr val="059669"/>
                </a:solidFill>
                <a:latin typeface="JetBrains Mono"/>
                <a:ea typeface="JetBrains Mono"/>
                <a:cs typeface="JetBrains Mono"/>
                <a:sym typeface="JetBrains Mono"/>
              </a:rPr>
              <a:t>TYPE 1 // HUMAN PREFERENCE</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200"/>
              </a:spcBef>
              <a:spcAft>
                <a:spcPts val="0"/>
              </a:spcAft>
              <a:buNone/>
            </a:pPr>
            <a:r>
              <a:rPr b="1" i="0" lang="en-GB" sz="1300" u="none" strike="noStrike">
                <a:solidFill>
                  <a:srgbClr val="111315"/>
                </a:solidFill>
                <a:latin typeface="Space Grotesk"/>
                <a:ea typeface="Space Grotesk"/>
                <a:cs typeface="Space Grotesk"/>
                <a:sym typeface="Space Grotesk"/>
              </a:rPr>
              <a:t>RLHF: Human Feedback</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Procedure:</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Human annotators evaluate and rank model outputs. A reward model r_θ(x, y) is fitted to these rankings to score candidate text.</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Optimization:</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The policy π_θ updates to maximize reward score while limiting divergence from the base model:</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0" i="0" lang="en-GB" sz="750" u="none" strike="noStrike">
                <a:solidFill>
                  <a:srgbClr val="1E293B"/>
                </a:solidFill>
                <a:latin typeface="JetBrains Mono"/>
                <a:ea typeface="JetBrains Mono"/>
                <a:cs typeface="JetBrains Mono"/>
                <a:sym typeface="JetBrains Mono"/>
              </a:rPr>
              <a:t>max E[ r(x,y) - β·D_KL(π_θ || π_ref) ]</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400"/>
              </a:spcBef>
              <a:spcAft>
                <a:spcPts val="0"/>
              </a:spcAft>
              <a:buNone/>
            </a:pPr>
            <a:r>
              <a:rPr b="0" i="0" lang="en-GB" sz="820" u="none" strike="noStrike">
                <a:solidFill>
                  <a:srgbClr val="DC2626"/>
                </a:solidFill>
                <a:latin typeface="Inter"/>
                <a:ea typeface="Inter"/>
                <a:cs typeface="Inter"/>
                <a:sym typeface="Inter"/>
              </a:rPr>
              <a:t>Characteristics: Requires human labor; subject to inter-annotator variance.</a:t>
            </a:r>
            <a:endParaRPr b="1" i="0" sz="750" u="none" strike="noStrike">
              <a:solidFill>
                <a:srgbClr val="059669"/>
              </a:solidFill>
              <a:latin typeface="JetBrains Mono"/>
              <a:ea typeface="JetBrains Mono"/>
              <a:cs typeface="JetBrains Mono"/>
              <a:sym typeface="JetBrains Mono"/>
            </a:endParaRPr>
          </a:p>
        </p:txBody>
      </p:sp>
      <p:cxnSp>
        <p:nvCxnSpPr>
          <p:cNvPr id="1096" name="Google Shape;1096;p51"/>
          <p:cNvCxnSpPr/>
          <p:nvPr/>
        </p:nvCxnSpPr>
        <p:spPr>
          <a:xfrm>
            <a:off x="3238500" y="1000125"/>
            <a:ext cx="9600" cy="280980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097" name="Google Shape;1097;p51"/>
          <p:cNvSpPr txBox="1"/>
          <p:nvPr/>
        </p:nvSpPr>
        <p:spPr>
          <a:xfrm>
            <a:off x="3381375" y="952500"/>
            <a:ext cx="2524200" cy="29052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750" u="none" strike="noStrike">
                <a:solidFill>
                  <a:srgbClr val="059669"/>
                </a:solidFill>
                <a:latin typeface="JetBrains Mono"/>
                <a:ea typeface="JetBrains Mono"/>
                <a:cs typeface="JetBrains Mono"/>
                <a:sym typeface="JetBrains Mono"/>
              </a:rPr>
              <a:t>TYPE 2 // MODEL-ASSISTED PREFERENCE</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200"/>
              </a:spcBef>
              <a:spcAft>
                <a:spcPts val="0"/>
              </a:spcAft>
              <a:buNone/>
            </a:pPr>
            <a:r>
              <a:rPr b="1" i="0" lang="en-GB" sz="1300" u="none" strike="noStrike">
                <a:solidFill>
                  <a:srgbClr val="111315"/>
                </a:solidFill>
                <a:latin typeface="Space Grotesk"/>
                <a:ea typeface="Space Grotesk"/>
                <a:cs typeface="Space Grotesk"/>
                <a:sym typeface="Space Grotesk"/>
              </a:rPr>
              <a:t>RLAIF: Model Feedback</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Procedure:</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An auxiliary evaluation model scores and ranks candidate outputs according to specified criteria.</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Iterative Refinement:</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Models run automated critique loops to identify output inconsistencies without manual ranking data.</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Characteristics:</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400"/>
              </a:spcBef>
              <a:spcAft>
                <a:spcPts val="0"/>
              </a:spcAft>
              <a:buNone/>
            </a:pPr>
            <a:r>
              <a:rPr b="0" i="0" lang="en-GB" sz="820" u="none" strike="noStrike">
                <a:solidFill>
                  <a:srgbClr val="4B5563"/>
                </a:solidFill>
                <a:latin typeface="Inter"/>
                <a:ea typeface="Inter"/>
                <a:cs typeface="Inter"/>
                <a:sym typeface="Inter"/>
              </a:rPr>
              <a:t>Automated scaling; operates continuously without manual annotation bottlenecks.</a:t>
            </a:r>
            <a:endParaRPr b="1" i="0" sz="750" u="none" strike="noStrike">
              <a:solidFill>
                <a:srgbClr val="059669"/>
              </a:solidFill>
              <a:latin typeface="JetBrains Mono"/>
              <a:ea typeface="JetBrains Mono"/>
              <a:cs typeface="JetBrains Mono"/>
              <a:sym typeface="JetBrains Mono"/>
            </a:endParaRPr>
          </a:p>
        </p:txBody>
      </p:sp>
      <p:cxnSp>
        <p:nvCxnSpPr>
          <p:cNvPr id="1098" name="Google Shape;1098;p51"/>
          <p:cNvCxnSpPr/>
          <p:nvPr/>
        </p:nvCxnSpPr>
        <p:spPr>
          <a:xfrm>
            <a:off x="6048375" y="1000125"/>
            <a:ext cx="9600" cy="280980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099" name="Google Shape;1099;p51"/>
          <p:cNvSpPr txBox="1"/>
          <p:nvPr/>
        </p:nvSpPr>
        <p:spPr>
          <a:xfrm>
            <a:off x="6191250" y="952500"/>
            <a:ext cx="2428800" cy="29052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GB" sz="750" u="none" strike="noStrike">
                <a:solidFill>
                  <a:srgbClr val="059669"/>
                </a:solidFill>
                <a:latin typeface="JetBrains Mono"/>
                <a:ea typeface="JetBrains Mono"/>
                <a:cs typeface="JetBrains Mono"/>
                <a:sym typeface="JetBrains Mono"/>
              </a:rPr>
              <a:t>TYPE 3 // VERIFIABLE EXECUTION</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200"/>
              </a:spcBef>
              <a:spcAft>
                <a:spcPts val="0"/>
              </a:spcAft>
              <a:buNone/>
            </a:pPr>
            <a:r>
              <a:rPr b="1" i="0" lang="en-GB" sz="1300" u="none" strike="noStrike">
                <a:solidFill>
                  <a:srgbClr val="111315"/>
                </a:solidFill>
                <a:latin typeface="Space Grotesk"/>
                <a:ea typeface="Space Grotesk"/>
                <a:cs typeface="Space Grotesk"/>
                <a:sym typeface="Space Grotesk"/>
              </a:rPr>
              <a:t>RLVR: Deterministic Execution Rewards</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Procedure:</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30" u="none" strike="noStrike">
                <a:solidFill>
                  <a:srgbClr val="4B5563"/>
                </a:solidFill>
                <a:latin typeface="Inter"/>
                <a:ea typeface="Inter"/>
                <a:cs typeface="Inter"/>
                <a:sym typeface="Inter"/>
              </a:rPr>
              <a:t>Candidate solutions are verified using external compilers and test runners:</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0" i="0" lang="en-GB" sz="780" u="none" strike="noStrike">
                <a:solidFill>
                  <a:srgbClr val="059669"/>
                </a:solidFill>
                <a:latin typeface="JetBrains Mono"/>
                <a:ea typeface="JetBrains Mono"/>
                <a:cs typeface="JetBrains Mono"/>
                <a:sym typeface="JetBrains Mono"/>
              </a:rPr>
              <a:t>r = 1 (Passes compiler and test assertions)</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0" i="0" lang="en-GB" sz="780" u="none" strike="noStrike">
                <a:solidFill>
                  <a:srgbClr val="059669"/>
                </a:solidFill>
                <a:latin typeface="JetBrains Mono"/>
                <a:ea typeface="JetBrains Mono"/>
                <a:cs typeface="JetBrains Mono"/>
                <a:sym typeface="JetBrains Mono"/>
              </a:rPr>
              <a:t>r = 0 (Execution error or incorrect test result)</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1" i="0" lang="en-GB" sz="850" u="none" strike="noStrike">
                <a:solidFill>
                  <a:srgbClr val="111315"/>
                </a:solidFill>
                <a:latin typeface="Inter"/>
                <a:ea typeface="Inter"/>
                <a:cs typeface="Inter"/>
                <a:sym typeface="Inter"/>
              </a:rPr>
              <a:t>Verification Environments:</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20" u="none" strike="noStrike">
                <a:solidFill>
                  <a:srgbClr val="4B5563"/>
                </a:solidFill>
                <a:latin typeface="Inter"/>
                <a:ea typeface="Inter"/>
                <a:cs typeface="Inter"/>
                <a:sym typeface="Inter"/>
              </a:rPr>
              <a:t>• Formal proof checkers (LEAN, Isabelle)</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20" u="none" strike="noStrike">
                <a:solidFill>
                  <a:srgbClr val="4B5563"/>
                </a:solidFill>
                <a:latin typeface="Inter"/>
                <a:ea typeface="Inter"/>
                <a:cs typeface="Inter"/>
                <a:sym typeface="Inter"/>
              </a:rPr>
              <a:t>• Code execution sandboxes and test suites</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0"/>
              </a:spcBef>
              <a:spcAft>
                <a:spcPts val="0"/>
              </a:spcAft>
              <a:buNone/>
            </a:pPr>
            <a:r>
              <a:rPr b="0" i="0" lang="en-GB" sz="820" u="none" strike="noStrike">
                <a:solidFill>
                  <a:srgbClr val="4B5563"/>
                </a:solidFill>
                <a:latin typeface="Inter"/>
                <a:ea typeface="Inter"/>
                <a:cs typeface="Inter"/>
                <a:sym typeface="Inter"/>
              </a:rPr>
              <a:t>• Parametric geometry kernels and compilers</a:t>
            </a:r>
            <a:endParaRPr b="1" i="0" sz="750" u="none" strike="noStrike">
              <a:solidFill>
                <a:srgbClr val="059669"/>
              </a:solidFill>
              <a:latin typeface="JetBrains Mono"/>
              <a:ea typeface="JetBrains Mono"/>
              <a:cs typeface="JetBrains Mono"/>
              <a:sym typeface="JetBrains Mono"/>
            </a:endParaRPr>
          </a:p>
          <a:p>
            <a:pPr indent="0" lvl="0" marL="0" marR="0" rtl="0" algn="l">
              <a:spcBef>
                <a:spcPts val="400"/>
              </a:spcBef>
              <a:spcAft>
                <a:spcPts val="0"/>
              </a:spcAft>
              <a:buNone/>
            </a:pPr>
            <a:r>
              <a:rPr b="0" i="0" lang="en-GB" sz="820" u="none" strike="noStrike">
                <a:solidFill>
                  <a:srgbClr val="4B5563"/>
                </a:solidFill>
                <a:latin typeface="Inter"/>
                <a:ea typeface="Inter"/>
                <a:cs typeface="Inter"/>
                <a:sym typeface="Inter"/>
              </a:rPr>
              <a:t>Supports search over reasoning traces with deterministic evaluation.</a:t>
            </a:r>
            <a:endParaRPr b="1" i="0" sz="750" u="none" strike="noStrike">
              <a:solidFill>
                <a:srgbClr val="059669"/>
              </a:solidFill>
              <a:latin typeface="JetBrains Mono"/>
              <a:ea typeface="JetBrains Mono"/>
              <a:cs typeface="JetBrains Mono"/>
              <a:sym typeface="JetBrains Mono"/>
            </a:endParaRPr>
          </a:p>
        </p:txBody>
      </p:sp>
      <p:sp>
        <p:nvSpPr>
          <p:cNvPr id="1100" name="Google Shape;1100;p51"/>
          <p:cNvSpPr/>
          <p:nvPr/>
        </p:nvSpPr>
        <p:spPr>
          <a:xfrm>
            <a:off x="381000" y="4095750"/>
            <a:ext cx="8382000" cy="457200"/>
          </a:xfrm>
          <a:prstGeom prst="roundRect">
            <a:avLst>
              <a:gd fmla="val 12500"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51"/>
          <p:cNvSpPr txBox="1"/>
          <p:nvPr/>
        </p:nvSpPr>
        <p:spPr>
          <a:xfrm>
            <a:off x="523875" y="4114800"/>
            <a:ext cx="8096400" cy="4191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i="0" lang="en-GB" sz="740" u="none" strike="noStrike">
                <a:solidFill>
                  <a:srgbClr val="059669"/>
                </a:solidFill>
                <a:latin typeface="JetBrains Mono"/>
                <a:ea typeface="JetBrains Mono"/>
                <a:cs typeface="JetBrains Mono"/>
                <a:sym typeface="JetBrains Mono"/>
              </a:rPr>
              <a:t>TRAINING SUMMARY:</a:t>
            </a:r>
            <a:r>
              <a:rPr b="0" i="0" lang="en-GB" sz="740" u="none" strike="noStrike">
                <a:solidFill>
                  <a:srgbClr val="059669"/>
                </a:solidFill>
                <a:latin typeface="JetBrains Mono"/>
                <a:ea typeface="JetBrains Mono"/>
                <a:cs typeface="JetBrains Mono"/>
                <a:sym typeface="JetBrains Mono"/>
              </a:rPr>
              <a:t> Training models inside verifiable code and mathematical environments (RLVR) provides deterministic reward signals based on compilation and execution outcomes.</a:t>
            </a:r>
            <a:endParaRPr b="1" i="0" sz="740" u="none" strike="noStrike">
              <a:solidFill>
                <a:srgbClr val="059669"/>
              </a:solidFill>
              <a:latin typeface="JetBrains Mono"/>
              <a:ea typeface="JetBrains Mono"/>
              <a:cs typeface="JetBrains Mono"/>
              <a:sym typeface="JetBrains Mon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